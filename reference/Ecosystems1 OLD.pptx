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jpeg" ContentType="image/jpeg"/>
  <Override PartName="/ppt/notesSlides/notesSlide6.xml" ContentType="application/vnd.openxmlformats-officedocument.presentationml.notesSlide+xml"/>
  <Override PartName="/ppt/media/image2.jpe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3.jpeg" ContentType="image/jpe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HIDDEN SLIDE — skipped in slideshow. Print or read before the lesson.</a:t>
            </a:r>
          </a:p>
          <a:p>
            <a:pPr/>
          </a:p>
          <a:p>
            <a:pPr/>
            <a:r>
              <a:t>Where to stop: after the plenary (slide 16). Objectives 4 and 5 are not taught here.</a:t>
            </a:r>
          </a:p>
          <a:p>
            <a:pPr/>
          </a:p>
          <a:p>
            <a:pPr/>
            <a:r>
              <a:t>Resources to have open: worksheet (Bronze/Silver/Gold), key-word sheet, ecosystem-sorter.html on the Chromebooks if you want the last 5 minutes to be the game instead of true/false.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 name="Shape 42"/>
          <p:cNvSpPr/>
          <p:nvPr>
            <p:ph type="sldImg"/>
          </p:nvPr>
        </p:nvSpPr>
        <p:spPr>
          <a:prstGeom prst="rect">
            <a:avLst/>
          </a:prstGeom>
        </p:spPr>
        <p:txBody>
          <a:bodyPr/>
          <a:lstStyle/>
          <a:p>
            <a:pPr/>
          </a:p>
        </p:txBody>
      </p:sp>
      <p:sp>
        <p:nvSpPr>
          <p:cNvPr id="43" name="Shape 43"/>
          <p:cNvSpPr/>
          <p:nvPr>
            <p:ph type="body" sz="quarter" idx="1"/>
          </p:nvPr>
        </p:nvSpPr>
        <p:spPr>
          <a:prstGeom prst="rect">
            <a:avLst/>
          </a:prstGeom>
        </p:spPr>
        <p:txBody>
          <a:bodyPr/>
          <a:lstStyle/>
          <a:p>
            <a:pPr/>
            <a:r>
              <a:t>TIMING: 0:00–0:30. Slide loads and the motif builds itself — sun, tide line, mud, roots, trunk, canopy. No clicks needed.</a:t>
            </a:r>
          </a:p>
          <a:p>
            <a:pPr/>
          </a:p>
          <a:p>
            <a:pPr/>
            <a:r>
              <a:t>SAY: "Forty minutes from this classroom there is a forest that is gold. Not in autumn — we do not get autumn. Gold all year round. By the end of today you will be able to tell me why."</a:t>
            </a:r>
          </a:p>
          <a:p>
            <a:pPr/>
          </a:p>
          <a:p>
            <a:pPr/>
            <a:r>
              <a:t>Do not explain the motif. Let it build while you say the line.</a:t>
            </a:r>
          </a:p>
          <a:p>
            <a:pPr/>
          </a:p>
          <a:p>
            <a:pPr/>
            <a:r>
              <a:t>WATCH FOR: nothing yet. Move on briskly — the Do Now is next.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64"/>
          <p:cNvSpPr/>
          <p:nvPr>
            <p:ph type="sldImg"/>
          </p:nvPr>
        </p:nvSpPr>
        <p:spPr>
          <a:prstGeom prst="rect">
            <a:avLst/>
          </a:prstGeom>
        </p:spPr>
        <p:txBody>
          <a:bodyPr/>
          <a:lstStyle/>
          <a:p>
            <a:pPr/>
          </a:p>
        </p:txBody>
      </p:sp>
      <p:sp>
        <p:nvSpPr>
          <p:cNvPr id="65" name="Shape 65"/>
          <p:cNvSpPr/>
          <p:nvPr>
            <p:ph type="body" sz="quarter" idx="1"/>
          </p:nvPr>
        </p:nvSpPr>
        <p:spPr>
          <a:prstGeom prst="rect">
            <a:avLst/>
          </a:prstGeom>
        </p:spPr>
        <p:txBody>
          <a:bodyPr/>
          <a:lstStyle/>
          <a:p>
            <a:pPr/>
            <a:r>
              <a:t>TIMING: 0:30–1:00. One click reveals the success criteria as a block. Do not read all four aloud.</a:t>
            </a:r>
          </a:p>
          <a:p>
            <a:pPr/>
          </a:p>
          <a:p>
            <a:pPr/>
            <a:r>
              <a:t>SAY: "Three objectives. Four ways you will know you have got there. The fourth one is the puzzle — hold on to it."</a:t>
            </a:r>
          </a:p>
          <a:p>
            <a:pPr/>
          </a:p>
          <a:p>
            <a:pPr/>
            <a:r>
              <a:t>POINT AT: criterion 4. It is the hook and the plenary in one line.</a:t>
            </a:r>
          </a:p>
          <a:p>
            <a:pPr/>
          </a:p>
          <a:p>
            <a:pPr/>
            <a:r>
              <a:t>Students tick these on the front of the worksheet now (red/amber/green), and again at the end. Give them 20 seconds, no more.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TIMING: 1:00–6:00. Three minutes silent writing, then six clicks — one answer per click.</a:t>
            </a:r>
          </a:p>
          <a:p>
            <a:pPr/>
          </a:p>
          <a:p>
            <a:pPr/>
            <a:r>
              <a:t>CLICKS: 1 = Q1 answer, 2 = Q2 answer … 6 = Q6 answer. Stop after each and take a show of hands.</a:t>
            </a:r>
          </a:p>
          <a:p>
            <a:pPr/>
          </a:p>
          <a:p>
            <a:pPr/>
            <a:r>
              <a:t>MODEL ANSWERS are on the slide. Push for precision on Q4: "breed together" is not enough — fertile offspring.</a:t>
            </a:r>
          </a:p>
          <a:p>
            <a:pPr/>
          </a:p>
          <a:p>
            <a:pPr/>
            <a:r>
              <a:t>WATCH FOR: on Q6, someone will say "a seed — it is not alive yet". Correct it now: a seed is alive and dormant. This is the exact confusion that ruins abiotic/biotic later.</a:t>
            </a:r>
          </a:p>
          <a:p>
            <a:pPr/>
          </a:p>
          <a:p>
            <a:pPr/>
            <a:r>
              <a:t>STRETCH (if they are quick): "Q5 said the nutrients are released. Released to where, and who uses them next?" Bank the answer — it is Lesson 3.</a:t>
            </a:r>
          </a:p>
          <a:p>
            <a:pPr/>
          </a:p>
          <a:p>
            <a:pPr/>
            <a:r>
              <a:t>Every question previews something: 1–2 producers, 3 abiotic factors, 4 populations, 5 decomposers, 6 the biotic/abiotic line.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p>
            <a:pPr/>
            <a:r>
              <a:t>TIMING: 6:00–11:00.</a:t>
            </a:r>
          </a:p>
          <a:p>
            <a:pPr/>
          </a:p>
          <a:p>
            <a:pPr/>
            <a:r>
              <a:t>CLICKS: 1 = the three options appear together. Do NOT reveal the answer — that is slide 14.</a:t>
            </a:r>
          </a:p>
          <a:p>
            <a:pPr/>
          </a:p>
          <a:p>
            <a:pPr/>
            <a:r>
              <a:t>SAY: "Hands up for A. For B. For C. Write your letter in the margin of your book, and put a box round it. If you change your mind by the end of the lesson, that is science working."</a:t>
            </a:r>
          </a:p>
          <a:p>
            <a:pPr/>
          </a:p>
          <a:p>
            <a:pPr/>
            <a:r>
              <a:t>A is a deliberate trap and a useful cultural point: there is no autumn in Rayong, so nothing here drops its leaves on a calendar. Say that out loud — it lands well with EAL students who learnt "leaves go yellow in autumn" from a British textbook.</a:t>
            </a:r>
          </a:p>
          <a:p>
            <a:pPr/>
          </a:p>
          <a:p>
            <a:pPr/>
            <a:r>
              <a:t>B is the one most will pick. It is wrong and it is the more interesting wrong answer: the species is identical.</a:t>
            </a:r>
          </a:p>
          <a:p>
            <a:pPr/>
          </a:p>
          <a:p>
            <a:pPr/>
            <a:r>
              <a:t>DO NOT say "nitrogen" yet. If a student says it, say "hold that thought, write it down, you may be about to be right."</a:t>
            </a:r>
          </a:p>
          <a:p>
            <a:pPr/>
          </a:p>
          <a:p>
            <a:pPr/>
            <a:r>
              <a:t>STRETCH: "What would you measure to test option 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TIMING: 11:00–15:00 (first half of the 8-minute I Do; slides 6–8 share it).</a:t>
            </a:r>
          </a:p>
          <a:p>
            <a:pPr/>
          </a:p>
          <a:p>
            <a:pPr/>
            <a:r>
              <a:t>CLICKS: 1 = "all the living things". 2 = "+ non-living". 3 = "+ in one area". 4 = "+ all interacting". 5 = the habitat line, bottom right.</a:t>
            </a:r>
          </a:p>
          <a:p>
            <a:pPr/>
          </a:p>
          <a:p>
            <a:pPr/>
            <a:r>
              <a:t>SAY on click 2: "This is the half people forget. Write it bigger than the first one."</a:t>
            </a:r>
          </a:p>
          <a:p>
            <a:pPr/>
          </a:p>
          <a:p>
            <a:pPr/>
            <a:r>
              <a:t>SAY on click 4: "Interacting is the word that makes it an ecosystem and not just a list."</a:t>
            </a:r>
          </a:p>
          <a:p>
            <a:pPr/>
          </a:p>
          <a:p>
            <a:pPr/>
            <a:r>
              <a:t>WATCH FOR: "an ecosystem is the plants and animals in a place." That is misconception 1. Ask: "Take the salt water out of the mangrove. What is left?" Answer: nothing — the trees die within weeks.</a:t>
            </a:r>
          </a:p>
          <a:p>
            <a:pPr/>
          </a:p>
          <a:p>
            <a:pPr/>
            <a:r>
              <a:t>EAL: ecosystem / habitat / community sound interchangeable. The bottom-right line is the whole distinction. Have them say it back to a partner before you click on.</a:t>
            </a:r>
          </a:p>
          <a:p>
            <a:pPr/>
          </a:p>
          <a:p>
            <a:pPr/>
            <a:r>
              <a:t>STRETCH: "Name an ecosystem in this school." Accept the pond, the field, the compost bin.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TIMING: 15:00–16:30.</a:t>
            </a:r>
          </a:p>
          <a:p>
            <a:pPr/>
          </a:p>
          <a:p>
            <a:pPr/>
            <a:r>
              <a:t>MAGIC MOVE: Keynote cannot import it, so this is built as two slides. In Keynote, select this slide, Animate → Transitions → Magic Move, then "Change Text Transition: Dissolve". Takes about ten seconds and it is worth it — the circle shrinking into the centre does the teaching for you.</a:t>
            </a:r>
          </a:p>
          <a:p>
            <a:pPr/>
          </a:p>
          <a:p>
            <a:pPr/>
            <a:r>
              <a:t>If you skip the Magic Move, set the transition to Dissolve. It still works, just less prettily.</a:t>
            </a:r>
          </a:p>
          <a:p>
            <a:pPr/>
          </a:p>
          <a:p>
            <a:pPr/>
            <a:r>
              <a:t>SAY: "One mudskipper. One species. Watch what happens when I zoom out."</a:t>
            </a:r>
          </a:p>
          <a:p>
            <a:pPr/>
          </a:p>
          <a:p>
            <a:pPr/>
            <a:r>
              <a:t>No clicks on this slide. Advance straight 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TIMING: 16:30–19:00.</a:t>
            </a:r>
          </a:p>
          <a:p>
            <a:pPr/>
          </a:p>
          <a:p>
            <a:pPr/>
            <a:r>
              <a:t>CLICKS: after the Magic Move lands, 1 = species definition, 2 = population, 3 = community, 4 = ecosystem. One per click, left column.</a:t>
            </a:r>
          </a:p>
          <a:p>
            <a:pPr/>
          </a:p>
          <a:p>
            <a:pPr/>
            <a:r>
              <a:t>SAY on click 4: "Notice the only ring that adds something non-living is the outer one. That is the whole idea of the lesson."</a:t>
            </a:r>
          </a:p>
          <a:p>
            <a:pPr/>
          </a:p>
          <a:p>
            <a:pPr/>
            <a:r>
              <a:t>WATCH FOR: "population" used to mean people only. It means all the individuals of ONE species. Say "a population of mudskippers, a population of mangrove trees" twice.</a:t>
            </a:r>
          </a:p>
          <a:p>
            <a:pPr/>
          </a:p>
          <a:p>
            <a:pPr/>
            <a:r>
              <a:t>EAL: get them to draw the four rings in their books and label them. Drawing beats copying here.</a:t>
            </a:r>
          </a:p>
          <a:p>
            <a:pPr/>
          </a:p>
          <a:p>
            <a:pPr/>
            <a:r>
              <a:t>STRETCH: "Is the whole Gulf of Thailand one ecosystem or many? Defend your answer." There is no clean answer — the boundary is chosen by the scientist. That is a genuinely good Y9 discussion.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r>
              <a:t>TIMING: 19:00–22:00.</a:t>
            </a:r>
          </a:p>
          <a:p>
            <a:pPr/>
          </a:p>
          <a:p>
            <a:pPr/>
            <a:r>
              <a:t>CLICKS: the cross-section is already there. 1 = sunlight, 2 = salt, 3 = tides, 4 = oxygen in the mud, 5 = nitrogen (gold border — leave it up).</a:t>
            </a:r>
          </a:p>
          <a:p>
            <a:pPr/>
          </a:p>
          <a:p>
            <a:pPr/>
            <a:r>
              <a:t>SAY on click 5: "Underline this one. It is the answer to the gold forest and you do not know it yet."</a:t>
            </a:r>
          </a:p>
          <a:p>
            <a:pPr/>
          </a:p>
          <a:p>
            <a:pPr/>
            <a:r>
              <a:t>WATCH FOR (misconception 2): "abiotic means dead". Hold up a fallen leaf if you have one, or point at the mud: "This leaf is dead. Is it abiotic?" No — it was alive, so it is biotic. Abiotic means never alive. This single distinction is worth a minute.</a:t>
            </a:r>
          </a:p>
          <a:p>
            <a:pPr/>
          </a:p>
          <a:p>
            <a:pPr/>
            <a:r>
              <a:t>EAL: bio = life, a- = not. Write "a-biotic = not-life" on the board. Same a- as in asymmetric, atypical.</a:t>
            </a:r>
          </a:p>
          <a:p>
            <a:pPr/>
          </a:p>
          <a:p>
            <a:pPr/>
            <a:r>
              <a:t>STRETCH: "Which of these five would change fastest if a factory released warm water into the estuary?" Temperature, then oxygen — warm water holds less dissolved oxygen. Good bridge to Unit 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hape 267"/>
          <p:cNvSpPr/>
          <p:nvPr>
            <p:ph type="sldImg"/>
          </p:nvPr>
        </p:nvSpPr>
        <p:spPr>
          <a:prstGeom prst="rect">
            <a:avLst/>
          </a:prstGeom>
        </p:spPr>
        <p:txBody>
          <a:bodyPr/>
          <a:lstStyle/>
          <a:p>
            <a:pPr/>
          </a:p>
        </p:txBody>
      </p:sp>
      <p:sp>
        <p:nvSpPr>
          <p:cNvPr id="268" name="Shape 268"/>
          <p:cNvSpPr/>
          <p:nvPr>
            <p:ph type="body" sz="quarter" idx="1"/>
          </p:nvPr>
        </p:nvSpPr>
        <p:spPr>
          <a:prstGeom prst="rect">
            <a:avLst/>
          </a:prstGeom>
        </p:spPr>
        <p:txBody>
          <a:bodyPr/>
          <a:lstStyle/>
          <a:p>
            <a:pPr/>
            <a:r>
              <a:t>TIMING: 22:00–26:00.</a:t>
            </a:r>
          </a:p>
          <a:p>
            <a:pPr/>
          </a:p>
          <a:p>
            <a:pPr/>
            <a:r>
              <a:t>CLICKS: six, one answer per click. Vote FIRST, then click. Do not let them see a single answer before the whole class has committed.</a:t>
            </a:r>
          </a:p>
          <a:p>
            <a:pPr/>
          </a:p>
          <a:p>
            <a:pPr/>
            <a:r>
              <a:t>THE ONE THAT MATTERS: card 3, the dead mangrove leaf. Expect the room to split. Ask a student who said abiotic to explain, then a student who said biotic, then click.</a:t>
            </a:r>
          </a:p>
          <a:p>
            <a:pPr/>
            <a:r>
              <a:t>MODEL ANSWER to say aloud: "Biotic. Biotic does not mean alive right now — it means it is part of the living world. That leaf was made by a tree out of sunlight and carbon dioxide, and a crab is about to eat it."</a:t>
            </a:r>
          </a:p>
          <a:p>
            <a:pPr/>
          </a:p>
          <a:p>
            <a:pPr/>
            <a:r>
              <a:t>Card 5, bacteria: some will say abiotic because they cannot see them. Remind them of Y8 prokaryotes.</a:t>
            </a:r>
          </a:p>
          <a:p>
            <a:pPr/>
          </a:p>
          <a:p>
            <a:pPr/>
            <a:r>
              <a:t>STRETCH: "Is a mudskipper's burrow biotic or abiotic?" Lovely argument — the hole is a shape in abiotic mud, but it only exists because a living thing made it. Accept either with a good justification; that is the skill.</a:t>
            </a:r>
          </a:p>
          <a:p>
            <a:pPr/>
          </a:p>
          <a:p>
            <a:pPr/>
            <a:r>
              <a:t>If the class is struggling, stop here and re-teach. Do not go on to the three jobs until this is secure.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292"/>
          <p:cNvSpPr/>
          <p:nvPr>
            <p:ph type="sldImg"/>
          </p:nvPr>
        </p:nvSpPr>
        <p:spPr>
          <a:prstGeom prst="rect">
            <a:avLst/>
          </a:prstGeom>
        </p:spPr>
        <p:txBody>
          <a:bodyPr/>
          <a:lstStyle/>
          <a:p>
            <a:pPr/>
          </a:p>
        </p:txBody>
      </p:sp>
      <p:sp>
        <p:nvSpPr>
          <p:cNvPr id="293" name="Shape 293"/>
          <p:cNvSpPr/>
          <p:nvPr>
            <p:ph type="body" sz="quarter" idx="1"/>
          </p:nvPr>
        </p:nvSpPr>
        <p:spPr>
          <a:prstGeom prst="rect">
            <a:avLst/>
          </a:prstGeom>
        </p:spPr>
        <p:txBody>
          <a:bodyPr/>
          <a:lstStyle/>
          <a:p>
            <a:pPr/>
            <a:r>
              <a:t>TIMING: 26:00–31:00.</a:t>
            </a:r>
          </a:p>
          <a:p>
            <a:pPr/>
          </a:p>
          <a:p>
            <a:pPr/>
            <a:r>
              <a:t>CLICKS: 1 = PRODUCER card, 2 = CONSUMER card, 3 = DECOMPOSER card, 4 = the two photos and caption.</a:t>
            </a:r>
          </a:p>
          <a:p>
            <a:pPr/>
          </a:p>
          <a:p>
            <a:pPr/>
            <a:r>
              <a:t>SAY on click 1: "Producer does not mean big. The most important producers in this estuary are phytoplankton you cannot see without a microscope."</a:t>
            </a:r>
          </a:p>
          <a:p>
            <a:pPr/>
          </a:p>
          <a:p>
            <a:pPr/>
            <a:r>
              <a:t>SAY on click 3: "Decomposers are not a footnote. Switch off the bacteria and the mangrove buries itself in its own dead leaves in a year and the whole forest starves."</a:t>
            </a:r>
          </a:p>
          <a:p>
            <a:pPr/>
          </a:p>
          <a:p>
            <a:pPr/>
            <a:r>
              <a:t>WATCH FOR (misconception 4 and 5): decomposers described as dirty, or as unimportant. And "the biggest animal matters most" — the macaque is the least important thing on this slide.</a:t>
            </a:r>
          </a:p>
          <a:p>
            <a:pPr/>
          </a:p>
          <a:p>
            <a:pPr/>
            <a:r>
              <a:rPr>
                <a:latin typeface="+mn-lt"/>
                <a:ea typeface="+mn-ea"/>
                <a:cs typeface="+mn-cs"/>
                <a:sym typeface="Helvetica"/>
              </a:rPr>
              <a:t>ปูดำ </a:t>
            </a:r>
            <a:r>
              <a:t>(pu dam) is the local mud crab. Use the Thai word — half the room fishes for them.</a:t>
            </a:r>
          </a:p>
          <a:p>
            <a:pPr/>
          </a:p>
          <a:p>
            <a:pPr/>
            <a:r>
              <a:t>STRETCH: "An oyster does not chase anything. It filters phytoplankton out of the water. Producer, consumer or decomposer?" Consumer. Eating is eating, whether you chase it or filter 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p>
            <a:pPr/>
            <a:r>
              <a:t>TIMING: 31:00–34:00.</a:t>
            </a:r>
          </a:p>
          <a:p>
            <a:pPr/>
          </a:p>
          <a:p>
            <a:pPr/>
            <a:r>
              <a:t>CLICKS: eight. For each row, click one reveals the letter, click two reveals the reason. Ask for the reason from a student BEFORE you click it.</a:t>
            </a:r>
          </a:p>
          <a:p>
            <a:pPr/>
          </a:p>
          <a:p>
            <a:pPr/>
            <a:r>
              <a:t>The letter is worth one mark. The reason is worth three. Say that out loud — it sets up the Gold questions on the worksheet.</a:t>
            </a:r>
          </a:p>
          <a:p>
            <a:pPr/>
          </a:p>
          <a:p>
            <a:pPr/>
            <a:r>
              <a:t>WATCH FOR: the oyster. Sitting still feels like "not really eating". And the fungus — some will say producer because it is "plant-like". It has no chlorophyll.</a:t>
            </a:r>
          </a:p>
          <a:p>
            <a:pPr/>
          </a:p>
          <a:p>
            <a:pPr/>
            <a:r>
              <a:t>MODEL ANSWER for row 4, said aloud: "Producer. The gold leaves still have some chlorophyll — just not enough. That is why the tree is short, not dead."</a:t>
            </a:r>
          </a:p>
          <a:p>
            <a:pPr/>
          </a:p>
          <a:p>
            <a:pPr/>
            <a:r>
              <a:t>STRETCH: "Name something that is a consumer AND effectively a decomposer." A crab eating rotting leaves. Detritivore. Do not labour the term in Y9 unless they ask.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Shape 353"/>
          <p:cNvSpPr/>
          <p:nvPr>
            <p:ph type="sldImg"/>
          </p:nvPr>
        </p:nvSpPr>
        <p:spPr>
          <a:prstGeom prst="rect">
            <a:avLst/>
          </a:prstGeom>
        </p:spPr>
        <p:txBody>
          <a:bodyPr/>
          <a:lstStyle/>
          <a:p>
            <a:pPr/>
          </a:p>
        </p:txBody>
      </p:sp>
      <p:sp>
        <p:nvSpPr>
          <p:cNvPr id="354" name="Shape 354"/>
          <p:cNvSpPr/>
          <p:nvPr>
            <p:ph type="body" sz="quarter" idx="1"/>
          </p:nvPr>
        </p:nvSpPr>
        <p:spPr>
          <a:prstGeom prst="rect">
            <a:avLst/>
          </a:prstGeom>
        </p:spPr>
        <p:txBody>
          <a:bodyPr/>
          <a:lstStyle/>
          <a:p>
            <a:pPr/>
            <a:r>
              <a:t>TIMING: 34:00–46:00. Twelve minutes. This is the longest single block — protect it.</a:t>
            </a:r>
          </a:p>
          <a:p>
            <a:pPr/>
          </a:p>
          <a:p>
            <a:pPr/>
            <a:r>
              <a:t>CLICKS: 1 = Bronze, 2 = Silver, 3 = Gold, 4 = the Gemini box.</a:t>
            </a:r>
          </a:p>
          <a:p>
            <a:pPr/>
          </a:p>
          <a:p>
            <a:pPr/>
            <a:r>
              <a:t>SAY: "Start where you like. If three questions in a row are easy, you are in the wrong tier — move up. Bronze is not the low set, it is the warm-up."</a:t>
            </a:r>
          </a:p>
          <a:p>
            <a:pPr/>
          </a:p>
          <a:p>
            <a:pPr/>
            <a:r>
              <a:t>CIRCULATE. The one thing to check in books is whether the definition of ecosystem includes the non-living half. If it does not, that student has not met objective 1 whatever else they have written.</a:t>
            </a:r>
          </a:p>
          <a:p>
            <a:pPr/>
          </a:p>
          <a:p>
            <a:pPr/>
            <a:r>
              <a:t>EAL: the key-word sheet should be out on the desk for this whole block. Point at it rather than translating.</a:t>
            </a:r>
          </a:p>
          <a:p>
            <a:pPr/>
          </a:p>
          <a:p>
            <a:pPr/>
            <a:r>
              <a:t>The Gemini prompts are deliberately on paper and not on the board — it keeps the projector free and it stops the whole class typing the same thing at the same moment.</a:t>
            </a:r>
          </a:p>
          <a:p>
            <a:pPr/>
          </a:p>
          <a:p>
            <a:pPr/>
            <a:r>
              <a:t>At 44:00 stop them wherever they are. Gold is not homework unless you say so.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Shape 386"/>
          <p:cNvSpPr/>
          <p:nvPr>
            <p:ph type="sldImg"/>
          </p:nvPr>
        </p:nvSpPr>
        <p:spPr>
          <a:prstGeom prst="rect">
            <a:avLst/>
          </a:prstGeom>
        </p:spPr>
        <p:txBody>
          <a:bodyPr/>
          <a:lstStyle/>
          <a:p>
            <a:pPr/>
          </a:p>
        </p:txBody>
      </p:sp>
      <p:sp>
        <p:nvSpPr>
          <p:cNvPr id="387" name="Shape 387"/>
          <p:cNvSpPr/>
          <p:nvPr>
            <p:ph type="body" sz="quarter" idx="1"/>
          </p:nvPr>
        </p:nvSpPr>
        <p:spPr>
          <a:prstGeom prst="rect">
            <a:avLst/>
          </a:prstGeom>
        </p:spPr>
        <p:txBody>
          <a:bodyPr/>
          <a:lstStyle/>
          <a:p>
            <a:pPr/>
            <a:r>
              <a:t>TIMING: 46:00–48:00.</a:t>
            </a:r>
          </a:p>
          <a:p>
            <a:pPr/>
          </a:p>
          <a:p>
            <a:pPr/>
            <a:r>
              <a:t>CLICKS: 1, 2, 3, 4 reveal the steps in order. 5 reveals the source panel.</a:t>
            </a:r>
          </a:p>
          <a:p>
            <a:pPr/>
          </a:p>
          <a:p>
            <a:pPr/>
            <a:r>
              <a:t>SAY first: "Hands up who wrote C at the start. Hands up who has changed their mind. Changing your mind because of evidence is the whole job."</a:t>
            </a:r>
          </a:p>
          <a:p>
            <a:pPr/>
          </a:p>
          <a:p>
            <a:pPr/>
            <a:r>
              <a:t>THE POINT, say it in these words: "An abiotic factor — something that was never alive — decided the colour of an entire forest. That is why we do not study the living half on its own."</a:t>
            </a:r>
          </a:p>
          <a:p>
            <a:pPr/>
          </a:p>
          <a:p>
            <a:pPr/>
            <a:r>
              <a:t>WATCH FOR: "so the trees are unhealthy / dying". Not quite. They are stressed and stunted but alive and reproducing. Stunted is not the same as dying — worth a sentence.</a:t>
            </a:r>
          </a:p>
          <a:p>
            <a:pPr/>
          </a:p>
          <a:p>
            <a:pPr/>
            <a:r>
              <a:t>STRETCH: "If you added fertiliser to the sandbank, what would happen to the gold?" It would green up and the tourism would collapse. Genuinely happened as a debate locally — a nice link to Unit 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hape 415"/>
          <p:cNvSpPr/>
          <p:nvPr>
            <p:ph type="sldImg"/>
          </p:nvPr>
        </p:nvSpPr>
        <p:spPr>
          <a:prstGeom prst="rect">
            <a:avLst/>
          </a:prstGeom>
        </p:spPr>
        <p:txBody>
          <a:bodyPr/>
          <a:lstStyle/>
          <a:p>
            <a:pPr/>
          </a:p>
        </p:txBody>
      </p:sp>
      <p:sp>
        <p:nvSpPr>
          <p:cNvPr id="416" name="Shape 416"/>
          <p:cNvSpPr/>
          <p:nvPr>
            <p:ph type="body" sz="quarter" idx="1"/>
          </p:nvPr>
        </p:nvSpPr>
        <p:spPr>
          <a:prstGeom prst="rect">
            <a:avLst/>
          </a:prstGeom>
        </p:spPr>
        <p:txBody>
          <a:bodyPr/>
          <a:lstStyle/>
          <a:p>
            <a:pPr/>
            <a:r>
              <a:t>TIMING: 48:00–49:00. One minute. If you are short of time, cut this slide and not the plenary.</a:t>
            </a:r>
          </a:p>
          <a:p>
            <a:pPr/>
          </a:p>
          <a:p>
            <a:pPr/>
            <a:r>
              <a:t>CLICKS: 1 = 1994 stumps, 2 = 1994 seedlings, 3 = 2000, 4 = today, 5 = the bottom line.</a:t>
            </a:r>
          </a:p>
          <a:p>
            <a:pPr/>
          </a:p>
          <a:p>
            <a:pPr/>
            <a:r>
              <a:t>SENSITIVE — read before you teach it: Chalome cut the forest down to pay for his three children to finish school. Some of your students have family in fishing, charcoal or shrimp farming. Do NOT let this become a slide about bad villagers. His own framing is the useful one: he asked what his grandchildren would inherit, and changed. Say it as a repair story.</a:t>
            </a:r>
          </a:p>
          <a:p>
            <a:pPr/>
          </a:p>
          <a:p>
            <a:pPr/>
            <a:r>
              <a:t>SAY: "He is about 80 now. He spent the first half of his life cutting it down and the second half putting it back."</a:t>
            </a:r>
          </a:p>
          <a:p>
            <a:pPr/>
          </a:p>
          <a:p>
            <a:pPr/>
            <a:r>
              <a:t>THE SCIENCE POINT is the bottom line — put trees back and you change the abiotic conditions too. Do not skip it for the story.</a:t>
            </a:r>
          </a:p>
          <a:p>
            <a:pPr/>
          </a:p>
          <a:p>
            <a:pPr/>
            <a:r>
              <a:t>STRETCH: "The forest is at 70–80% of what it was. Why might the last 20% be the hardest?" Shrimp ponds have hard walls and changed the water flow; the abiotic conditions no longer suit mangroves.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8" name="Shape 448"/>
          <p:cNvSpPr/>
          <p:nvPr>
            <p:ph type="sldImg"/>
          </p:nvPr>
        </p:nvSpPr>
        <p:spPr>
          <a:prstGeom prst="rect">
            <a:avLst/>
          </a:prstGeom>
        </p:spPr>
        <p:txBody>
          <a:bodyPr/>
          <a:lstStyle/>
          <a:p>
            <a:pPr/>
          </a:p>
        </p:txBody>
      </p:sp>
      <p:sp>
        <p:nvSpPr>
          <p:cNvPr id="449" name="Shape 449"/>
          <p:cNvSpPr/>
          <p:nvPr>
            <p:ph type="body" sz="quarter" idx="1"/>
          </p:nvPr>
        </p:nvSpPr>
        <p:spPr>
          <a:prstGeom prst="rect">
            <a:avLst/>
          </a:prstGeom>
        </p:spPr>
        <p:txBody>
          <a:bodyPr/>
          <a:lstStyle/>
          <a:p>
            <a:pPr/>
            <a:r>
              <a:t>TIMING: 49:00–50:00 if you are running to time, or take the last 3 minutes properly and cut slide 15.</a:t>
            </a:r>
          </a:p>
          <a:p>
            <a:pPr/>
          </a:p>
          <a:p>
            <a:pPr/>
            <a:r>
              <a:t>CLICKS: ten. Statement, then answer, one at a time. Make them commit physically before each answer appears — standing up is harder to fake than a hand.</a:t>
            </a:r>
          </a:p>
          <a:p>
            <a:pPr/>
          </a:p>
          <a:p>
            <a:pPr/>
            <a:r>
              <a:t>Every FALSE statement here is one of the misconceptions from the hidden teacher slide. If more than a third of the class gets one wrong, that is your starter next lesson, not a footnote.</a:t>
            </a:r>
          </a:p>
          <a:p>
            <a:pPr/>
          </a:p>
          <a:p>
            <a:pPr/>
            <a:r>
              <a:t>Number 2 is the one that matters most. If they get 2 right, objective 2 is secure.</a:t>
            </a:r>
          </a:p>
          <a:p>
            <a:pPr/>
          </a:p>
          <a:p>
            <a:pPr/>
            <a:r>
              <a:t>EXIT: RAG grid on the front of the worksheet, "end of lesson" column, then pack away.</a:t>
            </a:r>
          </a:p>
          <a:p>
            <a:pPr/>
          </a:p>
          <a:p>
            <a:pPr/>
            <a:r>
              <a:t>STOP HERE. Energy flow (your objective 4) and matter movement (objective 5) are Lesson 2 and Lesson 3. Do not start food chains with four minutes left — you will teach the arrows backwards and spend next lesson unteaching 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466"/>
          <p:cNvSpPr/>
          <p:nvPr>
            <p:ph type="sldImg"/>
          </p:nvPr>
        </p:nvSpPr>
        <p:spPr>
          <a:prstGeom prst="rect">
            <a:avLst/>
          </a:prstGeom>
        </p:spPr>
        <p:txBody>
          <a:bodyPr/>
          <a:lstStyle/>
          <a:p>
            <a:pPr/>
          </a:p>
        </p:txBody>
      </p:sp>
      <p:sp>
        <p:nvSpPr>
          <p:cNvPr id="467" name="Shape 467"/>
          <p:cNvSpPr/>
          <p:nvPr>
            <p:ph type="body" sz="quarter" idx="1"/>
          </p:nvPr>
        </p:nvSpPr>
        <p:spPr>
          <a:prstGeom prst="rect">
            <a:avLst/>
          </a:prstGeom>
        </p:spPr>
        <p:txBody>
          <a:bodyPr/>
          <a:lstStyle/>
          <a:p>
            <a:pPr/>
            <a:r>
              <a:t>Not shown in the lesson unless someone asks. Kept in the file so the licences travel with the deck if you share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t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0" name="teach_flag"/>
          <p:cNvSpPr txBox="1"/>
          <p:nvPr/>
        </p:nvSpPr>
        <p:spPr>
          <a:xfrm>
            <a:off x="502919" y="319277"/>
            <a:ext cx="640080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100">
                <a:solidFill>
                  <a:srgbClr val="E2572B"/>
                </a:solidFill>
                <a:latin typeface="Arial"/>
                <a:ea typeface="Arial"/>
                <a:cs typeface="Arial"/>
                <a:sym typeface="Arial"/>
              </a:defRPr>
            </a:lvl1pPr>
          </a:lstStyle>
          <a:p>
            <a:pPr/>
            <a:r>
              <a:t>TEACHER ONLY — hidden in slideshow</a:t>
            </a:r>
          </a:p>
        </p:txBody>
      </p:sp>
      <p:sp>
        <p:nvSpPr>
          <p:cNvPr id="21" name="teach_meta"/>
          <p:cNvSpPr txBox="1"/>
          <p:nvPr/>
        </p:nvSpPr>
        <p:spPr>
          <a:xfrm>
            <a:off x="6202374" y="319277"/>
            <a:ext cx="548640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4A6165"/>
                </a:solidFill>
                <a:latin typeface="Arial"/>
                <a:ea typeface="Arial"/>
                <a:cs typeface="Arial"/>
                <a:sym typeface="Arial"/>
              </a:defRPr>
            </a:lvl1pPr>
          </a:lstStyle>
          <a:p>
            <a:pPr/>
            <a:r>
              <a:t>Y9 · Ecosystems L1 of 3 · 50 minutes</a:t>
            </a:r>
          </a:p>
        </p:txBody>
      </p:sp>
      <p:sp>
        <p:nvSpPr>
          <p:cNvPr id="22" name="teach_title"/>
          <p:cNvSpPr txBox="1"/>
          <p:nvPr/>
        </p:nvSpPr>
        <p:spPr>
          <a:xfrm>
            <a:off x="502919" y="643127"/>
            <a:ext cx="11185857"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100">
                <a:solidFill>
                  <a:srgbClr val="0E3A3F"/>
                </a:solidFill>
                <a:latin typeface="Georgia"/>
                <a:ea typeface="Georgia"/>
                <a:cs typeface="Georgia"/>
                <a:sym typeface="Georgia"/>
              </a:defRPr>
            </a:lvl1pPr>
          </a:lstStyle>
          <a:p>
            <a:pPr/>
            <a:r>
              <a:t>What is an ecosystem?  Living, non-living, and the gold forest at Prasae</a:t>
            </a:r>
          </a:p>
        </p:txBody>
      </p:sp>
      <p:sp>
        <p:nvSpPr>
          <p:cNvPr id="23" name="teach_col0_bg"/>
          <p:cNvSpPr/>
          <p:nvPr/>
        </p:nvSpPr>
        <p:spPr>
          <a:xfrm>
            <a:off x="502919" y="1115567"/>
            <a:ext cx="3576220" cy="5330954"/>
          </a:xfrm>
          <a:prstGeom prst="roundRect">
            <a:avLst>
              <a:gd name="adj" fmla="val 3068"/>
            </a:avLst>
          </a:prstGeom>
          <a:solidFill>
            <a:srgbClr val="F6F6F4"/>
          </a:solidFill>
          <a:ln w="12700">
            <a:solidFill>
              <a:srgbClr val="DCDCD6"/>
            </a:solidFill>
          </a:ln>
        </p:spPr>
        <p:txBody>
          <a:bodyPr lIns="45719" rIns="45719"/>
          <a:lstStyle/>
          <a:p>
            <a:pPr/>
          </a:p>
        </p:txBody>
      </p:sp>
      <p:sp>
        <p:nvSpPr>
          <p:cNvPr id="24" name="teach_col0_head"/>
          <p:cNvSpPr txBox="1"/>
          <p:nvPr/>
        </p:nvSpPr>
        <p:spPr>
          <a:xfrm>
            <a:off x="667512" y="1306829"/>
            <a:ext cx="324703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100">
                <a:solidFill>
                  <a:srgbClr val="0E3A3F"/>
                </a:solidFill>
                <a:latin typeface="Arial"/>
                <a:ea typeface="Arial"/>
                <a:cs typeface="Arial"/>
                <a:sym typeface="Arial"/>
              </a:defRPr>
            </a:lvl1pPr>
          </a:lstStyle>
          <a:p>
            <a:pPr/>
            <a:r>
              <a:t>PRIOR KNOWLEDGE</a:t>
            </a:r>
          </a:p>
        </p:txBody>
      </p:sp>
      <p:sp>
        <p:nvSpPr>
          <p:cNvPr id="25" name="teach_col0_body"/>
          <p:cNvSpPr txBox="1"/>
          <p:nvPr/>
        </p:nvSpPr>
        <p:spPr>
          <a:xfrm>
            <a:off x="667512" y="1554480"/>
            <a:ext cx="3247035" cy="16701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200"/>
              </a:lnSpc>
              <a:defRPr sz="900">
                <a:solidFill>
                  <a:srgbClr val="14282B"/>
                </a:solidFill>
                <a:latin typeface="Arial"/>
                <a:ea typeface="Arial"/>
                <a:cs typeface="Arial"/>
                <a:sym typeface="Arial"/>
              </a:defRPr>
            </a:pPr>
            <a:r>
              <a:t>• Photosynthesis: light + CO₂ + water → glucose (Y7 Cells, Y8 Plants).</a:t>
            </a:r>
          </a:p>
          <a:p>
            <a:pPr>
              <a:lnSpc>
                <a:spcPts val="1200"/>
              </a:lnSpc>
              <a:defRPr sz="900">
                <a:solidFill>
                  <a:srgbClr val="14282B"/>
                </a:solidFill>
                <a:latin typeface="Arial"/>
                <a:ea typeface="Arial"/>
                <a:cs typeface="Arial"/>
                <a:sym typeface="Arial"/>
              </a:defRPr>
            </a:pPr>
            <a:r>
              <a:t>• Characteristics of living things (Y7 U2).</a:t>
            </a:r>
          </a:p>
          <a:p>
            <a:pPr>
              <a:lnSpc>
                <a:spcPts val="1200"/>
              </a:lnSpc>
              <a:defRPr sz="900">
                <a:solidFill>
                  <a:srgbClr val="14282B"/>
                </a:solidFill>
                <a:latin typeface="Arial"/>
                <a:ea typeface="Arial"/>
                <a:cs typeface="Arial"/>
                <a:sym typeface="Arial"/>
              </a:defRPr>
            </a:pPr>
            <a:r>
              <a:t>• Species and classification (Y8 invertebrates / vertebrates).</a:t>
            </a:r>
          </a:p>
          <a:p>
            <a:pPr>
              <a:lnSpc>
                <a:spcPts val="1200"/>
              </a:lnSpc>
              <a:defRPr sz="900">
                <a:solidFill>
                  <a:srgbClr val="14282B"/>
                </a:solidFill>
                <a:latin typeface="Arial"/>
                <a:ea typeface="Arial"/>
                <a:cs typeface="Arial"/>
                <a:sym typeface="Arial"/>
              </a:defRPr>
            </a:pPr>
            <a:r>
              <a:t>• Habitat and adaptation (Y8 Behaviour of Animals).</a:t>
            </a:r>
          </a:p>
          <a:p>
            <a:pPr>
              <a:lnSpc>
                <a:spcPts val="1200"/>
              </a:lnSpc>
              <a:defRPr sz="900">
                <a:solidFill>
                  <a:srgbClr val="14282B"/>
                </a:solidFill>
                <a:latin typeface="Arial"/>
                <a:ea typeface="Arial"/>
                <a:cs typeface="Arial"/>
                <a:sym typeface="Arial"/>
              </a:defRPr>
            </a:pPr>
            <a:r>
              <a:t>• Just finished: Weather &amp; Climate — they can already measure temperature, rainfall and humidity. Use that. Abiotic factors are simply "the weather-type things, plus salt, mud and nutrients".</a:t>
            </a:r>
          </a:p>
          <a:p>
            <a:pPr>
              <a:lnSpc>
                <a:spcPts val="1200"/>
              </a:lnSpc>
              <a:defRPr sz="900"/>
            </a:pPr>
          </a:p>
          <a:p>
            <a:pPr>
              <a:lnSpc>
                <a:spcPts val="1200"/>
              </a:lnSpc>
              <a:defRPr sz="900">
                <a:solidFill>
                  <a:srgbClr val="14282B"/>
                </a:solidFill>
                <a:latin typeface="Arial"/>
                <a:ea typeface="Arial"/>
                <a:cs typeface="Arial"/>
                <a:sym typeface="Arial"/>
              </a:defRPr>
            </a:pPr>
            <a:r>
              <a:t>EAL note: ecosystem / habitat / community are near-synonyms in everyday English. Draw the boundary explicitly on slide 8.</a:t>
            </a:r>
          </a:p>
        </p:txBody>
      </p:sp>
      <p:sp>
        <p:nvSpPr>
          <p:cNvPr id="26" name="teach_col1_bg"/>
          <p:cNvSpPr/>
          <p:nvPr/>
        </p:nvSpPr>
        <p:spPr>
          <a:xfrm>
            <a:off x="4307737" y="1115567"/>
            <a:ext cx="3576219" cy="5330954"/>
          </a:xfrm>
          <a:prstGeom prst="roundRect">
            <a:avLst>
              <a:gd name="adj" fmla="val 3068"/>
            </a:avLst>
          </a:prstGeom>
          <a:solidFill>
            <a:srgbClr val="FDF1EC"/>
          </a:solidFill>
          <a:ln w="12700">
            <a:solidFill>
              <a:srgbClr val="DCDCD6"/>
            </a:solidFill>
          </a:ln>
        </p:spPr>
        <p:txBody>
          <a:bodyPr lIns="45719" rIns="45719"/>
          <a:lstStyle/>
          <a:p>
            <a:pPr/>
          </a:p>
        </p:txBody>
      </p:sp>
      <p:sp>
        <p:nvSpPr>
          <p:cNvPr id="27" name="teach_col1_head"/>
          <p:cNvSpPr txBox="1"/>
          <p:nvPr/>
        </p:nvSpPr>
        <p:spPr>
          <a:xfrm>
            <a:off x="4472330" y="1306829"/>
            <a:ext cx="324703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100">
                <a:solidFill>
                  <a:srgbClr val="E2572B"/>
                </a:solidFill>
                <a:latin typeface="Arial"/>
                <a:ea typeface="Arial"/>
                <a:cs typeface="Arial"/>
                <a:sym typeface="Arial"/>
              </a:defRPr>
            </a:lvl1pPr>
          </a:lstStyle>
          <a:p>
            <a:pPr/>
            <a:r>
              <a:t>MISCONCEPTIONS  (wrong → right)</a:t>
            </a:r>
          </a:p>
        </p:txBody>
      </p:sp>
      <p:sp>
        <p:nvSpPr>
          <p:cNvPr id="28" name="teach_col1_body"/>
          <p:cNvSpPr txBox="1"/>
          <p:nvPr/>
        </p:nvSpPr>
        <p:spPr>
          <a:xfrm>
            <a:off x="4472330" y="1554480"/>
            <a:ext cx="3247035" cy="24321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200"/>
              </a:lnSpc>
              <a:defRPr sz="900">
                <a:solidFill>
                  <a:srgbClr val="14282B"/>
                </a:solidFill>
                <a:latin typeface="Arial"/>
                <a:ea typeface="Arial"/>
                <a:cs typeface="Arial"/>
                <a:sym typeface="Arial"/>
              </a:defRPr>
            </a:pPr>
            <a:r>
              <a:t>✗ "An ecosystem is the plants and animals in a place."</a:t>
            </a:r>
          </a:p>
          <a:p>
            <a:pPr>
              <a:lnSpc>
                <a:spcPts val="1200"/>
              </a:lnSpc>
              <a:defRPr sz="900">
                <a:solidFill>
                  <a:srgbClr val="14282B"/>
                </a:solidFill>
                <a:latin typeface="Arial"/>
                <a:ea typeface="Arial"/>
                <a:cs typeface="Arial"/>
                <a:sym typeface="Arial"/>
              </a:defRPr>
            </a:pPr>
            <a:r>
              <a:t>→ It is the community PLUS the non-living surroundings. Take away the salt water and there is no mangrove.</a:t>
            </a:r>
          </a:p>
          <a:p>
            <a:pPr>
              <a:lnSpc>
                <a:spcPts val="1200"/>
              </a:lnSpc>
              <a:defRPr sz="900"/>
            </a:pPr>
          </a:p>
          <a:p>
            <a:pPr>
              <a:lnSpc>
                <a:spcPts val="1200"/>
              </a:lnSpc>
              <a:defRPr sz="900">
                <a:solidFill>
                  <a:srgbClr val="14282B"/>
                </a:solidFill>
                <a:latin typeface="Arial"/>
                <a:ea typeface="Arial"/>
                <a:cs typeface="Arial"/>
                <a:sym typeface="Arial"/>
              </a:defRPr>
            </a:pPr>
            <a:r>
              <a:t>✗ "Abiotic means dead."</a:t>
            </a:r>
          </a:p>
          <a:p>
            <a:pPr>
              <a:lnSpc>
                <a:spcPts val="1200"/>
              </a:lnSpc>
              <a:defRPr sz="900">
                <a:solidFill>
                  <a:srgbClr val="14282B"/>
                </a:solidFill>
                <a:latin typeface="Arial"/>
                <a:ea typeface="Arial"/>
                <a:cs typeface="Arial"/>
                <a:sym typeface="Arial"/>
              </a:defRPr>
            </a:pPr>
            <a:r>
              <a:t>→ Abiotic means never alive. A dead mangrove leaf is BIOTIC.</a:t>
            </a:r>
          </a:p>
          <a:p>
            <a:pPr>
              <a:lnSpc>
                <a:spcPts val="1200"/>
              </a:lnSpc>
              <a:defRPr sz="900"/>
            </a:pPr>
          </a:p>
          <a:p>
            <a:pPr>
              <a:lnSpc>
                <a:spcPts val="1200"/>
              </a:lnSpc>
              <a:defRPr sz="900">
                <a:solidFill>
                  <a:srgbClr val="14282B"/>
                </a:solidFill>
                <a:latin typeface="Arial"/>
                <a:ea typeface="Arial"/>
                <a:cs typeface="Arial"/>
                <a:sym typeface="Arial"/>
              </a:defRPr>
            </a:pPr>
            <a:r>
              <a:t>✗ "Habitat and ecosystem are the same."</a:t>
            </a:r>
          </a:p>
          <a:p>
            <a:pPr>
              <a:lnSpc>
                <a:spcPts val="1200"/>
              </a:lnSpc>
              <a:defRPr sz="900">
                <a:solidFill>
                  <a:srgbClr val="14282B"/>
                </a:solidFill>
                <a:latin typeface="Arial"/>
                <a:ea typeface="Arial"/>
                <a:cs typeface="Arial"/>
                <a:sym typeface="Arial"/>
              </a:defRPr>
            </a:pPr>
            <a:r>
              <a:t>→ Habitat = where one species lives. Ecosystem = all species + surroundings.</a:t>
            </a:r>
          </a:p>
          <a:p>
            <a:pPr>
              <a:lnSpc>
                <a:spcPts val="1200"/>
              </a:lnSpc>
              <a:defRPr sz="900"/>
            </a:pPr>
          </a:p>
          <a:p>
            <a:pPr>
              <a:lnSpc>
                <a:spcPts val="1200"/>
              </a:lnSpc>
              <a:defRPr sz="900">
                <a:solidFill>
                  <a:srgbClr val="14282B"/>
                </a:solidFill>
                <a:latin typeface="Arial"/>
                <a:ea typeface="Arial"/>
                <a:cs typeface="Arial"/>
                <a:sym typeface="Arial"/>
              </a:defRPr>
            </a:pPr>
            <a:r>
              <a:t>✗ "Decomposers are dirty and unimportant."</a:t>
            </a:r>
          </a:p>
          <a:p>
            <a:pPr>
              <a:lnSpc>
                <a:spcPts val="1200"/>
              </a:lnSpc>
              <a:defRPr sz="900">
                <a:solidFill>
                  <a:srgbClr val="14282B"/>
                </a:solidFill>
                <a:latin typeface="Arial"/>
                <a:ea typeface="Arial"/>
                <a:cs typeface="Arial"/>
                <a:sym typeface="Arial"/>
              </a:defRPr>
            </a:pPr>
            <a:r>
              <a:t>→ They release the nutrients everything else needs.</a:t>
            </a:r>
          </a:p>
          <a:p>
            <a:pPr>
              <a:lnSpc>
                <a:spcPts val="1200"/>
              </a:lnSpc>
              <a:defRPr sz="900"/>
            </a:pPr>
          </a:p>
          <a:p>
            <a:pPr>
              <a:lnSpc>
                <a:spcPts val="1200"/>
              </a:lnSpc>
              <a:defRPr sz="900">
                <a:solidFill>
                  <a:srgbClr val="14282B"/>
                </a:solidFill>
                <a:latin typeface="Arial"/>
                <a:ea typeface="Arial"/>
                <a:cs typeface="Arial"/>
                <a:sym typeface="Arial"/>
              </a:defRPr>
            </a:pPr>
            <a:r>
              <a:t>✗ "Big animals matter most."</a:t>
            </a:r>
          </a:p>
          <a:p>
            <a:pPr>
              <a:lnSpc>
                <a:spcPts val="1200"/>
              </a:lnSpc>
              <a:defRPr sz="900">
                <a:solidFill>
                  <a:srgbClr val="14282B"/>
                </a:solidFill>
                <a:latin typeface="Arial"/>
                <a:ea typeface="Arial"/>
                <a:cs typeface="Arial"/>
                <a:sym typeface="Arial"/>
              </a:defRPr>
            </a:pPr>
            <a:r>
              <a:t>→ Remove the bacteria and the whole thing stops.</a:t>
            </a:r>
          </a:p>
        </p:txBody>
      </p:sp>
      <p:sp>
        <p:nvSpPr>
          <p:cNvPr id="29" name="teach_col2_bg"/>
          <p:cNvSpPr/>
          <p:nvPr/>
        </p:nvSpPr>
        <p:spPr>
          <a:xfrm>
            <a:off x="8112556" y="1115567"/>
            <a:ext cx="3576219" cy="5330954"/>
          </a:xfrm>
          <a:prstGeom prst="roundRect">
            <a:avLst>
              <a:gd name="adj" fmla="val 3068"/>
            </a:avLst>
          </a:prstGeom>
          <a:solidFill>
            <a:srgbClr val="F6F6F4"/>
          </a:solidFill>
          <a:ln w="12700">
            <a:solidFill>
              <a:srgbClr val="DCDCD6"/>
            </a:solidFill>
          </a:ln>
        </p:spPr>
        <p:txBody>
          <a:bodyPr lIns="45719" rIns="45719"/>
          <a:lstStyle/>
          <a:p>
            <a:pPr/>
          </a:p>
        </p:txBody>
      </p:sp>
      <p:sp>
        <p:nvSpPr>
          <p:cNvPr id="30" name="teach_col2_head"/>
          <p:cNvSpPr txBox="1"/>
          <p:nvPr/>
        </p:nvSpPr>
        <p:spPr>
          <a:xfrm>
            <a:off x="8277149" y="1306829"/>
            <a:ext cx="3247035"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100">
                <a:solidFill>
                  <a:srgbClr val="0E3A3F"/>
                </a:solidFill>
                <a:latin typeface="Arial"/>
                <a:ea typeface="Arial"/>
                <a:cs typeface="Arial"/>
                <a:sym typeface="Arial"/>
              </a:defRPr>
            </a:lvl1pPr>
          </a:lstStyle>
          <a:p>
            <a:pPr/>
            <a:r>
              <a:t>LESSON FLOW  (50 min)</a:t>
            </a:r>
          </a:p>
        </p:txBody>
      </p:sp>
      <p:sp>
        <p:nvSpPr>
          <p:cNvPr id="31" name="teach_col2_body"/>
          <p:cNvSpPr txBox="1"/>
          <p:nvPr/>
        </p:nvSpPr>
        <p:spPr>
          <a:xfrm>
            <a:off x="8277149" y="1554480"/>
            <a:ext cx="3247035" cy="30417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200"/>
              </a:lnSpc>
              <a:defRPr sz="900">
                <a:solidFill>
                  <a:srgbClr val="14282B"/>
                </a:solidFill>
                <a:latin typeface="Arial"/>
                <a:ea typeface="Arial"/>
                <a:cs typeface="Arial"/>
                <a:sym typeface="Arial"/>
              </a:defRPr>
            </a:pPr>
            <a:r>
              <a:t>Do Now — 5</a:t>
            </a:r>
          </a:p>
          <a:p>
            <a:pPr>
              <a:lnSpc>
                <a:spcPts val="1200"/>
              </a:lnSpc>
              <a:defRPr sz="900">
                <a:solidFill>
                  <a:srgbClr val="14282B"/>
                </a:solidFill>
                <a:latin typeface="Arial"/>
                <a:ea typeface="Arial"/>
                <a:cs typeface="Arial"/>
                <a:sym typeface="Arial"/>
              </a:defRPr>
            </a:pPr>
            <a:r>
              <a:t>Hook: why is the forest gold? — 5</a:t>
            </a:r>
          </a:p>
          <a:p>
            <a:pPr>
              <a:lnSpc>
                <a:spcPts val="1200"/>
              </a:lnSpc>
              <a:defRPr sz="900">
                <a:solidFill>
                  <a:srgbClr val="14282B"/>
                </a:solidFill>
                <a:latin typeface="Arial"/>
                <a:ea typeface="Arial"/>
                <a:cs typeface="Arial"/>
                <a:sym typeface="Arial"/>
              </a:defRPr>
            </a:pPr>
            <a:r>
              <a:t>I Do: ecosystem + levels — 8</a:t>
            </a:r>
          </a:p>
          <a:p>
            <a:pPr>
              <a:lnSpc>
                <a:spcPts val="1200"/>
              </a:lnSpc>
              <a:defRPr sz="900">
                <a:solidFill>
                  <a:srgbClr val="14282B"/>
                </a:solidFill>
                <a:latin typeface="Arial"/>
                <a:ea typeface="Arial"/>
                <a:cs typeface="Arial"/>
                <a:sym typeface="Arial"/>
              </a:defRPr>
            </a:pPr>
            <a:r>
              <a:t>We Do: abiotic factors — 7</a:t>
            </a:r>
          </a:p>
          <a:p>
            <a:pPr>
              <a:lnSpc>
                <a:spcPts val="1200"/>
              </a:lnSpc>
              <a:defRPr sz="900">
                <a:solidFill>
                  <a:srgbClr val="14282B"/>
                </a:solidFill>
                <a:latin typeface="Arial"/>
                <a:ea typeface="Arial"/>
                <a:cs typeface="Arial"/>
                <a:sym typeface="Arial"/>
              </a:defRPr>
            </a:pPr>
            <a:r>
              <a:t>I Do / We Do: biotic + three jobs — 8</a:t>
            </a:r>
          </a:p>
          <a:p>
            <a:pPr>
              <a:lnSpc>
                <a:spcPts val="1200"/>
              </a:lnSpc>
              <a:defRPr sz="900">
                <a:solidFill>
                  <a:srgbClr val="14282B"/>
                </a:solidFill>
                <a:latin typeface="Arial"/>
                <a:ea typeface="Arial"/>
                <a:cs typeface="Arial"/>
                <a:sym typeface="Arial"/>
              </a:defRPr>
            </a:pPr>
            <a:r>
              <a:t>You Do: worksheet — 12</a:t>
            </a:r>
          </a:p>
          <a:p>
            <a:pPr>
              <a:lnSpc>
                <a:spcPts val="1200"/>
              </a:lnSpc>
              <a:defRPr sz="900">
                <a:solidFill>
                  <a:srgbClr val="14282B"/>
                </a:solidFill>
                <a:latin typeface="Arial"/>
                <a:ea typeface="Arial"/>
                <a:cs typeface="Arial"/>
                <a:sym typeface="Arial"/>
              </a:defRPr>
            </a:pPr>
            <a:r>
              <a:t>Plenary: true / false — 5</a:t>
            </a:r>
          </a:p>
          <a:p>
            <a:pPr>
              <a:lnSpc>
                <a:spcPts val="1200"/>
              </a:lnSpc>
              <a:defRPr sz="900">
                <a:solidFill>
                  <a:srgbClr val="14282B"/>
                </a:solidFill>
                <a:latin typeface="Arial"/>
                <a:ea typeface="Arial"/>
                <a:cs typeface="Arial"/>
                <a:sym typeface="Arial"/>
              </a:defRPr>
            </a:pPr>
            <a:r>
              <a:t>──────────────</a:t>
            </a:r>
          </a:p>
          <a:p>
            <a:pPr>
              <a:lnSpc>
                <a:spcPts val="1200"/>
              </a:lnSpc>
              <a:defRPr sz="900">
                <a:solidFill>
                  <a:srgbClr val="14282B"/>
                </a:solidFill>
                <a:latin typeface="Arial"/>
                <a:ea typeface="Arial"/>
                <a:cs typeface="Arial"/>
                <a:sym typeface="Arial"/>
              </a:defRPr>
            </a:pPr>
            <a:r>
              <a:t>TOTAL 50 min</a:t>
            </a:r>
          </a:p>
          <a:p>
            <a:pPr>
              <a:lnSpc>
                <a:spcPts val="1200"/>
              </a:lnSpc>
              <a:defRPr sz="900"/>
            </a:pPr>
          </a:p>
          <a:p>
            <a:pPr>
              <a:lnSpc>
                <a:spcPts val="1200"/>
              </a:lnSpc>
              <a:defRPr sz="900">
                <a:solidFill>
                  <a:srgbClr val="14282B"/>
                </a:solidFill>
                <a:latin typeface="Arial"/>
                <a:ea typeface="Arial"/>
                <a:cs typeface="Arial"/>
                <a:sym typeface="Arial"/>
              </a:defRPr>
            </a:pPr>
            <a:r>
              <a:t>HONEST SCOPE: your objectives 4 and 5 (energy flow, matter movement) are NOT in this lesson. STOP after the plenary. They need L2 (food chains, webs, energy loss) and L3 (nutrient cycling). Attempting all five here gives five shallow objectives instead of three secure ones.</a:t>
            </a:r>
          </a:p>
          <a:p>
            <a:pPr>
              <a:lnSpc>
                <a:spcPts val="1200"/>
              </a:lnSpc>
              <a:defRPr sz="900"/>
            </a:pPr>
          </a:p>
          <a:p>
            <a:pPr>
              <a:lnSpc>
                <a:spcPts val="1200"/>
              </a:lnSpc>
              <a:defRPr sz="900">
                <a:solidFill>
                  <a:srgbClr val="14282B"/>
                </a:solidFill>
                <a:latin typeface="Arial"/>
                <a:ea typeface="Arial"/>
                <a:cs typeface="Arial"/>
                <a:sym typeface="Arial"/>
              </a:defRPr>
            </a:pPr>
            <a:r>
              <a:t>SENSITIVE CONTENT — slide 15: forest destruction, and a man who cut the mangrove down to pay his children's school fees. Some students have family in fishing or shrimp farming. Frame it as a repair story, not a blame story.</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3A3F"/>
        </a:solidFill>
      </p:bgPr>
    </p:bg>
    <p:spTree>
      <p:nvGrpSpPr>
        <p:cNvPr id="1" name=""/>
        <p:cNvGrpSpPr/>
        <p:nvPr/>
      </p:nvGrpSpPr>
      <p:grpSpPr>
        <a:xfrm>
          <a:off x="0" y="0"/>
          <a:ext cx="0" cy="0"/>
          <a:chOff x="0" y="0"/>
          <a:chExt cx="0" cy="0"/>
        </a:xfrm>
      </p:grpSpPr>
      <p:sp>
        <p:nvSpPr>
          <p:cNvPr id="35" name="motif_water"/>
          <p:cNvSpPr/>
          <p:nvPr/>
        </p:nvSpPr>
        <p:spPr>
          <a:xfrm>
            <a:off x="-1" y="5138928"/>
            <a:ext cx="12191697" cy="164593"/>
          </a:xfrm>
          <a:prstGeom prst="rect">
            <a:avLst/>
          </a:prstGeom>
          <a:solidFill>
            <a:srgbClr val="2E9E6B"/>
          </a:solidFill>
          <a:ln w="12700">
            <a:solidFill>
              <a:srgbClr val="2E9E6B"/>
            </a:solidFill>
          </a:ln>
        </p:spPr>
        <p:txBody>
          <a:bodyPr lIns="45719" rIns="45719"/>
          <a:lstStyle/>
          <a:p>
            <a:pPr/>
          </a:p>
        </p:txBody>
      </p:sp>
      <p:sp>
        <p:nvSpPr>
          <p:cNvPr id="36" name="motif_mud"/>
          <p:cNvSpPr/>
          <p:nvPr/>
        </p:nvSpPr>
        <p:spPr>
          <a:xfrm>
            <a:off x="-1" y="5303520"/>
            <a:ext cx="12191697" cy="1554481"/>
          </a:xfrm>
          <a:prstGeom prst="rect">
            <a:avLst/>
          </a:prstGeom>
          <a:solidFill>
            <a:srgbClr val="17505A"/>
          </a:solidFill>
          <a:ln w="12700">
            <a:solidFill>
              <a:srgbClr val="17505A"/>
            </a:solidFill>
          </a:ln>
        </p:spPr>
        <p:txBody>
          <a:bodyPr lIns="45719" rIns="45719"/>
          <a:lstStyle/>
          <a:p>
            <a:pPr/>
          </a:p>
        </p:txBody>
      </p:sp>
      <p:sp>
        <p:nvSpPr>
          <p:cNvPr id="37" name="title_kicker"/>
          <p:cNvSpPr txBox="1"/>
          <p:nvPr/>
        </p:nvSpPr>
        <p:spPr>
          <a:xfrm>
            <a:off x="502919" y="1833832"/>
            <a:ext cx="60350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60" sz="1200">
                <a:solidFill>
                  <a:srgbClr val="F5B301"/>
                </a:solidFill>
                <a:latin typeface="Arial"/>
                <a:ea typeface="Arial"/>
                <a:cs typeface="Arial"/>
                <a:sym typeface="Arial"/>
              </a:defRPr>
            </a:lvl1pPr>
          </a:lstStyle>
          <a:p>
            <a:pPr/>
            <a:r>
              <a:t>Y9 SCIENCE  ·  ECOSYSTEMS  ·  LESSON 1 OF 3</a:t>
            </a:r>
          </a:p>
        </p:txBody>
      </p:sp>
      <p:sp>
        <p:nvSpPr>
          <p:cNvPr id="38" name="title_main"/>
          <p:cNvSpPr txBox="1"/>
          <p:nvPr/>
        </p:nvSpPr>
        <p:spPr>
          <a:xfrm>
            <a:off x="502919" y="2303259"/>
            <a:ext cx="6035042" cy="1327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5200"/>
              </a:lnSpc>
              <a:defRPr b="1" sz="5000">
                <a:solidFill>
                  <a:srgbClr val="FAF4E6"/>
                </a:solidFill>
                <a:latin typeface="Georgia"/>
                <a:ea typeface="Georgia"/>
                <a:cs typeface="Georgia"/>
                <a:sym typeface="Georgia"/>
              </a:defRPr>
            </a:pPr>
            <a:r>
              <a:t>What is an</a:t>
            </a:r>
          </a:p>
          <a:p>
            <a:pPr>
              <a:lnSpc>
                <a:spcPts val="5200"/>
              </a:lnSpc>
              <a:defRPr b="1" sz="5000">
                <a:solidFill>
                  <a:srgbClr val="FAF4E6"/>
                </a:solidFill>
                <a:latin typeface="Georgia"/>
                <a:ea typeface="Georgia"/>
                <a:cs typeface="Georgia"/>
                <a:sym typeface="Georgia"/>
              </a:defRPr>
            </a:pPr>
            <a:r>
              <a:t>ecosystem?</a:t>
            </a:r>
          </a:p>
        </p:txBody>
      </p:sp>
      <p:sp>
        <p:nvSpPr>
          <p:cNvPr id="39" name="title_sub"/>
          <p:cNvSpPr txBox="1"/>
          <p:nvPr/>
        </p:nvSpPr>
        <p:spPr>
          <a:xfrm>
            <a:off x="502919" y="3950208"/>
            <a:ext cx="6035042" cy="2638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500">
                <a:solidFill>
                  <a:srgbClr val="F0E4C8"/>
                </a:solidFill>
                <a:latin typeface="Arial"/>
                <a:ea typeface="Arial"/>
                <a:cs typeface="Arial"/>
                <a:sym typeface="Arial"/>
              </a:defRPr>
            </a:lvl1pPr>
          </a:lstStyle>
          <a:p>
            <a:pPr/>
            <a:r>
              <a:t>Everything alive depends on something that is not</a:t>
            </a:r>
          </a:p>
        </p:txBody>
      </p:sp>
      <p:sp>
        <p:nvSpPr>
          <p:cNvPr id="40" name="title_place"/>
          <p:cNvSpPr txBox="1"/>
          <p:nvPr/>
        </p:nvSpPr>
        <p:spPr>
          <a:xfrm>
            <a:off x="502919" y="6030928"/>
            <a:ext cx="685800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F5B301"/>
                </a:solidFill>
                <a:latin typeface="Arial"/>
                <a:ea typeface="Arial"/>
                <a:cs typeface="Arial"/>
                <a:sym typeface="Arial"/>
              </a:defRPr>
            </a:lvl1pPr>
          </a:lstStyle>
          <a:p>
            <a:pPr/>
            <a:r>
              <a:t>Thung Prong Thong mangrove · Pak Nam Prasae · Klaeng · Rayong</a:t>
            </a:r>
          </a:p>
        </p:txBody>
      </p:sp>
      <p:pic>
        <p:nvPicPr>
          <p:cNvPr id="41" name="Image" descr="Image"/>
          <p:cNvPicPr>
            <a:picLocks noChangeAspect="1"/>
          </p:cNvPicPr>
          <p:nvPr/>
        </p:nvPicPr>
        <p:blipFill>
          <a:blip r:embed="rId3">
            <a:extLst/>
          </a:blip>
          <a:stretch>
            <a:fillRect/>
          </a:stretch>
        </p:blipFill>
        <p:spPr>
          <a:xfrm>
            <a:off x="5298539" y="1236332"/>
            <a:ext cx="6593891" cy="346179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37"/>
                                        </p:tgtEl>
                                        <p:attrNameLst>
                                          <p:attrName>style.visibility</p:attrName>
                                        </p:attrNameLst>
                                      </p:cBhvr>
                                      <p:to>
                                        <p:strVal val="visible"/>
                                      </p:to>
                                    </p:set>
                                    <p:animEffect filter="fade" transition="in">
                                      <p:cBhvr>
                                        <p:cTn id="7" dur="500"/>
                                        <p:tgtEl>
                                          <p:spTgt spid="37"/>
                                        </p:tgtEl>
                                      </p:cBhvr>
                                    </p:animEffect>
                                  </p:childTnLst>
                                </p:cTn>
                              </p:par>
                            </p:childTnLst>
                          </p:cTn>
                        </p:par>
                        <p:par>
                          <p:cTn id="8" fill="hold">
                            <p:stCondLst>
                              <p:cond delay="500"/>
                            </p:stCondLst>
                            <p:childTnLst>
                              <p:par>
                                <p:cTn id="9" presetClass="entr" nodeType="afterEffect" presetID="10" grpId="2" fill="hold">
                                  <p:stCondLst>
                                    <p:cond delay="150"/>
                                  </p:stCondLst>
                                  <p:iterate type="el" backwards="0">
                                    <p:tmAbs val="0"/>
                                  </p:iterate>
                                  <p:childTnLst>
                                    <p:set>
                                      <p:cBhvr>
                                        <p:cTn id="10" fill="hold"/>
                                        <p:tgtEl>
                                          <p:spTgt spid="38"/>
                                        </p:tgtEl>
                                        <p:attrNameLst>
                                          <p:attrName>style.visibility</p:attrName>
                                        </p:attrNameLst>
                                      </p:cBhvr>
                                      <p:to>
                                        <p:strVal val="visible"/>
                                      </p:to>
                                    </p:set>
                                    <p:animEffect filter="fade" transition="in">
                                      <p:cBhvr>
                                        <p:cTn id="11" dur="700"/>
                                        <p:tgtEl>
                                          <p:spTgt spid="38"/>
                                        </p:tgtEl>
                                      </p:cBhvr>
                                    </p:animEffect>
                                  </p:childTnLst>
                                </p:cTn>
                              </p:par>
                            </p:childTnLst>
                          </p:cTn>
                        </p:par>
                        <p:par>
                          <p:cTn id="12" fill="hold">
                            <p:stCondLst>
                              <p:cond delay="1350"/>
                            </p:stCondLst>
                            <p:childTnLst>
                              <p:par>
                                <p:cTn id="13" presetClass="entr" nodeType="afterEffect" presetSubtype="8" presetID="22" grpId="3" fill="hold">
                                  <p:stCondLst>
                                    <p:cond delay="550"/>
                                  </p:stCondLst>
                                  <p:iterate type="el" backwards="0">
                                    <p:tmAbs val="0"/>
                                  </p:iterate>
                                  <p:childTnLst>
                                    <p:set>
                                      <p:cBhvr>
                                        <p:cTn id="14" fill="hold"/>
                                        <p:tgtEl>
                                          <p:spTgt spid="35"/>
                                        </p:tgtEl>
                                        <p:attrNameLst>
                                          <p:attrName>style.visibility</p:attrName>
                                        </p:attrNameLst>
                                      </p:cBhvr>
                                      <p:to>
                                        <p:strVal val="visible"/>
                                      </p:to>
                                    </p:set>
                                    <p:animEffect filter="wipe(left)" transition="in">
                                      <p:cBhvr>
                                        <p:cTn id="15" dur="500"/>
                                        <p:tgtEl>
                                          <p:spTgt spid="35"/>
                                        </p:tgtEl>
                                      </p:cBhvr>
                                    </p:animEffect>
                                  </p:childTnLst>
                                </p:cTn>
                              </p:par>
                            </p:childTnLst>
                          </p:cTn>
                        </p:par>
                        <p:par>
                          <p:cTn id="16" fill="hold">
                            <p:stCondLst>
                              <p:cond delay="2400"/>
                            </p:stCondLst>
                            <p:childTnLst>
                              <p:par>
                                <p:cTn id="17" presetClass="entr" nodeType="afterEffect" presetSubtype="8" presetID="22" grpId="4" fill="hold">
                                  <p:stCondLst>
                                    <p:cond delay="700"/>
                                  </p:stCondLst>
                                  <p:iterate type="el" backwards="0">
                                    <p:tmAbs val="0"/>
                                  </p:iterate>
                                  <p:childTnLst>
                                    <p:set>
                                      <p:cBhvr>
                                        <p:cTn id="18" fill="hold"/>
                                        <p:tgtEl>
                                          <p:spTgt spid="36"/>
                                        </p:tgtEl>
                                        <p:attrNameLst>
                                          <p:attrName>style.visibility</p:attrName>
                                        </p:attrNameLst>
                                      </p:cBhvr>
                                      <p:to>
                                        <p:strVal val="visible"/>
                                      </p:to>
                                    </p:set>
                                    <p:animEffect filter="wipe(left)" transition="in">
                                      <p:cBhvr>
                                        <p:cTn id="19" dur="500"/>
                                        <p:tgtEl>
                                          <p:spTgt spid="36"/>
                                        </p:tgtEl>
                                      </p:cBhvr>
                                    </p:animEffect>
                                  </p:childTnLst>
                                </p:cTn>
                              </p:par>
                            </p:childTnLst>
                          </p:cTn>
                        </p:par>
                        <p:par>
                          <p:cTn id="20" fill="hold">
                            <p:stCondLst>
                              <p:cond delay="3600"/>
                            </p:stCondLst>
                            <p:childTnLst>
                              <p:par>
                                <p:cTn id="21" presetClass="entr" nodeType="afterEffect" presetID="10" grpId="5" fill="hold">
                                  <p:stCondLst>
                                    <p:cond delay="1900"/>
                                  </p:stCondLst>
                                  <p:iterate type="el" backwards="0">
                                    <p:tmAbs val="0"/>
                                  </p:iterate>
                                  <p:childTnLst>
                                    <p:set>
                                      <p:cBhvr>
                                        <p:cTn id="22" fill="hold"/>
                                        <p:tgtEl>
                                          <p:spTgt spid="39"/>
                                        </p:tgtEl>
                                        <p:attrNameLst>
                                          <p:attrName>style.visibility</p:attrName>
                                        </p:attrNameLst>
                                      </p:cBhvr>
                                      <p:to>
                                        <p:strVal val="visible"/>
                                      </p:to>
                                    </p:set>
                                    <p:animEffect filter="fade" transition="in">
                                      <p:cBhvr>
                                        <p:cTn id="23" dur="500"/>
                                        <p:tgtEl>
                                          <p:spTgt spid="39"/>
                                        </p:tgtEl>
                                      </p:cBhvr>
                                    </p:animEffect>
                                  </p:childTnLst>
                                </p:cTn>
                              </p:par>
                            </p:childTnLst>
                          </p:cTn>
                        </p:par>
                        <p:par>
                          <p:cTn id="24" fill="hold">
                            <p:stCondLst>
                              <p:cond delay="6000"/>
                            </p:stCondLst>
                            <p:childTnLst>
                              <p:par>
                                <p:cTn id="25" presetClass="entr" nodeType="afterEffect" presetID="10" grpId="6" fill="hold">
                                  <p:stCondLst>
                                    <p:cond delay="2200"/>
                                  </p:stCondLst>
                                  <p:iterate type="el" backwards="0">
                                    <p:tmAbs val="0"/>
                                  </p:iterate>
                                  <p:childTnLst>
                                    <p:set>
                                      <p:cBhvr>
                                        <p:cTn id="26" fill="hold"/>
                                        <p:tgtEl>
                                          <p:spTgt spid="40"/>
                                        </p:tgtEl>
                                        <p:attrNameLst>
                                          <p:attrName>style.visibility</p:attrName>
                                        </p:attrNameLst>
                                      </p:cBhvr>
                                      <p:to>
                                        <p:strVal val="visible"/>
                                      </p:to>
                                    </p:set>
                                    <p:animEffect filter="fade" transition="in">
                                      <p:cBhvr>
                                        <p:cTn id="27" dur="500"/>
                                        <p:tgtEl>
                                          <p:spTgt spid="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 grpId="3"/>
      <p:bldP build="whole" bldLvl="1" animBg="1" rev="0" advAuto="0" spid="37" grpId="1"/>
      <p:bldP build="whole" bldLvl="1" animBg="1" rev="0" advAuto="0" spid="38" grpId="2"/>
      <p:bldP build="whole" bldLvl="1" animBg="1" rev="0" advAuto="0" spid="36" grpId="4"/>
      <p:bldP build="whole" bldLvl="1" animBg="1" rev="0" advAuto="0" spid="39" grpId="5"/>
      <p:bldP build="whole" bldLvl="1" animBg="1" rev="0" advAuto="0" spid="40" grpId="6"/>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47" name="phase_pill"/>
          <p:cNvGrpSpPr/>
          <p:nvPr/>
        </p:nvGrpSpPr>
        <p:grpSpPr>
          <a:xfrm>
            <a:off x="502919" y="274320"/>
            <a:ext cx="3017522" cy="347473"/>
            <a:chOff x="0" y="0"/>
            <a:chExt cx="3017520" cy="347472"/>
          </a:xfrm>
        </p:grpSpPr>
        <p:sp>
          <p:nvSpPr>
            <p:cNvPr id="45" name="Rounded Rectangle"/>
            <p:cNvSpPr/>
            <p:nvPr/>
          </p:nvSpPr>
          <p:spPr>
            <a:xfrm>
              <a:off x="0" y="0"/>
              <a:ext cx="3017521"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46" name="OBJECTIVES · 1 MIN"/>
            <p:cNvSpPr txBox="1"/>
            <p:nvPr/>
          </p:nvSpPr>
          <p:spPr>
            <a:xfrm>
              <a:off x="50886" y="99821"/>
              <a:ext cx="291574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OBJECTIVES · 1 MIN</a:t>
              </a:r>
            </a:p>
          </p:txBody>
        </p:sp>
      </p:grpSp>
      <p:sp>
        <p:nvSpPr>
          <p:cNvPr id="48"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Today, and how you will know you got there</a:t>
            </a:r>
          </a:p>
        </p:txBody>
      </p:sp>
      <p:sp>
        <p:nvSpPr>
          <p:cNvPr id="49" name="obj_left_bg"/>
          <p:cNvSpPr/>
          <p:nvPr/>
        </p:nvSpPr>
        <p:spPr>
          <a:xfrm>
            <a:off x="502919" y="1810511"/>
            <a:ext cx="5387189" cy="4160522"/>
          </a:xfrm>
          <a:prstGeom prst="roundRect">
            <a:avLst>
              <a:gd name="adj" fmla="val 3077"/>
            </a:avLst>
          </a:prstGeom>
          <a:solidFill>
            <a:srgbClr val="FFFFFF"/>
          </a:solidFill>
          <a:ln w="15875">
            <a:solidFill>
              <a:srgbClr val="F0E4C8"/>
            </a:solidFill>
          </a:ln>
        </p:spPr>
        <p:txBody>
          <a:bodyPr lIns="45719" rIns="45719"/>
          <a:lstStyle/>
          <a:p>
            <a:pPr/>
          </a:p>
        </p:txBody>
      </p:sp>
      <p:sp>
        <p:nvSpPr>
          <p:cNvPr id="50" name="obj_left_head"/>
          <p:cNvSpPr txBox="1"/>
          <p:nvPr/>
        </p:nvSpPr>
        <p:spPr>
          <a:xfrm>
            <a:off x="740664" y="2065781"/>
            <a:ext cx="49117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10" sz="1100">
                <a:solidFill>
                  <a:srgbClr val="0E3A3F"/>
                </a:solidFill>
                <a:latin typeface="Arial"/>
                <a:ea typeface="Arial"/>
                <a:cs typeface="Arial"/>
                <a:sym typeface="Arial"/>
              </a:defRPr>
            </a:lvl1pPr>
          </a:lstStyle>
          <a:p>
            <a:pPr/>
            <a:r>
              <a:t>LESSON OBJECTIVES</a:t>
            </a:r>
          </a:p>
        </p:txBody>
      </p:sp>
      <p:sp>
        <p:nvSpPr>
          <p:cNvPr id="51" name="obj_left_body"/>
          <p:cNvSpPr txBox="1"/>
          <p:nvPr/>
        </p:nvSpPr>
        <p:spPr>
          <a:xfrm>
            <a:off x="740664" y="2377439"/>
            <a:ext cx="4911700" cy="1564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500"/>
              </a:lnSpc>
              <a:defRPr b="1" sz="1500">
                <a:solidFill>
                  <a:srgbClr val="F5B301"/>
                </a:solidFill>
                <a:latin typeface="Arial"/>
                <a:ea typeface="Arial"/>
                <a:cs typeface="Arial"/>
                <a:sym typeface="Arial"/>
              </a:defRPr>
            </a:pPr>
            <a:r>
              <a:t>1.  </a:t>
            </a:r>
            <a:r>
              <a:rPr b="0">
                <a:solidFill>
                  <a:srgbClr val="14282B"/>
                </a:solidFill>
              </a:rPr>
              <a:t>Define an ecosystem and give examples from Rayong.</a:t>
            </a:r>
            <a:endParaRPr b="0">
              <a:solidFill>
                <a:srgbClr val="14282B"/>
              </a:solidFill>
            </a:endParaRPr>
          </a:p>
          <a:p>
            <a:pPr>
              <a:lnSpc>
                <a:spcPts val="2500"/>
              </a:lnSpc>
              <a:defRPr b="1" sz="1500">
                <a:solidFill>
                  <a:srgbClr val="F5B301"/>
                </a:solidFill>
                <a:latin typeface="Arial"/>
                <a:ea typeface="Arial"/>
                <a:cs typeface="Arial"/>
                <a:sym typeface="Arial"/>
              </a:defRPr>
            </a:pPr>
            <a:r>
              <a:t>2.  </a:t>
            </a:r>
            <a:r>
              <a:rPr b="0">
                <a:solidFill>
                  <a:srgbClr val="14282B"/>
                </a:solidFill>
              </a:rPr>
              <a:t>Identify abiotic factors in an ecosystem, and say how each one affects living things.</a:t>
            </a:r>
            <a:endParaRPr b="0">
              <a:solidFill>
                <a:srgbClr val="14282B"/>
              </a:solidFill>
            </a:endParaRPr>
          </a:p>
          <a:p>
            <a:pPr>
              <a:lnSpc>
                <a:spcPts val="2500"/>
              </a:lnSpc>
              <a:defRPr b="1" sz="1500">
                <a:solidFill>
                  <a:srgbClr val="F5B301"/>
                </a:solidFill>
                <a:latin typeface="Arial"/>
                <a:ea typeface="Arial"/>
                <a:cs typeface="Arial"/>
                <a:sym typeface="Arial"/>
              </a:defRPr>
            </a:pPr>
            <a:r>
              <a:t>3.  </a:t>
            </a:r>
            <a:r>
              <a:rPr b="0">
                <a:solidFill>
                  <a:srgbClr val="14282B"/>
                </a:solidFill>
              </a:rPr>
              <a:t>Describe biotic factors, including the three jobs that living things do.</a:t>
            </a:r>
          </a:p>
        </p:txBody>
      </p:sp>
      <p:sp>
        <p:nvSpPr>
          <p:cNvPr id="52" name="obj_left_next"/>
          <p:cNvSpPr txBox="1"/>
          <p:nvPr/>
        </p:nvSpPr>
        <p:spPr>
          <a:xfrm>
            <a:off x="740664" y="5377132"/>
            <a:ext cx="49117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4A6165"/>
                </a:solidFill>
                <a:latin typeface="Arial"/>
                <a:ea typeface="Arial"/>
                <a:cs typeface="Arial"/>
                <a:sym typeface="Arial"/>
              </a:defRPr>
            </a:lvl1pPr>
          </a:lstStyle>
          <a:p>
            <a:pPr/>
            <a:r>
              <a:t>Next lesson: how energy flows. The lesson after: how matter moves.</a:t>
            </a:r>
          </a:p>
        </p:txBody>
      </p:sp>
      <p:grpSp>
        <p:nvGrpSpPr>
          <p:cNvPr id="63" name="success_criteria"/>
          <p:cNvGrpSpPr/>
          <p:nvPr/>
        </p:nvGrpSpPr>
        <p:grpSpPr>
          <a:xfrm>
            <a:off x="6301587" y="1810511"/>
            <a:ext cx="5387189" cy="4160522"/>
            <a:chOff x="0" y="0"/>
            <a:chExt cx="5387188" cy="4160520"/>
          </a:xfrm>
        </p:grpSpPr>
        <p:sp>
          <p:nvSpPr>
            <p:cNvPr id="53" name="obj_right_bg"/>
            <p:cNvSpPr/>
            <p:nvPr/>
          </p:nvSpPr>
          <p:spPr>
            <a:xfrm>
              <a:off x="-1" y="0"/>
              <a:ext cx="5387190" cy="4160521"/>
            </a:xfrm>
            <a:prstGeom prst="roundRect">
              <a:avLst>
                <a:gd name="adj" fmla="val 3077"/>
              </a:avLst>
            </a:prstGeom>
            <a:solidFill>
              <a:srgbClr val="EAF7F0"/>
            </a:solidFill>
            <a:ln w="15875" cap="flat">
              <a:solidFill>
                <a:srgbClr val="2E9E6B"/>
              </a:solidFill>
              <a:prstDash val="solid"/>
              <a:round/>
            </a:ln>
            <a:effectLst/>
          </p:spPr>
          <p:txBody>
            <a:bodyPr wrap="square" lIns="45719" tIns="45719" rIns="45719" bIns="45719" numCol="1" anchor="t">
              <a:noAutofit/>
            </a:bodyPr>
            <a:lstStyle/>
            <a:p>
              <a:pPr/>
            </a:p>
          </p:txBody>
        </p:sp>
        <p:sp>
          <p:nvSpPr>
            <p:cNvPr id="54" name="obj_right_head"/>
            <p:cNvSpPr txBox="1"/>
            <p:nvPr/>
          </p:nvSpPr>
          <p:spPr>
            <a:xfrm>
              <a:off x="237743" y="255269"/>
              <a:ext cx="4911701"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2E9E6B"/>
                  </a:solidFill>
                  <a:latin typeface="Arial"/>
                  <a:ea typeface="Arial"/>
                  <a:cs typeface="Arial"/>
                  <a:sym typeface="Arial"/>
                </a:defRPr>
              </a:lvl1pPr>
            </a:lstStyle>
            <a:p>
              <a:pPr/>
              <a:r>
                <a:t>SUCCESS CRITERIA — tick these off yourself</a:t>
              </a:r>
            </a:p>
          </p:txBody>
        </p:sp>
        <p:sp>
          <p:nvSpPr>
            <p:cNvPr id="55" name="sc_box0"/>
            <p:cNvSpPr/>
            <p:nvPr/>
          </p:nvSpPr>
          <p:spPr>
            <a:xfrm>
              <a:off x="237743" y="676656"/>
              <a:ext cx="256033" cy="256033"/>
            </a:xfrm>
            <a:prstGeom prst="roundRect">
              <a:avLst>
                <a:gd name="adj" fmla="val 17857"/>
              </a:avLst>
            </a:prstGeom>
            <a:solidFill>
              <a:srgbClr val="FFFFFF"/>
            </a:solidFill>
            <a:ln w="17780" cap="flat">
              <a:solidFill>
                <a:srgbClr val="2E9E6B"/>
              </a:solidFill>
              <a:prstDash val="solid"/>
              <a:round/>
            </a:ln>
            <a:effectLst/>
          </p:spPr>
          <p:txBody>
            <a:bodyPr wrap="square" lIns="45719" tIns="45719" rIns="45719" bIns="45719" numCol="1" anchor="t">
              <a:noAutofit/>
            </a:bodyPr>
            <a:lstStyle/>
            <a:p>
              <a:pPr/>
            </a:p>
          </p:txBody>
        </p:sp>
        <p:sp>
          <p:nvSpPr>
            <p:cNvPr id="56" name="sc_text0"/>
            <p:cNvSpPr txBox="1"/>
            <p:nvPr/>
          </p:nvSpPr>
          <p:spPr>
            <a:xfrm>
              <a:off x="603503" y="554006"/>
              <a:ext cx="4545941" cy="4464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300">
                  <a:solidFill>
                    <a:srgbClr val="14282B"/>
                  </a:solidFill>
                  <a:latin typeface="Arial"/>
                  <a:ea typeface="Arial"/>
                  <a:cs typeface="Arial"/>
                  <a:sym typeface="Arial"/>
                </a:defRPr>
              </a:lvl1pPr>
            </a:lstStyle>
            <a:p>
              <a:pPr/>
              <a:r>
                <a:t>I can write a definition of "ecosystem" that includes both living and non-living parts.</a:t>
              </a:r>
            </a:p>
          </p:txBody>
        </p:sp>
        <p:sp>
          <p:nvSpPr>
            <p:cNvPr id="57" name="sc_box1"/>
            <p:cNvSpPr/>
            <p:nvPr/>
          </p:nvSpPr>
          <p:spPr>
            <a:xfrm>
              <a:off x="237743" y="1545336"/>
              <a:ext cx="256033" cy="256033"/>
            </a:xfrm>
            <a:prstGeom prst="roundRect">
              <a:avLst>
                <a:gd name="adj" fmla="val 17857"/>
              </a:avLst>
            </a:prstGeom>
            <a:solidFill>
              <a:srgbClr val="FFFFFF"/>
            </a:solidFill>
            <a:ln w="17780" cap="flat">
              <a:solidFill>
                <a:srgbClr val="2E9E6B"/>
              </a:solidFill>
              <a:prstDash val="solid"/>
              <a:round/>
            </a:ln>
            <a:effectLst/>
          </p:spPr>
          <p:txBody>
            <a:bodyPr wrap="square" lIns="45719" tIns="45719" rIns="45719" bIns="45719" numCol="1" anchor="t">
              <a:noAutofit/>
            </a:bodyPr>
            <a:lstStyle/>
            <a:p>
              <a:pPr/>
            </a:p>
          </p:txBody>
        </p:sp>
        <p:sp>
          <p:nvSpPr>
            <p:cNvPr id="58" name="sc_text1"/>
            <p:cNvSpPr txBox="1"/>
            <p:nvPr/>
          </p:nvSpPr>
          <p:spPr>
            <a:xfrm>
              <a:off x="603503" y="1422686"/>
              <a:ext cx="4545941" cy="4464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300">
                  <a:solidFill>
                    <a:srgbClr val="14282B"/>
                  </a:solidFill>
                  <a:latin typeface="Arial"/>
                  <a:ea typeface="Arial"/>
                  <a:cs typeface="Arial"/>
                  <a:sym typeface="Arial"/>
                </a:defRPr>
              </a:lvl1pPr>
            </a:lstStyle>
            <a:p>
              <a:pPr/>
              <a:r>
                <a:t>I can name four abiotic factors in the Prasae mangrove and say what each one does.</a:t>
              </a:r>
            </a:p>
          </p:txBody>
        </p:sp>
        <p:sp>
          <p:nvSpPr>
            <p:cNvPr id="59" name="sc_box2"/>
            <p:cNvSpPr/>
            <p:nvPr/>
          </p:nvSpPr>
          <p:spPr>
            <a:xfrm>
              <a:off x="237743" y="2414016"/>
              <a:ext cx="256033" cy="256033"/>
            </a:xfrm>
            <a:prstGeom prst="roundRect">
              <a:avLst>
                <a:gd name="adj" fmla="val 17857"/>
              </a:avLst>
            </a:prstGeom>
            <a:solidFill>
              <a:srgbClr val="FFFFFF"/>
            </a:solidFill>
            <a:ln w="17780" cap="flat">
              <a:solidFill>
                <a:srgbClr val="2E9E6B"/>
              </a:solidFill>
              <a:prstDash val="solid"/>
              <a:round/>
            </a:ln>
            <a:effectLst/>
          </p:spPr>
          <p:txBody>
            <a:bodyPr wrap="square" lIns="45719" tIns="45719" rIns="45719" bIns="45719" numCol="1" anchor="t">
              <a:noAutofit/>
            </a:bodyPr>
            <a:lstStyle/>
            <a:p>
              <a:pPr/>
            </a:p>
          </p:txBody>
        </p:sp>
        <p:sp>
          <p:nvSpPr>
            <p:cNvPr id="60" name="sc_text2"/>
            <p:cNvSpPr txBox="1"/>
            <p:nvPr/>
          </p:nvSpPr>
          <p:spPr>
            <a:xfrm>
              <a:off x="603503" y="2291366"/>
              <a:ext cx="4545941" cy="4464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300">
                  <a:solidFill>
                    <a:srgbClr val="14282B"/>
                  </a:solidFill>
                  <a:latin typeface="Arial"/>
                  <a:ea typeface="Arial"/>
                  <a:cs typeface="Arial"/>
                  <a:sym typeface="Arial"/>
                </a:defRPr>
              </a:lvl1pPr>
            </a:lstStyle>
            <a:p>
              <a:pPr/>
              <a:r>
                <a:t>I can sort organisms into producer, consumer and decomposer, and justify one of my choices.</a:t>
              </a:r>
            </a:p>
          </p:txBody>
        </p:sp>
        <p:sp>
          <p:nvSpPr>
            <p:cNvPr id="61" name="sc_box3"/>
            <p:cNvSpPr/>
            <p:nvPr/>
          </p:nvSpPr>
          <p:spPr>
            <a:xfrm>
              <a:off x="237743" y="3282696"/>
              <a:ext cx="256033" cy="256033"/>
            </a:xfrm>
            <a:prstGeom prst="roundRect">
              <a:avLst>
                <a:gd name="adj" fmla="val 17857"/>
              </a:avLst>
            </a:prstGeom>
            <a:solidFill>
              <a:srgbClr val="FFFFFF"/>
            </a:solidFill>
            <a:ln w="17780" cap="flat">
              <a:solidFill>
                <a:srgbClr val="2E9E6B"/>
              </a:solidFill>
              <a:prstDash val="solid"/>
              <a:round/>
            </a:ln>
            <a:effectLst/>
          </p:spPr>
          <p:txBody>
            <a:bodyPr wrap="square" lIns="45719" tIns="45719" rIns="45719" bIns="45719" numCol="1" anchor="t">
              <a:noAutofit/>
            </a:bodyPr>
            <a:lstStyle/>
            <a:p>
              <a:pPr/>
            </a:p>
          </p:txBody>
        </p:sp>
        <p:sp>
          <p:nvSpPr>
            <p:cNvPr id="62" name="sc_text3"/>
            <p:cNvSpPr txBox="1"/>
            <p:nvPr/>
          </p:nvSpPr>
          <p:spPr>
            <a:xfrm>
              <a:off x="603503" y="3160046"/>
              <a:ext cx="4545941" cy="4464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300">
                  <a:solidFill>
                    <a:srgbClr val="14282B"/>
                  </a:solidFill>
                  <a:latin typeface="Arial"/>
                  <a:ea typeface="Arial"/>
                  <a:cs typeface="Arial"/>
                  <a:sym typeface="Arial"/>
                </a:defRPr>
              </a:lvl1pPr>
            </a:lstStyle>
            <a:p>
              <a:pPr/>
              <a:r>
                <a:t>I can explain why a sandbank low in nitrogen grows gold leaves instead of green ones.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63"/>
                                        </p:tgtEl>
                                        <p:attrNameLst>
                                          <p:attrName>style.visibility</p:attrName>
                                        </p:attrNameLst>
                                      </p:cBhvr>
                                      <p:to>
                                        <p:strVal val="visible"/>
                                      </p:to>
                                    </p:set>
                                    <p:animEffect filter="wipe(left)" transition="in">
                                      <p:cBhvr>
                                        <p:cTn id="7" dur="65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69" name="phase_pill"/>
          <p:cNvGrpSpPr/>
          <p:nvPr/>
        </p:nvGrpSpPr>
        <p:grpSpPr>
          <a:xfrm>
            <a:off x="502919" y="274320"/>
            <a:ext cx="2432306" cy="347473"/>
            <a:chOff x="0" y="0"/>
            <a:chExt cx="2432304" cy="347472"/>
          </a:xfrm>
        </p:grpSpPr>
        <p:sp>
          <p:nvSpPr>
            <p:cNvPr id="67" name="Rounded Rectangle"/>
            <p:cNvSpPr/>
            <p:nvPr/>
          </p:nvSpPr>
          <p:spPr>
            <a:xfrm>
              <a:off x="0" y="0"/>
              <a:ext cx="2432305"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68" name="DO NOW · 5 MIN"/>
            <p:cNvSpPr txBox="1"/>
            <p:nvPr/>
          </p:nvSpPr>
          <p:spPr>
            <a:xfrm>
              <a:off x="50886" y="99821"/>
              <a:ext cx="23305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DO NOW · 5 MIN</a:t>
              </a:r>
            </a:p>
          </p:txBody>
        </p:sp>
      </p:grpSp>
      <p:sp>
        <p:nvSpPr>
          <p:cNvPr id="70"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Do Now</a:t>
            </a:r>
          </a:p>
        </p:txBody>
      </p:sp>
      <p:sp>
        <p:nvSpPr>
          <p:cNvPr id="71"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Books open. Answer all six in your book. You have three minutes.</a:t>
            </a:r>
          </a:p>
        </p:txBody>
      </p:sp>
      <p:sp>
        <p:nvSpPr>
          <p:cNvPr id="72" name="dn0_bg"/>
          <p:cNvSpPr/>
          <p:nvPr/>
        </p:nvSpPr>
        <p:spPr>
          <a:xfrm>
            <a:off x="502919" y="2212848"/>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73" name="dn0_num"/>
          <p:cNvSpPr txBox="1"/>
          <p:nvPr/>
        </p:nvSpPr>
        <p:spPr>
          <a:xfrm>
            <a:off x="685800" y="2387599"/>
            <a:ext cx="31089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1</a:t>
            </a:r>
          </a:p>
        </p:txBody>
      </p:sp>
      <p:sp>
        <p:nvSpPr>
          <p:cNvPr id="74" name="dn0_q"/>
          <p:cNvSpPr txBox="1"/>
          <p:nvPr/>
        </p:nvSpPr>
        <p:spPr>
          <a:xfrm>
            <a:off x="1051560" y="2465610"/>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Name three things a plant needs for photosynthesis.</a:t>
            </a:r>
          </a:p>
        </p:txBody>
      </p:sp>
      <p:grpSp>
        <p:nvGrpSpPr>
          <p:cNvPr id="77" name="dn0_a"/>
          <p:cNvGrpSpPr/>
          <p:nvPr/>
        </p:nvGrpSpPr>
        <p:grpSpPr>
          <a:xfrm>
            <a:off x="1051560" y="2852927"/>
            <a:ext cx="4715105" cy="457201"/>
            <a:chOff x="0" y="0"/>
            <a:chExt cx="4715104" cy="457200"/>
          </a:xfrm>
        </p:grpSpPr>
        <p:sp>
          <p:nvSpPr>
            <p:cNvPr id="75"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76" name="Light, carbon dioxide and water."/>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Light, carbon dioxide and water.</a:t>
              </a:r>
            </a:p>
          </p:txBody>
        </p:sp>
      </p:grpSp>
      <p:sp>
        <p:nvSpPr>
          <p:cNvPr id="78" name="dn1_bg"/>
          <p:cNvSpPr/>
          <p:nvPr/>
        </p:nvSpPr>
        <p:spPr>
          <a:xfrm>
            <a:off x="6205575" y="2212848"/>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79" name="dn1_num"/>
          <p:cNvSpPr txBox="1"/>
          <p:nvPr/>
        </p:nvSpPr>
        <p:spPr>
          <a:xfrm>
            <a:off x="6388456" y="2387599"/>
            <a:ext cx="31089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2</a:t>
            </a:r>
          </a:p>
        </p:txBody>
      </p:sp>
      <p:sp>
        <p:nvSpPr>
          <p:cNvPr id="80" name="dn1_q"/>
          <p:cNvSpPr txBox="1"/>
          <p:nvPr/>
        </p:nvSpPr>
        <p:spPr>
          <a:xfrm>
            <a:off x="6754215" y="2465610"/>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Which gas do plants release in the light?</a:t>
            </a:r>
          </a:p>
        </p:txBody>
      </p:sp>
      <p:grpSp>
        <p:nvGrpSpPr>
          <p:cNvPr id="83" name="dn1_a"/>
          <p:cNvGrpSpPr/>
          <p:nvPr/>
        </p:nvGrpSpPr>
        <p:grpSpPr>
          <a:xfrm>
            <a:off x="6754215" y="2852927"/>
            <a:ext cx="4715105" cy="457201"/>
            <a:chOff x="0" y="0"/>
            <a:chExt cx="4715104" cy="457200"/>
          </a:xfrm>
        </p:grpSpPr>
        <p:sp>
          <p:nvSpPr>
            <p:cNvPr id="81"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82" name="Oxygen."/>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Oxygen.</a:t>
              </a:r>
            </a:p>
          </p:txBody>
        </p:sp>
      </p:grpSp>
      <p:sp>
        <p:nvSpPr>
          <p:cNvPr id="84" name="dn2_bg"/>
          <p:cNvSpPr/>
          <p:nvPr/>
        </p:nvSpPr>
        <p:spPr>
          <a:xfrm>
            <a:off x="502919" y="3602735"/>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85" name="dn2_num"/>
          <p:cNvSpPr txBox="1"/>
          <p:nvPr/>
        </p:nvSpPr>
        <p:spPr>
          <a:xfrm>
            <a:off x="685800" y="3777488"/>
            <a:ext cx="31089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3</a:t>
            </a:r>
          </a:p>
        </p:txBody>
      </p:sp>
      <p:sp>
        <p:nvSpPr>
          <p:cNvPr id="86" name="dn2_q"/>
          <p:cNvSpPr txBox="1"/>
          <p:nvPr/>
        </p:nvSpPr>
        <p:spPr>
          <a:xfrm>
            <a:off x="1051560" y="3855498"/>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Name two weather factors.</a:t>
            </a:r>
          </a:p>
        </p:txBody>
      </p:sp>
      <p:grpSp>
        <p:nvGrpSpPr>
          <p:cNvPr id="89" name="dn2_a"/>
          <p:cNvGrpSpPr/>
          <p:nvPr/>
        </p:nvGrpSpPr>
        <p:grpSpPr>
          <a:xfrm>
            <a:off x="1051560" y="4242815"/>
            <a:ext cx="4715105" cy="457201"/>
            <a:chOff x="0" y="0"/>
            <a:chExt cx="4715104" cy="457200"/>
          </a:xfrm>
        </p:grpSpPr>
        <p:sp>
          <p:nvSpPr>
            <p:cNvPr id="87"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88" name="Temperature and humidity. (Also wind and pressure.)"/>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Temperature and humidity. (Also wind and pressure.)</a:t>
              </a:r>
            </a:p>
          </p:txBody>
        </p:sp>
      </p:grpSp>
      <p:sp>
        <p:nvSpPr>
          <p:cNvPr id="90" name="dn3_bg"/>
          <p:cNvSpPr/>
          <p:nvPr/>
        </p:nvSpPr>
        <p:spPr>
          <a:xfrm>
            <a:off x="6205575" y="3602735"/>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91" name="dn3_num"/>
          <p:cNvSpPr txBox="1"/>
          <p:nvPr/>
        </p:nvSpPr>
        <p:spPr>
          <a:xfrm>
            <a:off x="6388456" y="3777488"/>
            <a:ext cx="31089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4</a:t>
            </a:r>
          </a:p>
        </p:txBody>
      </p:sp>
      <p:sp>
        <p:nvSpPr>
          <p:cNvPr id="92" name="dn3_q"/>
          <p:cNvSpPr txBox="1"/>
          <p:nvPr/>
        </p:nvSpPr>
        <p:spPr>
          <a:xfrm>
            <a:off x="6754215" y="3855498"/>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What is a species?</a:t>
            </a:r>
          </a:p>
        </p:txBody>
      </p:sp>
      <p:grpSp>
        <p:nvGrpSpPr>
          <p:cNvPr id="95" name="dn3_a"/>
          <p:cNvGrpSpPr/>
          <p:nvPr/>
        </p:nvGrpSpPr>
        <p:grpSpPr>
          <a:xfrm>
            <a:off x="6754215" y="4242815"/>
            <a:ext cx="4715105" cy="457201"/>
            <a:chOff x="0" y="0"/>
            <a:chExt cx="4715104" cy="457200"/>
          </a:xfrm>
        </p:grpSpPr>
        <p:sp>
          <p:nvSpPr>
            <p:cNvPr id="93"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94" name="A group that can breed together and produce fertile offspring."/>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A group that can breed together and produce fertile offspring.</a:t>
              </a:r>
            </a:p>
          </p:txBody>
        </p:sp>
      </p:grpSp>
      <p:sp>
        <p:nvSpPr>
          <p:cNvPr id="96" name="dn4_bg"/>
          <p:cNvSpPr/>
          <p:nvPr/>
        </p:nvSpPr>
        <p:spPr>
          <a:xfrm>
            <a:off x="502919" y="4992623"/>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97" name="dn4_num"/>
          <p:cNvSpPr txBox="1"/>
          <p:nvPr/>
        </p:nvSpPr>
        <p:spPr>
          <a:xfrm>
            <a:off x="685800" y="5167376"/>
            <a:ext cx="31089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5</a:t>
            </a:r>
          </a:p>
        </p:txBody>
      </p:sp>
      <p:sp>
        <p:nvSpPr>
          <p:cNvPr id="98" name="dn4_q"/>
          <p:cNvSpPr txBox="1"/>
          <p:nvPr/>
        </p:nvSpPr>
        <p:spPr>
          <a:xfrm>
            <a:off x="1051560" y="5245386"/>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A mangrove leaf falls into the mud. What happens to it?</a:t>
            </a:r>
          </a:p>
        </p:txBody>
      </p:sp>
      <p:grpSp>
        <p:nvGrpSpPr>
          <p:cNvPr id="101" name="dn4_a"/>
          <p:cNvGrpSpPr/>
          <p:nvPr/>
        </p:nvGrpSpPr>
        <p:grpSpPr>
          <a:xfrm>
            <a:off x="1051560" y="5632703"/>
            <a:ext cx="4715105" cy="457201"/>
            <a:chOff x="0" y="0"/>
            <a:chExt cx="4715104" cy="457200"/>
          </a:xfrm>
        </p:grpSpPr>
        <p:sp>
          <p:nvSpPr>
            <p:cNvPr id="99"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100" name="It rots. Decomposers break it down and release its nutrients."/>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It rots. Decomposers break it down and release its nutrients.</a:t>
              </a:r>
            </a:p>
          </p:txBody>
        </p:sp>
      </p:grpSp>
      <p:sp>
        <p:nvSpPr>
          <p:cNvPr id="102" name="dn5_bg"/>
          <p:cNvSpPr/>
          <p:nvPr/>
        </p:nvSpPr>
        <p:spPr>
          <a:xfrm>
            <a:off x="6205575" y="4992623"/>
            <a:ext cx="5483201" cy="1243585"/>
          </a:xfrm>
          <a:prstGeom prst="roundRect">
            <a:avLst>
              <a:gd name="adj" fmla="val 10294"/>
            </a:avLst>
          </a:prstGeom>
          <a:solidFill>
            <a:srgbClr val="FFFFFF"/>
          </a:solidFill>
          <a:ln w="15875">
            <a:solidFill>
              <a:srgbClr val="F0E4C8"/>
            </a:solidFill>
          </a:ln>
        </p:spPr>
        <p:txBody>
          <a:bodyPr lIns="45719" rIns="45719"/>
          <a:lstStyle/>
          <a:p>
            <a:pPr/>
          </a:p>
        </p:txBody>
      </p:sp>
      <p:sp>
        <p:nvSpPr>
          <p:cNvPr id="103" name="dn5_num"/>
          <p:cNvSpPr txBox="1"/>
          <p:nvPr/>
        </p:nvSpPr>
        <p:spPr>
          <a:xfrm>
            <a:off x="6388456" y="5167376"/>
            <a:ext cx="31089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5B301"/>
                </a:solidFill>
                <a:latin typeface="Georgia"/>
                <a:ea typeface="Georgia"/>
                <a:cs typeface="Georgia"/>
                <a:sym typeface="Georgia"/>
              </a:defRPr>
            </a:lvl1pPr>
          </a:lstStyle>
          <a:p>
            <a:pPr/>
            <a:r>
              <a:t>6</a:t>
            </a:r>
          </a:p>
        </p:txBody>
      </p:sp>
      <p:sp>
        <p:nvSpPr>
          <p:cNvPr id="104" name="dn5_q"/>
          <p:cNvSpPr txBox="1"/>
          <p:nvPr/>
        </p:nvSpPr>
        <p:spPr>
          <a:xfrm>
            <a:off x="6754215" y="5245386"/>
            <a:ext cx="471510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14282B"/>
                </a:solidFill>
                <a:latin typeface="Arial"/>
                <a:ea typeface="Arial"/>
                <a:cs typeface="Arial"/>
                <a:sym typeface="Arial"/>
              </a:defRPr>
            </a:lvl1pPr>
          </a:lstStyle>
          <a:p>
            <a:pPr/>
            <a:r>
              <a:t>Which of these was NEVER alive — a crab, a seed, seawater?</a:t>
            </a:r>
          </a:p>
        </p:txBody>
      </p:sp>
      <p:grpSp>
        <p:nvGrpSpPr>
          <p:cNvPr id="107" name="dn5_a"/>
          <p:cNvGrpSpPr/>
          <p:nvPr/>
        </p:nvGrpSpPr>
        <p:grpSpPr>
          <a:xfrm>
            <a:off x="6754215" y="5632703"/>
            <a:ext cx="4715105" cy="457201"/>
            <a:chOff x="0" y="0"/>
            <a:chExt cx="4715104" cy="457200"/>
          </a:xfrm>
        </p:grpSpPr>
        <p:sp>
          <p:nvSpPr>
            <p:cNvPr id="105" name="Rounded Rectangle"/>
            <p:cNvSpPr/>
            <p:nvPr/>
          </p:nvSpPr>
          <p:spPr>
            <a:xfrm>
              <a:off x="0" y="0"/>
              <a:ext cx="4715105" cy="457200"/>
            </a:xfrm>
            <a:prstGeom prst="roundRect">
              <a:avLst>
                <a:gd name="adj" fmla="val 20000"/>
              </a:avLst>
            </a:prstGeom>
            <a:solidFill>
              <a:srgbClr val="FFF4D4"/>
            </a:solidFill>
            <a:ln w="12700" cap="flat">
              <a:solidFill>
                <a:srgbClr val="F5B301"/>
              </a:solidFill>
              <a:prstDash val="solid"/>
              <a:round/>
            </a:ln>
            <a:effectLst/>
          </p:spPr>
          <p:txBody>
            <a:bodyPr wrap="square" lIns="45719" tIns="45719" rIns="45719" bIns="45719" numCol="1" anchor="ctr">
              <a:noAutofit/>
            </a:bodyPr>
            <a:lstStyle/>
            <a:p>
              <a:pPr>
                <a:defRPr sz="1200"/>
              </a:pPr>
            </a:p>
          </p:txBody>
        </p:sp>
        <p:sp>
          <p:nvSpPr>
            <p:cNvPr id="106" name="Seawater."/>
            <p:cNvSpPr txBox="1"/>
            <p:nvPr/>
          </p:nvSpPr>
          <p:spPr>
            <a:xfrm>
              <a:off x="33132" y="142192"/>
              <a:ext cx="4648840"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E3A3F"/>
                  </a:solidFill>
                  <a:latin typeface="Arial"/>
                  <a:ea typeface="Arial"/>
                  <a:cs typeface="Arial"/>
                  <a:sym typeface="Arial"/>
                </a:defRPr>
              </a:lvl1pPr>
            </a:lstStyle>
            <a:p>
              <a:pPr/>
              <a:r>
                <a:t>Seawater.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wipe dir="d"/>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77"/>
                                        </p:tgtEl>
                                        <p:attrNameLst>
                                          <p:attrName>style.visibility</p:attrName>
                                        </p:attrNameLst>
                                      </p:cBhvr>
                                      <p:to>
                                        <p:strVal val="visible"/>
                                      </p:to>
                                    </p:set>
                                    <p:animEffect filter="wipe(left)" transition="in">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83"/>
                                        </p:tgtEl>
                                        <p:attrNameLst>
                                          <p:attrName>style.visibility</p:attrName>
                                        </p:attrNameLst>
                                      </p:cBhvr>
                                      <p:to>
                                        <p:strVal val="visible"/>
                                      </p:to>
                                    </p:set>
                                    <p:animEffect filter="wipe(left)" transition="in">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89"/>
                                        </p:tgtEl>
                                        <p:attrNameLst>
                                          <p:attrName>style.visibility</p:attrName>
                                        </p:attrNameLst>
                                      </p:cBhvr>
                                      <p:to>
                                        <p:strVal val="visible"/>
                                      </p:to>
                                    </p:set>
                                    <p:animEffect filter="wipe(left)" transition="in">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95"/>
                                        </p:tgtEl>
                                        <p:attrNameLst>
                                          <p:attrName>style.visibility</p:attrName>
                                        </p:attrNameLst>
                                      </p:cBhvr>
                                      <p:to>
                                        <p:strVal val="visible"/>
                                      </p:to>
                                    </p:set>
                                    <p:animEffect filter="wipe(left)" transition="in">
                                      <p:cBhvr>
                                        <p:cTn id="22" dur="500"/>
                                        <p:tgtEl>
                                          <p:spTgt spid="9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101"/>
                                        </p:tgtEl>
                                        <p:attrNameLst>
                                          <p:attrName>style.visibility</p:attrName>
                                        </p:attrNameLst>
                                      </p:cBhvr>
                                      <p:to>
                                        <p:strVal val="visible"/>
                                      </p:to>
                                    </p:set>
                                    <p:animEffect filter="wipe(left)" transition="in">
                                      <p:cBhvr>
                                        <p:cTn id="27" dur="500"/>
                                        <p:tgtEl>
                                          <p:spTgt spid="101"/>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107"/>
                                        </p:tgtEl>
                                        <p:attrNameLst>
                                          <p:attrName>style.visibility</p:attrName>
                                        </p:attrNameLst>
                                      </p:cBhvr>
                                      <p:to>
                                        <p:strVal val="visible"/>
                                      </p:to>
                                    </p:set>
                                    <p:animEffect filter="wipe(left)" transition="in">
                                      <p:cBhvr>
                                        <p:cTn id="32"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7" grpId="1"/>
      <p:bldP build="whole" bldLvl="1" animBg="1" rev="0" advAuto="0" spid="83" grpId="2"/>
      <p:bldP build="whole" bldLvl="1" animBg="1" rev="0" advAuto="0" spid="89" grpId="3"/>
      <p:bldP build="whole" bldLvl="1" animBg="1" rev="0" advAuto="0" spid="107" grpId="6"/>
      <p:bldP build="whole" bldLvl="1" animBg="1" rev="0" advAuto="0" spid="95" grpId="4"/>
      <p:bldP build="whole" bldLvl="1" animBg="1" rev="0" advAuto="0" spid="101"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113" name="phase_pill"/>
          <p:cNvGrpSpPr/>
          <p:nvPr/>
        </p:nvGrpSpPr>
        <p:grpSpPr>
          <a:xfrm>
            <a:off x="502919" y="274320"/>
            <a:ext cx="2139697" cy="347473"/>
            <a:chOff x="0" y="0"/>
            <a:chExt cx="2139695" cy="347472"/>
          </a:xfrm>
        </p:grpSpPr>
        <p:sp>
          <p:nvSpPr>
            <p:cNvPr id="111"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112" name="HOOK · 5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HOOK · 5 MIN</a:t>
              </a:r>
            </a:p>
          </p:txBody>
        </p:sp>
      </p:grpSp>
      <p:sp>
        <p:nvSpPr>
          <p:cNvPr id="114"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Why is this forest gold?</a:t>
            </a:r>
          </a:p>
        </p:txBody>
      </p:sp>
      <p:sp>
        <p:nvSpPr>
          <p:cNvPr id="115"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Thung Prong Thong, Pak Nam Prasae (about 90 minutes away)</a:t>
            </a:r>
          </a:p>
        </p:txBody>
      </p:sp>
      <p:pic>
        <p:nvPicPr>
          <p:cNvPr id="116" name="hook_photo" descr="hook_photo"/>
          <p:cNvPicPr>
            <a:picLocks noChangeAspect="1"/>
          </p:cNvPicPr>
          <p:nvPr/>
        </p:nvPicPr>
        <p:blipFill>
          <a:blip r:embed="rId3">
            <a:extLst/>
          </a:blip>
          <a:stretch>
            <a:fillRect/>
          </a:stretch>
        </p:blipFill>
        <p:spPr>
          <a:xfrm>
            <a:off x="502919" y="2212848"/>
            <a:ext cx="5120642" cy="3291841"/>
          </a:xfrm>
          <a:prstGeom prst="rect">
            <a:avLst/>
          </a:prstGeom>
          <a:ln w="12700">
            <a:miter lim="400000"/>
          </a:ln>
        </p:spPr>
      </p:pic>
      <p:sp>
        <p:nvSpPr>
          <p:cNvPr id="117" name="hook_credit"/>
          <p:cNvSpPr txBox="1"/>
          <p:nvPr/>
        </p:nvSpPr>
        <p:spPr>
          <a:xfrm>
            <a:off x="502919" y="5633212"/>
            <a:ext cx="51206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900">
                <a:solidFill>
                  <a:srgbClr val="4A6165"/>
                </a:solidFill>
                <a:latin typeface="Arial"/>
                <a:ea typeface="Arial"/>
                <a:cs typeface="Arial"/>
                <a:sym typeface="Arial"/>
              </a:defRPr>
            </a:lvl1pPr>
          </a:lstStyle>
          <a:p>
            <a:pPr/>
            <a:r>
              <a:t>Ceriops tagal — the "prong" mangrove. Photo: Abu Hamas, CC BY-SA 4.0</a:t>
            </a:r>
          </a:p>
        </p:txBody>
      </p:sp>
      <p:sp>
        <p:nvSpPr>
          <p:cNvPr id="118" name="hook_stem"/>
          <p:cNvSpPr txBox="1"/>
          <p:nvPr/>
        </p:nvSpPr>
        <p:spPr>
          <a:xfrm>
            <a:off x="6007608" y="2212848"/>
            <a:ext cx="5681168" cy="11020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200"/>
              </a:lnSpc>
              <a:defRPr sz="1500">
                <a:solidFill>
                  <a:srgbClr val="14282B"/>
                </a:solidFill>
                <a:latin typeface="Arial"/>
                <a:ea typeface="Arial"/>
                <a:cs typeface="Arial"/>
                <a:sym typeface="Arial"/>
              </a:defRPr>
            </a:pPr>
            <a:r>
              <a:t>These trees are the same species as the tall green ones a hundred metres away. Same species. Same rain. Same sun.</a:t>
            </a:r>
          </a:p>
          <a:p>
            <a:pPr>
              <a:lnSpc>
                <a:spcPts val="2200"/>
              </a:lnSpc>
              <a:defRPr sz="1500"/>
            </a:pPr>
          </a:p>
          <a:p>
            <a:pPr>
              <a:lnSpc>
                <a:spcPts val="2200"/>
              </a:lnSpc>
              <a:defRPr sz="1500">
                <a:solidFill>
                  <a:srgbClr val="14282B"/>
                </a:solidFill>
                <a:latin typeface="Arial"/>
                <a:ea typeface="Arial"/>
                <a:cs typeface="Arial"/>
                <a:sym typeface="Arial"/>
              </a:defRPr>
            </a:pPr>
            <a:r>
              <a:t>So why are these short and gold?</a:t>
            </a:r>
          </a:p>
        </p:txBody>
      </p:sp>
      <p:grpSp>
        <p:nvGrpSpPr>
          <p:cNvPr id="121" name="hook_opt0"/>
          <p:cNvGrpSpPr/>
          <p:nvPr/>
        </p:nvGrpSpPr>
        <p:grpSpPr>
          <a:xfrm>
            <a:off x="6007608" y="3749040"/>
            <a:ext cx="5681168" cy="566929"/>
            <a:chOff x="0" y="0"/>
            <a:chExt cx="5681167" cy="566927"/>
          </a:xfrm>
        </p:grpSpPr>
        <p:sp>
          <p:nvSpPr>
            <p:cNvPr id="119" name="Rounded Rectangle"/>
            <p:cNvSpPr/>
            <p:nvPr/>
          </p:nvSpPr>
          <p:spPr>
            <a:xfrm>
              <a:off x="0" y="0"/>
              <a:ext cx="5681168" cy="566928"/>
            </a:xfrm>
            <a:prstGeom prst="roundRect">
              <a:avLst>
                <a:gd name="adj" fmla="val 19355"/>
              </a:avLst>
            </a:prstGeom>
            <a:solidFill>
              <a:srgbClr val="F7E4DE"/>
            </a:solidFill>
            <a:ln w="12700" cap="flat">
              <a:solidFill>
                <a:srgbClr val="E8C7BB"/>
              </a:solidFill>
              <a:prstDash val="solid"/>
              <a:round/>
            </a:ln>
            <a:effectLst/>
          </p:spPr>
          <p:txBody>
            <a:bodyPr wrap="square" lIns="45719" tIns="45719" rIns="45719" bIns="45719" numCol="1" anchor="ctr">
              <a:noAutofit/>
            </a:bodyPr>
            <a:lstStyle/>
            <a:p>
              <a:pPr>
                <a:defRPr sz="1400"/>
              </a:pPr>
            </a:p>
          </p:txBody>
        </p:sp>
        <p:sp>
          <p:nvSpPr>
            <p:cNvPr id="120" name="A   It is autumn."/>
            <p:cNvSpPr txBox="1"/>
            <p:nvPr/>
          </p:nvSpPr>
          <p:spPr>
            <a:xfrm>
              <a:off x="38489" y="184772"/>
              <a:ext cx="560418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400">
                  <a:solidFill>
                    <a:srgbClr val="E2572B"/>
                  </a:solidFill>
                  <a:latin typeface="Arial"/>
                  <a:ea typeface="Arial"/>
                  <a:cs typeface="Arial"/>
                  <a:sym typeface="Arial"/>
                </a:defRPr>
              </a:pPr>
              <a:r>
                <a:t>A   </a:t>
              </a:r>
              <a:r>
                <a:rPr b="0">
                  <a:solidFill>
                    <a:srgbClr val="14282B"/>
                  </a:solidFill>
                </a:rPr>
                <a:t>It is autumn.</a:t>
              </a:r>
            </a:p>
          </p:txBody>
        </p:sp>
      </p:grpSp>
      <p:grpSp>
        <p:nvGrpSpPr>
          <p:cNvPr id="124" name="hook_opt1"/>
          <p:cNvGrpSpPr/>
          <p:nvPr/>
        </p:nvGrpSpPr>
        <p:grpSpPr>
          <a:xfrm>
            <a:off x="6007608" y="4425696"/>
            <a:ext cx="5681168" cy="566929"/>
            <a:chOff x="0" y="0"/>
            <a:chExt cx="5681167" cy="566927"/>
          </a:xfrm>
        </p:grpSpPr>
        <p:sp>
          <p:nvSpPr>
            <p:cNvPr id="122" name="Rounded Rectangle"/>
            <p:cNvSpPr/>
            <p:nvPr/>
          </p:nvSpPr>
          <p:spPr>
            <a:xfrm>
              <a:off x="0" y="0"/>
              <a:ext cx="5681168" cy="566928"/>
            </a:xfrm>
            <a:prstGeom prst="roundRect">
              <a:avLst>
                <a:gd name="adj" fmla="val 19355"/>
              </a:avLst>
            </a:prstGeom>
            <a:solidFill>
              <a:srgbClr val="F7E4DE"/>
            </a:solidFill>
            <a:ln w="12700" cap="flat">
              <a:solidFill>
                <a:srgbClr val="E8C7BB"/>
              </a:solidFill>
              <a:prstDash val="solid"/>
              <a:round/>
            </a:ln>
            <a:effectLst/>
          </p:spPr>
          <p:txBody>
            <a:bodyPr wrap="square" lIns="45719" tIns="45719" rIns="45719" bIns="45719" numCol="1" anchor="ctr">
              <a:noAutofit/>
            </a:bodyPr>
            <a:lstStyle/>
            <a:p>
              <a:pPr>
                <a:defRPr sz="1400"/>
              </a:pPr>
            </a:p>
          </p:txBody>
        </p:sp>
        <p:sp>
          <p:nvSpPr>
            <p:cNvPr id="123" name="B   They are a different kind of tree."/>
            <p:cNvSpPr txBox="1"/>
            <p:nvPr/>
          </p:nvSpPr>
          <p:spPr>
            <a:xfrm>
              <a:off x="38489" y="184772"/>
              <a:ext cx="560418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400">
                  <a:solidFill>
                    <a:srgbClr val="E2572B"/>
                  </a:solidFill>
                  <a:latin typeface="Arial"/>
                  <a:ea typeface="Arial"/>
                  <a:cs typeface="Arial"/>
                  <a:sym typeface="Arial"/>
                </a:defRPr>
              </a:pPr>
              <a:r>
                <a:t>B   </a:t>
              </a:r>
              <a:r>
                <a:rPr b="0">
                  <a:solidFill>
                    <a:srgbClr val="14282B"/>
                  </a:solidFill>
                </a:rPr>
                <a:t>They are a different kind of tree.</a:t>
              </a:r>
            </a:p>
          </p:txBody>
        </p:sp>
      </p:grpSp>
      <p:grpSp>
        <p:nvGrpSpPr>
          <p:cNvPr id="127" name="hook_opt2"/>
          <p:cNvGrpSpPr/>
          <p:nvPr/>
        </p:nvGrpSpPr>
        <p:grpSpPr>
          <a:xfrm>
            <a:off x="6007608" y="5102352"/>
            <a:ext cx="5681168" cy="566929"/>
            <a:chOff x="0" y="0"/>
            <a:chExt cx="5681167" cy="566927"/>
          </a:xfrm>
        </p:grpSpPr>
        <p:sp>
          <p:nvSpPr>
            <p:cNvPr id="125" name="Rounded Rectangle"/>
            <p:cNvSpPr/>
            <p:nvPr/>
          </p:nvSpPr>
          <p:spPr>
            <a:xfrm>
              <a:off x="0" y="0"/>
              <a:ext cx="5681168" cy="566928"/>
            </a:xfrm>
            <a:prstGeom prst="roundRect">
              <a:avLst>
                <a:gd name="adj" fmla="val 19355"/>
              </a:avLst>
            </a:prstGeom>
            <a:solidFill>
              <a:srgbClr val="F7E4DE"/>
            </a:solidFill>
            <a:ln w="12700" cap="flat">
              <a:solidFill>
                <a:srgbClr val="E8C7BB"/>
              </a:solidFill>
              <a:prstDash val="solid"/>
              <a:round/>
            </a:ln>
            <a:effectLst/>
          </p:spPr>
          <p:txBody>
            <a:bodyPr wrap="square" lIns="45719" tIns="45719" rIns="45719" bIns="45719" numCol="1" anchor="ctr">
              <a:noAutofit/>
            </a:bodyPr>
            <a:lstStyle/>
            <a:p>
              <a:pPr>
                <a:defRPr sz="1400"/>
              </a:pPr>
            </a:p>
          </p:txBody>
        </p:sp>
        <p:sp>
          <p:nvSpPr>
            <p:cNvPr id="126" name="C   Something in the ground is different."/>
            <p:cNvSpPr txBox="1"/>
            <p:nvPr/>
          </p:nvSpPr>
          <p:spPr>
            <a:xfrm>
              <a:off x="38489" y="184772"/>
              <a:ext cx="560418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400">
                  <a:solidFill>
                    <a:srgbClr val="E2572B"/>
                  </a:solidFill>
                  <a:latin typeface="Arial"/>
                  <a:ea typeface="Arial"/>
                  <a:cs typeface="Arial"/>
                  <a:sym typeface="Arial"/>
                </a:defRPr>
              </a:pPr>
              <a:r>
                <a:t>C   </a:t>
              </a:r>
              <a:r>
                <a:rPr b="0">
                  <a:solidFill>
                    <a:srgbClr val="14282B"/>
                  </a:solidFill>
                </a:rPr>
                <a:t>Something in the ground is different.</a:t>
              </a:r>
            </a:p>
          </p:txBody>
        </p:sp>
      </p:grpSp>
      <p:sp>
        <p:nvSpPr>
          <p:cNvPr id="128" name="hook_vote"/>
          <p:cNvSpPr txBox="1"/>
          <p:nvPr/>
        </p:nvSpPr>
        <p:spPr>
          <a:xfrm>
            <a:off x="6007608" y="5966920"/>
            <a:ext cx="5681168"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4A6165"/>
                </a:solidFill>
                <a:latin typeface="Arial"/>
                <a:ea typeface="Arial"/>
                <a:cs typeface="Arial"/>
                <a:sym typeface="Arial"/>
              </a:defRPr>
            </a:lvl1pPr>
          </a:lstStyle>
          <a:p>
            <a:pPr/>
            <a:r>
              <a:t>Write your letter in the margin. We’ll come back to this at the end.</a:t>
            </a:r>
          </a:p>
        </p:txBody>
      </p:sp>
    </p:spTree>
  </p:cSld>
  <p:clrMapOvr>
    <a:masterClrMapping/>
  </p:clrMapOvr>
  <mc:AlternateContent xmlns:mc="http://schemas.openxmlformats.org/markup-compatibility/2006">
    <mc:Choice xmlns:p14="http://schemas.microsoft.com/office/powerpoint/2010/main" Requires="p14">
      <p:transition spd="med" advClick="1" p14:dur="1000">
        <p:cover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2" presetID="2" grpId="1" fill="hold">
                                  <p:stCondLst>
                                    <p:cond delay="0"/>
                                  </p:stCondLst>
                                  <p:iterate type="el" backwards="0">
                                    <p:tmAbs val="0"/>
                                  </p:iterate>
                                  <p:childTnLst>
                                    <p:set>
                                      <p:cBhvr>
                                        <p:cTn id="6" fill="hold"/>
                                        <p:tgtEl>
                                          <p:spTgt spid="121"/>
                                        </p:tgtEl>
                                        <p:attrNameLst>
                                          <p:attrName>style.visibility</p:attrName>
                                        </p:attrNameLst>
                                      </p:cBhvr>
                                      <p:to>
                                        <p:strVal val="visible"/>
                                      </p:to>
                                    </p:set>
                                    <p:anim calcmode="lin" valueType="num">
                                      <p:cBhvr>
                                        <p:cTn id="7" dur="500" fill="hold"/>
                                        <p:tgtEl>
                                          <p:spTgt spid="121"/>
                                        </p:tgtEl>
                                        <p:attrNameLst>
                                          <p:attrName>ppt_x</p:attrName>
                                        </p:attrNameLst>
                                      </p:cBhvr>
                                      <p:tavLst>
                                        <p:tav tm="0">
                                          <p:val>
                                            <p:strVal val="1+#ppt_w/2"/>
                                          </p:val>
                                        </p:tav>
                                        <p:tav tm="100000">
                                          <p:val>
                                            <p:strVal val="#ppt_x"/>
                                          </p:val>
                                        </p:tav>
                                      </p:tavLst>
                                    </p:anim>
                                    <p:anim calcmode="lin" valueType="num">
                                      <p:cBhvr>
                                        <p:cTn id="8" dur="500" fill="hold"/>
                                        <p:tgtEl>
                                          <p:spTgt spid="1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Class="entr" nodeType="afterEffect" presetSubtype="2" presetID="2" grpId="2" fill="hold">
                                  <p:stCondLst>
                                    <p:cond delay="180"/>
                                  </p:stCondLst>
                                  <p:iterate type="el" backwards="0">
                                    <p:tmAbs val="0"/>
                                  </p:iterate>
                                  <p:childTnLst>
                                    <p:set>
                                      <p:cBhvr>
                                        <p:cTn id="11" fill="hold"/>
                                        <p:tgtEl>
                                          <p:spTgt spid="124"/>
                                        </p:tgtEl>
                                        <p:attrNameLst>
                                          <p:attrName>style.visibility</p:attrName>
                                        </p:attrNameLst>
                                      </p:cBhvr>
                                      <p:to>
                                        <p:strVal val="visible"/>
                                      </p:to>
                                    </p:set>
                                    <p:anim calcmode="lin" valueType="num">
                                      <p:cBhvr>
                                        <p:cTn id="12" dur="500" fill="hold"/>
                                        <p:tgtEl>
                                          <p:spTgt spid="124"/>
                                        </p:tgtEl>
                                        <p:attrNameLst>
                                          <p:attrName>ppt_x</p:attrName>
                                        </p:attrNameLst>
                                      </p:cBhvr>
                                      <p:tavLst>
                                        <p:tav tm="0">
                                          <p:val>
                                            <p:strVal val="1+#ppt_w/2"/>
                                          </p:val>
                                        </p:tav>
                                        <p:tav tm="100000">
                                          <p:val>
                                            <p:strVal val="#ppt_x"/>
                                          </p:val>
                                        </p:tav>
                                      </p:tavLst>
                                    </p:anim>
                                    <p:anim calcmode="lin" valueType="num">
                                      <p:cBhvr>
                                        <p:cTn id="13" dur="500" fill="hold"/>
                                        <p:tgtEl>
                                          <p:spTgt spid="124"/>
                                        </p:tgtEl>
                                        <p:attrNameLst>
                                          <p:attrName>ppt_y</p:attrName>
                                        </p:attrNameLst>
                                      </p:cBhvr>
                                      <p:tavLst>
                                        <p:tav tm="0">
                                          <p:val>
                                            <p:strVal val="#ppt_y"/>
                                          </p:val>
                                        </p:tav>
                                        <p:tav tm="100000">
                                          <p:val>
                                            <p:strVal val="#ppt_y"/>
                                          </p:val>
                                        </p:tav>
                                      </p:tavLst>
                                    </p:anim>
                                  </p:childTnLst>
                                </p:cTn>
                              </p:par>
                            </p:childTnLst>
                          </p:cTn>
                        </p:par>
                        <p:par>
                          <p:cTn id="14" fill="hold">
                            <p:stCondLst>
                              <p:cond delay="1180"/>
                            </p:stCondLst>
                            <p:childTnLst>
                              <p:par>
                                <p:cTn id="15" presetClass="entr" nodeType="afterEffect" presetSubtype="2" presetID="2" grpId="3" fill="hold">
                                  <p:stCondLst>
                                    <p:cond delay="360"/>
                                  </p:stCondLst>
                                  <p:iterate type="el" backwards="0">
                                    <p:tmAbs val="0"/>
                                  </p:iterate>
                                  <p:childTnLst>
                                    <p:set>
                                      <p:cBhvr>
                                        <p:cTn id="16" fill="hold"/>
                                        <p:tgtEl>
                                          <p:spTgt spid="127"/>
                                        </p:tgtEl>
                                        <p:attrNameLst>
                                          <p:attrName>style.visibility</p:attrName>
                                        </p:attrNameLst>
                                      </p:cBhvr>
                                      <p:to>
                                        <p:strVal val="visible"/>
                                      </p:to>
                                    </p:set>
                                    <p:anim calcmode="lin" valueType="num">
                                      <p:cBhvr>
                                        <p:cTn id="17" dur="500" fill="hold"/>
                                        <p:tgtEl>
                                          <p:spTgt spid="127"/>
                                        </p:tgtEl>
                                        <p:attrNameLst>
                                          <p:attrName>ppt_x</p:attrName>
                                        </p:attrNameLst>
                                      </p:cBhvr>
                                      <p:tavLst>
                                        <p:tav tm="0">
                                          <p:val>
                                            <p:strVal val="1+#ppt_w/2"/>
                                          </p:val>
                                        </p:tav>
                                        <p:tav tm="100000">
                                          <p:val>
                                            <p:strVal val="#ppt_x"/>
                                          </p:val>
                                        </p:tav>
                                      </p:tavLst>
                                    </p:anim>
                                    <p:anim calcmode="lin" valueType="num">
                                      <p:cBhvr>
                                        <p:cTn id="18" dur="500" fill="hold"/>
                                        <p:tgtEl>
                                          <p:spTgt spid="127"/>
                                        </p:tgtEl>
                                        <p:attrNameLst>
                                          <p:attrName>ppt_y</p:attrName>
                                        </p:attrNameLst>
                                      </p:cBhvr>
                                      <p:tavLst>
                                        <p:tav tm="0">
                                          <p:val>
                                            <p:strVal val="#ppt_y"/>
                                          </p:val>
                                        </p:tav>
                                        <p:tav tm="100000">
                                          <p:val>
                                            <p:strVal val="#ppt_y"/>
                                          </p:val>
                                        </p:tav>
                                      </p:tavLst>
                                    </p:anim>
                                  </p:childTnLst>
                                </p:cTn>
                              </p:par>
                            </p:childTnLst>
                          </p:cTn>
                        </p:par>
                        <p:par>
                          <p:cTn id="19" fill="hold">
                            <p:stCondLst>
                              <p:cond delay="2040"/>
                            </p:stCondLst>
                            <p:childTnLst>
                              <p:par>
                                <p:cTn id="20" presetClass="entr" nodeType="afterEffect" presetID="10" grpId="4" fill="hold">
                                  <p:stCondLst>
                                    <p:cond delay="700"/>
                                  </p:stCondLst>
                                  <p:iterate type="el" backwards="0">
                                    <p:tmAbs val="0"/>
                                  </p:iterate>
                                  <p:childTnLst>
                                    <p:set>
                                      <p:cBhvr>
                                        <p:cTn id="21" fill="hold"/>
                                        <p:tgtEl>
                                          <p:spTgt spid="128"/>
                                        </p:tgtEl>
                                        <p:attrNameLst>
                                          <p:attrName>style.visibility</p:attrName>
                                        </p:attrNameLst>
                                      </p:cBhvr>
                                      <p:to>
                                        <p:strVal val="visible"/>
                                      </p:to>
                                    </p:set>
                                    <p:animEffect filter="fade" transition="in">
                                      <p:cBhvr>
                                        <p:cTn id="22" dur="5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 grpId="4"/>
      <p:bldP build="whole" bldLvl="1" animBg="1" rev="0" advAuto="0" spid="121" grpId="1"/>
      <p:bldP build="whole" bldLvl="1" animBg="1" rev="0" advAuto="0" spid="127" grpId="3"/>
      <p:bldP build="whole" bldLvl="1" animBg="1" rev="0" advAuto="0" spid="124"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134" name="phase_pill"/>
          <p:cNvGrpSpPr/>
          <p:nvPr/>
        </p:nvGrpSpPr>
        <p:grpSpPr>
          <a:xfrm>
            <a:off x="502919" y="274320"/>
            <a:ext cx="2139697" cy="347473"/>
            <a:chOff x="0" y="0"/>
            <a:chExt cx="2139695" cy="347472"/>
          </a:xfrm>
        </p:grpSpPr>
        <p:sp>
          <p:nvSpPr>
            <p:cNvPr id="132"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133" name="I DO · 4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I DO · 4 MIN</a:t>
              </a:r>
            </a:p>
          </p:txBody>
        </p:sp>
      </p:grpSp>
      <p:sp>
        <p:nvSpPr>
          <p:cNvPr id="135"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ecosystem   ·   habitat</a:t>
            </a:r>
          </a:p>
        </p:txBody>
      </p:sp>
      <p:sp>
        <p:nvSpPr>
          <p:cNvPr id="136"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An ecosystem has two halves</a:t>
            </a:r>
          </a:p>
        </p:txBody>
      </p:sp>
      <p:pic>
        <p:nvPicPr>
          <p:cNvPr id="137" name="eco_photo" descr="eco_photo"/>
          <p:cNvPicPr>
            <a:picLocks noChangeAspect="1"/>
          </p:cNvPicPr>
          <p:nvPr/>
        </p:nvPicPr>
        <p:blipFill>
          <a:blip r:embed="rId3">
            <a:extLst/>
          </a:blip>
          <a:stretch>
            <a:fillRect/>
          </a:stretch>
        </p:blipFill>
        <p:spPr>
          <a:xfrm>
            <a:off x="7208215" y="1901951"/>
            <a:ext cx="4480560" cy="3017522"/>
          </a:xfrm>
          <a:prstGeom prst="rect">
            <a:avLst/>
          </a:prstGeom>
          <a:ln w="12700">
            <a:miter lim="400000"/>
          </a:ln>
        </p:spPr>
      </p:pic>
      <p:sp>
        <p:nvSpPr>
          <p:cNvPr id="138" name="eco_credit"/>
          <p:cNvSpPr txBox="1"/>
          <p:nvPr/>
        </p:nvSpPr>
        <p:spPr>
          <a:xfrm>
            <a:off x="7208215" y="4956047"/>
            <a:ext cx="4480560" cy="2985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200"/>
              </a:lnSpc>
              <a:defRPr i="1" sz="900">
                <a:solidFill>
                  <a:srgbClr val="4A6165"/>
                </a:solidFill>
                <a:latin typeface="Arial"/>
                <a:ea typeface="Arial"/>
                <a:cs typeface="Arial"/>
                <a:sym typeface="Arial"/>
              </a:defRPr>
            </a:pPr>
            <a:r>
              <a:t>Long-tailed macaques in the Khlong Khone mangrove, Samut Songkhram.</a:t>
            </a:r>
          </a:p>
          <a:p>
            <a:pPr>
              <a:lnSpc>
                <a:spcPts val="1200"/>
              </a:lnSpc>
              <a:defRPr i="1" sz="900">
                <a:solidFill>
                  <a:srgbClr val="4A6165"/>
                </a:solidFill>
                <a:latin typeface="Arial"/>
                <a:ea typeface="Arial"/>
                <a:cs typeface="Arial"/>
                <a:sym typeface="Arial"/>
              </a:defRPr>
            </a:pPr>
            <a:r>
              <a:t>Photo: Niwat Tantayanusorn, CC BY-SA 4.0</a:t>
            </a:r>
          </a:p>
        </p:txBody>
      </p:sp>
      <p:grpSp>
        <p:nvGrpSpPr>
          <p:cNvPr id="142" name="eco_part0"/>
          <p:cNvGrpSpPr/>
          <p:nvPr/>
        </p:nvGrpSpPr>
        <p:grpSpPr>
          <a:xfrm>
            <a:off x="502919" y="1883664"/>
            <a:ext cx="6339537" cy="841249"/>
            <a:chOff x="0" y="0"/>
            <a:chExt cx="6339535" cy="841247"/>
          </a:xfrm>
        </p:grpSpPr>
        <p:sp>
          <p:nvSpPr>
            <p:cNvPr id="139" name="eco_part0_bg"/>
            <p:cNvSpPr/>
            <p:nvPr/>
          </p:nvSpPr>
          <p:spPr>
            <a:xfrm>
              <a:off x="0" y="0"/>
              <a:ext cx="6339536" cy="841248"/>
            </a:xfrm>
            <a:prstGeom prst="roundRect">
              <a:avLst>
                <a:gd name="adj" fmla="val 13043"/>
              </a:avLst>
            </a:prstGeom>
            <a:solidFill>
              <a:srgbClr val="EAF7F0"/>
            </a:solidFill>
            <a:ln w="15240" cap="flat">
              <a:solidFill>
                <a:srgbClr val="2E9E6B"/>
              </a:solidFill>
              <a:prstDash val="solid"/>
              <a:round/>
            </a:ln>
            <a:effectLst/>
          </p:spPr>
          <p:txBody>
            <a:bodyPr wrap="square" lIns="45719" tIns="45719" rIns="45719" bIns="45719" numCol="1" anchor="t">
              <a:noAutofit/>
            </a:bodyPr>
            <a:lstStyle/>
            <a:p>
              <a:pPr/>
            </a:p>
          </p:txBody>
        </p:sp>
        <p:sp>
          <p:nvSpPr>
            <p:cNvPr id="140" name="eco_part0_head"/>
            <p:cNvSpPr txBox="1"/>
            <p:nvPr/>
          </p:nvSpPr>
          <p:spPr>
            <a:xfrm>
              <a:off x="219455" y="154199"/>
              <a:ext cx="5900625"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600">
                  <a:solidFill>
                    <a:srgbClr val="2E9E6B"/>
                  </a:solidFill>
                  <a:latin typeface="Arial"/>
                  <a:ea typeface="Arial"/>
                  <a:cs typeface="Arial"/>
                  <a:sym typeface="Arial"/>
                </a:defRPr>
              </a:pPr>
              <a:r>
                <a:t>All the living things </a:t>
              </a:r>
              <a:r>
                <a:rPr i="1"/>
                <a:t>(biotic factors)</a:t>
              </a:r>
            </a:p>
          </p:txBody>
        </p:sp>
        <p:sp>
          <p:nvSpPr>
            <p:cNvPr id="141" name="eco_part0_eg"/>
            <p:cNvSpPr txBox="1"/>
            <p:nvPr/>
          </p:nvSpPr>
          <p:spPr>
            <a:xfrm>
              <a:off x="219455" y="507952"/>
              <a:ext cx="5900625"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trees, crabs, fish, birds, bacteria</a:t>
              </a:r>
            </a:p>
          </p:txBody>
        </p:sp>
      </p:grpSp>
      <p:grpSp>
        <p:nvGrpSpPr>
          <p:cNvPr id="146" name="eco_part1"/>
          <p:cNvGrpSpPr/>
          <p:nvPr/>
        </p:nvGrpSpPr>
        <p:grpSpPr>
          <a:xfrm>
            <a:off x="502919" y="2852927"/>
            <a:ext cx="6339537" cy="841249"/>
            <a:chOff x="0" y="0"/>
            <a:chExt cx="6339535" cy="841247"/>
          </a:xfrm>
        </p:grpSpPr>
        <p:sp>
          <p:nvSpPr>
            <p:cNvPr id="143" name="eco_part1_bg"/>
            <p:cNvSpPr/>
            <p:nvPr/>
          </p:nvSpPr>
          <p:spPr>
            <a:xfrm>
              <a:off x="0" y="0"/>
              <a:ext cx="6339536" cy="841248"/>
            </a:xfrm>
            <a:prstGeom prst="roundRect">
              <a:avLst>
                <a:gd name="adj" fmla="val 13043"/>
              </a:avLst>
            </a:prstGeom>
            <a:solidFill>
              <a:srgbClr val="E7EEEF"/>
            </a:solidFill>
            <a:ln w="15240" cap="flat">
              <a:solidFill>
                <a:srgbClr val="0E3A3F"/>
              </a:solidFill>
              <a:prstDash val="solid"/>
              <a:round/>
            </a:ln>
            <a:effectLst/>
          </p:spPr>
          <p:txBody>
            <a:bodyPr wrap="square" lIns="45719" tIns="45719" rIns="45719" bIns="45719" numCol="1" anchor="t">
              <a:noAutofit/>
            </a:bodyPr>
            <a:lstStyle/>
            <a:p>
              <a:pPr/>
            </a:p>
          </p:txBody>
        </p:sp>
        <p:sp>
          <p:nvSpPr>
            <p:cNvPr id="144" name="eco_part1_head"/>
            <p:cNvSpPr txBox="1"/>
            <p:nvPr/>
          </p:nvSpPr>
          <p:spPr>
            <a:xfrm>
              <a:off x="219455" y="154199"/>
              <a:ext cx="5900625"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600">
                  <a:solidFill>
                    <a:srgbClr val="0E3A3F"/>
                  </a:solidFill>
                  <a:latin typeface="Arial"/>
                  <a:ea typeface="Arial"/>
                  <a:cs typeface="Arial"/>
                  <a:sym typeface="Arial"/>
                </a:defRPr>
              </a:pPr>
              <a:r>
                <a:t>+  all the non-living things </a:t>
              </a:r>
              <a:r>
                <a:rPr i="1"/>
                <a:t>(abiotic factors)</a:t>
              </a:r>
            </a:p>
          </p:txBody>
        </p:sp>
        <p:sp>
          <p:nvSpPr>
            <p:cNvPr id="145" name="eco_part1_eg"/>
            <p:cNvSpPr txBox="1"/>
            <p:nvPr/>
          </p:nvSpPr>
          <p:spPr>
            <a:xfrm>
              <a:off x="219455" y="507952"/>
              <a:ext cx="5900625"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water, salt, mud, sunlight, temperature</a:t>
              </a:r>
            </a:p>
          </p:txBody>
        </p:sp>
      </p:grpSp>
      <p:grpSp>
        <p:nvGrpSpPr>
          <p:cNvPr id="150" name="eco_part2"/>
          <p:cNvGrpSpPr/>
          <p:nvPr/>
        </p:nvGrpSpPr>
        <p:grpSpPr>
          <a:xfrm>
            <a:off x="502919" y="3822191"/>
            <a:ext cx="6339537" cy="841249"/>
            <a:chOff x="0" y="0"/>
            <a:chExt cx="6339535" cy="841247"/>
          </a:xfrm>
        </p:grpSpPr>
        <p:sp>
          <p:nvSpPr>
            <p:cNvPr id="147" name="eco_part2_bg"/>
            <p:cNvSpPr/>
            <p:nvPr/>
          </p:nvSpPr>
          <p:spPr>
            <a:xfrm>
              <a:off x="0" y="0"/>
              <a:ext cx="6339536" cy="841248"/>
            </a:xfrm>
            <a:prstGeom prst="roundRect">
              <a:avLst>
                <a:gd name="adj" fmla="val 13043"/>
              </a:avLst>
            </a:prstGeom>
            <a:solidFill>
              <a:srgbClr val="FFF4D4"/>
            </a:solidFill>
            <a:ln w="15240" cap="flat">
              <a:solidFill>
                <a:srgbClr val="F5B301"/>
              </a:solidFill>
              <a:prstDash val="solid"/>
              <a:round/>
            </a:ln>
            <a:effectLst/>
          </p:spPr>
          <p:txBody>
            <a:bodyPr wrap="square" lIns="45719" tIns="45719" rIns="45719" bIns="45719" numCol="1" anchor="t">
              <a:noAutofit/>
            </a:bodyPr>
            <a:lstStyle/>
            <a:p>
              <a:pPr/>
            </a:p>
          </p:txBody>
        </p:sp>
        <p:sp>
          <p:nvSpPr>
            <p:cNvPr id="148" name="eco_part2_head"/>
            <p:cNvSpPr txBox="1"/>
            <p:nvPr/>
          </p:nvSpPr>
          <p:spPr>
            <a:xfrm>
              <a:off x="219455" y="154199"/>
              <a:ext cx="5900625"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F5B301"/>
                  </a:solidFill>
                  <a:latin typeface="Arial"/>
                  <a:ea typeface="Arial"/>
                  <a:cs typeface="Arial"/>
                  <a:sym typeface="Arial"/>
                </a:defRPr>
              </a:lvl1pPr>
            </a:lstStyle>
            <a:p>
              <a:pPr/>
              <a:r>
                <a:t>in one area</a:t>
              </a:r>
            </a:p>
          </p:txBody>
        </p:sp>
        <p:sp>
          <p:nvSpPr>
            <p:cNvPr id="149" name="eco_part2_eg"/>
            <p:cNvSpPr txBox="1"/>
            <p:nvPr/>
          </p:nvSpPr>
          <p:spPr>
            <a:xfrm>
              <a:off x="219455" y="507952"/>
              <a:ext cx="5900625"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the Prasae estuary, a rock pool, a rice paddy</a:t>
              </a:r>
            </a:p>
          </p:txBody>
        </p:sp>
      </p:grpSp>
      <p:grpSp>
        <p:nvGrpSpPr>
          <p:cNvPr id="154" name="eco_part3"/>
          <p:cNvGrpSpPr/>
          <p:nvPr/>
        </p:nvGrpSpPr>
        <p:grpSpPr>
          <a:xfrm>
            <a:off x="502919" y="4791455"/>
            <a:ext cx="6339537" cy="841249"/>
            <a:chOff x="0" y="0"/>
            <a:chExt cx="6339535" cy="841247"/>
          </a:xfrm>
        </p:grpSpPr>
        <p:sp>
          <p:nvSpPr>
            <p:cNvPr id="151" name="eco_part3_bg"/>
            <p:cNvSpPr/>
            <p:nvPr/>
          </p:nvSpPr>
          <p:spPr>
            <a:xfrm>
              <a:off x="0" y="0"/>
              <a:ext cx="6339536" cy="841248"/>
            </a:xfrm>
            <a:prstGeom prst="roundRect">
              <a:avLst>
                <a:gd name="adj" fmla="val 13043"/>
              </a:avLst>
            </a:prstGeom>
            <a:solidFill>
              <a:srgbClr val="F9E7E0"/>
            </a:solidFill>
            <a:ln w="15240" cap="flat">
              <a:solidFill>
                <a:srgbClr val="E2572B"/>
              </a:solidFill>
              <a:prstDash val="solid"/>
              <a:round/>
            </a:ln>
            <a:effectLst/>
          </p:spPr>
          <p:txBody>
            <a:bodyPr wrap="square" lIns="45719" tIns="45719" rIns="45719" bIns="45719" numCol="1" anchor="t">
              <a:noAutofit/>
            </a:bodyPr>
            <a:lstStyle/>
            <a:p>
              <a:pPr/>
            </a:p>
          </p:txBody>
        </p:sp>
        <p:sp>
          <p:nvSpPr>
            <p:cNvPr id="152" name="eco_part3_head"/>
            <p:cNvSpPr txBox="1"/>
            <p:nvPr/>
          </p:nvSpPr>
          <p:spPr>
            <a:xfrm>
              <a:off x="219455" y="154199"/>
              <a:ext cx="5900625" cy="2219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E2572B"/>
                  </a:solidFill>
                  <a:latin typeface="Arial"/>
                  <a:ea typeface="Arial"/>
                  <a:cs typeface="Arial"/>
                  <a:sym typeface="Arial"/>
                </a:defRPr>
              </a:lvl1pPr>
            </a:lstStyle>
            <a:p>
              <a:pPr/>
              <a:r>
                <a:t>all interacting</a:t>
              </a:r>
            </a:p>
          </p:txBody>
        </p:sp>
        <p:sp>
          <p:nvSpPr>
            <p:cNvPr id="153" name="eco_part3_eg"/>
            <p:cNvSpPr txBox="1"/>
            <p:nvPr/>
          </p:nvSpPr>
          <p:spPr>
            <a:xfrm>
              <a:off x="219455" y="507952"/>
              <a:ext cx="5900625"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each one changes the others</a:t>
              </a:r>
            </a:p>
          </p:txBody>
        </p:sp>
      </p:grpSp>
      <p:sp>
        <p:nvSpPr>
          <p:cNvPr id="155" name="eco_habitat"/>
          <p:cNvSpPr txBox="1"/>
          <p:nvPr/>
        </p:nvSpPr>
        <p:spPr>
          <a:xfrm>
            <a:off x="7208215" y="5497278"/>
            <a:ext cx="4480560" cy="4720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b="1" sz="1400">
                <a:solidFill>
                  <a:srgbClr val="0E3A3F"/>
                </a:solidFill>
                <a:latin typeface="Arial"/>
                <a:ea typeface="Arial"/>
                <a:cs typeface="Arial"/>
                <a:sym typeface="Arial"/>
              </a:defRPr>
            </a:lvl1pPr>
          </a:lstStyle>
          <a:p>
            <a:pPr/>
            <a:r>
              <a:t>A habitat is where ONE species lives. An ecosystem includes the habitats of MANY species.</a:t>
            </a:r>
          </a:p>
        </p:txBody>
      </p:sp>
      <p:sp>
        <p:nvSpPr>
          <p:cNvPr id="156"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4A6165"/>
                </a:solidFill>
                <a:latin typeface="Arial"/>
                <a:ea typeface="Arial"/>
                <a:cs typeface="Arial"/>
                <a:sym typeface="Arial"/>
              </a:defRPr>
            </a:lvl1pPr>
          </a:lstStyle>
          <a:p>
            <a:pPr/>
            <a:r>
              <a:t>Copy the definition into your book.</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42"/>
                                        </p:tgtEl>
                                        <p:attrNameLst>
                                          <p:attrName>style.visibility</p:attrName>
                                        </p:attrNameLst>
                                      </p:cBhvr>
                                      <p:to>
                                        <p:strVal val="visible"/>
                                      </p:to>
                                    </p:set>
                                    <p:animEffect filter="wipe(left)" transition="in">
                                      <p:cBhvr>
                                        <p:cTn id="7" dur="500"/>
                                        <p:tgtEl>
                                          <p:spTgt spid="14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146"/>
                                        </p:tgtEl>
                                        <p:attrNameLst>
                                          <p:attrName>style.visibility</p:attrName>
                                        </p:attrNameLst>
                                      </p:cBhvr>
                                      <p:to>
                                        <p:strVal val="visible"/>
                                      </p:to>
                                    </p:set>
                                    <p:animEffect filter="wipe(left)" transition="in">
                                      <p:cBhvr>
                                        <p:cTn id="12" dur="500"/>
                                        <p:tgtEl>
                                          <p:spTgt spid="14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150"/>
                                        </p:tgtEl>
                                        <p:attrNameLst>
                                          <p:attrName>style.visibility</p:attrName>
                                        </p:attrNameLst>
                                      </p:cBhvr>
                                      <p:to>
                                        <p:strVal val="visible"/>
                                      </p:to>
                                    </p:set>
                                    <p:animEffect filter="wipe(left)" transition="in">
                                      <p:cBhvr>
                                        <p:cTn id="17" dur="500"/>
                                        <p:tgtEl>
                                          <p:spTgt spid="150"/>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154"/>
                                        </p:tgtEl>
                                        <p:attrNameLst>
                                          <p:attrName>style.visibility</p:attrName>
                                        </p:attrNameLst>
                                      </p:cBhvr>
                                      <p:to>
                                        <p:strVal val="visible"/>
                                      </p:to>
                                    </p:set>
                                    <p:animEffect filter="wipe(left)" transition="in">
                                      <p:cBhvr>
                                        <p:cTn id="22" dur="500"/>
                                        <p:tgtEl>
                                          <p:spTgt spid="15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55"/>
                                        </p:tgtEl>
                                        <p:attrNameLst>
                                          <p:attrName>style.visibility</p:attrName>
                                        </p:attrNameLst>
                                      </p:cBhvr>
                                      <p:to>
                                        <p:strVal val="visible"/>
                                      </p:to>
                                    </p:set>
                                    <p:animEffect filter="fade" transition="in">
                                      <p:cBhvr>
                                        <p:cTn id="27" dur="6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5" grpId="5"/>
      <p:bldP build="whole" bldLvl="1" animBg="1" rev="0" advAuto="0" spid="142" grpId="1"/>
      <p:bldP build="whole" bldLvl="1" animBg="1" rev="0" advAuto="0" spid="146" grpId="2"/>
      <p:bldP build="whole" bldLvl="1" animBg="1" rev="0" advAuto="0" spid="150" grpId="3"/>
      <p:bldP build="whole" bldLvl="1" animBg="1" rev="0" advAuto="0" spid="154"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162" name="phase_pill"/>
          <p:cNvGrpSpPr/>
          <p:nvPr/>
        </p:nvGrpSpPr>
        <p:grpSpPr>
          <a:xfrm>
            <a:off x="502919" y="274320"/>
            <a:ext cx="2139697" cy="347473"/>
            <a:chOff x="0" y="0"/>
            <a:chExt cx="2139695" cy="347472"/>
          </a:xfrm>
        </p:grpSpPr>
        <p:sp>
          <p:nvSpPr>
            <p:cNvPr id="160"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161" name="I DO · 4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I DO · 4 MIN</a:t>
              </a:r>
            </a:p>
          </p:txBody>
        </p:sp>
      </p:grpSp>
      <p:sp>
        <p:nvSpPr>
          <p:cNvPr id="163"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species   ·   population   ·   community</a:t>
            </a:r>
          </a:p>
        </p:txBody>
      </p:sp>
      <p:sp>
        <p:nvSpPr>
          <p:cNvPr id="164"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Zoom out: from one animal to the whole system</a:t>
            </a:r>
          </a:p>
        </p:txBody>
      </p:sp>
      <p:sp>
        <p:nvSpPr>
          <p:cNvPr id="165" name="lvl_species"/>
          <p:cNvSpPr/>
          <p:nvPr/>
        </p:nvSpPr>
        <p:spPr>
          <a:xfrm>
            <a:off x="6263640" y="2432304"/>
            <a:ext cx="3108961" cy="3108961"/>
          </a:xfrm>
          <a:prstGeom prst="ellipse">
            <a:avLst/>
          </a:prstGeom>
          <a:solidFill>
            <a:srgbClr val="FFF4D4"/>
          </a:solidFill>
          <a:ln w="22860">
            <a:solidFill>
              <a:srgbClr val="F5B301"/>
            </a:solidFill>
          </a:ln>
        </p:spPr>
        <p:txBody>
          <a:bodyPr lIns="45719" rIns="45719"/>
          <a:lstStyle/>
          <a:p>
            <a:pPr/>
          </a:p>
        </p:txBody>
      </p:sp>
      <p:sp>
        <p:nvSpPr>
          <p:cNvPr id="166" name="lvl_species_lbl"/>
          <p:cNvSpPr txBox="1"/>
          <p:nvPr/>
        </p:nvSpPr>
        <p:spPr>
          <a:xfrm>
            <a:off x="6263640" y="3607630"/>
            <a:ext cx="3108961"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20" sz="1500">
                <a:solidFill>
                  <a:srgbClr val="0E3A3F"/>
                </a:solidFill>
                <a:latin typeface="Arial"/>
                <a:ea typeface="Arial"/>
                <a:cs typeface="Arial"/>
                <a:sym typeface="Arial"/>
              </a:defRPr>
            </a:lvl1pPr>
          </a:lstStyle>
          <a:p>
            <a:pPr/>
            <a:r>
              <a:t>SPECIES</a:t>
            </a:r>
          </a:p>
        </p:txBody>
      </p:sp>
      <p:sp>
        <p:nvSpPr>
          <p:cNvPr id="167" name="lvl_species_eg"/>
          <p:cNvSpPr txBox="1"/>
          <p:nvPr/>
        </p:nvSpPr>
        <p:spPr>
          <a:xfrm>
            <a:off x="6263640" y="3931920"/>
            <a:ext cx="3108961"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1700"/>
              </a:lnSpc>
              <a:defRPr sz="1300">
                <a:solidFill>
                  <a:srgbClr val="4A6165"/>
                </a:solidFill>
                <a:latin typeface="Arial"/>
                <a:ea typeface="Arial"/>
                <a:cs typeface="Arial"/>
                <a:sym typeface="Arial"/>
              </a:defRPr>
            </a:pPr>
            <a:r>
              <a:t>one silver-lined</a:t>
            </a:r>
          </a:p>
          <a:p>
            <a:pPr algn="ctr">
              <a:lnSpc>
                <a:spcPts val="1700"/>
              </a:lnSpc>
              <a:defRPr sz="1300">
                <a:solidFill>
                  <a:srgbClr val="4A6165"/>
                </a:solidFill>
                <a:latin typeface="Arial"/>
                <a:ea typeface="Arial"/>
                <a:cs typeface="Arial"/>
                <a:sym typeface="Arial"/>
              </a:defRPr>
            </a:pPr>
            <a:r>
              <a:t>mudskipper</a:t>
            </a:r>
          </a:p>
        </p:txBody>
      </p:sp>
      <p:sp>
        <p:nvSpPr>
          <p:cNvPr id="168" name="lvl_a_text"/>
          <p:cNvSpPr txBox="1"/>
          <p:nvPr/>
        </p:nvSpPr>
        <p:spPr>
          <a:xfrm>
            <a:off x="502919" y="1865375"/>
            <a:ext cx="4114801" cy="12013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400"/>
              </a:lnSpc>
              <a:defRPr sz="1600">
                <a:solidFill>
                  <a:srgbClr val="14282B"/>
                </a:solidFill>
                <a:latin typeface="Arial"/>
                <a:ea typeface="Arial"/>
                <a:cs typeface="Arial"/>
                <a:sym typeface="Arial"/>
              </a:defRPr>
            </a:pPr>
            <a:r>
              <a:t>Start with one organism.</a:t>
            </a:r>
          </a:p>
          <a:p>
            <a:pPr>
              <a:lnSpc>
                <a:spcPts val="2400"/>
              </a:lnSpc>
              <a:defRPr sz="1600"/>
            </a:pPr>
          </a:p>
          <a:p>
            <a:pPr>
              <a:lnSpc>
                <a:spcPts val="2400"/>
              </a:lnSpc>
              <a:defRPr sz="1600">
                <a:solidFill>
                  <a:srgbClr val="14282B"/>
                </a:solidFill>
                <a:latin typeface="Arial"/>
                <a:ea typeface="Arial"/>
                <a:cs typeface="Arial"/>
                <a:sym typeface="Arial"/>
              </a:defRPr>
            </a:pPr>
            <a:r>
              <a:t>Everything else in ecology is built by zooming out from here.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174" name="phase_pill"/>
          <p:cNvGrpSpPr/>
          <p:nvPr/>
        </p:nvGrpSpPr>
        <p:grpSpPr>
          <a:xfrm>
            <a:off x="502919" y="274320"/>
            <a:ext cx="2139697" cy="347473"/>
            <a:chOff x="0" y="0"/>
            <a:chExt cx="2139695" cy="347472"/>
          </a:xfrm>
        </p:grpSpPr>
        <p:sp>
          <p:nvSpPr>
            <p:cNvPr id="172"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173" name="I DO · 4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I DO · 4 MIN</a:t>
              </a:r>
            </a:p>
          </p:txBody>
        </p:sp>
      </p:grpSp>
      <p:sp>
        <p:nvSpPr>
          <p:cNvPr id="175"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species   ·   population   ·   community</a:t>
            </a:r>
          </a:p>
        </p:txBody>
      </p:sp>
      <p:sp>
        <p:nvSpPr>
          <p:cNvPr id="176"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Zoom out: from one animal to the whole system</a:t>
            </a:r>
          </a:p>
        </p:txBody>
      </p:sp>
      <p:sp>
        <p:nvSpPr>
          <p:cNvPr id="177" name="lvl_ecosystem"/>
          <p:cNvSpPr/>
          <p:nvPr/>
        </p:nvSpPr>
        <p:spPr>
          <a:xfrm>
            <a:off x="5257799" y="1426463"/>
            <a:ext cx="5120642" cy="5120642"/>
          </a:xfrm>
          <a:prstGeom prst="ellipse">
            <a:avLst/>
          </a:prstGeom>
          <a:solidFill>
            <a:srgbClr val="E7EEEF"/>
          </a:solidFill>
          <a:ln w="22860">
            <a:solidFill>
              <a:srgbClr val="0E3A3F"/>
            </a:solidFill>
          </a:ln>
        </p:spPr>
        <p:txBody>
          <a:bodyPr lIns="45719" rIns="45719"/>
          <a:lstStyle/>
          <a:p>
            <a:pPr/>
          </a:p>
        </p:txBody>
      </p:sp>
      <p:sp>
        <p:nvSpPr>
          <p:cNvPr id="178" name="lvl_community"/>
          <p:cNvSpPr/>
          <p:nvPr/>
        </p:nvSpPr>
        <p:spPr>
          <a:xfrm>
            <a:off x="5852159" y="2020823"/>
            <a:ext cx="3931921" cy="3931921"/>
          </a:xfrm>
          <a:prstGeom prst="ellipse">
            <a:avLst/>
          </a:prstGeom>
          <a:solidFill>
            <a:srgbClr val="EAF7F0"/>
          </a:solidFill>
          <a:ln w="22860">
            <a:solidFill>
              <a:srgbClr val="2E9E6B"/>
            </a:solidFill>
          </a:ln>
        </p:spPr>
        <p:txBody>
          <a:bodyPr lIns="45719" rIns="45719"/>
          <a:lstStyle/>
          <a:p>
            <a:pPr/>
          </a:p>
        </p:txBody>
      </p:sp>
      <p:sp>
        <p:nvSpPr>
          <p:cNvPr id="179" name="lvl_population"/>
          <p:cNvSpPr/>
          <p:nvPr/>
        </p:nvSpPr>
        <p:spPr>
          <a:xfrm>
            <a:off x="6423659" y="2592323"/>
            <a:ext cx="2788921" cy="2788921"/>
          </a:xfrm>
          <a:prstGeom prst="ellipse">
            <a:avLst/>
          </a:prstGeom>
          <a:solidFill>
            <a:srgbClr val="F6F0E0"/>
          </a:solidFill>
          <a:ln w="22860">
            <a:solidFill>
              <a:srgbClr val="4A6165"/>
            </a:solidFill>
          </a:ln>
        </p:spPr>
        <p:txBody>
          <a:bodyPr lIns="45719" rIns="45719"/>
          <a:lstStyle/>
          <a:p>
            <a:pPr/>
          </a:p>
        </p:txBody>
      </p:sp>
      <p:sp>
        <p:nvSpPr>
          <p:cNvPr id="180" name="lvl_species"/>
          <p:cNvSpPr/>
          <p:nvPr/>
        </p:nvSpPr>
        <p:spPr>
          <a:xfrm>
            <a:off x="6949440" y="3118104"/>
            <a:ext cx="1737361" cy="1737361"/>
          </a:xfrm>
          <a:prstGeom prst="ellipse">
            <a:avLst/>
          </a:prstGeom>
          <a:solidFill>
            <a:srgbClr val="FFF4D4"/>
          </a:solidFill>
          <a:ln w="22860">
            <a:solidFill>
              <a:srgbClr val="F5B301"/>
            </a:solidFill>
          </a:ln>
        </p:spPr>
        <p:txBody>
          <a:bodyPr lIns="45719" rIns="45719"/>
          <a:lstStyle/>
          <a:p>
            <a:pPr/>
          </a:p>
        </p:txBody>
      </p:sp>
      <p:sp>
        <p:nvSpPr>
          <p:cNvPr id="181" name="lvl_species_lbl"/>
          <p:cNvSpPr txBox="1"/>
          <p:nvPr/>
        </p:nvSpPr>
        <p:spPr>
          <a:xfrm>
            <a:off x="6949440" y="3912868"/>
            <a:ext cx="1737361"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0E3A3F"/>
                </a:solidFill>
                <a:latin typeface="Arial"/>
                <a:ea typeface="Arial"/>
                <a:cs typeface="Arial"/>
                <a:sym typeface="Arial"/>
              </a:defRPr>
            </a:lvl1pPr>
          </a:lstStyle>
          <a:p>
            <a:pPr/>
            <a:r>
              <a:t>SPECIES</a:t>
            </a:r>
          </a:p>
        </p:txBody>
      </p:sp>
      <p:sp>
        <p:nvSpPr>
          <p:cNvPr id="182" name="lvl_lbl0"/>
          <p:cNvSpPr txBox="1"/>
          <p:nvPr/>
        </p:nvSpPr>
        <p:spPr>
          <a:xfrm>
            <a:off x="6355079" y="2769869"/>
            <a:ext cx="292608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4A6165"/>
                </a:solidFill>
                <a:latin typeface="Arial"/>
                <a:ea typeface="Arial"/>
                <a:cs typeface="Arial"/>
                <a:sym typeface="Arial"/>
              </a:defRPr>
            </a:lvl1pPr>
          </a:lstStyle>
          <a:p>
            <a:pPr/>
            <a:r>
              <a:t>POPULATION</a:t>
            </a:r>
          </a:p>
        </p:txBody>
      </p:sp>
      <p:sp>
        <p:nvSpPr>
          <p:cNvPr id="183" name="lvl_lbl1"/>
          <p:cNvSpPr txBox="1"/>
          <p:nvPr/>
        </p:nvSpPr>
        <p:spPr>
          <a:xfrm>
            <a:off x="6355079" y="2221229"/>
            <a:ext cx="292608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2E9E6B"/>
                </a:solidFill>
                <a:latin typeface="Arial"/>
                <a:ea typeface="Arial"/>
                <a:cs typeface="Arial"/>
                <a:sym typeface="Arial"/>
              </a:defRPr>
            </a:lvl1pPr>
          </a:lstStyle>
          <a:p>
            <a:pPr/>
            <a:r>
              <a:t>COMMUNITY</a:t>
            </a:r>
          </a:p>
        </p:txBody>
      </p:sp>
      <p:sp>
        <p:nvSpPr>
          <p:cNvPr id="184" name="lvl_lbl2"/>
          <p:cNvSpPr txBox="1"/>
          <p:nvPr/>
        </p:nvSpPr>
        <p:spPr>
          <a:xfrm>
            <a:off x="6355079" y="1636013"/>
            <a:ext cx="292608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0E3A3F"/>
                </a:solidFill>
                <a:latin typeface="Arial"/>
                <a:ea typeface="Arial"/>
                <a:cs typeface="Arial"/>
                <a:sym typeface="Arial"/>
              </a:defRPr>
            </a:lvl1pPr>
          </a:lstStyle>
          <a:p>
            <a:pPr/>
            <a:r>
              <a:t>ECOSYSTEM</a:t>
            </a:r>
          </a:p>
        </p:txBody>
      </p:sp>
      <p:grpSp>
        <p:nvGrpSpPr>
          <p:cNvPr id="187" name="lvl_def0"/>
          <p:cNvGrpSpPr/>
          <p:nvPr/>
        </p:nvGrpSpPr>
        <p:grpSpPr>
          <a:xfrm>
            <a:off x="502920" y="1964850"/>
            <a:ext cx="4480560" cy="455705"/>
            <a:chOff x="0" y="0"/>
            <a:chExt cx="4480559" cy="455704"/>
          </a:xfrm>
        </p:grpSpPr>
        <p:sp>
          <p:nvSpPr>
            <p:cNvPr id="185" name="lvl_def0_h"/>
            <p:cNvSpPr txBox="1"/>
            <p:nvPr/>
          </p:nvSpPr>
          <p:spPr>
            <a:xfrm>
              <a:off x="0" y="0"/>
              <a:ext cx="4480560"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F5B301"/>
                  </a:solidFill>
                  <a:latin typeface="Arial"/>
                  <a:ea typeface="Arial"/>
                  <a:cs typeface="Arial"/>
                  <a:sym typeface="Arial"/>
                </a:defRPr>
              </a:lvl1pPr>
            </a:lstStyle>
            <a:p>
              <a:pPr/>
              <a:r>
                <a:t>SPECIES</a:t>
              </a:r>
            </a:p>
          </p:txBody>
        </p:sp>
        <p:sp>
          <p:nvSpPr>
            <p:cNvPr id="186" name="lvl_def0_b"/>
            <p:cNvSpPr txBox="1"/>
            <p:nvPr/>
          </p:nvSpPr>
          <p:spPr>
            <a:xfrm>
              <a:off x="0" y="247997"/>
              <a:ext cx="4480560"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300">
                  <a:solidFill>
                    <a:srgbClr val="14282B"/>
                  </a:solidFill>
                  <a:latin typeface="Arial"/>
                  <a:ea typeface="Arial"/>
                  <a:cs typeface="Arial"/>
                  <a:sym typeface="Arial"/>
                </a:defRPr>
              </a:pPr>
              <a:r>
                <a:rPr b="1"/>
                <a:t>one kind</a:t>
              </a:r>
              <a:r>
                <a:t> of organism that can breed together</a:t>
              </a:r>
            </a:p>
          </p:txBody>
        </p:sp>
      </p:grpSp>
      <p:grpSp>
        <p:nvGrpSpPr>
          <p:cNvPr id="190" name="lvl_def1"/>
          <p:cNvGrpSpPr/>
          <p:nvPr/>
        </p:nvGrpSpPr>
        <p:grpSpPr>
          <a:xfrm>
            <a:off x="502920" y="3007266"/>
            <a:ext cx="4480560" cy="455705"/>
            <a:chOff x="0" y="0"/>
            <a:chExt cx="4480559" cy="455704"/>
          </a:xfrm>
        </p:grpSpPr>
        <p:sp>
          <p:nvSpPr>
            <p:cNvPr id="188" name="lvl_def1_h"/>
            <p:cNvSpPr txBox="1"/>
            <p:nvPr/>
          </p:nvSpPr>
          <p:spPr>
            <a:xfrm>
              <a:off x="0" y="0"/>
              <a:ext cx="4480560"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4A6165"/>
                  </a:solidFill>
                  <a:latin typeface="Arial"/>
                  <a:ea typeface="Arial"/>
                  <a:cs typeface="Arial"/>
                  <a:sym typeface="Arial"/>
                </a:defRPr>
              </a:lvl1pPr>
            </a:lstStyle>
            <a:p>
              <a:pPr/>
              <a:r>
                <a:t>POPULATION</a:t>
              </a:r>
            </a:p>
          </p:txBody>
        </p:sp>
        <p:sp>
          <p:nvSpPr>
            <p:cNvPr id="189" name="lvl_def1_b"/>
            <p:cNvSpPr txBox="1"/>
            <p:nvPr/>
          </p:nvSpPr>
          <p:spPr>
            <a:xfrm>
              <a:off x="0" y="247997"/>
              <a:ext cx="4480560"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300">
                  <a:solidFill>
                    <a:srgbClr val="14282B"/>
                  </a:solidFill>
                  <a:latin typeface="Arial"/>
                  <a:ea typeface="Arial"/>
                  <a:cs typeface="Arial"/>
                  <a:sym typeface="Arial"/>
                </a:defRPr>
              </a:pPr>
              <a:r>
                <a:t>all the organisms of a</a:t>
              </a:r>
              <a:r>
                <a:rPr b="1"/>
                <a:t> particular species</a:t>
              </a:r>
            </a:p>
          </p:txBody>
        </p:sp>
      </p:grpSp>
      <p:grpSp>
        <p:nvGrpSpPr>
          <p:cNvPr id="193" name="lvl_def2"/>
          <p:cNvGrpSpPr/>
          <p:nvPr/>
        </p:nvGrpSpPr>
        <p:grpSpPr>
          <a:xfrm>
            <a:off x="502920" y="4049682"/>
            <a:ext cx="4480560" cy="455706"/>
            <a:chOff x="0" y="0"/>
            <a:chExt cx="4480559" cy="455704"/>
          </a:xfrm>
        </p:grpSpPr>
        <p:sp>
          <p:nvSpPr>
            <p:cNvPr id="191" name="lvl_def2_h"/>
            <p:cNvSpPr txBox="1"/>
            <p:nvPr/>
          </p:nvSpPr>
          <p:spPr>
            <a:xfrm>
              <a:off x="0" y="0"/>
              <a:ext cx="4480560"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2E9E6B"/>
                  </a:solidFill>
                  <a:latin typeface="Arial"/>
                  <a:ea typeface="Arial"/>
                  <a:cs typeface="Arial"/>
                  <a:sym typeface="Arial"/>
                </a:defRPr>
              </a:lvl1pPr>
            </a:lstStyle>
            <a:p>
              <a:pPr/>
              <a:r>
                <a:t>COMMUNITY</a:t>
              </a:r>
            </a:p>
          </p:txBody>
        </p:sp>
        <p:sp>
          <p:nvSpPr>
            <p:cNvPr id="192" name="lvl_def2_b"/>
            <p:cNvSpPr txBox="1"/>
            <p:nvPr/>
          </p:nvSpPr>
          <p:spPr>
            <a:xfrm>
              <a:off x="0" y="247997"/>
              <a:ext cx="4480560"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300">
                  <a:solidFill>
                    <a:srgbClr val="14282B"/>
                  </a:solidFill>
                  <a:latin typeface="Arial"/>
                  <a:ea typeface="Arial"/>
                  <a:cs typeface="Arial"/>
                  <a:sym typeface="Arial"/>
                </a:defRPr>
              </a:pPr>
              <a:r>
                <a:rPr b="1"/>
                <a:t>many populations</a:t>
              </a:r>
              <a:r>
                <a:t> together — trees, crabs, birds, bacteria</a:t>
              </a:r>
            </a:p>
          </p:txBody>
        </p:sp>
      </p:grpSp>
      <p:grpSp>
        <p:nvGrpSpPr>
          <p:cNvPr id="196" name="lvl_def3"/>
          <p:cNvGrpSpPr/>
          <p:nvPr/>
        </p:nvGrpSpPr>
        <p:grpSpPr>
          <a:xfrm>
            <a:off x="502920" y="5092098"/>
            <a:ext cx="4480560" cy="455706"/>
            <a:chOff x="0" y="0"/>
            <a:chExt cx="4480559" cy="455704"/>
          </a:xfrm>
        </p:grpSpPr>
        <p:sp>
          <p:nvSpPr>
            <p:cNvPr id="194" name="lvl_def3_h"/>
            <p:cNvSpPr txBox="1"/>
            <p:nvPr/>
          </p:nvSpPr>
          <p:spPr>
            <a:xfrm>
              <a:off x="0" y="0"/>
              <a:ext cx="4480560"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E3A3F"/>
                  </a:solidFill>
                  <a:latin typeface="Arial"/>
                  <a:ea typeface="Arial"/>
                  <a:cs typeface="Arial"/>
                  <a:sym typeface="Arial"/>
                </a:defRPr>
              </a:lvl1pPr>
            </a:lstStyle>
            <a:p>
              <a:pPr/>
              <a:r>
                <a:t>ECOSYSTEM</a:t>
              </a:r>
            </a:p>
          </p:txBody>
        </p:sp>
        <p:sp>
          <p:nvSpPr>
            <p:cNvPr id="195" name="lvl_def3_b"/>
            <p:cNvSpPr txBox="1"/>
            <p:nvPr/>
          </p:nvSpPr>
          <p:spPr>
            <a:xfrm>
              <a:off x="0" y="247997"/>
              <a:ext cx="4480560"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300">
                  <a:solidFill>
                    <a:srgbClr val="14282B"/>
                  </a:solidFill>
                  <a:latin typeface="Arial"/>
                  <a:ea typeface="Arial"/>
                  <a:cs typeface="Arial"/>
                  <a:sym typeface="Arial"/>
                </a:defRPr>
              </a:pPr>
              <a:r>
                <a:t>the community plus the </a:t>
              </a:r>
              <a:r>
                <a:rPr b="1"/>
                <a:t>non-living environment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87"/>
                                        </p:tgtEl>
                                        <p:attrNameLst>
                                          <p:attrName>style.visibility</p:attrName>
                                        </p:attrNameLst>
                                      </p:cBhvr>
                                      <p:to>
                                        <p:strVal val="visible"/>
                                      </p:to>
                                    </p:set>
                                    <p:animEffect filter="fade" transition="in">
                                      <p:cBhvr>
                                        <p:cTn id="7" dur="500"/>
                                        <p:tgtEl>
                                          <p:spTgt spid="18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90"/>
                                        </p:tgtEl>
                                        <p:attrNameLst>
                                          <p:attrName>style.visibility</p:attrName>
                                        </p:attrNameLst>
                                      </p:cBhvr>
                                      <p:to>
                                        <p:strVal val="visible"/>
                                      </p:to>
                                    </p:set>
                                    <p:animEffect filter="fade" transition="in">
                                      <p:cBhvr>
                                        <p:cTn id="12" dur="500"/>
                                        <p:tgtEl>
                                          <p:spTgt spid="19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93"/>
                                        </p:tgtEl>
                                        <p:attrNameLst>
                                          <p:attrName>style.visibility</p:attrName>
                                        </p:attrNameLst>
                                      </p:cBhvr>
                                      <p:to>
                                        <p:strVal val="visible"/>
                                      </p:to>
                                    </p:set>
                                    <p:animEffect filter="fade" transition="in">
                                      <p:cBhvr>
                                        <p:cTn id="17" dur="500"/>
                                        <p:tgtEl>
                                          <p:spTgt spid="19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196"/>
                                        </p:tgtEl>
                                        <p:attrNameLst>
                                          <p:attrName>style.visibility</p:attrName>
                                        </p:attrNameLst>
                                      </p:cBhvr>
                                      <p:to>
                                        <p:strVal val="visible"/>
                                      </p:to>
                                    </p:set>
                                    <p:animEffect filter="fade" transition="in">
                                      <p:cBhvr>
                                        <p:cTn id="22"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0" grpId="2"/>
      <p:bldP build="whole" bldLvl="1" animBg="1" rev="0" advAuto="0" spid="187" grpId="1"/>
      <p:bldP build="whole" bldLvl="1" animBg="1" rev="0" advAuto="0" spid="196" grpId="4"/>
      <p:bldP build="whole" bldLvl="1" animBg="1" rev="0" advAuto="0" spid="193"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202" name="phase_pill"/>
          <p:cNvGrpSpPr/>
          <p:nvPr/>
        </p:nvGrpSpPr>
        <p:grpSpPr>
          <a:xfrm>
            <a:off x="502919" y="274320"/>
            <a:ext cx="2139697" cy="347473"/>
            <a:chOff x="0" y="0"/>
            <a:chExt cx="2139695" cy="347472"/>
          </a:xfrm>
        </p:grpSpPr>
        <p:sp>
          <p:nvSpPr>
            <p:cNvPr id="200"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201" name="I DO · 3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I DO · 3 MIN</a:t>
              </a:r>
            </a:p>
          </p:txBody>
        </p:sp>
      </p:grpSp>
      <p:sp>
        <p:nvSpPr>
          <p:cNvPr id="203"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abiotic factor   ·   nutrient</a:t>
            </a:r>
          </a:p>
        </p:txBody>
      </p:sp>
      <p:sp>
        <p:nvSpPr>
          <p:cNvPr id="204"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Abiotic factors = parts that were never alive</a:t>
            </a:r>
          </a:p>
        </p:txBody>
      </p:sp>
      <p:sp>
        <p:nvSpPr>
          <p:cNvPr id="205" name="ab_caption"/>
          <p:cNvSpPr txBox="1"/>
          <p:nvPr/>
        </p:nvSpPr>
        <p:spPr>
          <a:xfrm>
            <a:off x="502919" y="5449130"/>
            <a:ext cx="457200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4A6165"/>
                </a:solidFill>
                <a:latin typeface="Arial"/>
                <a:ea typeface="Arial"/>
                <a:cs typeface="Arial"/>
                <a:sym typeface="Arial"/>
              </a:defRPr>
            </a:lvl1pPr>
          </a:lstStyle>
          <a:p>
            <a:pPr/>
            <a:r>
              <a:t>mangrove forest </a:t>
            </a:r>
          </a:p>
        </p:txBody>
      </p:sp>
      <p:grpSp>
        <p:nvGrpSpPr>
          <p:cNvPr id="209" name="ab_f0"/>
          <p:cNvGrpSpPr/>
          <p:nvPr/>
        </p:nvGrpSpPr>
        <p:grpSpPr>
          <a:xfrm>
            <a:off x="5458967" y="1920239"/>
            <a:ext cx="6229808" cy="676657"/>
            <a:chOff x="0" y="0"/>
            <a:chExt cx="6229806" cy="676656"/>
          </a:xfrm>
        </p:grpSpPr>
        <p:sp>
          <p:nvSpPr>
            <p:cNvPr id="206" name="ab_f0_bg"/>
            <p:cNvSpPr/>
            <p:nvPr/>
          </p:nvSpPr>
          <p:spPr>
            <a:xfrm>
              <a:off x="0" y="-1"/>
              <a:ext cx="6229807" cy="676658"/>
            </a:xfrm>
            <a:prstGeom prst="roundRect">
              <a:avLst>
                <a:gd name="adj" fmla="val 14865"/>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207" name="ab_f0_h"/>
            <p:cNvSpPr txBox="1"/>
            <p:nvPr/>
          </p:nvSpPr>
          <p:spPr>
            <a:xfrm>
              <a:off x="182879" y="102476"/>
              <a:ext cx="586404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Sunlight</a:t>
              </a:r>
            </a:p>
          </p:txBody>
        </p:sp>
        <p:sp>
          <p:nvSpPr>
            <p:cNvPr id="208" name="ab_f0_b"/>
            <p:cNvSpPr txBox="1"/>
            <p:nvPr/>
          </p:nvSpPr>
          <p:spPr>
            <a:xfrm>
              <a:off x="182879" y="407368"/>
              <a:ext cx="586404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for photosynthesis</a:t>
              </a:r>
            </a:p>
          </p:txBody>
        </p:sp>
      </p:grpSp>
      <p:grpSp>
        <p:nvGrpSpPr>
          <p:cNvPr id="213" name="ab_f1"/>
          <p:cNvGrpSpPr/>
          <p:nvPr/>
        </p:nvGrpSpPr>
        <p:grpSpPr>
          <a:xfrm>
            <a:off x="5458967" y="2706623"/>
            <a:ext cx="6229808" cy="676657"/>
            <a:chOff x="0" y="0"/>
            <a:chExt cx="6229806" cy="676656"/>
          </a:xfrm>
        </p:grpSpPr>
        <p:sp>
          <p:nvSpPr>
            <p:cNvPr id="210" name="ab_f1_bg"/>
            <p:cNvSpPr/>
            <p:nvPr/>
          </p:nvSpPr>
          <p:spPr>
            <a:xfrm>
              <a:off x="0" y="-1"/>
              <a:ext cx="6229807" cy="676658"/>
            </a:xfrm>
            <a:prstGeom prst="roundRect">
              <a:avLst>
                <a:gd name="adj" fmla="val 14865"/>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211" name="ab_f1_h"/>
            <p:cNvSpPr txBox="1"/>
            <p:nvPr/>
          </p:nvSpPr>
          <p:spPr>
            <a:xfrm>
              <a:off x="182879" y="102476"/>
              <a:ext cx="586404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Salt in the water</a:t>
              </a:r>
            </a:p>
          </p:txBody>
        </p:sp>
        <p:sp>
          <p:nvSpPr>
            <p:cNvPr id="212" name="ab_f1_b"/>
            <p:cNvSpPr txBox="1"/>
            <p:nvPr/>
          </p:nvSpPr>
          <p:spPr>
            <a:xfrm>
              <a:off x="182879" y="407368"/>
              <a:ext cx="586404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mangroves must pump salt out</a:t>
              </a:r>
            </a:p>
          </p:txBody>
        </p:sp>
      </p:grpSp>
      <p:grpSp>
        <p:nvGrpSpPr>
          <p:cNvPr id="217" name="ab_f2"/>
          <p:cNvGrpSpPr/>
          <p:nvPr/>
        </p:nvGrpSpPr>
        <p:grpSpPr>
          <a:xfrm>
            <a:off x="5458967" y="3493008"/>
            <a:ext cx="6229808" cy="676657"/>
            <a:chOff x="0" y="0"/>
            <a:chExt cx="6229806" cy="676656"/>
          </a:xfrm>
        </p:grpSpPr>
        <p:sp>
          <p:nvSpPr>
            <p:cNvPr id="214" name="ab_f2_bg"/>
            <p:cNvSpPr/>
            <p:nvPr/>
          </p:nvSpPr>
          <p:spPr>
            <a:xfrm>
              <a:off x="0" y="-1"/>
              <a:ext cx="6229807" cy="676658"/>
            </a:xfrm>
            <a:prstGeom prst="roundRect">
              <a:avLst>
                <a:gd name="adj" fmla="val 14865"/>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215" name="ab_f2_h"/>
            <p:cNvSpPr txBox="1"/>
            <p:nvPr/>
          </p:nvSpPr>
          <p:spPr>
            <a:xfrm>
              <a:off x="182879" y="102476"/>
              <a:ext cx="586404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Tides and water level</a:t>
              </a:r>
            </a:p>
          </p:txBody>
        </p:sp>
        <p:sp>
          <p:nvSpPr>
            <p:cNvPr id="216" name="ab_f2_b"/>
            <p:cNvSpPr txBox="1"/>
            <p:nvPr/>
          </p:nvSpPr>
          <p:spPr>
            <a:xfrm>
              <a:off x="182879" y="407368"/>
              <a:ext cx="586404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sets how many hours a day the roots are underwater</a:t>
              </a:r>
            </a:p>
          </p:txBody>
        </p:sp>
      </p:grpSp>
      <p:grpSp>
        <p:nvGrpSpPr>
          <p:cNvPr id="221" name="ab_f3"/>
          <p:cNvGrpSpPr/>
          <p:nvPr/>
        </p:nvGrpSpPr>
        <p:grpSpPr>
          <a:xfrm>
            <a:off x="5458967" y="4279391"/>
            <a:ext cx="6229808" cy="676657"/>
            <a:chOff x="0" y="0"/>
            <a:chExt cx="6229806" cy="676656"/>
          </a:xfrm>
        </p:grpSpPr>
        <p:sp>
          <p:nvSpPr>
            <p:cNvPr id="218" name="ab_f3_bg"/>
            <p:cNvSpPr/>
            <p:nvPr/>
          </p:nvSpPr>
          <p:spPr>
            <a:xfrm>
              <a:off x="0" y="-1"/>
              <a:ext cx="6229807" cy="676658"/>
            </a:xfrm>
            <a:prstGeom prst="roundRect">
              <a:avLst>
                <a:gd name="adj" fmla="val 14865"/>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219" name="ab_f3_h"/>
            <p:cNvSpPr txBox="1"/>
            <p:nvPr/>
          </p:nvSpPr>
          <p:spPr>
            <a:xfrm>
              <a:off x="182879" y="102476"/>
              <a:ext cx="586404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Oxygen in the mud</a:t>
              </a:r>
            </a:p>
          </p:txBody>
        </p:sp>
        <p:sp>
          <p:nvSpPr>
            <p:cNvPr id="220" name="ab_f3_b"/>
            <p:cNvSpPr txBox="1"/>
            <p:nvPr/>
          </p:nvSpPr>
          <p:spPr>
            <a:xfrm>
              <a:off x="182879" y="407368"/>
              <a:ext cx="586404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almost none, so roots grow upwards into the air to breathe</a:t>
              </a:r>
            </a:p>
          </p:txBody>
        </p:sp>
      </p:grpSp>
      <p:grpSp>
        <p:nvGrpSpPr>
          <p:cNvPr id="225" name="ab_f4"/>
          <p:cNvGrpSpPr/>
          <p:nvPr/>
        </p:nvGrpSpPr>
        <p:grpSpPr>
          <a:xfrm>
            <a:off x="5458967" y="5065776"/>
            <a:ext cx="6229808" cy="676657"/>
            <a:chOff x="0" y="0"/>
            <a:chExt cx="6229806" cy="676656"/>
          </a:xfrm>
        </p:grpSpPr>
        <p:sp>
          <p:nvSpPr>
            <p:cNvPr id="222" name="ab_f4_bg"/>
            <p:cNvSpPr/>
            <p:nvPr/>
          </p:nvSpPr>
          <p:spPr>
            <a:xfrm>
              <a:off x="0" y="-1"/>
              <a:ext cx="6229807" cy="676658"/>
            </a:xfrm>
            <a:prstGeom prst="roundRect">
              <a:avLst>
                <a:gd name="adj" fmla="val 14865"/>
              </a:avLst>
            </a:prstGeom>
            <a:solidFill>
              <a:srgbClr val="FFFFFF"/>
            </a:solidFill>
            <a:ln w="22860" cap="flat">
              <a:solidFill>
                <a:srgbClr val="F5B301"/>
              </a:solidFill>
              <a:prstDash val="solid"/>
              <a:round/>
            </a:ln>
            <a:effectLst/>
          </p:spPr>
          <p:txBody>
            <a:bodyPr wrap="square" lIns="45719" tIns="45719" rIns="45719" bIns="45719" numCol="1" anchor="t">
              <a:noAutofit/>
            </a:bodyPr>
            <a:lstStyle/>
            <a:p>
              <a:pPr/>
            </a:p>
          </p:txBody>
        </p:sp>
        <p:sp>
          <p:nvSpPr>
            <p:cNvPr id="223" name="ab_f4_h"/>
            <p:cNvSpPr txBox="1"/>
            <p:nvPr/>
          </p:nvSpPr>
          <p:spPr>
            <a:xfrm>
              <a:off x="182879" y="102476"/>
              <a:ext cx="586404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F5B301"/>
                  </a:solidFill>
                  <a:latin typeface="Arial"/>
                  <a:ea typeface="Arial"/>
                  <a:cs typeface="Arial"/>
                  <a:sym typeface="Arial"/>
                </a:defRPr>
              </a:lvl1pPr>
            </a:lstStyle>
            <a:p>
              <a:pPr/>
              <a:r>
                <a:t>Nitrogen in the soil</a:t>
              </a:r>
            </a:p>
          </p:txBody>
        </p:sp>
        <p:sp>
          <p:nvSpPr>
            <p:cNvPr id="224" name="ab_f4_b"/>
            <p:cNvSpPr txBox="1"/>
            <p:nvPr/>
          </p:nvSpPr>
          <p:spPr>
            <a:xfrm>
              <a:off x="182879" y="407368"/>
              <a:ext cx="5864048"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needed to build chlorophyll and protein — remember this one</a:t>
              </a:r>
            </a:p>
          </p:txBody>
        </p:sp>
      </p:grpSp>
      <p:sp>
        <p:nvSpPr>
          <p:cNvPr id="226"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4A6165"/>
                </a:solidFill>
                <a:latin typeface="Arial"/>
                <a:ea typeface="Arial"/>
                <a:cs typeface="Arial"/>
                <a:sym typeface="Arial"/>
              </a:defRPr>
            </a:lvl1pPr>
          </a:lstStyle>
          <a:p>
            <a:pPr/>
            <a:r>
              <a:t>Abiotic = "not living" — and it means NEVER living, not "dead".</a:t>
            </a:r>
          </a:p>
        </p:txBody>
      </p:sp>
      <p:pic>
        <p:nvPicPr>
          <p:cNvPr id="227" name="Image" descr="Image"/>
          <p:cNvPicPr>
            <a:picLocks noChangeAspect="1"/>
          </p:cNvPicPr>
          <p:nvPr/>
        </p:nvPicPr>
        <p:blipFill>
          <a:blip r:embed="rId3">
            <a:extLst/>
          </a:blip>
          <a:stretch>
            <a:fillRect/>
          </a:stretch>
        </p:blipFill>
        <p:spPr>
          <a:xfrm>
            <a:off x="270723" y="2077996"/>
            <a:ext cx="4888430" cy="325895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2" presetID="2" grpId="1" fill="hold">
                                  <p:stCondLst>
                                    <p:cond delay="0"/>
                                  </p:stCondLst>
                                  <p:iterate type="el" backwards="0">
                                    <p:tmAbs val="0"/>
                                  </p:iterate>
                                  <p:childTnLst>
                                    <p:set>
                                      <p:cBhvr>
                                        <p:cTn id="6" fill="hold"/>
                                        <p:tgtEl>
                                          <p:spTgt spid="209"/>
                                        </p:tgtEl>
                                        <p:attrNameLst>
                                          <p:attrName>style.visibility</p:attrName>
                                        </p:attrNameLst>
                                      </p:cBhvr>
                                      <p:to>
                                        <p:strVal val="visible"/>
                                      </p:to>
                                    </p:set>
                                    <p:anim calcmode="lin" valueType="num">
                                      <p:cBhvr>
                                        <p:cTn id="7" dur="500" fill="hold"/>
                                        <p:tgtEl>
                                          <p:spTgt spid="209"/>
                                        </p:tgtEl>
                                        <p:attrNameLst>
                                          <p:attrName>ppt_x</p:attrName>
                                        </p:attrNameLst>
                                      </p:cBhvr>
                                      <p:tavLst>
                                        <p:tav tm="0">
                                          <p:val>
                                            <p:strVal val="1+#ppt_w/2"/>
                                          </p:val>
                                        </p:tav>
                                        <p:tav tm="100000">
                                          <p:val>
                                            <p:strVal val="#ppt_x"/>
                                          </p:val>
                                        </p:tav>
                                      </p:tavLst>
                                    </p:anim>
                                    <p:anim calcmode="lin" valueType="num">
                                      <p:cBhvr>
                                        <p:cTn id="8" dur="500" fill="hold"/>
                                        <p:tgtEl>
                                          <p:spTgt spid="2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2" presetID="2" grpId="2" fill="hold">
                                  <p:stCondLst>
                                    <p:cond delay="0"/>
                                  </p:stCondLst>
                                  <p:iterate type="el" backwards="0">
                                    <p:tmAbs val="0"/>
                                  </p:iterate>
                                  <p:childTnLst>
                                    <p:set>
                                      <p:cBhvr>
                                        <p:cTn id="12" fill="hold"/>
                                        <p:tgtEl>
                                          <p:spTgt spid="213"/>
                                        </p:tgtEl>
                                        <p:attrNameLst>
                                          <p:attrName>style.visibility</p:attrName>
                                        </p:attrNameLst>
                                      </p:cBhvr>
                                      <p:to>
                                        <p:strVal val="visible"/>
                                      </p:to>
                                    </p:set>
                                    <p:anim calcmode="lin" valueType="num">
                                      <p:cBhvr>
                                        <p:cTn id="13" dur="500" fill="hold"/>
                                        <p:tgtEl>
                                          <p:spTgt spid="213"/>
                                        </p:tgtEl>
                                        <p:attrNameLst>
                                          <p:attrName>ppt_x</p:attrName>
                                        </p:attrNameLst>
                                      </p:cBhvr>
                                      <p:tavLst>
                                        <p:tav tm="0">
                                          <p:val>
                                            <p:strVal val="1+#ppt_w/2"/>
                                          </p:val>
                                        </p:tav>
                                        <p:tav tm="100000">
                                          <p:val>
                                            <p:strVal val="#ppt_x"/>
                                          </p:val>
                                        </p:tav>
                                      </p:tavLst>
                                    </p:anim>
                                    <p:anim calcmode="lin" valueType="num">
                                      <p:cBhvr>
                                        <p:cTn id="14" dur="500" fill="hold"/>
                                        <p:tgtEl>
                                          <p:spTgt spid="2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2" presetID="2" grpId="3" fill="hold">
                                  <p:stCondLst>
                                    <p:cond delay="0"/>
                                  </p:stCondLst>
                                  <p:iterate type="el" backwards="0">
                                    <p:tmAbs val="0"/>
                                  </p:iterate>
                                  <p:childTnLst>
                                    <p:set>
                                      <p:cBhvr>
                                        <p:cTn id="18" fill="hold"/>
                                        <p:tgtEl>
                                          <p:spTgt spid="217"/>
                                        </p:tgtEl>
                                        <p:attrNameLst>
                                          <p:attrName>style.visibility</p:attrName>
                                        </p:attrNameLst>
                                      </p:cBhvr>
                                      <p:to>
                                        <p:strVal val="visible"/>
                                      </p:to>
                                    </p:set>
                                    <p:anim calcmode="lin" valueType="num">
                                      <p:cBhvr>
                                        <p:cTn id="19" dur="500" fill="hold"/>
                                        <p:tgtEl>
                                          <p:spTgt spid="217"/>
                                        </p:tgtEl>
                                        <p:attrNameLst>
                                          <p:attrName>ppt_x</p:attrName>
                                        </p:attrNameLst>
                                      </p:cBhvr>
                                      <p:tavLst>
                                        <p:tav tm="0">
                                          <p:val>
                                            <p:strVal val="1+#ppt_w/2"/>
                                          </p:val>
                                        </p:tav>
                                        <p:tav tm="100000">
                                          <p:val>
                                            <p:strVal val="#ppt_x"/>
                                          </p:val>
                                        </p:tav>
                                      </p:tavLst>
                                    </p:anim>
                                    <p:anim calcmode="lin" valueType="num">
                                      <p:cBhvr>
                                        <p:cTn id="20" dur="500" fill="hold"/>
                                        <p:tgtEl>
                                          <p:spTgt spid="2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2" presetID="2" grpId="4" fill="hold">
                                  <p:stCondLst>
                                    <p:cond delay="0"/>
                                  </p:stCondLst>
                                  <p:iterate type="el" backwards="0">
                                    <p:tmAbs val="0"/>
                                  </p:iterate>
                                  <p:childTnLst>
                                    <p:set>
                                      <p:cBhvr>
                                        <p:cTn id="24" fill="hold"/>
                                        <p:tgtEl>
                                          <p:spTgt spid="221"/>
                                        </p:tgtEl>
                                        <p:attrNameLst>
                                          <p:attrName>style.visibility</p:attrName>
                                        </p:attrNameLst>
                                      </p:cBhvr>
                                      <p:to>
                                        <p:strVal val="visible"/>
                                      </p:to>
                                    </p:set>
                                    <p:anim calcmode="lin" valueType="num">
                                      <p:cBhvr>
                                        <p:cTn id="25" dur="500" fill="hold"/>
                                        <p:tgtEl>
                                          <p:spTgt spid="221"/>
                                        </p:tgtEl>
                                        <p:attrNameLst>
                                          <p:attrName>ppt_x</p:attrName>
                                        </p:attrNameLst>
                                      </p:cBhvr>
                                      <p:tavLst>
                                        <p:tav tm="0">
                                          <p:val>
                                            <p:strVal val="1+#ppt_w/2"/>
                                          </p:val>
                                        </p:tav>
                                        <p:tav tm="100000">
                                          <p:val>
                                            <p:strVal val="#ppt_x"/>
                                          </p:val>
                                        </p:tav>
                                      </p:tavLst>
                                    </p:anim>
                                    <p:anim calcmode="lin" valueType="num">
                                      <p:cBhvr>
                                        <p:cTn id="26" dur="500" fill="hold"/>
                                        <p:tgtEl>
                                          <p:spTgt spid="22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2" presetID="2" grpId="5" fill="hold">
                                  <p:stCondLst>
                                    <p:cond delay="0"/>
                                  </p:stCondLst>
                                  <p:iterate type="el" backwards="0">
                                    <p:tmAbs val="0"/>
                                  </p:iterate>
                                  <p:childTnLst>
                                    <p:set>
                                      <p:cBhvr>
                                        <p:cTn id="30" fill="hold"/>
                                        <p:tgtEl>
                                          <p:spTgt spid="225"/>
                                        </p:tgtEl>
                                        <p:attrNameLst>
                                          <p:attrName>style.visibility</p:attrName>
                                        </p:attrNameLst>
                                      </p:cBhvr>
                                      <p:to>
                                        <p:strVal val="visible"/>
                                      </p:to>
                                    </p:set>
                                    <p:anim calcmode="lin" valueType="num">
                                      <p:cBhvr>
                                        <p:cTn id="31" dur="650" fill="hold"/>
                                        <p:tgtEl>
                                          <p:spTgt spid="225"/>
                                        </p:tgtEl>
                                        <p:attrNameLst>
                                          <p:attrName>ppt_x</p:attrName>
                                        </p:attrNameLst>
                                      </p:cBhvr>
                                      <p:tavLst>
                                        <p:tav tm="0">
                                          <p:val>
                                            <p:strVal val="1+#ppt_w/2"/>
                                          </p:val>
                                        </p:tav>
                                        <p:tav tm="100000">
                                          <p:val>
                                            <p:strVal val="#ppt_x"/>
                                          </p:val>
                                        </p:tav>
                                      </p:tavLst>
                                    </p:anim>
                                    <p:anim calcmode="lin" valueType="num">
                                      <p:cBhvr>
                                        <p:cTn id="32" dur="650" fill="hold"/>
                                        <p:tgtEl>
                                          <p:spTgt spid="2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3" grpId="2"/>
      <p:bldP build="whole" bldLvl="1" animBg="1" rev="0" advAuto="0" spid="209" grpId="1"/>
      <p:bldP build="whole" bldLvl="1" animBg="1" rev="0" advAuto="0" spid="221" grpId="4"/>
      <p:bldP build="whole" bldLvl="1" animBg="1" rev="0" advAuto="0" spid="225" grpId="5"/>
      <p:bldP build="whole" bldLvl="1" animBg="1" rev="0" advAuto="0" spid="217"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233" name="phase_pill"/>
          <p:cNvGrpSpPr/>
          <p:nvPr/>
        </p:nvGrpSpPr>
        <p:grpSpPr>
          <a:xfrm>
            <a:off x="502919" y="274320"/>
            <a:ext cx="2286001" cy="347473"/>
            <a:chOff x="0" y="0"/>
            <a:chExt cx="2286000" cy="347472"/>
          </a:xfrm>
        </p:grpSpPr>
        <p:sp>
          <p:nvSpPr>
            <p:cNvPr id="231" name="Rounded Rectangle"/>
            <p:cNvSpPr/>
            <p:nvPr/>
          </p:nvSpPr>
          <p:spPr>
            <a:xfrm>
              <a:off x="0" y="0"/>
              <a:ext cx="2286000"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232" name="WE DO · 4 MIN"/>
            <p:cNvSpPr txBox="1"/>
            <p:nvPr/>
          </p:nvSpPr>
          <p:spPr>
            <a:xfrm>
              <a:off x="50885" y="99821"/>
              <a:ext cx="218423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WE DO · 4 MIN</a:t>
              </a:r>
            </a:p>
          </p:txBody>
        </p:sp>
      </p:grpSp>
      <p:sp>
        <p:nvSpPr>
          <p:cNvPr id="234"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biotic factor</a:t>
            </a:r>
          </a:p>
        </p:txBody>
      </p:sp>
      <p:sp>
        <p:nvSpPr>
          <p:cNvPr id="235"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Your turn: abiotic or biotic?</a:t>
            </a:r>
          </a:p>
        </p:txBody>
      </p:sp>
      <p:sp>
        <p:nvSpPr>
          <p:cNvPr id="236"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Thumb up for BIOTIC, thumb down for ABIOTIC.</a:t>
            </a:r>
          </a:p>
        </p:txBody>
      </p:sp>
      <p:sp>
        <p:nvSpPr>
          <p:cNvPr id="237" name="sort0_bg"/>
          <p:cNvSpPr/>
          <p:nvPr/>
        </p:nvSpPr>
        <p:spPr>
          <a:xfrm>
            <a:off x="502919" y="2048255"/>
            <a:ext cx="3594508"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38" name="sort0_q"/>
          <p:cNvSpPr txBox="1"/>
          <p:nvPr/>
        </p:nvSpPr>
        <p:spPr>
          <a:xfrm>
            <a:off x="685799" y="2471047"/>
            <a:ext cx="3228748"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Sunlight on the canopy</a:t>
            </a:r>
          </a:p>
        </p:txBody>
      </p:sp>
      <p:grpSp>
        <p:nvGrpSpPr>
          <p:cNvPr id="241" name="sort0_a"/>
          <p:cNvGrpSpPr/>
          <p:nvPr/>
        </p:nvGrpSpPr>
        <p:grpSpPr>
          <a:xfrm>
            <a:off x="685800" y="3035807"/>
            <a:ext cx="3228746" cy="530353"/>
            <a:chOff x="0" y="0"/>
            <a:chExt cx="3228745" cy="530351"/>
          </a:xfrm>
        </p:grpSpPr>
        <p:sp>
          <p:nvSpPr>
            <p:cNvPr id="239" name="Rounded Rectangle"/>
            <p:cNvSpPr/>
            <p:nvPr/>
          </p:nvSpPr>
          <p:spPr>
            <a:xfrm>
              <a:off x="0" y="0"/>
              <a:ext cx="3228746" cy="530352"/>
            </a:xfrm>
            <a:prstGeom prst="roundRect">
              <a:avLst>
                <a:gd name="adj" fmla="val 17241"/>
              </a:avLst>
            </a:prstGeom>
            <a:solidFill>
              <a:srgbClr val="E7EEEF"/>
            </a:solidFill>
            <a:ln w="17780" cap="flat">
              <a:solidFill>
                <a:srgbClr val="0E3A3F"/>
              </a:solidFill>
              <a:prstDash val="solid"/>
              <a:round/>
            </a:ln>
            <a:effectLst/>
          </p:spPr>
          <p:txBody>
            <a:bodyPr wrap="square" lIns="45719" tIns="45719" rIns="45719" bIns="45719" numCol="1" anchor="ctr">
              <a:noAutofit/>
            </a:bodyPr>
            <a:lstStyle/>
            <a:p>
              <a:pPr algn="ctr">
                <a:defRPr sz="1300"/>
              </a:pPr>
            </a:p>
          </p:txBody>
        </p:sp>
        <p:sp>
          <p:nvSpPr>
            <p:cNvPr id="240" name="ABIOTIC"/>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0E3A3F"/>
                  </a:solidFill>
                  <a:latin typeface="Arial"/>
                  <a:ea typeface="Arial"/>
                  <a:cs typeface="Arial"/>
                  <a:sym typeface="Arial"/>
                </a:defRPr>
              </a:lvl1pPr>
            </a:lstStyle>
            <a:p>
              <a:pPr/>
              <a:r>
                <a:t>ABIOTIC</a:t>
              </a:r>
            </a:p>
          </p:txBody>
        </p:sp>
      </p:grpSp>
      <p:sp>
        <p:nvSpPr>
          <p:cNvPr id="242" name="sort1_bg"/>
          <p:cNvSpPr/>
          <p:nvPr/>
        </p:nvSpPr>
        <p:spPr>
          <a:xfrm>
            <a:off x="4298593" y="2048255"/>
            <a:ext cx="3594507"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43" name="sort1_q"/>
          <p:cNvSpPr txBox="1"/>
          <p:nvPr/>
        </p:nvSpPr>
        <p:spPr>
          <a:xfrm>
            <a:off x="4481474" y="2471047"/>
            <a:ext cx="3228747"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A silver-lined mudskipper</a:t>
            </a:r>
          </a:p>
        </p:txBody>
      </p:sp>
      <p:grpSp>
        <p:nvGrpSpPr>
          <p:cNvPr id="246" name="sort1_a"/>
          <p:cNvGrpSpPr/>
          <p:nvPr/>
        </p:nvGrpSpPr>
        <p:grpSpPr>
          <a:xfrm>
            <a:off x="4481474" y="3035807"/>
            <a:ext cx="3228747" cy="530353"/>
            <a:chOff x="0" y="0"/>
            <a:chExt cx="3228745" cy="530351"/>
          </a:xfrm>
        </p:grpSpPr>
        <p:sp>
          <p:nvSpPr>
            <p:cNvPr id="244" name="Rounded Rectangle"/>
            <p:cNvSpPr/>
            <p:nvPr/>
          </p:nvSpPr>
          <p:spPr>
            <a:xfrm>
              <a:off x="0" y="0"/>
              <a:ext cx="3228746" cy="530352"/>
            </a:xfrm>
            <a:prstGeom prst="roundRect">
              <a:avLst>
                <a:gd name="adj" fmla="val 17241"/>
              </a:avLst>
            </a:prstGeom>
            <a:solidFill>
              <a:srgbClr val="EAF7F0"/>
            </a:solidFill>
            <a:ln w="17780" cap="flat">
              <a:solidFill>
                <a:srgbClr val="2E9E6B"/>
              </a:solidFill>
              <a:prstDash val="solid"/>
              <a:round/>
            </a:ln>
            <a:effectLst/>
          </p:spPr>
          <p:txBody>
            <a:bodyPr wrap="square" lIns="45719" tIns="45719" rIns="45719" bIns="45719" numCol="1" anchor="ctr">
              <a:noAutofit/>
            </a:bodyPr>
            <a:lstStyle/>
            <a:p>
              <a:pPr algn="ctr">
                <a:defRPr sz="1300"/>
              </a:pPr>
            </a:p>
          </p:txBody>
        </p:sp>
        <p:sp>
          <p:nvSpPr>
            <p:cNvPr id="245" name="BIOTIC"/>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2E9E6B"/>
                  </a:solidFill>
                  <a:latin typeface="Arial"/>
                  <a:ea typeface="Arial"/>
                  <a:cs typeface="Arial"/>
                  <a:sym typeface="Arial"/>
                </a:defRPr>
              </a:lvl1pPr>
            </a:lstStyle>
            <a:p>
              <a:pPr/>
              <a:r>
                <a:t>BIOTIC</a:t>
              </a:r>
            </a:p>
          </p:txBody>
        </p:sp>
      </p:grpSp>
      <p:sp>
        <p:nvSpPr>
          <p:cNvPr id="247" name="sort2_bg"/>
          <p:cNvSpPr/>
          <p:nvPr/>
        </p:nvSpPr>
        <p:spPr>
          <a:xfrm>
            <a:off x="8094268" y="2048255"/>
            <a:ext cx="3594507"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48" name="sort2_q"/>
          <p:cNvSpPr txBox="1"/>
          <p:nvPr/>
        </p:nvSpPr>
        <p:spPr>
          <a:xfrm>
            <a:off x="8277148" y="2471047"/>
            <a:ext cx="3228748"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A dead mangrove leaf</a:t>
            </a:r>
          </a:p>
        </p:txBody>
      </p:sp>
      <p:grpSp>
        <p:nvGrpSpPr>
          <p:cNvPr id="251" name="sort2_a"/>
          <p:cNvGrpSpPr/>
          <p:nvPr/>
        </p:nvGrpSpPr>
        <p:grpSpPr>
          <a:xfrm>
            <a:off x="8277149" y="3035807"/>
            <a:ext cx="3228746" cy="530353"/>
            <a:chOff x="0" y="0"/>
            <a:chExt cx="3228745" cy="530351"/>
          </a:xfrm>
        </p:grpSpPr>
        <p:sp>
          <p:nvSpPr>
            <p:cNvPr id="249" name="Rounded Rectangle"/>
            <p:cNvSpPr/>
            <p:nvPr/>
          </p:nvSpPr>
          <p:spPr>
            <a:xfrm>
              <a:off x="0" y="0"/>
              <a:ext cx="3228746" cy="530352"/>
            </a:xfrm>
            <a:prstGeom prst="roundRect">
              <a:avLst>
                <a:gd name="adj" fmla="val 17241"/>
              </a:avLst>
            </a:prstGeom>
            <a:solidFill>
              <a:srgbClr val="EAF7F0"/>
            </a:solidFill>
            <a:ln w="17780" cap="flat">
              <a:solidFill>
                <a:srgbClr val="2E9E6B"/>
              </a:solidFill>
              <a:prstDash val="solid"/>
              <a:round/>
            </a:ln>
            <a:effectLst/>
          </p:spPr>
          <p:txBody>
            <a:bodyPr wrap="square" lIns="45719" tIns="45719" rIns="45719" bIns="45719" numCol="1" anchor="ctr">
              <a:noAutofit/>
            </a:bodyPr>
            <a:lstStyle/>
            <a:p>
              <a:pPr algn="ctr">
                <a:defRPr sz="1300"/>
              </a:pPr>
            </a:p>
          </p:txBody>
        </p:sp>
        <p:sp>
          <p:nvSpPr>
            <p:cNvPr id="250" name="BIOTIC — it was alive"/>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2E9E6B"/>
                  </a:solidFill>
                  <a:latin typeface="Arial"/>
                  <a:ea typeface="Arial"/>
                  <a:cs typeface="Arial"/>
                  <a:sym typeface="Arial"/>
                </a:defRPr>
              </a:lvl1pPr>
            </a:lstStyle>
            <a:p>
              <a:pPr/>
              <a:r>
                <a:t>BIOTIC — it was alive</a:t>
              </a:r>
            </a:p>
          </p:txBody>
        </p:sp>
      </p:grpSp>
      <p:sp>
        <p:nvSpPr>
          <p:cNvPr id="252" name="sort3_bg"/>
          <p:cNvSpPr/>
          <p:nvPr/>
        </p:nvSpPr>
        <p:spPr>
          <a:xfrm>
            <a:off x="502919" y="3977640"/>
            <a:ext cx="3594508"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53" name="sort3_q"/>
          <p:cNvSpPr txBox="1"/>
          <p:nvPr/>
        </p:nvSpPr>
        <p:spPr>
          <a:xfrm>
            <a:off x="685799" y="4400431"/>
            <a:ext cx="3228748"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Salt dissolved in the water</a:t>
            </a:r>
          </a:p>
        </p:txBody>
      </p:sp>
      <p:grpSp>
        <p:nvGrpSpPr>
          <p:cNvPr id="256" name="sort3_a"/>
          <p:cNvGrpSpPr/>
          <p:nvPr/>
        </p:nvGrpSpPr>
        <p:grpSpPr>
          <a:xfrm>
            <a:off x="685800" y="4965191"/>
            <a:ext cx="3228746" cy="530353"/>
            <a:chOff x="0" y="0"/>
            <a:chExt cx="3228745" cy="530351"/>
          </a:xfrm>
        </p:grpSpPr>
        <p:sp>
          <p:nvSpPr>
            <p:cNvPr id="254" name="Rounded Rectangle"/>
            <p:cNvSpPr/>
            <p:nvPr/>
          </p:nvSpPr>
          <p:spPr>
            <a:xfrm>
              <a:off x="0" y="0"/>
              <a:ext cx="3228746" cy="530352"/>
            </a:xfrm>
            <a:prstGeom prst="roundRect">
              <a:avLst>
                <a:gd name="adj" fmla="val 17241"/>
              </a:avLst>
            </a:prstGeom>
            <a:solidFill>
              <a:srgbClr val="E7EEEF"/>
            </a:solidFill>
            <a:ln w="17780" cap="flat">
              <a:solidFill>
                <a:srgbClr val="0E3A3F"/>
              </a:solidFill>
              <a:prstDash val="solid"/>
              <a:round/>
            </a:ln>
            <a:effectLst/>
          </p:spPr>
          <p:txBody>
            <a:bodyPr wrap="square" lIns="45719" tIns="45719" rIns="45719" bIns="45719" numCol="1" anchor="ctr">
              <a:noAutofit/>
            </a:bodyPr>
            <a:lstStyle/>
            <a:p>
              <a:pPr algn="ctr">
                <a:defRPr sz="1300"/>
              </a:pPr>
            </a:p>
          </p:txBody>
        </p:sp>
        <p:sp>
          <p:nvSpPr>
            <p:cNvPr id="255" name="ABIOTIC"/>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0E3A3F"/>
                  </a:solidFill>
                  <a:latin typeface="Arial"/>
                  <a:ea typeface="Arial"/>
                  <a:cs typeface="Arial"/>
                  <a:sym typeface="Arial"/>
                </a:defRPr>
              </a:lvl1pPr>
            </a:lstStyle>
            <a:p>
              <a:pPr/>
              <a:r>
                <a:t>ABIOTIC</a:t>
              </a:r>
            </a:p>
          </p:txBody>
        </p:sp>
      </p:grpSp>
      <p:sp>
        <p:nvSpPr>
          <p:cNvPr id="257" name="sort4_bg"/>
          <p:cNvSpPr/>
          <p:nvPr/>
        </p:nvSpPr>
        <p:spPr>
          <a:xfrm>
            <a:off x="4298593" y="3977640"/>
            <a:ext cx="3594507"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58" name="sort4_q"/>
          <p:cNvSpPr txBox="1"/>
          <p:nvPr/>
        </p:nvSpPr>
        <p:spPr>
          <a:xfrm>
            <a:off x="4481474" y="4400431"/>
            <a:ext cx="3228747"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Bacteria in the mud</a:t>
            </a:r>
          </a:p>
        </p:txBody>
      </p:sp>
      <p:grpSp>
        <p:nvGrpSpPr>
          <p:cNvPr id="261" name="sort4_a"/>
          <p:cNvGrpSpPr/>
          <p:nvPr/>
        </p:nvGrpSpPr>
        <p:grpSpPr>
          <a:xfrm>
            <a:off x="4481474" y="4965191"/>
            <a:ext cx="3228747" cy="530353"/>
            <a:chOff x="0" y="0"/>
            <a:chExt cx="3228745" cy="530351"/>
          </a:xfrm>
        </p:grpSpPr>
        <p:sp>
          <p:nvSpPr>
            <p:cNvPr id="259" name="Rounded Rectangle"/>
            <p:cNvSpPr/>
            <p:nvPr/>
          </p:nvSpPr>
          <p:spPr>
            <a:xfrm>
              <a:off x="0" y="0"/>
              <a:ext cx="3228746" cy="530352"/>
            </a:xfrm>
            <a:prstGeom prst="roundRect">
              <a:avLst>
                <a:gd name="adj" fmla="val 17241"/>
              </a:avLst>
            </a:prstGeom>
            <a:solidFill>
              <a:srgbClr val="EAF7F0"/>
            </a:solidFill>
            <a:ln w="17780" cap="flat">
              <a:solidFill>
                <a:srgbClr val="2E9E6B"/>
              </a:solidFill>
              <a:prstDash val="solid"/>
              <a:round/>
            </a:ln>
            <a:effectLst/>
          </p:spPr>
          <p:txBody>
            <a:bodyPr wrap="square" lIns="45719" tIns="45719" rIns="45719" bIns="45719" numCol="1" anchor="ctr">
              <a:noAutofit/>
            </a:bodyPr>
            <a:lstStyle/>
            <a:p>
              <a:pPr algn="ctr">
                <a:defRPr sz="1300"/>
              </a:pPr>
            </a:p>
          </p:txBody>
        </p:sp>
        <p:sp>
          <p:nvSpPr>
            <p:cNvPr id="260" name="BIOTIC"/>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2E9E6B"/>
                  </a:solidFill>
                  <a:latin typeface="Arial"/>
                  <a:ea typeface="Arial"/>
                  <a:cs typeface="Arial"/>
                  <a:sym typeface="Arial"/>
                </a:defRPr>
              </a:lvl1pPr>
            </a:lstStyle>
            <a:p>
              <a:pPr/>
              <a:r>
                <a:t>BIOTIC</a:t>
              </a:r>
            </a:p>
          </p:txBody>
        </p:sp>
      </p:grpSp>
      <p:sp>
        <p:nvSpPr>
          <p:cNvPr id="262" name="sort5_bg"/>
          <p:cNvSpPr/>
          <p:nvPr/>
        </p:nvSpPr>
        <p:spPr>
          <a:xfrm>
            <a:off x="8094268" y="3977640"/>
            <a:ext cx="3594507" cy="1691641"/>
          </a:xfrm>
          <a:prstGeom prst="roundRect">
            <a:avLst>
              <a:gd name="adj" fmla="val 7568"/>
            </a:avLst>
          </a:prstGeom>
          <a:solidFill>
            <a:srgbClr val="FFFFFF"/>
          </a:solidFill>
          <a:ln w="15875">
            <a:solidFill>
              <a:srgbClr val="F0E4C8"/>
            </a:solidFill>
          </a:ln>
        </p:spPr>
        <p:txBody>
          <a:bodyPr lIns="45719" rIns="45719"/>
          <a:lstStyle/>
          <a:p>
            <a:pPr/>
          </a:p>
        </p:txBody>
      </p:sp>
      <p:sp>
        <p:nvSpPr>
          <p:cNvPr id="263" name="sort5_q"/>
          <p:cNvSpPr txBox="1"/>
          <p:nvPr/>
        </p:nvSpPr>
        <p:spPr>
          <a:xfrm>
            <a:off x="8277148" y="4400431"/>
            <a:ext cx="3228748"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ts val="1900"/>
              </a:lnSpc>
              <a:defRPr sz="1500">
                <a:solidFill>
                  <a:srgbClr val="14282B"/>
                </a:solidFill>
                <a:latin typeface="Arial"/>
                <a:ea typeface="Arial"/>
                <a:cs typeface="Arial"/>
                <a:sym typeface="Arial"/>
              </a:defRPr>
            </a:lvl1pPr>
          </a:lstStyle>
          <a:p>
            <a:pPr/>
            <a:r>
              <a:t>Rainfall in July</a:t>
            </a:r>
          </a:p>
        </p:txBody>
      </p:sp>
      <p:grpSp>
        <p:nvGrpSpPr>
          <p:cNvPr id="266" name="sort5_a"/>
          <p:cNvGrpSpPr/>
          <p:nvPr/>
        </p:nvGrpSpPr>
        <p:grpSpPr>
          <a:xfrm>
            <a:off x="8277149" y="4965191"/>
            <a:ext cx="3228746" cy="530353"/>
            <a:chOff x="0" y="0"/>
            <a:chExt cx="3228745" cy="530351"/>
          </a:xfrm>
        </p:grpSpPr>
        <p:sp>
          <p:nvSpPr>
            <p:cNvPr id="264" name="Rounded Rectangle"/>
            <p:cNvSpPr/>
            <p:nvPr/>
          </p:nvSpPr>
          <p:spPr>
            <a:xfrm>
              <a:off x="0" y="0"/>
              <a:ext cx="3228746" cy="530352"/>
            </a:xfrm>
            <a:prstGeom prst="roundRect">
              <a:avLst>
                <a:gd name="adj" fmla="val 17241"/>
              </a:avLst>
            </a:prstGeom>
            <a:solidFill>
              <a:srgbClr val="E7EEEF"/>
            </a:solidFill>
            <a:ln w="17780" cap="flat">
              <a:solidFill>
                <a:srgbClr val="0E3A3F"/>
              </a:solidFill>
              <a:prstDash val="solid"/>
              <a:round/>
            </a:ln>
            <a:effectLst/>
          </p:spPr>
          <p:txBody>
            <a:bodyPr wrap="square" lIns="45719" tIns="45719" rIns="45719" bIns="45719" numCol="1" anchor="ctr">
              <a:noAutofit/>
            </a:bodyPr>
            <a:lstStyle/>
            <a:p>
              <a:pPr algn="ctr">
                <a:defRPr sz="1300"/>
              </a:pPr>
            </a:p>
          </p:txBody>
        </p:sp>
        <p:sp>
          <p:nvSpPr>
            <p:cNvPr id="265" name="ABIOTIC"/>
            <p:cNvSpPr txBox="1"/>
            <p:nvPr/>
          </p:nvSpPr>
          <p:spPr>
            <a:xfrm>
              <a:off x="35670" y="172626"/>
              <a:ext cx="3157406"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0E3A3F"/>
                  </a:solidFill>
                  <a:latin typeface="Arial"/>
                  <a:ea typeface="Arial"/>
                  <a:cs typeface="Arial"/>
                  <a:sym typeface="Arial"/>
                </a:defRPr>
              </a:lvl1pPr>
            </a:lstStyle>
            <a:p>
              <a:pPr/>
              <a:r>
                <a:t>ABIOTIC</a:t>
              </a:r>
            </a:p>
          </p:txBody>
        </p:sp>
      </p:grpSp>
    </p:spTree>
  </p:cSld>
  <p:clrMapOvr>
    <a:masterClrMapping/>
  </p:clrMapOvr>
  <mc:AlternateContent xmlns:mc="http://schemas.openxmlformats.org/markup-compatibility/2006">
    <mc:Choice xmlns:p14="http://schemas.microsoft.com/office/powerpoint/2010/main" Requires="p14">
      <p:transition spd="med" advClick="1" p14:dur="1000">
        <p:wipe dir="d"/>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41"/>
                                        </p:tgtEl>
                                        <p:attrNameLst>
                                          <p:attrName>style.visibility</p:attrName>
                                        </p:attrNameLst>
                                      </p:cBhvr>
                                      <p:to>
                                        <p:strVal val="visible"/>
                                      </p:to>
                                    </p:set>
                                    <p:anim calcmode="lin" valueType="num">
                                      <p:cBhvr>
                                        <p:cTn id="7" dur="500" fill="hold"/>
                                        <p:tgtEl>
                                          <p:spTgt spid="241"/>
                                        </p:tgtEl>
                                        <p:attrNameLst>
                                          <p:attrName>ppt_w</p:attrName>
                                        </p:attrNameLst>
                                      </p:cBhvr>
                                      <p:tavLst>
                                        <p:tav tm="0">
                                          <p:val>
                                            <p:fltVal val="0"/>
                                          </p:val>
                                        </p:tav>
                                        <p:tav tm="100000">
                                          <p:val>
                                            <p:strVal val="#ppt_w"/>
                                          </p:val>
                                        </p:tav>
                                      </p:tavLst>
                                    </p:anim>
                                    <p:anim calcmode="lin" valueType="num">
                                      <p:cBhvr>
                                        <p:cTn id="8" dur="500" fill="hold"/>
                                        <p:tgtEl>
                                          <p:spTgt spid="24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246"/>
                                        </p:tgtEl>
                                        <p:attrNameLst>
                                          <p:attrName>style.visibility</p:attrName>
                                        </p:attrNameLst>
                                      </p:cBhvr>
                                      <p:to>
                                        <p:strVal val="visible"/>
                                      </p:to>
                                    </p:set>
                                    <p:anim calcmode="lin" valueType="num">
                                      <p:cBhvr>
                                        <p:cTn id="13" dur="500" fill="hold"/>
                                        <p:tgtEl>
                                          <p:spTgt spid="246"/>
                                        </p:tgtEl>
                                        <p:attrNameLst>
                                          <p:attrName>ppt_w</p:attrName>
                                        </p:attrNameLst>
                                      </p:cBhvr>
                                      <p:tavLst>
                                        <p:tav tm="0">
                                          <p:val>
                                            <p:fltVal val="0"/>
                                          </p:val>
                                        </p:tav>
                                        <p:tav tm="100000">
                                          <p:val>
                                            <p:strVal val="#ppt_w"/>
                                          </p:val>
                                        </p:tav>
                                      </p:tavLst>
                                    </p:anim>
                                    <p:anim calcmode="lin" valueType="num">
                                      <p:cBhvr>
                                        <p:cTn id="14" dur="500" fill="hold"/>
                                        <p:tgtEl>
                                          <p:spTgt spid="24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251"/>
                                        </p:tgtEl>
                                        <p:attrNameLst>
                                          <p:attrName>style.visibility</p:attrName>
                                        </p:attrNameLst>
                                      </p:cBhvr>
                                      <p:to>
                                        <p:strVal val="visible"/>
                                      </p:to>
                                    </p:set>
                                    <p:anim calcmode="lin" valueType="num">
                                      <p:cBhvr>
                                        <p:cTn id="19" dur="700" fill="hold"/>
                                        <p:tgtEl>
                                          <p:spTgt spid="251"/>
                                        </p:tgtEl>
                                        <p:attrNameLst>
                                          <p:attrName>ppt_w</p:attrName>
                                        </p:attrNameLst>
                                      </p:cBhvr>
                                      <p:tavLst>
                                        <p:tav tm="0">
                                          <p:val>
                                            <p:fltVal val="0"/>
                                          </p:val>
                                        </p:tav>
                                        <p:tav tm="100000">
                                          <p:val>
                                            <p:strVal val="#ppt_w"/>
                                          </p:val>
                                        </p:tav>
                                      </p:tavLst>
                                    </p:anim>
                                    <p:anim calcmode="lin" valueType="num">
                                      <p:cBhvr>
                                        <p:cTn id="20" dur="700" fill="hold"/>
                                        <p:tgtEl>
                                          <p:spTgt spid="251"/>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256"/>
                                        </p:tgtEl>
                                        <p:attrNameLst>
                                          <p:attrName>style.visibility</p:attrName>
                                        </p:attrNameLst>
                                      </p:cBhvr>
                                      <p:to>
                                        <p:strVal val="visible"/>
                                      </p:to>
                                    </p:set>
                                    <p:anim calcmode="lin" valueType="num">
                                      <p:cBhvr>
                                        <p:cTn id="25" dur="500" fill="hold"/>
                                        <p:tgtEl>
                                          <p:spTgt spid="256"/>
                                        </p:tgtEl>
                                        <p:attrNameLst>
                                          <p:attrName>ppt_w</p:attrName>
                                        </p:attrNameLst>
                                      </p:cBhvr>
                                      <p:tavLst>
                                        <p:tav tm="0">
                                          <p:val>
                                            <p:fltVal val="0"/>
                                          </p:val>
                                        </p:tav>
                                        <p:tav tm="100000">
                                          <p:val>
                                            <p:strVal val="#ppt_w"/>
                                          </p:val>
                                        </p:tav>
                                      </p:tavLst>
                                    </p:anim>
                                    <p:anim calcmode="lin" valueType="num">
                                      <p:cBhvr>
                                        <p:cTn id="26" dur="500" fill="hold"/>
                                        <p:tgtEl>
                                          <p:spTgt spid="25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5" fill="hold">
                                  <p:stCondLst>
                                    <p:cond delay="0"/>
                                  </p:stCondLst>
                                  <p:iterate type="el" backwards="0">
                                    <p:tmAbs val="0"/>
                                  </p:iterate>
                                  <p:childTnLst>
                                    <p:set>
                                      <p:cBhvr>
                                        <p:cTn id="30" fill="hold"/>
                                        <p:tgtEl>
                                          <p:spTgt spid="261"/>
                                        </p:tgtEl>
                                        <p:attrNameLst>
                                          <p:attrName>style.visibility</p:attrName>
                                        </p:attrNameLst>
                                      </p:cBhvr>
                                      <p:to>
                                        <p:strVal val="visible"/>
                                      </p:to>
                                    </p:set>
                                    <p:anim calcmode="lin" valueType="num">
                                      <p:cBhvr>
                                        <p:cTn id="31" dur="500" fill="hold"/>
                                        <p:tgtEl>
                                          <p:spTgt spid="261"/>
                                        </p:tgtEl>
                                        <p:attrNameLst>
                                          <p:attrName>ppt_w</p:attrName>
                                        </p:attrNameLst>
                                      </p:cBhvr>
                                      <p:tavLst>
                                        <p:tav tm="0">
                                          <p:val>
                                            <p:fltVal val="0"/>
                                          </p:val>
                                        </p:tav>
                                        <p:tav tm="100000">
                                          <p:val>
                                            <p:strVal val="#ppt_w"/>
                                          </p:val>
                                        </p:tav>
                                      </p:tavLst>
                                    </p:anim>
                                    <p:anim calcmode="lin" valueType="num">
                                      <p:cBhvr>
                                        <p:cTn id="32" dur="500" fill="hold"/>
                                        <p:tgtEl>
                                          <p:spTgt spid="26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6" fill="hold">
                                  <p:stCondLst>
                                    <p:cond delay="0"/>
                                  </p:stCondLst>
                                  <p:iterate type="el" backwards="0">
                                    <p:tmAbs val="0"/>
                                  </p:iterate>
                                  <p:childTnLst>
                                    <p:set>
                                      <p:cBhvr>
                                        <p:cTn id="36" fill="hold"/>
                                        <p:tgtEl>
                                          <p:spTgt spid="266"/>
                                        </p:tgtEl>
                                        <p:attrNameLst>
                                          <p:attrName>style.visibility</p:attrName>
                                        </p:attrNameLst>
                                      </p:cBhvr>
                                      <p:to>
                                        <p:strVal val="visible"/>
                                      </p:to>
                                    </p:set>
                                    <p:anim calcmode="lin" valueType="num">
                                      <p:cBhvr>
                                        <p:cTn id="37" dur="500" fill="hold"/>
                                        <p:tgtEl>
                                          <p:spTgt spid="266"/>
                                        </p:tgtEl>
                                        <p:attrNameLst>
                                          <p:attrName>ppt_w</p:attrName>
                                        </p:attrNameLst>
                                      </p:cBhvr>
                                      <p:tavLst>
                                        <p:tav tm="0">
                                          <p:val>
                                            <p:fltVal val="0"/>
                                          </p:val>
                                        </p:tav>
                                        <p:tav tm="100000">
                                          <p:val>
                                            <p:strVal val="#ppt_w"/>
                                          </p:val>
                                        </p:tav>
                                      </p:tavLst>
                                    </p:anim>
                                    <p:anim calcmode="lin" valueType="num">
                                      <p:cBhvr>
                                        <p:cTn id="38" dur="500" fill="hold"/>
                                        <p:tgtEl>
                                          <p:spTgt spid="2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6" grpId="6"/>
      <p:bldP build="whole" bldLvl="1" animBg="1" rev="0" advAuto="0" spid="261" grpId="5"/>
      <p:bldP build="whole" bldLvl="1" animBg="1" rev="0" advAuto="0" spid="246" grpId="2"/>
      <p:bldP build="whole" bldLvl="1" animBg="1" rev="0" advAuto="0" spid="256" grpId="4"/>
      <p:bldP build="whole" bldLvl="1" animBg="1" rev="0" advAuto="0" spid="241" grpId="1"/>
      <p:bldP build="whole" bldLvl="1" animBg="1" rev="0" advAuto="0" spid="251" grpId="3"/>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272" name="phase_pill"/>
          <p:cNvGrpSpPr/>
          <p:nvPr/>
        </p:nvGrpSpPr>
        <p:grpSpPr>
          <a:xfrm>
            <a:off x="502919" y="274320"/>
            <a:ext cx="2139697" cy="347473"/>
            <a:chOff x="0" y="0"/>
            <a:chExt cx="2139695" cy="347472"/>
          </a:xfrm>
        </p:grpSpPr>
        <p:sp>
          <p:nvSpPr>
            <p:cNvPr id="270" name="Rounded Rectangle"/>
            <p:cNvSpPr/>
            <p:nvPr/>
          </p:nvSpPr>
          <p:spPr>
            <a:xfrm>
              <a:off x="0" y="0"/>
              <a:ext cx="2139696"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271" name="I DO · 5 MIN"/>
            <p:cNvSpPr txBox="1"/>
            <p:nvPr/>
          </p:nvSpPr>
          <p:spPr>
            <a:xfrm>
              <a:off x="50885" y="99821"/>
              <a:ext cx="203792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I DO · 5 MIN</a:t>
              </a:r>
            </a:p>
          </p:txBody>
        </p:sp>
      </p:grpSp>
      <p:sp>
        <p:nvSpPr>
          <p:cNvPr id="273"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producer   ·   consumer   ·   decomposer</a:t>
            </a:r>
          </a:p>
        </p:txBody>
      </p:sp>
      <p:sp>
        <p:nvSpPr>
          <p:cNvPr id="274"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Biotic factors: three jobs in the estuary</a:t>
            </a:r>
          </a:p>
        </p:txBody>
      </p:sp>
      <p:grpSp>
        <p:nvGrpSpPr>
          <p:cNvPr id="279" name="job0"/>
          <p:cNvGrpSpPr/>
          <p:nvPr/>
        </p:nvGrpSpPr>
        <p:grpSpPr>
          <a:xfrm>
            <a:off x="502919" y="1901951"/>
            <a:ext cx="3576220" cy="2743201"/>
            <a:chOff x="0" y="0"/>
            <a:chExt cx="3576218" cy="2743200"/>
          </a:xfrm>
        </p:grpSpPr>
        <p:sp>
          <p:nvSpPr>
            <p:cNvPr id="275" name="job0_bg"/>
            <p:cNvSpPr/>
            <p:nvPr/>
          </p:nvSpPr>
          <p:spPr>
            <a:xfrm>
              <a:off x="0" y="0"/>
              <a:ext cx="3576219" cy="2743200"/>
            </a:xfrm>
            <a:prstGeom prst="roundRect">
              <a:avLst>
                <a:gd name="adj" fmla="val 4667"/>
              </a:avLst>
            </a:prstGeom>
            <a:solidFill>
              <a:srgbClr val="EAF7F0"/>
            </a:solidFill>
            <a:ln w="20320" cap="flat">
              <a:solidFill>
                <a:srgbClr val="2E9E6B"/>
              </a:solidFill>
              <a:prstDash val="solid"/>
              <a:round/>
            </a:ln>
            <a:effectLst/>
          </p:spPr>
          <p:txBody>
            <a:bodyPr wrap="square" lIns="45719" tIns="45719" rIns="45719" bIns="45719" numCol="1" anchor="t">
              <a:noAutofit/>
            </a:bodyPr>
            <a:lstStyle/>
            <a:p>
              <a:pPr/>
            </a:p>
          </p:txBody>
        </p:sp>
        <p:sp>
          <p:nvSpPr>
            <p:cNvPr id="276" name="job0_h"/>
            <p:cNvSpPr txBox="1"/>
            <p:nvPr/>
          </p:nvSpPr>
          <p:spPr>
            <a:xfrm>
              <a:off x="201168" y="239151"/>
              <a:ext cx="3173883" cy="271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900">
                  <a:solidFill>
                    <a:srgbClr val="2E9E6B"/>
                  </a:solidFill>
                  <a:latin typeface="Arial"/>
                  <a:ea typeface="Arial"/>
                  <a:cs typeface="Arial"/>
                  <a:sym typeface="Arial"/>
                </a:defRPr>
              </a:lvl1pPr>
            </a:lstStyle>
            <a:p>
              <a:pPr/>
              <a:r>
                <a:t>PRODUCER</a:t>
              </a:r>
            </a:p>
          </p:txBody>
        </p:sp>
        <p:sp>
          <p:nvSpPr>
            <p:cNvPr id="277" name="job0_sub"/>
            <p:cNvSpPr txBox="1"/>
            <p:nvPr/>
          </p:nvSpPr>
          <p:spPr>
            <a:xfrm>
              <a:off x="201168" y="585215"/>
              <a:ext cx="3173883" cy="2205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14282B"/>
                  </a:solidFill>
                  <a:latin typeface="Arial"/>
                  <a:ea typeface="Arial"/>
                  <a:cs typeface="Arial"/>
                  <a:sym typeface="Arial"/>
                </a:defRPr>
              </a:lvl1pPr>
            </a:lstStyle>
            <a:p>
              <a:pPr/>
              <a:r>
                <a:t>makes its own food using light</a:t>
              </a:r>
            </a:p>
          </p:txBody>
        </p:sp>
        <p:sp>
          <p:nvSpPr>
            <p:cNvPr id="278" name="job0_eg"/>
            <p:cNvSpPr txBox="1"/>
            <p:nvPr/>
          </p:nvSpPr>
          <p:spPr>
            <a:xfrm>
              <a:off x="201168" y="1133855"/>
              <a:ext cx="3173883" cy="4693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900"/>
                </a:lnSpc>
                <a:defRPr sz="1300">
                  <a:solidFill>
                    <a:srgbClr val="4A6165"/>
                  </a:solidFill>
                  <a:latin typeface="Arial"/>
                  <a:ea typeface="Arial"/>
                  <a:cs typeface="Arial"/>
                  <a:sym typeface="Arial"/>
                </a:defRPr>
              </a:pPr>
              <a:r>
                <a:t>Mangrove trees</a:t>
              </a:r>
            </a:p>
            <a:p>
              <a:pPr>
                <a:lnSpc>
                  <a:spcPts val="1900"/>
                </a:lnSpc>
                <a:defRPr sz="1300">
                  <a:solidFill>
                    <a:srgbClr val="4A6165"/>
                  </a:solidFill>
                  <a:latin typeface="Arial"/>
                  <a:ea typeface="Arial"/>
                  <a:cs typeface="Arial"/>
                  <a:sym typeface="Arial"/>
                </a:defRPr>
              </a:pPr>
              <a:r>
                <a:t>Phytoplankton</a:t>
              </a:r>
            </a:p>
          </p:txBody>
        </p:sp>
      </p:grpSp>
      <p:grpSp>
        <p:nvGrpSpPr>
          <p:cNvPr id="284" name="job1"/>
          <p:cNvGrpSpPr/>
          <p:nvPr/>
        </p:nvGrpSpPr>
        <p:grpSpPr>
          <a:xfrm>
            <a:off x="4307737" y="1901951"/>
            <a:ext cx="3576219" cy="2743201"/>
            <a:chOff x="0" y="0"/>
            <a:chExt cx="3576218" cy="2743200"/>
          </a:xfrm>
        </p:grpSpPr>
        <p:sp>
          <p:nvSpPr>
            <p:cNvPr id="280" name="job1_bg"/>
            <p:cNvSpPr/>
            <p:nvPr/>
          </p:nvSpPr>
          <p:spPr>
            <a:xfrm>
              <a:off x="0" y="0"/>
              <a:ext cx="3576219" cy="2743200"/>
            </a:xfrm>
            <a:prstGeom prst="roundRect">
              <a:avLst>
                <a:gd name="adj" fmla="val 4667"/>
              </a:avLst>
            </a:prstGeom>
            <a:solidFill>
              <a:srgbClr val="FFF4D4"/>
            </a:solidFill>
            <a:ln w="20320" cap="flat">
              <a:solidFill>
                <a:srgbClr val="F5B301"/>
              </a:solidFill>
              <a:prstDash val="solid"/>
              <a:round/>
            </a:ln>
            <a:effectLst/>
          </p:spPr>
          <p:txBody>
            <a:bodyPr wrap="square" lIns="45719" tIns="45719" rIns="45719" bIns="45719" numCol="1" anchor="t">
              <a:noAutofit/>
            </a:bodyPr>
            <a:lstStyle/>
            <a:p>
              <a:pPr/>
            </a:p>
          </p:txBody>
        </p:sp>
        <p:sp>
          <p:nvSpPr>
            <p:cNvPr id="281" name="job1_h"/>
            <p:cNvSpPr txBox="1"/>
            <p:nvPr/>
          </p:nvSpPr>
          <p:spPr>
            <a:xfrm>
              <a:off x="201168" y="239151"/>
              <a:ext cx="3173883" cy="271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900">
                  <a:solidFill>
                    <a:srgbClr val="F5B301"/>
                  </a:solidFill>
                  <a:latin typeface="Arial"/>
                  <a:ea typeface="Arial"/>
                  <a:cs typeface="Arial"/>
                  <a:sym typeface="Arial"/>
                </a:defRPr>
              </a:lvl1pPr>
            </a:lstStyle>
            <a:p>
              <a:pPr/>
              <a:r>
                <a:t>CONSUMER</a:t>
              </a:r>
            </a:p>
          </p:txBody>
        </p:sp>
        <p:sp>
          <p:nvSpPr>
            <p:cNvPr id="282" name="job1_sub"/>
            <p:cNvSpPr txBox="1"/>
            <p:nvPr/>
          </p:nvSpPr>
          <p:spPr>
            <a:xfrm>
              <a:off x="201168" y="585215"/>
              <a:ext cx="3173883" cy="2205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14282B"/>
                  </a:solidFill>
                  <a:latin typeface="Arial"/>
                  <a:ea typeface="Arial"/>
                  <a:cs typeface="Arial"/>
                  <a:sym typeface="Arial"/>
                </a:defRPr>
              </a:lvl1pPr>
            </a:lstStyle>
            <a:p>
              <a:pPr/>
              <a:r>
                <a:t>eats other living things</a:t>
              </a:r>
            </a:p>
          </p:txBody>
        </p:sp>
        <p:sp>
          <p:nvSpPr>
            <p:cNvPr id="283" name="job1_eg"/>
            <p:cNvSpPr txBox="1"/>
            <p:nvPr/>
          </p:nvSpPr>
          <p:spPr>
            <a:xfrm>
              <a:off x="201168" y="1133855"/>
              <a:ext cx="3173883" cy="4693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900"/>
                </a:lnSpc>
                <a:defRPr sz="1300">
                  <a:solidFill>
                    <a:srgbClr val="4A6165"/>
                  </a:solidFill>
                  <a:latin typeface="Arial"/>
                  <a:ea typeface="Arial"/>
                  <a:cs typeface="Arial"/>
                  <a:sym typeface="Arial"/>
                </a:defRPr>
              </a:pPr>
              <a:r>
                <a:t>Mudskipper. Mud crab (ปูดำ).</a:t>
              </a:r>
            </a:p>
            <a:p>
              <a:pPr>
                <a:lnSpc>
                  <a:spcPts val="1900"/>
                </a:lnSpc>
                <a:defRPr sz="1300">
                  <a:solidFill>
                    <a:srgbClr val="4A6165"/>
                  </a:solidFill>
                  <a:latin typeface="Arial"/>
                  <a:ea typeface="Arial"/>
                  <a:cs typeface="Arial"/>
                  <a:sym typeface="Arial"/>
                </a:defRPr>
              </a:pPr>
              <a:r>
                <a:t>Oyster. Egret. Macaque.</a:t>
              </a:r>
            </a:p>
          </p:txBody>
        </p:sp>
      </p:grpSp>
      <p:grpSp>
        <p:nvGrpSpPr>
          <p:cNvPr id="289" name="job2"/>
          <p:cNvGrpSpPr/>
          <p:nvPr/>
        </p:nvGrpSpPr>
        <p:grpSpPr>
          <a:xfrm>
            <a:off x="8112556" y="1901951"/>
            <a:ext cx="3576219" cy="2743201"/>
            <a:chOff x="0" y="0"/>
            <a:chExt cx="3576218" cy="2743200"/>
          </a:xfrm>
        </p:grpSpPr>
        <p:sp>
          <p:nvSpPr>
            <p:cNvPr id="285" name="job2_bg"/>
            <p:cNvSpPr/>
            <p:nvPr/>
          </p:nvSpPr>
          <p:spPr>
            <a:xfrm>
              <a:off x="0" y="0"/>
              <a:ext cx="3576219" cy="2743200"/>
            </a:xfrm>
            <a:prstGeom prst="roundRect">
              <a:avLst>
                <a:gd name="adj" fmla="val 4667"/>
              </a:avLst>
            </a:prstGeom>
            <a:solidFill>
              <a:srgbClr val="F9E7E0"/>
            </a:solidFill>
            <a:ln w="20320" cap="flat">
              <a:solidFill>
                <a:srgbClr val="E2572B"/>
              </a:solidFill>
              <a:prstDash val="solid"/>
              <a:round/>
            </a:ln>
            <a:effectLst/>
          </p:spPr>
          <p:txBody>
            <a:bodyPr wrap="square" lIns="45719" tIns="45719" rIns="45719" bIns="45719" numCol="1" anchor="t">
              <a:noAutofit/>
            </a:bodyPr>
            <a:lstStyle/>
            <a:p>
              <a:pPr/>
            </a:p>
          </p:txBody>
        </p:sp>
        <p:sp>
          <p:nvSpPr>
            <p:cNvPr id="286" name="job2_h"/>
            <p:cNvSpPr txBox="1"/>
            <p:nvPr/>
          </p:nvSpPr>
          <p:spPr>
            <a:xfrm>
              <a:off x="201168" y="239151"/>
              <a:ext cx="3173883" cy="271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900">
                  <a:solidFill>
                    <a:srgbClr val="E2572B"/>
                  </a:solidFill>
                  <a:latin typeface="Arial"/>
                  <a:ea typeface="Arial"/>
                  <a:cs typeface="Arial"/>
                  <a:sym typeface="Arial"/>
                </a:defRPr>
              </a:lvl1pPr>
            </a:lstStyle>
            <a:p>
              <a:pPr/>
              <a:r>
                <a:t>DECOMPOSER</a:t>
              </a:r>
            </a:p>
          </p:txBody>
        </p:sp>
        <p:sp>
          <p:nvSpPr>
            <p:cNvPr id="287" name="job2_sub"/>
            <p:cNvSpPr txBox="1"/>
            <p:nvPr/>
          </p:nvSpPr>
          <p:spPr>
            <a:xfrm>
              <a:off x="201168" y="585215"/>
              <a:ext cx="3173883" cy="2205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14282B"/>
                  </a:solidFill>
                  <a:latin typeface="Arial"/>
                  <a:ea typeface="Arial"/>
                  <a:cs typeface="Arial"/>
                  <a:sym typeface="Arial"/>
                </a:defRPr>
              </a:lvl1pPr>
            </a:lstStyle>
            <a:p>
              <a:pPr/>
              <a:r>
                <a:t>breaks down dead material</a:t>
              </a:r>
            </a:p>
          </p:txBody>
        </p:sp>
        <p:sp>
          <p:nvSpPr>
            <p:cNvPr id="288" name="job2_eg"/>
            <p:cNvSpPr txBox="1"/>
            <p:nvPr/>
          </p:nvSpPr>
          <p:spPr>
            <a:xfrm>
              <a:off x="201168" y="1133855"/>
              <a:ext cx="3173883" cy="46932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900"/>
                </a:lnSpc>
                <a:defRPr sz="1300">
                  <a:solidFill>
                    <a:srgbClr val="4A6165"/>
                  </a:solidFill>
                  <a:latin typeface="Arial"/>
                  <a:ea typeface="Arial"/>
                  <a:cs typeface="Arial"/>
                  <a:sym typeface="Arial"/>
                </a:defRPr>
              </a:pPr>
              <a:r>
                <a:t>Bacteria and fungi in the mud.</a:t>
              </a:r>
            </a:p>
            <a:p>
              <a:pPr>
                <a:lnSpc>
                  <a:spcPts val="1900"/>
                </a:lnSpc>
                <a:defRPr sz="1300">
                  <a:solidFill>
                    <a:srgbClr val="4A6165"/>
                  </a:solidFill>
                  <a:latin typeface="Arial"/>
                  <a:ea typeface="Arial"/>
                  <a:cs typeface="Arial"/>
                  <a:sym typeface="Arial"/>
                </a:defRPr>
              </a:pPr>
              <a:r>
                <a:t>They release nutrients back.</a:t>
              </a:r>
            </a:p>
          </p:txBody>
        </p:sp>
      </p:grpSp>
      <p:pic>
        <p:nvPicPr>
          <p:cNvPr id="290" name="job_photo1" descr="job_photo1"/>
          <p:cNvPicPr>
            <a:picLocks noChangeAspect="1"/>
          </p:cNvPicPr>
          <p:nvPr/>
        </p:nvPicPr>
        <p:blipFill>
          <a:blip r:embed="rId3">
            <a:extLst/>
          </a:blip>
          <a:stretch>
            <a:fillRect/>
          </a:stretch>
        </p:blipFill>
        <p:spPr>
          <a:xfrm>
            <a:off x="502919" y="5027167"/>
            <a:ext cx="3977642" cy="1426465"/>
          </a:xfrm>
          <a:prstGeom prst="rect">
            <a:avLst/>
          </a:prstGeom>
          <a:ln w="12700">
            <a:miter lim="400000"/>
          </a:ln>
        </p:spPr>
      </p:pic>
      <p:sp>
        <p:nvSpPr>
          <p:cNvPr id="291" name="job_photo_cap"/>
          <p:cNvSpPr txBox="1"/>
          <p:nvPr/>
        </p:nvSpPr>
        <p:spPr>
          <a:xfrm>
            <a:off x="4709159" y="5027167"/>
            <a:ext cx="6979616" cy="8044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4A6165"/>
                </a:solidFill>
                <a:latin typeface="Arial"/>
                <a:ea typeface="Arial"/>
                <a:cs typeface="Arial"/>
                <a:sym typeface="Arial"/>
              </a:defRPr>
            </a:pPr>
            <a:r>
              <a:t>A silver-lined mudskipper — a consumer you will meet on the boardwalk. It breathes through its skin and walks on its fins, which is why it can sit on the mud when the tide goes out.</a:t>
            </a:r>
          </a:p>
          <a:p>
            <a:pPr>
              <a:lnSpc>
                <a:spcPts val="1600"/>
              </a:lnSpc>
              <a:defRPr sz="1200"/>
            </a:pPr>
          </a:p>
          <a:p>
            <a:pPr>
              <a:lnSpc>
                <a:spcPts val="1600"/>
              </a:lnSpc>
              <a:defRPr sz="1200">
                <a:solidFill>
                  <a:srgbClr val="4A6165"/>
                </a:solidFill>
                <a:latin typeface="Arial"/>
                <a:ea typeface="Arial"/>
                <a:cs typeface="Arial"/>
                <a:sym typeface="Arial"/>
              </a:defRPr>
            </a:pPr>
            <a:r>
              <a:t>Photo: Charles J. Sharp, CC BY-SA 4.0</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2" grpId="1" fill="hold">
                                  <p:stCondLst>
                                    <p:cond delay="0"/>
                                  </p:stCondLst>
                                  <p:iterate type="el" backwards="0">
                                    <p:tmAbs val="0"/>
                                  </p:iterate>
                                  <p:childTnLst>
                                    <p:set>
                                      <p:cBhvr>
                                        <p:cTn id="6" fill="hold"/>
                                        <p:tgtEl>
                                          <p:spTgt spid="279"/>
                                        </p:tgtEl>
                                        <p:attrNameLst>
                                          <p:attrName>style.visibility</p:attrName>
                                        </p:attrNameLst>
                                      </p:cBhvr>
                                      <p:to>
                                        <p:strVal val="visible"/>
                                      </p:to>
                                    </p:set>
                                    <p:animEffect filter="wipe(down)" transition="in">
                                      <p:cBhvr>
                                        <p:cTn id="7" dur="500"/>
                                        <p:tgtEl>
                                          <p:spTgt spid="27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2" grpId="2" fill="hold">
                                  <p:stCondLst>
                                    <p:cond delay="0"/>
                                  </p:stCondLst>
                                  <p:iterate type="el" backwards="0">
                                    <p:tmAbs val="0"/>
                                  </p:iterate>
                                  <p:childTnLst>
                                    <p:set>
                                      <p:cBhvr>
                                        <p:cTn id="11" fill="hold"/>
                                        <p:tgtEl>
                                          <p:spTgt spid="284"/>
                                        </p:tgtEl>
                                        <p:attrNameLst>
                                          <p:attrName>style.visibility</p:attrName>
                                        </p:attrNameLst>
                                      </p:cBhvr>
                                      <p:to>
                                        <p:strVal val="visible"/>
                                      </p:to>
                                    </p:set>
                                    <p:animEffect filter="wipe(down)" transition="in">
                                      <p:cBhvr>
                                        <p:cTn id="12" dur="500"/>
                                        <p:tgtEl>
                                          <p:spTgt spid="28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4" presetID="22" grpId="3" fill="hold">
                                  <p:stCondLst>
                                    <p:cond delay="0"/>
                                  </p:stCondLst>
                                  <p:iterate type="el" backwards="0">
                                    <p:tmAbs val="0"/>
                                  </p:iterate>
                                  <p:childTnLst>
                                    <p:set>
                                      <p:cBhvr>
                                        <p:cTn id="16" fill="hold"/>
                                        <p:tgtEl>
                                          <p:spTgt spid="289"/>
                                        </p:tgtEl>
                                        <p:attrNameLst>
                                          <p:attrName>style.visibility</p:attrName>
                                        </p:attrNameLst>
                                      </p:cBhvr>
                                      <p:to>
                                        <p:strVal val="visible"/>
                                      </p:to>
                                    </p:set>
                                    <p:animEffect filter="wipe(down)" transition="in">
                                      <p:cBhvr>
                                        <p:cTn id="17" dur="500"/>
                                        <p:tgtEl>
                                          <p:spTgt spid="289"/>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90"/>
                                        </p:tgtEl>
                                        <p:attrNameLst>
                                          <p:attrName>style.visibility</p:attrName>
                                        </p:attrNameLst>
                                      </p:cBhvr>
                                      <p:to>
                                        <p:strVal val="visible"/>
                                      </p:to>
                                    </p:set>
                                    <p:animEffect filter="fade" transition="in">
                                      <p:cBhvr>
                                        <p:cTn id="22" dur="500"/>
                                        <p:tgtEl>
                                          <p:spTgt spid="290"/>
                                        </p:tgtEl>
                                      </p:cBhvr>
                                    </p:animEffect>
                                  </p:childTnLst>
                                </p:cTn>
                              </p:par>
                            </p:childTnLst>
                          </p:cTn>
                        </p:par>
                        <p:par>
                          <p:cTn id="23" fill="hold">
                            <p:stCondLst>
                              <p:cond delay="500"/>
                            </p:stCondLst>
                            <p:childTnLst>
                              <p:par>
                                <p:cTn id="24" presetClass="entr" nodeType="afterEffect" presetID="10" grpId="5" fill="hold">
                                  <p:stCondLst>
                                    <p:cond delay="250"/>
                                  </p:stCondLst>
                                  <p:iterate type="el" backwards="0">
                                    <p:tmAbs val="0"/>
                                  </p:iterate>
                                  <p:childTnLst>
                                    <p:set>
                                      <p:cBhvr>
                                        <p:cTn id="25" fill="hold"/>
                                        <p:tgtEl>
                                          <p:spTgt spid="291"/>
                                        </p:tgtEl>
                                        <p:attrNameLst>
                                          <p:attrName>style.visibility</p:attrName>
                                        </p:attrNameLst>
                                      </p:cBhvr>
                                      <p:to>
                                        <p:strVal val="visible"/>
                                      </p:to>
                                    </p:set>
                                    <p:animEffect filter="fade" transition="in">
                                      <p:cBhvr>
                                        <p:cTn id="26"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1" grpId="5"/>
      <p:bldP build="whole" bldLvl="1" animBg="1" rev="0" advAuto="0" spid="290" grpId="4"/>
      <p:bldP build="whole" bldLvl="1" animBg="1" rev="0" advAuto="0" spid="284" grpId="2"/>
      <p:bldP build="whole" bldLvl="1" animBg="1" rev="0" advAuto="0" spid="279" grpId="1"/>
      <p:bldP build="whole" bldLvl="1" animBg="1" rev="0" advAuto="0" spid="289" grpId="3"/>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297" name="phase_pill"/>
          <p:cNvGrpSpPr/>
          <p:nvPr/>
        </p:nvGrpSpPr>
        <p:grpSpPr>
          <a:xfrm>
            <a:off x="502919" y="274320"/>
            <a:ext cx="2286001" cy="347473"/>
            <a:chOff x="0" y="0"/>
            <a:chExt cx="2286000" cy="347472"/>
          </a:xfrm>
        </p:grpSpPr>
        <p:sp>
          <p:nvSpPr>
            <p:cNvPr id="295" name="Rounded Rectangle"/>
            <p:cNvSpPr/>
            <p:nvPr/>
          </p:nvSpPr>
          <p:spPr>
            <a:xfrm>
              <a:off x="0" y="0"/>
              <a:ext cx="2286000"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296" name="WE DO · 3 MIN"/>
            <p:cNvSpPr txBox="1"/>
            <p:nvPr/>
          </p:nvSpPr>
          <p:spPr>
            <a:xfrm>
              <a:off x="50885" y="99821"/>
              <a:ext cx="218423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WE DO · 3 MIN</a:t>
              </a:r>
            </a:p>
          </p:txBody>
        </p:sp>
      </p:grpSp>
      <p:sp>
        <p:nvSpPr>
          <p:cNvPr id="298"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producer   ·   consumer   ·   decomposer</a:t>
            </a:r>
          </a:p>
        </p:txBody>
      </p:sp>
      <p:sp>
        <p:nvSpPr>
          <p:cNvPr id="299"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Check: which job does each one do?</a:t>
            </a:r>
          </a:p>
        </p:txBody>
      </p:sp>
      <p:sp>
        <p:nvSpPr>
          <p:cNvPr id="300"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Whiteboards. Write P, C or D. Hold them up together on three.</a:t>
            </a:r>
          </a:p>
        </p:txBody>
      </p:sp>
      <p:sp>
        <p:nvSpPr>
          <p:cNvPr id="301" name="cls0_bg"/>
          <p:cNvSpPr/>
          <p:nvPr/>
        </p:nvSpPr>
        <p:spPr>
          <a:xfrm>
            <a:off x="502919" y="1993392"/>
            <a:ext cx="11185857" cy="859537"/>
          </a:xfrm>
          <a:prstGeom prst="roundRect">
            <a:avLst>
              <a:gd name="adj" fmla="val 14894"/>
            </a:avLst>
          </a:prstGeom>
          <a:solidFill>
            <a:srgbClr val="FFFFFF"/>
          </a:solidFill>
          <a:ln w="15875">
            <a:solidFill>
              <a:srgbClr val="F0E4C8"/>
            </a:solidFill>
          </a:ln>
        </p:spPr>
        <p:txBody>
          <a:bodyPr lIns="45719" rIns="45719"/>
          <a:lstStyle/>
          <a:p>
            <a:pPr/>
          </a:p>
        </p:txBody>
      </p:sp>
      <p:sp>
        <p:nvSpPr>
          <p:cNvPr id="302" name="cls0_q"/>
          <p:cNvSpPr txBox="1"/>
          <p:nvPr/>
        </p:nvSpPr>
        <p:spPr>
          <a:xfrm>
            <a:off x="740664" y="2318326"/>
            <a:ext cx="475488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4282B"/>
                </a:solidFill>
                <a:latin typeface="Arial"/>
                <a:ea typeface="Arial"/>
                <a:cs typeface="Arial"/>
                <a:sym typeface="Arial"/>
              </a:defRPr>
            </a:lvl1pPr>
          </a:lstStyle>
          <a:p>
            <a:pPr/>
            <a:r>
              <a:t>Phytoplankton in the river mouth</a:t>
            </a:r>
          </a:p>
        </p:txBody>
      </p:sp>
      <p:grpSp>
        <p:nvGrpSpPr>
          <p:cNvPr id="305" name="cls0_a"/>
          <p:cNvGrpSpPr/>
          <p:nvPr/>
        </p:nvGrpSpPr>
        <p:grpSpPr>
          <a:xfrm>
            <a:off x="5641847" y="2148839"/>
            <a:ext cx="566929" cy="548641"/>
            <a:chOff x="0" y="0"/>
            <a:chExt cx="566927" cy="548640"/>
          </a:xfrm>
        </p:grpSpPr>
        <p:sp>
          <p:nvSpPr>
            <p:cNvPr id="303" name="Rounded Rectangle"/>
            <p:cNvSpPr/>
            <p:nvPr/>
          </p:nvSpPr>
          <p:spPr>
            <a:xfrm>
              <a:off x="0" y="0"/>
              <a:ext cx="566928" cy="548641"/>
            </a:xfrm>
            <a:prstGeom prst="roundRect">
              <a:avLst>
                <a:gd name="adj" fmla="val 16667"/>
              </a:avLst>
            </a:prstGeom>
            <a:solidFill>
              <a:srgbClr val="EAF7F0"/>
            </a:solidFill>
            <a:ln w="20320" cap="flat">
              <a:solidFill>
                <a:srgbClr val="2E9E6B"/>
              </a:solidFill>
              <a:prstDash val="solid"/>
              <a:round/>
            </a:ln>
            <a:effectLst/>
          </p:spPr>
          <p:txBody>
            <a:bodyPr wrap="square" lIns="45719" tIns="45719" rIns="45719" bIns="45719" numCol="1" anchor="ctr">
              <a:noAutofit/>
            </a:bodyPr>
            <a:lstStyle/>
            <a:p>
              <a:pPr algn="ctr">
                <a:defRPr sz="2000"/>
              </a:pPr>
            </a:p>
          </p:txBody>
        </p:sp>
        <p:sp>
          <p:nvSpPr>
            <p:cNvPr id="304" name="P"/>
            <p:cNvSpPr txBox="1"/>
            <p:nvPr/>
          </p:nvSpPr>
          <p:spPr>
            <a:xfrm>
              <a:off x="36941" y="134620"/>
              <a:ext cx="49304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2E9E6B"/>
                  </a:solidFill>
                  <a:latin typeface="Georgia"/>
                  <a:ea typeface="Georgia"/>
                  <a:cs typeface="Georgia"/>
                  <a:sym typeface="Georgia"/>
                </a:defRPr>
              </a:lvl1pPr>
            </a:lstStyle>
            <a:p>
              <a:pPr/>
              <a:r>
                <a:t>P</a:t>
              </a:r>
            </a:p>
          </p:txBody>
        </p:sp>
      </p:grpSp>
      <p:sp>
        <p:nvSpPr>
          <p:cNvPr id="306" name="cls0_why"/>
          <p:cNvSpPr txBox="1"/>
          <p:nvPr/>
        </p:nvSpPr>
        <p:spPr>
          <a:xfrm>
            <a:off x="6373367" y="2330610"/>
            <a:ext cx="5132528"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4A6165"/>
                </a:solidFill>
                <a:latin typeface="Arial"/>
                <a:ea typeface="Arial"/>
                <a:cs typeface="Arial"/>
                <a:sym typeface="Arial"/>
              </a:defRPr>
            </a:lvl1pPr>
          </a:lstStyle>
          <a:p>
            <a:pPr/>
            <a:r>
              <a:t>It makes its own food using sunlight.</a:t>
            </a:r>
          </a:p>
        </p:txBody>
      </p:sp>
      <p:sp>
        <p:nvSpPr>
          <p:cNvPr id="307" name="cls1_bg"/>
          <p:cNvSpPr/>
          <p:nvPr/>
        </p:nvSpPr>
        <p:spPr>
          <a:xfrm>
            <a:off x="502919" y="2980944"/>
            <a:ext cx="11185857" cy="859537"/>
          </a:xfrm>
          <a:prstGeom prst="roundRect">
            <a:avLst>
              <a:gd name="adj" fmla="val 14894"/>
            </a:avLst>
          </a:prstGeom>
          <a:solidFill>
            <a:srgbClr val="FFFFFF"/>
          </a:solidFill>
          <a:ln w="15875">
            <a:solidFill>
              <a:srgbClr val="F0E4C8"/>
            </a:solidFill>
          </a:ln>
        </p:spPr>
        <p:txBody>
          <a:bodyPr lIns="45719" rIns="45719"/>
          <a:lstStyle/>
          <a:p>
            <a:pPr/>
          </a:p>
        </p:txBody>
      </p:sp>
      <p:sp>
        <p:nvSpPr>
          <p:cNvPr id="308" name="cls1_q"/>
          <p:cNvSpPr txBox="1"/>
          <p:nvPr/>
        </p:nvSpPr>
        <p:spPr>
          <a:xfrm>
            <a:off x="740664" y="3305878"/>
            <a:ext cx="475488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4282B"/>
                </a:solidFill>
                <a:latin typeface="Arial"/>
                <a:ea typeface="Arial"/>
                <a:cs typeface="Arial"/>
                <a:sym typeface="Arial"/>
              </a:defRPr>
            </a:lvl1pPr>
          </a:lstStyle>
          <a:p>
            <a:pPr/>
            <a:r>
              <a:t>A fungus growing on a fallen branch</a:t>
            </a:r>
          </a:p>
        </p:txBody>
      </p:sp>
      <p:grpSp>
        <p:nvGrpSpPr>
          <p:cNvPr id="311" name="cls1_a"/>
          <p:cNvGrpSpPr/>
          <p:nvPr/>
        </p:nvGrpSpPr>
        <p:grpSpPr>
          <a:xfrm>
            <a:off x="5641847" y="3136392"/>
            <a:ext cx="566929" cy="548641"/>
            <a:chOff x="0" y="0"/>
            <a:chExt cx="566927" cy="548640"/>
          </a:xfrm>
        </p:grpSpPr>
        <p:sp>
          <p:nvSpPr>
            <p:cNvPr id="309" name="Rounded Rectangle"/>
            <p:cNvSpPr/>
            <p:nvPr/>
          </p:nvSpPr>
          <p:spPr>
            <a:xfrm>
              <a:off x="0" y="0"/>
              <a:ext cx="566928" cy="548641"/>
            </a:xfrm>
            <a:prstGeom prst="roundRect">
              <a:avLst>
                <a:gd name="adj" fmla="val 16667"/>
              </a:avLst>
            </a:prstGeom>
            <a:solidFill>
              <a:srgbClr val="F9E7E0"/>
            </a:solidFill>
            <a:ln w="20320" cap="flat">
              <a:solidFill>
                <a:srgbClr val="E2572B"/>
              </a:solidFill>
              <a:prstDash val="solid"/>
              <a:round/>
            </a:ln>
            <a:effectLst/>
          </p:spPr>
          <p:txBody>
            <a:bodyPr wrap="square" lIns="45719" tIns="45719" rIns="45719" bIns="45719" numCol="1" anchor="ctr">
              <a:noAutofit/>
            </a:bodyPr>
            <a:lstStyle/>
            <a:p>
              <a:pPr algn="ctr">
                <a:defRPr sz="2000"/>
              </a:pPr>
            </a:p>
          </p:txBody>
        </p:sp>
        <p:sp>
          <p:nvSpPr>
            <p:cNvPr id="310" name="D"/>
            <p:cNvSpPr txBox="1"/>
            <p:nvPr/>
          </p:nvSpPr>
          <p:spPr>
            <a:xfrm>
              <a:off x="36941" y="134620"/>
              <a:ext cx="49304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E2572B"/>
                  </a:solidFill>
                  <a:latin typeface="Georgia"/>
                  <a:ea typeface="Georgia"/>
                  <a:cs typeface="Georgia"/>
                  <a:sym typeface="Georgia"/>
                </a:defRPr>
              </a:lvl1pPr>
            </a:lstStyle>
            <a:p>
              <a:pPr/>
              <a:r>
                <a:t>D</a:t>
              </a:r>
            </a:p>
          </p:txBody>
        </p:sp>
      </p:grpSp>
      <p:sp>
        <p:nvSpPr>
          <p:cNvPr id="312" name="cls1_why"/>
          <p:cNvSpPr txBox="1"/>
          <p:nvPr/>
        </p:nvSpPr>
        <p:spPr>
          <a:xfrm>
            <a:off x="6373367" y="3318162"/>
            <a:ext cx="5132528"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4A6165"/>
                </a:solidFill>
                <a:latin typeface="Arial"/>
                <a:ea typeface="Arial"/>
                <a:cs typeface="Arial"/>
                <a:sym typeface="Arial"/>
              </a:defRPr>
            </a:lvl1pPr>
          </a:lstStyle>
          <a:p>
            <a:pPr/>
            <a:r>
              <a:t>It breaks down dead wood and releases nutrients.</a:t>
            </a:r>
          </a:p>
        </p:txBody>
      </p:sp>
      <p:sp>
        <p:nvSpPr>
          <p:cNvPr id="313" name="cls2_bg"/>
          <p:cNvSpPr/>
          <p:nvPr/>
        </p:nvSpPr>
        <p:spPr>
          <a:xfrm>
            <a:off x="502919" y="3968496"/>
            <a:ext cx="11185857" cy="859537"/>
          </a:xfrm>
          <a:prstGeom prst="roundRect">
            <a:avLst>
              <a:gd name="adj" fmla="val 14894"/>
            </a:avLst>
          </a:prstGeom>
          <a:solidFill>
            <a:srgbClr val="FFFFFF"/>
          </a:solidFill>
          <a:ln w="15875">
            <a:solidFill>
              <a:srgbClr val="F0E4C8"/>
            </a:solidFill>
          </a:ln>
        </p:spPr>
        <p:txBody>
          <a:bodyPr lIns="45719" rIns="45719"/>
          <a:lstStyle/>
          <a:p>
            <a:pPr/>
          </a:p>
        </p:txBody>
      </p:sp>
      <p:sp>
        <p:nvSpPr>
          <p:cNvPr id="314" name="cls2_q"/>
          <p:cNvSpPr txBox="1"/>
          <p:nvPr/>
        </p:nvSpPr>
        <p:spPr>
          <a:xfrm>
            <a:off x="740664" y="4293429"/>
            <a:ext cx="475488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4282B"/>
                </a:solidFill>
                <a:latin typeface="Arial"/>
                <a:ea typeface="Arial"/>
                <a:cs typeface="Arial"/>
                <a:sym typeface="Arial"/>
              </a:defRPr>
            </a:lvl1pPr>
          </a:lstStyle>
          <a:p>
            <a:pPr/>
            <a:r>
              <a:t>An oyster filtering the water</a:t>
            </a:r>
          </a:p>
        </p:txBody>
      </p:sp>
      <p:grpSp>
        <p:nvGrpSpPr>
          <p:cNvPr id="317" name="cls2_a"/>
          <p:cNvGrpSpPr/>
          <p:nvPr/>
        </p:nvGrpSpPr>
        <p:grpSpPr>
          <a:xfrm>
            <a:off x="5641847" y="4123944"/>
            <a:ext cx="566929" cy="548641"/>
            <a:chOff x="0" y="0"/>
            <a:chExt cx="566927" cy="548640"/>
          </a:xfrm>
        </p:grpSpPr>
        <p:sp>
          <p:nvSpPr>
            <p:cNvPr id="315" name="Rounded Rectangle"/>
            <p:cNvSpPr/>
            <p:nvPr/>
          </p:nvSpPr>
          <p:spPr>
            <a:xfrm>
              <a:off x="0" y="0"/>
              <a:ext cx="566928" cy="548641"/>
            </a:xfrm>
            <a:prstGeom prst="roundRect">
              <a:avLst>
                <a:gd name="adj" fmla="val 16667"/>
              </a:avLst>
            </a:prstGeom>
            <a:solidFill>
              <a:srgbClr val="FFF4D4"/>
            </a:solidFill>
            <a:ln w="20320" cap="flat">
              <a:solidFill>
                <a:srgbClr val="F5B301"/>
              </a:solidFill>
              <a:prstDash val="solid"/>
              <a:round/>
            </a:ln>
            <a:effectLst/>
          </p:spPr>
          <p:txBody>
            <a:bodyPr wrap="square" lIns="45719" tIns="45719" rIns="45719" bIns="45719" numCol="1" anchor="ctr">
              <a:noAutofit/>
            </a:bodyPr>
            <a:lstStyle/>
            <a:p>
              <a:pPr algn="ctr">
                <a:defRPr sz="2000"/>
              </a:pPr>
            </a:p>
          </p:txBody>
        </p:sp>
        <p:sp>
          <p:nvSpPr>
            <p:cNvPr id="316" name="C"/>
            <p:cNvSpPr txBox="1"/>
            <p:nvPr/>
          </p:nvSpPr>
          <p:spPr>
            <a:xfrm>
              <a:off x="36941" y="134620"/>
              <a:ext cx="49304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F5B301"/>
                  </a:solidFill>
                  <a:latin typeface="Georgia"/>
                  <a:ea typeface="Georgia"/>
                  <a:cs typeface="Georgia"/>
                  <a:sym typeface="Georgia"/>
                </a:defRPr>
              </a:lvl1pPr>
            </a:lstStyle>
            <a:p>
              <a:pPr/>
              <a:r>
                <a:t>C</a:t>
              </a:r>
            </a:p>
          </p:txBody>
        </p:sp>
      </p:grpSp>
      <p:sp>
        <p:nvSpPr>
          <p:cNvPr id="318" name="cls2_why"/>
          <p:cNvSpPr txBox="1"/>
          <p:nvPr/>
        </p:nvSpPr>
        <p:spPr>
          <a:xfrm>
            <a:off x="6373367" y="4305714"/>
            <a:ext cx="5132528"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4A6165"/>
                </a:solidFill>
                <a:latin typeface="Arial"/>
                <a:ea typeface="Arial"/>
                <a:cs typeface="Arial"/>
                <a:sym typeface="Arial"/>
              </a:defRPr>
            </a:lvl1pPr>
          </a:lstStyle>
          <a:p>
            <a:pPr/>
            <a:r>
              <a:t>It eats phytoplankton — filtering is still eating.</a:t>
            </a:r>
          </a:p>
        </p:txBody>
      </p:sp>
      <p:sp>
        <p:nvSpPr>
          <p:cNvPr id="319" name="cls3_bg"/>
          <p:cNvSpPr/>
          <p:nvPr/>
        </p:nvSpPr>
        <p:spPr>
          <a:xfrm>
            <a:off x="502919" y="4956047"/>
            <a:ext cx="11185857" cy="859537"/>
          </a:xfrm>
          <a:prstGeom prst="roundRect">
            <a:avLst>
              <a:gd name="adj" fmla="val 14894"/>
            </a:avLst>
          </a:prstGeom>
          <a:solidFill>
            <a:srgbClr val="FFFFFF"/>
          </a:solidFill>
          <a:ln w="15875">
            <a:solidFill>
              <a:srgbClr val="F0E4C8"/>
            </a:solidFill>
          </a:ln>
        </p:spPr>
        <p:txBody>
          <a:bodyPr lIns="45719" rIns="45719"/>
          <a:lstStyle/>
          <a:p>
            <a:pPr/>
          </a:p>
        </p:txBody>
      </p:sp>
      <p:sp>
        <p:nvSpPr>
          <p:cNvPr id="320" name="cls3_q"/>
          <p:cNvSpPr txBox="1"/>
          <p:nvPr/>
        </p:nvSpPr>
        <p:spPr>
          <a:xfrm>
            <a:off x="740664" y="5280982"/>
            <a:ext cx="475488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4282B"/>
                </a:solidFill>
                <a:latin typeface="Arial"/>
                <a:ea typeface="Arial"/>
                <a:cs typeface="Arial"/>
                <a:sym typeface="Arial"/>
              </a:defRPr>
            </a:lvl1pPr>
          </a:lstStyle>
          <a:p>
            <a:pPr/>
            <a:r>
              <a:t>A prong mangrove tree</a:t>
            </a:r>
          </a:p>
        </p:txBody>
      </p:sp>
      <p:grpSp>
        <p:nvGrpSpPr>
          <p:cNvPr id="323" name="cls3_a"/>
          <p:cNvGrpSpPr/>
          <p:nvPr/>
        </p:nvGrpSpPr>
        <p:grpSpPr>
          <a:xfrm>
            <a:off x="5641847" y="5111496"/>
            <a:ext cx="566929" cy="548641"/>
            <a:chOff x="0" y="0"/>
            <a:chExt cx="566927" cy="548640"/>
          </a:xfrm>
        </p:grpSpPr>
        <p:sp>
          <p:nvSpPr>
            <p:cNvPr id="321" name="Rounded Rectangle"/>
            <p:cNvSpPr/>
            <p:nvPr/>
          </p:nvSpPr>
          <p:spPr>
            <a:xfrm>
              <a:off x="0" y="0"/>
              <a:ext cx="566928" cy="548641"/>
            </a:xfrm>
            <a:prstGeom prst="roundRect">
              <a:avLst>
                <a:gd name="adj" fmla="val 16667"/>
              </a:avLst>
            </a:prstGeom>
            <a:solidFill>
              <a:srgbClr val="EAF7F0"/>
            </a:solidFill>
            <a:ln w="20320" cap="flat">
              <a:solidFill>
                <a:srgbClr val="2E9E6B"/>
              </a:solidFill>
              <a:prstDash val="solid"/>
              <a:round/>
            </a:ln>
            <a:effectLst/>
          </p:spPr>
          <p:txBody>
            <a:bodyPr wrap="square" lIns="45719" tIns="45719" rIns="45719" bIns="45719" numCol="1" anchor="ctr">
              <a:noAutofit/>
            </a:bodyPr>
            <a:lstStyle/>
            <a:p>
              <a:pPr algn="ctr">
                <a:defRPr sz="2000"/>
              </a:pPr>
            </a:p>
          </p:txBody>
        </p:sp>
        <p:sp>
          <p:nvSpPr>
            <p:cNvPr id="322" name="P"/>
            <p:cNvSpPr txBox="1"/>
            <p:nvPr/>
          </p:nvSpPr>
          <p:spPr>
            <a:xfrm>
              <a:off x="36941" y="134620"/>
              <a:ext cx="493046"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000">
                  <a:solidFill>
                    <a:srgbClr val="2E9E6B"/>
                  </a:solidFill>
                  <a:latin typeface="Georgia"/>
                  <a:ea typeface="Georgia"/>
                  <a:cs typeface="Georgia"/>
                  <a:sym typeface="Georgia"/>
                </a:defRPr>
              </a:lvl1pPr>
            </a:lstStyle>
            <a:p>
              <a:pPr/>
              <a:r>
                <a:t>P</a:t>
              </a:r>
            </a:p>
          </p:txBody>
        </p:sp>
      </p:grpSp>
      <p:sp>
        <p:nvSpPr>
          <p:cNvPr id="324" name="cls3_why"/>
          <p:cNvSpPr txBox="1"/>
          <p:nvPr/>
        </p:nvSpPr>
        <p:spPr>
          <a:xfrm>
            <a:off x="6373367" y="5293266"/>
            <a:ext cx="5132528"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4A6165"/>
                </a:solidFill>
                <a:latin typeface="Arial"/>
                <a:ea typeface="Arial"/>
                <a:cs typeface="Arial"/>
                <a:sym typeface="Arial"/>
              </a:defRPr>
            </a:lvl1pPr>
          </a:lstStyle>
          <a:p>
            <a:pPr/>
            <a:r>
              <a:t>Photosynthesis, even with gold leaves.</a:t>
            </a:r>
          </a:p>
        </p:txBody>
      </p:sp>
    </p:spTree>
  </p:cSld>
  <p:clrMapOvr>
    <a:masterClrMapping/>
  </p:clrMapOvr>
  <mc:AlternateContent xmlns:mc="http://schemas.openxmlformats.org/markup-compatibility/2006">
    <mc:Choice xmlns:p14="http://schemas.microsoft.com/office/powerpoint/2010/main" Requires="p14">
      <p:transition spd="med" advClick="1" p14:dur="1000">
        <p:wipe dir="d"/>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05"/>
                                        </p:tgtEl>
                                        <p:attrNameLst>
                                          <p:attrName>style.visibility</p:attrName>
                                        </p:attrNameLst>
                                      </p:cBhvr>
                                      <p:to>
                                        <p:strVal val="visible"/>
                                      </p:to>
                                    </p:set>
                                    <p:anim calcmode="lin" valueType="num">
                                      <p:cBhvr>
                                        <p:cTn id="7" dur="500" fill="hold"/>
                                        <p:tgtEl>
                                          <p:spTgt spid="305"/>
                                        </p:tgtEl>
                                        <p:attrNameLst>
                                          <p:attrName>ppt_w</p:attrName>
                                        </p:attrNameLst>
                                      </p:cBhvr>
                                      <p:tavLst>
                                        <p:tav tm="0">
                                          <p:val>
                                            <p:fltVal val="0"/>
                                          </p:val>
                                        </p:tav>
                                        <p:tav tm="100000">
                                          <p:val>
                                            <p:strVal val="#ppt_w"/>
                                          </p:val>
                                        </p:tav>
                                      </p:tavLst>
                                    </p:anim>
                                    <p:anim calcmode="lin" valueType="num">
                                      <p:cBhvr>
                                        <p:cTn id="8" dur="500" fill="hold"/>
                                        <p:tgtEl>
                                          <p:spTgt spid="30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2" grpId="2" fill="hold">
                                  <p:stCondLst>
                                    <p:cond delay="0"/>
                                  </p:stCondLst>
                                  <p:iterate type="el" backwards="0">
                                    <p:tmAbs val="0"/>
                                  </p:iterate>
                                  <p:childTnLst>
                                    <p:set>
                                      <p:cBhvr>
                                        <p:cTn id="12" fill="hold"/>
                                        <p:tgtEl>
                                          <p:spTgt spid="306"/>
                                        </p:tgtEl>
                                        <p:attrNameLst>
                                          <p:attrName>style.visibility</p:attrName>
                                        </p:attrNameLst>
                                      </p:cBhvr>
                                      <p:to>
                                        <p:strVal val="visible"/>
                                      </p:to>
                                    </p:set>
                                    <p:animEffect filter="wipe(left)" transition="in">
                                      <p:cBhvr>
                                        <p:cTn id="13" dur="500"/>
                                        <p:tgtEl>
                                          <p:spTgt spid="306"/>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16" presetID="23" grpId="3" fill="hold">
                                  <p:stCondLst>
                                    <p:cond delay="0"/>
                                  </p:stCondLst>
                                  <p:iterate type="el" backwards="0">
                                    <p:tmAbs val="0"/>
                                  </p:iterate>
                                  <p:childTnLst>
                                    <p:set>
                                      <p:cBhvr>
                                        <p:cTn id="17" fill="hold"/>
                                        <p:tgtEl>
                                          <p:spTgt spid="311"/>
                                        </p:tgtEl>
                                        <p:attrNameLst>
                                          <p:attrName>style.visibility</p:attrName>
                                        </p:attrNameLst>
                                      </p:cBhvr>
                                      <p:to>
                                        <p:strVal val="visible"/>
                                      </p:to>
                                    </p:set>
                                    <p:anim calcmode="lin" valueType="num">
                                      <p:cBhvr>
                                        <p:cTn id="18" dur="500" fill="hold"/>
                                        <p:tgtEl>
                                          <p:spTgt spid="311"/>
                                        </p:tgtEl>
                                        <p:attrNameLst>
                                          <p:attrName>ppt_w</p:attrName>
                                        </p:attrNameLst>
                                      </p:cBhvr>
                                      <p:tavLst>
                                        <p:tav tm="0">
                                          <p:val>
                                            <p:fltVal val="0"/>
                                          </p:val>
                                        </p:tav>
                                        <p:tav tm="100000">
                                          <p:val>
                                            <p:strVal val="#ppt_w"/>
                                          </p:val>
                                        </p:tav>
                                      </p:tavLst>
                                    </p:anim>
                                    <p:anim calcmode="lin" valueType="num">
                                      <p:cBhvr>
                                        <p:cTn id="19" dur="500" fill="hold"/>
                                        <p:tgtEl>
                                          <p:spTgt spid="311"/>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8" presetID="22" grpId="4" fill="hold">
                                  <p:stCondLst>
                                    <p:cond delay="0"/>
                                  </p:stCondLst>
                                  <p:iterate type="el" backwards="0">
                                    <p:tmAbs val="0"/>
                                  </p:iterate>
                                  <p:childTnLst>
                                    <p:set>
                                      <p:cBhvr>
                                        <p:cTn id="23" fill="hold"/>
                                        <p:tgtEl>
                                          <p:spTgt spid="312"/>
                                        </p:tgtEl>
                                        <p:attrNameLst>
                                          <p:attrName>style.visibility</p:attrName>
                                        </p:attrNameLst>
                                      </p:cBhvr>
                                      <p:to>
                                        <p:strVal val="visible"/>
                                      </p:to>
                                    </p:set>
                                    <p:animEffect filter="wipe(left)" transition="in">
                                      <p:cBhvr>
                                        <p:cTn id="24" dur="500"/>
                                        <p:tgtEl>
                                          <p:spTgt spid="312"/>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317"/>
                                        </p:tgtEl>
                                        <p:attrNameLst>
                                          <p:attrName>style.visibility</p:attrName>
                                        </p:attrNameLst>
                                      </p:cBhvr>
                                      <p:to>
                                        <p:strVal val="visible"/>
                                      </p:to>
                                    </p:set>
                                    <p:anim calcmode="lin" valueType="num">
                                      <p:cBhvr>
                                        <p:cTn id="29" dur="500" fill="hold"/>
                                        <p:tgtEl>
                                          <p:spTgt spid="317"/>
                                        </p:tgtEl>
                                        <p:attrNameLst>
                                          <p:attrName>ppt_w</p:attrName>
                                        </p:attrNameLst>
                                      </p:cBhvr>
                                      <p:tavLst>
                                        <p:tav tm="0">
                                          <p:val>
                                            <p:fltVal val="0"/>
                                          </p:val>
                                        </p:tav>
                                        <p:tav tm="100000">
                                          <p:val>
                                            <p:strVal val="#ppt_w"/>
                                          </p:val>
                                        </p:tav>
                                      </p:tavLst>
                                    </p:anim>
                                    <p:anim calcmode="lin" valueType="num">
                                      <p:cBhvr>
                                        <p:cTn id="30" dur="500" fill="hold"/>
                                        <p:tgtEl>
                                          <p:spTgt spid="317"/>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8" presetID="22" grpId="6" fill="hold">
                                  <p:stCondLst>
                                    <p:cond delay="0"/>
                                  </p:stCondLst>
                                  <p:iterate type="el" backwards="0">
                                    <p:tmAbs val="0"/>
                                  </p:iterate>
                                  <p:childTnLst>
                                    <p:set>
                                      <p:cBhvr>
                                        <p:cTn id="34" fill="hold"/>
                                        <p:tgtEl>
                                          <p:spTgt spid="318"/>
                                        </p:tgtEl>
                                        <p:attrNameLst>
                                          <p:attrName>style.visibility</p:attrName>
                                        </p:attrNameLst>
                                      </p:cBhvr>
                                      <p:to>
                                        <p:strVal val="visible"/>
                                      </p:to>
                                    </p:set>
                                    <p:animEffect filter="wipe(left)" transition="in">
                                      <p:cBhvr>
                                        <p:cTn id="35" dur="500"/>
                                        <p:tgtEl>
                                          <p:spTgt spid="318"/>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16" presetID="23" grpId="7" fill="hold">
                                  <p:stCondLst>
                                    <p:cond delay="0"/>
                                  </p:stCondLst>
                                  <p:iterate type="el" backwards="0">
                                    <p:tmAbs val="0"/>
                                  </p:iterate>
                                  <p:childTnLst>
                                    <p:set>
                                      <p:cBhvr>
                                        <p:cTn id="39" fill="hold"/>
                                        <p:tgtEl>
                                          <p:spTgt spid="323"/>
                                        </p:tgtEl>
                                        <p:attrNameLst>
                                          <p:attrName>style.visibility</p:attrName>
                                        </p:attrNameLst>
                                      </p:cBhvr>
                                      <p:to>
                                        <p:strVal val="visible"/>
                                      </p:to>
                                    </p:set>
                                    <p:anim calcmode="lin" valueType="num">
                                      <p:cBhvr>
                                        <p:cTn id="40" dur="500" fill="hold"/>
                                        <p:tgtEl>
                                          <p:spTgt spid="323"/>
                                        </p:tgtEl>
                                        <p:attrNameLst>
                                          <p:attrName>ppt_w</p:attrName>
                                        </p:attrNameLst>
                                      </p:cBhvr>
                                      <p:tavLst>
                                        <p:tav tm="0">
                                          <p:val>
                                            <p:fltVal val="0"/>
                                          </p:val>
                                        </p:tav>
                                        <p:tav tm="100000">
                                          <p:val>
                                            <p:strVal val="#ppt_w"/>
                                          </p:val>
                                        </p:tav>
                                      </p:tavLst>
                                    </p:anim>
                                    <p:anim calcmode="lin" valueType="num">
                                      <p:cBhvr>
                                        <p:cTn id="41" dur="500" fill="hold"/>
                                        <p:tgtEl>
                                          <p:spTgt spid="323"/>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8" presetID="22" grpId="8" fill="hold">
                                  <p:stCondLst>
                                    <p:cond delay="0"/>
                                  </p:stCondLst>
                                  <p:iterate type="el" backwards="0">
                                    <p:tmAbs val="0"/>
                                  </p:iterate>
                                  <p:childTnLst>
                                    <p:set>
                                      <p:cBhvr>
                                        <p:cTn id="45" fill="hold"/>
                                        <p:tgtEl>
                                          <p:spTgt spid="324"/>
                                        </p:tgtEl>
                                        <p:attrNameLst>
                                          <p:attrName>style.visibility</p:attrName>
                                        </p:attrNameLst>
                                      </p:cBhvr>
                                      <p:to>
                                        <p:strVal val="visible"/>
                                      </p:to>
                                    </p:set>
                                    <p:animEffect filter="wipe(left)" transition="in">
                                      <p:cBhvr>
                                        <p:cTn id="46"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7" grpId="5"/>
      <p:bldP build="whole" bldLvl="1" animBg="1" rev="0" advAuto="0" spid="306" grpId="2"/>
      <p:bldP build="whole" bldLvl="1" animBg="1" rev="0" advAuto="0" spid="305" grpId="1"/>
      <p:bldP build="whole" bldLvl="1" animBg="1" rev="0" advAuto="0" spid="323" grpId="7"/>
      <p:bldP build="whole" bldLvl="1" animBg="1" rev="0" advAuto="0" spid="318" grpId="6"/>
      <p:bldP build="whole" bldLvl="1" animBg="1" rev="0" advAuto="0" spid="311" grpId="3"/>
      <p:bldP build="whole" bldLvl="1" animBg="1" rev="0" advAuto="0" spid="312" grpId="4"/>
      <p:bldP build="whole" bldLvl="1" animBg="1" rev="0" advAuto="0" spid="324" grpId="8"/>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330" name="phase_pill"/>
          <p:cNvGrpSpPr/>
          <p:nvPr/>
        </p:nvGrpSpPr>
        <p:grpSpPr>
          <a:xfrm>
            <a:off x="502919" y="274320"/>
            <a:ext cx="2578609" cy="347473"/>
            <a:chOff x="0" y="0"/>
            <a:chExt cx="2578607" cy="347472"/>
          </a:xfrm>
        </p:grpSpPr>
        <p:sp>
          <p:nvSpPr>
            <p:cNvPr id="328" name="Rounded Rectangle"/>
            <p:cNvSpPr/>
            <p:nvPr/>
          </p:nvSpPr>
          <p:spPr>
            <a:xfrm>
              <a:off x="0" y="0"/>
              <a:ext cx="2578608"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329" name="YOU DO · 12 MIN"/>
            <p:cNvSpPr txBox="1"/>
            <p:nvPr/>
          </p:nvSpPr>
          <p:spPr>
            <a:xfrm>
              <a:off x="50886" y="99821"/>
              <a:ext cx="24768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YOU DO · 12 MIN</a:t>
              </a:r>
            </a:p>
          </p:txBody>
        </p:sp>
      </p:grpSp>
      <p:sp>
        <p:nvSpPr>
          <p:cNvPr id="331"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On your own — worksheet, Section A to C</a:t>
            </a:r>
          </a:p>
        </p:txBody>
      </p:sp>
      <p:sp>
        <p:nvSpPr>
          <p:cNvPr id="332"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Start where you like. Move up when a question stops being hard.</a:t>
            </a:r>
          </a:p>
        </p:txBody>
      </p:sp>
      <p:grpSp>
        <p:nvGrpSpPr>
          <p:cNvPr id="337" name="tier0"/>
          <p:cNvGrpSpPr/>
          <p:nvPr/>
        </p:nvGrpSpPr>
        <p:grpSpPr>
          <a:xfrm>
            <a:off x="502919" y="1956816"/>
            <a:ext cx="3576220" cy="1783080"/>
            <a:chOff x="0" y="0"/>
            <a:chExt cx="3576218" cy="1783079"/>
          </a:xfrm>
        </p:grpSpPr>
        <p:sp>
          <p:nvSpPr>
            <p:cNvPr id="333" name="tier0_bg"/>
            <p:cNvSpPr/>
            <p:nvPr/>
          </p:nvSpPr>
          <p:spPr>
            <a:xfrm>
              <a:off x="0" y="0"/>
              <a:ext cx="3576219" cy="1783080"/>
            </a:xfrm>
            <a:prstGeom prst="roundRect">
              <a:avLst>
                <a:gd name="adj" fmla="val 7179"/>
              </a:avLst>
            </a:prstGeom>
            <a:solidFill>
              <a:srgbClr val="F7ECE3"/>
            </a:solidFill>
            <a:ln w="20320" cap="flat">
              <a:solidFill>
                <a:srgbClr val="CD7F52"/>
              </a:solidFill>
              <a:prstDash val="solid"/>
              <a:round/>
            </a:ln>
            <a:effectLst/>
          </p:spPr>
          <p:txBody>
            <a:bodyPr wrap="square" lIns="45719" tIns="45719" rIns="45719" bIns="45719" numCol="1" anchor="t">
              <a:noAutofit/>
            </a:bodyPr>
            <a:lstStyle/>
            <a:p>
              <a:pPr/>
            </a:p>
          </p:txBody>
        </p:sp>
        <p:sp>
          <p:nvSpPr>
            <p:cNvPr id="334" name="tier0_h"/>
            <p:cNvSpPr txBox="1"/>
            <p:nvPr/>
          </p:nvSpPr>
          <p:spPr>
            <a:xfrm>
              <a:off x="201168" y="224003"/>
              <a:ext cx="3173883" cy="246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39" sz="1700">
                  <a:solidFill>
                    <a:srgbClr val="CD7F52"/>
                  </a:solidFill>
                  <a:latin typeface="Arial"/>
                  <a:ea typeface="Arial"/>
                  <a:cs typeface="Arial"/>
                  <a:sym typeface="Arial"/>
                </a:defRPr>
              </a:lvl1pPr>
            </a:lstStyle>
            <a:p>
              <a:pPr/>
              <a:r>
                <a:t>BRONZE</a:t>
              </a:r>
            </a:p>
          </p:txBody>
        </p:sp>
        <p:sp>
          <p:nvSpPr>
            <p:cNvPr id="335" name="tier0_sub"/>
            <p:cNvSpPr txBox="1"/>
            <p:nvPr/>
          </p:nvSpPr>
          <p:spPr>
            <a:xfrm>
              <a:off x="201168" y="590248"/>
              <a:ext cx="3173883"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14282B"/>
                  </a:solidFill>
                  <a:latin typeface="Arial"/>
                  <a:ea typeface="Arial"/>
                  <a:cs typeface="Arial"/>
                  <a:sym typeface="Arial"/>
                </a:defRPr>
              </a:lvl1pPr>
            </a:lstStyle>
            <a:p>
              <a:pPr/>
              <a:r>
                <a:t>Fluency</a:t>
              </a:r>
            </a:p>
          </p:txBody>
        </p:sp>
        <p:sp>
          <p:nvSpPr>
            <p:cNvPr id="336" name="tier0_b"/>
            <p:cNvSpPr txBox="1"/>
            <p:nvPr/>
          </p:nvSpPr>
          <p:spPr>
            <a:xfrm>
              <a:off x="201168" y="841247"/>
              <a:ext cx="3173883" cy="4209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4A6165"/>
                  </a:solidFill>
                  <a:latin typeface="Arial"/>
                  <a:ea typeface="Arial"/>
                  <a:cs typeface="Arial"/>
                  <a:sym typeface="Arial"/>
                </a:defRPr>
              </a:lvl1pPr>
            </a:lstStyle>
            <a:p>
              <a:pPr/>
              <a:r>
                <a:t>Label, match and define. Get the vocabulary solid.</a:t>
              </a:r>
            </a:p>
          </p:txBody>
        </p:sp>
      </p:grpSp>
      <p:grpSp>
        <p:nvGrpSpPr>
          <p:cNvPr id="342" name="tier1"/>
          <p:cNvGrpSpPr/>
          <p:nvPr/>
        </p:nvGrpSpPr>
        <p:grpSpPr>
          <a:xfrm>
            <a:off x="4307737" y="1956816"/>
            <a:ext cx="3576219" cy="1783080"/>
            <a:chOff x="0" y="0"/>
            <a:chExt cx="3576218" cy="1783079"/>
          </a:xfrm>
        </p:grpSpPr>
        <p:sp>
          <p:nvSpPr>
            <p:cNvPr id="338" name="tier1_bg"/>
            <p:cNvSpPr/>
            <p:nvPr/>
          </p:nvSpPr>
          <p:spPr>
            <a:xfrm>
              <a:off x="0" y="0"/>
              <a:ext cx="3576219" cy="1783080"/>
            </a:xfrm>
            <a:prstGeom prst="roundRect">
              <a:avLst>
                <a:gd name="adj" fmla="val 7179"/>
              </a:avLst>
            </a:prstGeom>
            <a:solidFill>
              <a:srgbClr val="EDF1F3"/>
            </a:solidFill>
            <a:ln w="20320" cap="flat">
              <a:solidFill>
                <a:srgbClr val="8C9BA5"/>
              </a:solidFill>
              <a:prstDash val="solid"/>
              <a:round/>
            </a:ln>
            <a:effectLst/>
          </p:spPr>
          <p:txBody>
            <a:bodyPr wrap="square" lIns="45719" tIns="45719" rIns="45719" bIns="45719" numCol="1" anchor="t">
              <a:noAutofit/>
            </a:bodyPr>
            <a:lstStyle/>
            <a:p>
              <a:pPr/>
            </a:p>
          </p:txBody>
        </p:sp>
        <p:sp>
          <p:nvSpPr>
            <p:cNvPr id="339" name="tier1_h"/>
            <p:cNvSpPr txBox="1"/>
            <p:nvPr/>
          </p:nvSpPr>
          <p:spPr>
            <a:xfrm>
              <a:off x="201168" y="224003"/>
              <a:ext cx="3173883" cy="246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39" sz="1700">
                  <a:solidFill>
                    <a:srgbClr val="8C9BA5"/>
                  </a:solidFill>
                  <a:latin typeface="Arial"/>
                  <a:ea typeface="Arial"/>
                  <a:cs typeface="Arial"/>
                  <a:sym typeface="Arial"/>
                </a:defRPr>
              </a:lvl1pPr>
            </a:lstStyle>
            <a:p>
              <a:pPr/>
              <a:r>
                <a:t>SILVER</a:t>
              </a:r>
            </a:p>
          </p:txBody>
        </p:sp>
        <p:sp>
          <p:nvSpPr>
            <p:cNvPr id="340" name="tier1_sub"/>
            <p:cNvSpPr txBox="1"/>
            <p:nvPr/>
          </p:nvSpPr>
          <p:spPr>
            <a:xfrm>
              <a:off x="201168" y="590248"/>
              <a:ext cx="3173883"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14282B"/>
                  </a:solidFill>
                  <a:latin typeface="Arial"/>
                  <a:ea typeface="Arial"/>
                  <a:cs typeface="Arial"/>
                  <a:sym typeface="Arial"/>
                </a:defRPr>
              </a:lvl1pPr>
            </a:lstStyle>
            <a:p>
              <a:pPr/>
              <a:r>
                <a:t>Mixed practice</a:t>
              </a:r>
            </a:p>
          </p:txBody>
        </p:sp>
        <p:sp>
          <p:nvSpPr>
            <p:cNvPr id="341" name="tier1_b"/>
            <p:cNvSpPr txBox="1"/>
            <p:nvPr/>
          </p:nvSpPr>
          <p:spPr>
            <a:xfrm>
              <a:off x="201168" y="841247"/>
              <a:ext cx="3173883" cy="2050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4A6165"/>
                  </a:solidFill>
                  <a:latin typeface="Arial"/>
                  <a:ea typeface="Arial"/>
                  <a:cs typeface="Arial"/>
                  <a:sym typeface="Arial"/>
                </a:defRPr>
              </a:lvl1pPr>
            </a:lstStyle>
            <a:p>
              <a:pPr/>
              <a:r>
                <a:t>Sort factors, apply them to a new ecosystem.</a:t>
              </a:r>
            </a:p>
          </p:txBody>
        </p:sp>
      </p:grpSp>
      <p:grpSp>
        <p:nvGrpSpPr>
          <p:cNvPr id="347" name="tier2"/>
          <p:cNvGrpSpPr/>
          <p:nvPr/>
        </p:nvGrpSpPr>
        <p:grpSpPr>
          <a:xfrm>
            <a:off x="8112556" y="1956816"/>
            <a:ext cx="3576219" cy="1783080"/>
            <a:chOff x="0" y="0"/>
            <a:chExt cx="3576218" cy="1783079"/>
          </a:xfrm>
        </p:grpSpPr>
        <p:sp>
          <p:nvSpPr>
            <p:cNvPr id="343" name="tier2_bg"/>
            <p:cNvSpPr/>
            <p:nvPr/>
          </p:nvSpPr>
          <p:spPr>
            <a:xfrm>
              <a:off x="0" y="0"/>
              <a:ext cx="3576219" cy="1783080"/>
            </a:xfrm>
            <a:prstGeom prst="roundRect">
              <a:avLst>
                <a:gd name="adj" fmla="val 7179"/>
              </a:avLst>
            </a:prstGeom>
            <a:solidFill>
              <a:srgbClr val="FFF4D4"/>
            </a:solidFill>
            <a:ln w="20320" cap="flat">
              <a:solidFill>
                <a:srgbClr val="C79A16"/>
              </a:solidFill>
              <a:prstDash val="solid"/>
              <a:round/>
            </a:ln>
            <a:effectLst/>
          </p:spPr>
          <p:txBody>
            <a:bodyPr wrap="square" lIns="45719" tIns="45719" rIns="45719" bIns="45719" numCol="1" anchor="t">
              <a:noAutofit/>
            </a:bodyPr>
            <a:lstStyle/>
            <a:p>
              <a:pPr/>
            </a:p>
          </p:txBody>
        </p:sp>
        <p:sp>
          <p:nvSpPr>
            <p:cNvPr id="344" name="tier2_h"/>
            <p:cNvSpPr txBox="1"/>
            <p:nvPr/>
          </p:nvSpPr>
          <p:spPr>
            <a:xfrm>
              <a:off x="201168" y="224003"/>
              <a:ext cx="3173883" cy="246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39" sz="1700">
                  <a:solidFill>
                    <a:srgbClr val="C79A16"/>
                  </a:solidFill>
                  <a:latin typeface="Arial"/>
                  <a:ea typeface="Arial"/>
                  <a:cs typeface="Arial"/>
                  <a:sym typeface="Arial"/>
                </a:defRPr>
              </a:lvl1pPr>
            </a:lstStyle>
            <a:p>
              <a:pPr/>
              <a:r>
                <a:t>GOLD</a:t>
              </a:r>
            </a:p>
          </p:txBody>
        </p:sp>
        <p:sp>
          <p:nvSpPr>
            <p:cNvPr id="345" name="tier2_sub"/>
            <p:cNvSpPr txBox="1"/>
            <p:nvPr/>
          </p:nvSpPr>
          <p:spPr>
            <a:xfrm>
              <a:off x="201168" y="590248"/>
              <a:ext cx="3173883"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14282B"/>
                  </a:solidFill>
                  <a:latin typeface="Arial"/>
                  <a:ea typeface="Arial"/>
                  <a:cs typeface="Arial"/>
                  <a:sym typeface="Arial"/>
                </a:defRPr>
              </a:lvl1pPr>
            </a:lstStyle>
            <a:p>
              <a:pPr/>
              <a:r>
                <a:t>Reasoning</a:t>
              </a:r>
            </a:p>
          </p:txBody>
        </p:sp>
        <p:sp>
          <p:nvSpPr>
            <p:cNvPr id="346" name="tier2_b"/>
            <p:cNvSpPr txBox="1"/>
            <p:nvPr/>
          </p:nvSpPr>
          <p:spPr>
            <a:xfrm>
              <a:off x="201168" y="841247"/>
              <a:ext cx="3173883" cy="2050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4A6165"/>
                  </a:solidFill>
                  <a:latin typeface="Arial"/>
                  <a:ea typeface="Arial"/>
                  <a:cs typeface="Arial"/>
                  <a:sym typeface="Arial"/>
                </a:defRPr>
              </a:lvl1pPr>
            </a:lstStyle>
            <a:p>
              <a:pPr/>
              <a:r>
                <a:t>Explain, predict and justify. Full sentences.</a:t>
              </a:r>
            </a:p>
          </p:txBody>
        </p:sp>
      </p:grpSp>
      <p:grpSp>
        <p:nvGrpSpPr>
          <p:cNvPr id="351" name="youdo_ai"/>
          <p:cNvGrpSpPr/>
          <p:nvPr/>
        </p:nvGrpSpPr>
        <p:grpSpPr>
          <a:xfrm>
            <a:off x="502919" y="3968496"/>
            <a:ext cx="11185857" cy="1371601"/>
            <a:chOff x="0" y="0"/>
            <a:chExt cx="11185855" cy="1371600"/>
          </a:xfrm>
        </p:grpSpPr>
        <p:sp>
          <p:nvSpPr>
            <p:cNvPr id="348" name="youdo_ai_bg"/>
            <p:cNvSpPr/>
            <p:nvPr/>
          </p:nvSpPr>
          <p:spPr>
            <a:xfrm>
              <a:off x="0" y="0"/>
              <a:ext cx="11185856" cy="1371600"/>
            </a:xfrm>
            <a:prstGeom prst="roundRect">
              <a:avLst>
                <a:gd name="adj" fmla="val 9333"/>
              </a:avLst>
            </a:prstGeom>
            <a:solidFill>
              <a:srgbClr val="E7EEEF"/>
            </a:solidFill>
            <a:ln w="15875" cap="flat">
              <a:solidFill>
                <a:srgbClr val="0E3A3F"/>
              </a:solidFill>
              <a:prstDash val="solid"/>
              <a:round/>
            </a:ln>
            <a:effectLst/>
          </p:spPr>
          <p:txBody>
            <a:bodyPr wrap="square" lIns="45719" tIns="45719" rIns="45719" bIns="45719" numCol="1" anchor="t">
              <a:noAutofit/>
            </a:bodyPr>
            <a:lstStyle/>
            <a:p>
              <a:pPr/>
            </a:p>
          </p:txBody>
        </p:sp>
        <p:sp>
          <p:nvSpPr>
            <p:cNvPr id="349" name="youdo_ai_h"/>
            <p:cNvSpPr txBox="1"/>
            <p:nvPr/>
          </p:nvSpPr>
          <p:spPr>
            <a:xfrm>
              <a:off x="256031" y="206062"/>
              <a:ext cx="1067379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E3A3F"/>
                  </a:solidFill>
                  <a:latin typeface="Arial"/>
                  <a:ea typeface="Arial"/>
                  <a:cs typeface="Arial"/>
                  <a:sym typeface="Arial"/>
                </a:defRPr>
              </a:lvl1pPr>
            </a:lstStyle>
            <a:p>
              <a:pPr/>
              <a:r>
                <a:t>Stuck, or finished early? Use Gemini properly.</a:t>
              </a:r>
            </a:p>
          </p:txBody>
        </p:sp>
        <p:sp>
          <p:nvSpPr>
            <p:cNvPr id="350" name="youdo_ai_b"/>
            <p:cNvSpPr txBox="1"/>
            <p:nvPr/>
          </p:nvSpPr>
          <p:spPr>
            <a:xfrm>
              <a:off x="256031" y="475487"/>
              <a:ext cx="10673793" cy="675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300">
                  <a:solidFill>
                    <a:srgbClr val="14282B"/>
                  </a:solidFill>
                  <a:latin typeface="Arial"/>
                  <a:ea typeface="Arial"/>
                  <a:cs typeface="Arial"/>
                  <a:sym typeface="Arial"/>
                </a:defRPr>
              </a:lvl1pPr>
            </a:lstStyle>
            <a:p>
              <a:pPr/>
              <a:r>
                <a:t>The three prompts are on the last page of your worksheet — copy and paste them. They ask Gemini to quiz you, to check your reasoning, and to give feedback on your Gold answer. None of them asks it to write your answer, because that would teach you nothing and I would spot it in about four seconds. Check everything it says against your own notes.</a:t>
              </a:r>
            </a:p>
          </p:txBody>
        </p:sp>
      </p:grpSp>
      <p:sp>
        <p:nvSpPr>
          <p:cNvPr id="352" name="youdo_rag"/>
          <p:cNvSpPr txBox="1"/>
          <p:nvPr/>
        </p:nvSpPr>
        <p:spPr>
          <a:xfrm>
            <a:off x="502919" y="6350969"/>
            <a:ext cx="11185857"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E2572B"/>
                </a:solidFill>
                <a:latin typeface="Arial"/>
                <a:ea typeface="Arial"/>
                <a:cs typeface="Arial"/>
                <a:sym typeface="Arial"/>
              </a:defRPr>
            </a:lvl1pPr>
          </a:lstStyle>
          <a:p>
            <a:pPr/>
            <a:r>
              <a:t>RAG grid, front page — fill in the "end of lesson" column before you pack away.</a:t>
            </a:r>
          </a:p>
        </p:txBody>
      </p:sp>
    </p:spTree>
  </p:cSld>
  <p:clrMapOvr>
    <a:masterClrMapping/>
  </p:clrMapOvr>
  <mc:AlternateContent xmlns:mc="http://schemas.openxmlformats.org/markup-compatibility/2006">
    <mc:Choice xmlns:p14="http://schemas.microsoft.com/office/powerpoint/2010/main" Requires="p14">
      <p:transition spd="med" advClick="1" p14:dur="1000">
        <p:cover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337"/>
                                        </p:tgtEl>
                                        <p:attrNameLst>
                                          <p:attrName>style.visibility</p:attrName>
                                        </p:attrNameLst>
                                      </p:cBhvr>
                                      <p:to>
                                        <p:strVal val="visible"/>
                                      </p:to>
                                    </p:set>
                                    <p:anim calcmode="lin" valueType="num">
                                      <p:cBhvr>
                                        <p:cTn id="7" dur="500" fill="hold"/>
                                        <p:tgtEl>
                                          <p:spTgt spid="337"/>
                                        </p:tgtEl>
                                        <p:attrNameLst>
                                          <p:attrName>ppt_x</p:attrName>
                                        </p:attrNameLst>
                                      </p:cBhvr>
                                      <p:tavLst>
                                        <p:tav tm="0">
                                          <p:val>
                                            <p:strVal val="#ppt_x"/>
                                          </p:val>
                                        </p:tav>
                                        <p:tav tm="100000">
                                          <p:val>
                                            <p:strVal val="#ppt_x"/>
                                          </p:val>
                                        </p:tav>
                                      </p:tavLst>
                                    </p:anim>
                                    <p:anim calcmode="lin" valueType="num">
                                      <p:cBhvr>
                                        <p:cTn id="8" dur="500" fill="hold"/>
                                        <p:tgtEl>
                                          <p:spTgt spid="3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342"/>
                                        </p:tgtEl>
                                        <p:attrNameLst>
                                          <p:attrName>style.visibility</p:attrName>
                                        </p:attrNameLst>
                                      </p:cBhvr>
                                      <p:to>
                                        <p:strVal val="visible"/>
                                      </p:to>
                                    </p:set>
                                    <p:anim calcmode="lin" valueType="num">
                                      <p:cBhvr>
                                        <p:cTn id="13" dur="500" fill="hold"/>
                                        <p:tgtEl>
                                          <p:spTgt spid="342"/>
                                        </p:tgtEl>
                                        <p:attrNameLst>
                                          <p:attrName>ppt_x</p:attrName>
                                        </p:attrNameLst>
                                      </p:cBhvr>
                                      <p:tavLst>
                                        <p:tav tm="0">
                                          <p:val>
                                            <p:strVal val="#ppt_x"/>
                                          </p:val>
                                        </p:tav>
                                        <p:tav tm="100000">
                                          <p:val>
                                            <p:strVal val="#ppt_x"/>
                                          </p:val>
                                        </p:tav>
                                      </p:tavLst>
                                    </p:anim>
                                    <p:anim calcmode="lin" valueType="num">
                                      <p:cBhvr>
                                        <p:cTn id="14" dur="500" fill="hold"/>
                                        <p:tgtEl>
                                          <p:spTgt spid="3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4" presetID="2" grpId="3" fill="hold">
                                  <p:stCondLst>
                                    <p:cond delay="0"/>
                                  </p:stCondLst>
                                  <p:iterate type="el" backwards="0">
                                    <p:tmAbs val="0"/>
                                  </p:iterate>
                                  <p:childTnLst>
                                    <p:set>
                                      <p:cBhvr>
                                        <p:cTn id="18" fill="hold"/>
                                        <p:tgtEl>
                                          <p:spTgt spid="347"/>
                                        </p:tgtEl>
                                        <p:attrNameLst>
                                          <p:attrName>style.visibility</p:attrName>
                                        </p:attrNameLst>
                                      </p:cBhvr>
                                      <p:to>
                                        <p:strVal val="visible"/>
                                      </p:to>
                                    </p:set>
                                    <p:anim calcmode="lin" valueType="num">
                                      <p:cBhvr>
                                        <p:cTn id="19" dur="500" fill="hold"/>
                                        <p:tgtEl>
                                          <p:spTgt spid="347"/>
                                        </p:tgtEl>
                                        <p:attrNameLst>
                                          <p:attrName>ppt_x</p:attrName>
                                        </p:attrNameLst>
                                      </p:cBhvr>
                                      <p:tavLst>
                                        <p:tav tm="0">
                                          <p:val>
                                            <p:strVal val="#ppt_x"/>
                                          </p:val>
                                        </p:tav>
                                        <p:tav tm="100000">
                                          <p:val>
                                            <p:strVal val="#ppt_x"/>
                                          </p:val>
                                        </p:tav>
                                      </p:tavLst>
                                    </p:anim>
                                    <p:anim calcmode="lin" valueType="num">
                                      <p:cBhvr>
                                        <p:cTn id="20" dur="500" fill="hold"/>
                                        <p:tgtEl>
                                          <p:spTgt spid="34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2" grpId="4" fill="hold">
                                  <p:stCondLst>
                                    <p:cond delay="0"/>
                                  </p:stCondLst>
                                  <p:iterate type="el" backwards="0">
                                    <p:tmAbs val="0"/>
                                  </p:iterate>
                                  <p:childTnLst>
                                    <p:set>
                                      <p:cBhvr>
                                        <p:cTn id="24" fill="hold"/>
                                        <p:tgtEl>
                                          <p:spTgt spid="351"/>
                                        </p:tgtEl>
                                        <p:attrNameLst>
                                          <p:attrName>style.visibility</p:attrName>
                                        </p:attrNameLst>
                                      </p:cBhvr>
                                      <p:to>
                                        <p:strVal val="visible"/>
                                      </p:to>
                                    </p:set>
                                    <p:animEffect filter="wipe(left)" transition="in">
                                      <p:cBhvr>
                                        <p:cTn id="25" dur="65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7" grpId="3"/>
      <p:bldP build="whole" bldLvl="1" animBg="1" rev="0" advAuto="0" spid="351" grpId="4"/>
      <p:bldP build="whole" bldLvl="1" animBg="1" rev="0" advAuto="0" spid="342" grpId="2"/>
      <p:bldP build="whole" bldLvl="1" animBg="1" rev="0" advAuto="0" spid="337"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358" name="phase_pill"/>
          <p:cNvGrpSpPr/>
          <p:nvPr/>
        </p:nvGrpSpPr>
        <p:grpSpPr>
          <a:xfrm>
            <a:off x="502919" y="274320"/>
            <a:ext cx="2432306" cy="347473"/>
            <a:chOff x="0" y="0"/>
            <a:chExt cx="2432304" cy="347472"/>
          </a:xfrm>
        </p:grpSpPr>
        <p:sp>
          <p:nvSpPr>
            <p:cNvPr id="356" name="Rounded Rectangle"/>
            <p:cNvSpPr/>
            <p:nvPr/>
          </p:nvSpPr>
          <p:spPr>
            <a:xfrm>
              <a:off x="0" y="0"/>
              <a:ext cx="2432305"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357" name="REVEAL · 2 MIN"/>
            <p:cNvSpPr txBox="1"/>
            <p:nvPr/>
          </p:nvSpPr>
          <p:spPr>
            <a:xfrm>
              <a:off x="50886" y="99821"/>
              <a:ext cx="23305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REVEAL · 2 MIN</a:t>
              </a:r>
            </a:p>
          </p:txBody>
        </p:sp>
      </p:grpSp>
      <p:sp>
        <p:nvSpPr>
          <p:cNvPr id="359" name="keyword_strip"/>
          <p:cNvSpPr txBox="1"/>
          <p:nvPr/>
        </p:nvSpPr>
        <p:spPr>
          <a:xfrm>
            <a:off x="5836614" y="374141"/>
            <a:ext cx="5852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i="1" sz="1100">
                <a:solidFill>
                  <a:srgbClr val="2E9E6B"/>
                </a:solidFill>
                <a:latin typeface="Arial"/>
                <a:ea typeface="Arial"/>
                <a:cs typeface="Arial"/>
                <a:sym typeface="Arial"/>
              </a:defRPr>
            </a:lvl1pPr>
          </a:lstStyle>
          <a:p>
            <a:pPr/>
            <a:r>
              <a:t>abiotic factor   ·   nutrient</a:t>
            </a:r>
          </a:p>
        </p:txBody>
      </p:sp>
      <p:sp>
        <p:nvSpPr>
          <p:cNvPr id="360"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So — why is the forest gold?</a:t>
            </a:r>
          </a:p>
        </p:txBody>
      </p:sp>
      <p:sp>
        <p:nvSpPr>
          <p:cNvPr id="361"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The answer was option C: something in the ground is different.</a:t>
            </a:r>
          </a:p>
        </p:txBody>
      </p:sp>
      <p:grpSp>
        <p:nvGrpSpPr>
          <p:cNvPr id="366" name="gold0"/>
          <p:cNvGrpSpPr/>
          <p:nvPr/>
        </p:nvGrpSpPr>
        <p:grpSpPr>
          <a:xfrm>
            <a:off x="502919" y="2011679"/>
            <a:ext cx="7894017" cy="859537"/>
            <a:chOff x="0" y="0"/>
            <a:chExt cx="7894015" cy="859536"/>
          </a:xfrm>
        </p:grpSpPr>
        <p:sp>
          <p:nvSpPr>
            <p:cNvPr id="362" name="gold0_bg"/>
            <p:cNvSpPr/>
            <p:nvPr/>
          </p:nvSpPr>
          <p:spPr>
            <a:xfrm>
              <a:off x="0" y="0"/>
              <a:ext cx="7894016" cy="859537"/>
            </a:xfrm>
            <a:prstGeom prst="roundRect">
              <a:avLst>
                <a:gd name="adj" fmla="val 14894"/>
              </a:avLst>
            </a:prstGeom>
            <a:solidFill>
              <a:srgbClr val="FFFFFF"/>
            </a:solidFill>
            <a:ln w="15875" cap="flat">
              <a:solidFill>
                <a:srgbClr val="F0E4C8"/>
              </a:solidFill>
              <a:prstDash val="solid"/>
              <a:round/>
            </a:ln>
            <a:effectLst/>
          </p:spPr>
          <p:txBody>
            <a:bodyPr wrap="square" lIns="45719" tIns="45719" rIns="45719" bIns="45719" numCol="1" anchor="t">
              <a:noAutofit/>
            </a:bodyPr>
            <a:lstStyle/>
            <a:p>
              <a:pPr/>
            </a:p>
          </p:txBody>
        </p:sp>
        <p:sp>
          <p:nvSpPr>
            <p:cNvPr id="363" name="gold0_n"/>
            <p:cNvSpPr txBox="1"/>
            <p:nvPr/>
          </p:nvSpPr>
          <p:spPr>
            <a:xfrm>
              <a:off x="201167" y="277367"/>
              <a:ext cx="45720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100">
                  <a:solidFill>
                    <a:srgbClr val="F5B301"/>
                  </a:solidFill>
                  <a:latin typeface="Georgia"/>
                  <a:ea typeface="Georgia"/>
                  <a:cs typeface="Georgia"/>
                  <a:sym typeface="Georgia"/>
                </a:defRPr>
              </a:lvl1pPr>
            </a:lstStyle>
            <a:p>
              <a:pPr/>
              <a:r>
                <a:t>1</a:t>
              </a:r>
            </a:p>
          </p:txBody>
        </p:sp>
        <p:sp>
          <p:nvSpPr>
            <p:cNvPr id="364" name="gold0_h"/>
            <p:cNvSpPr txBox="1"/>
            <p:nvPr/>
          </p:nvSpPr>
          <p:spPr>
            <a:xfrm>
              <a:off x="768096" y="184772"/>
              <a:ext cx="68881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Tung Prong Thong sits on a sandbank, not deep estuary mud.</a:t>
              </a:r>
            </a:p>
          </p:txBody>
        </p:sp>
        <p:sp>
          <p:nvSpPr>
            <p:cNvPr id="365" name="gold0_b"/>
            <p:cNvSpPr txBox="1"/>
            <p:nvPr/>
          </p:nvSpPr>
          <p:spPr>
            <a:xfrm>
              <a:off x="768096" y="535384"/>
              <a:ext cx="6888176"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The tide reaches it, but it is sandy and low in nutrients.</a:t>
              </a:r>
            </a:p>
          </p:txBody>
        </p:sp>
      </p:grpSp>
      <p:grpSp>
        <p:nvGrpSpPr>
          <p:cNvPr id="371" name="gold1"/>
          <p:cNvGrpSpPr/>
          <p:nvPr/>
        </p:nvGrpSpPr>
        <p:grpSpPr>
          <a:xfrm>
            <a:off x="502919" y="2980944"/>
            <a:ext cx="7894017" cy="859537"/>
            <a:chOff x="0" y="0"/>
            <a:chExt cx="7894015" cy="859536"/>
          </a:xfrm>
        </p:grpSpPr>
        <p:sp>
          <p:nvSpPr>
            <p:cNvPr id="367" name="gold1_bg"/>
            <p:cNvSpPr/>
            <p:nvPr/>
          </p:nvSpPr>
          <p:spPr>
            <a:xfrm>
              <a:off x="0" y="0"/>
              <a:ext cx="7894016" cy="859537"/>
            </a:xfrm>
            <a:prstGeom prst="roundRect">
              <a:avLst>
                <a:gd name="adj" fmla="val 14894"/>
              </a:avLst>
            </a:prstGeom>
            <a:solidFill>
              <a:srgbClr val="FFFFFF"/>
            </a:solidFill>
            <a:ln w="15875" cap="flat">
              <a:solidFill>
                <a:srgbClr val="F0E4C8"/>
              </a:solidFill>
              <a:prstDash val="solid"/>
              <a:round/>
            </a:ln>
            <a:effectLst/>
          </p:spPr>
          <p:txBody>
            <a:bodyPr wrap="square" lIns="45719" tIns="45719" rIns="45719" bIns="45719" numCol="1" anchor="t">
              <a:noAutofit/>
            </a:bodyPr>
            <a:lstStyle/>
            <a:p>
              <a:pPr/>
            </a:p>
          </p:txBody>
        </p:sp>
        <p:sp>
          <p:nvSpPr>
            <p:cNvPr id="368" name="gold1_n"/>
            <p:cNvSpPr txBox="1"/>
            <p:nvPr/>
          </p:nvSpPr>
          <p:spPr>
            <a:xfrm>
              <a:off x="201167" y="277367"/>
              <a:ext cx="45720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100">
                  <a:solidFill>
                    <a:srgbClr val="F5B301"/>
                  </a:solidFill>
                  <a:latin typeface="Georgia"/>
                  <a:ea typeface="Georgia"/>
                  <a:cs typeface="Georgia"/>
                  <a:sym typeface="Georgia"/>
                </a:defRPr>
              </a:lvl1pPr>
            </a:lstStyle>
            <a:p>
              <a:pPr/>
              <a:r>
                <a:t>2</a:t>
              </a:r>
            </a:p>
          </p:txBody>
        </p:sp>
        <p:sp>
          <p:nvSpPr>
            <p:cNvPr id="369" name="gold1_h"/>
            <p:cNvSpPr txBox="1"/>
            <p:nvPr/>
          </p:nvSpPr>
          <p:spPr>
            <a:xfrm>
              <a:off x="768096" y="184772"/>
              <a:ext cx="68881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Sandy ground holds very little nitrogen.</a:t>
              </a:r>
            </a:p>
          </p:txBody>
        </p:sp>
        <p:sp>
          <p:nvSpPr>
            <p:cNvPr id="370" name="gold1_b"/>
            <p:cNvSpPr txBox="1"/>
            <p:nvPr/>
          </p:nvSpPr>
          <p:spPr>
            <a:xfrm>
              <a:off x="768096" y="535384"/>
              <a:ext cx="6888176"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Nitrogen is an abiotic factor. It is a nutrient in the soil.</a:t>
              </a:r>
            </a:p>
          </p:txBody>
        </p:sp>
      </p:grpSp>
      <p:grpSp>
        <p:nvGrpSpPr>
          <p:cNvPr id="376" name="gold2"/>
          <p:cNvGrpSpPr/>
          <p:nvPr/>
        </p:nvGrpSpPr>
        <p:grpSpPr>
          <a:xfrm>
            <a:off x="502919" y="3950208"/>
            <a:ext cx="7894017" cy="859537"/>
            <a:chOff x="0" y="0"/>
            <a:chExt cx="7894015" cy="859536"/>
          </a:xfrm>
        </p:grpSpPr>
        <p:sp>
          <p:nvSpPr>
            <p:cNvPr id="372" name="gold2_bg"/>
            <p:cNvSpPr/>
            <p:nvPr/>
          </p:nvSpPr>
          <p:spPr>
            <a:xfrm>
              <a:off x="0" y="0"/>
              <a:ext cx="7894016" cy="859537"/>
            </a:xfrm>
            <a:prstGeom prst="roundRect">
              <a:avLst>
                <a:gd name="adj" fmla="val 14894"/>
              </a:avLst>
            </a:prstGeom>
            <a:solidFill>
              <a:srgbClr val="FFFFFF"/>
            </a:solidFill>
            <a:ln w="15875" cap="flat">
              <a:solidFill>
                <a:srgbClr val="F0E4C8"/>
              </a:solidFill>
              <a:prstDash val="solid"/>
              <a:round/>
            </a:ln>
            <a:effectLst/>
          </p:spPr>
          <p:txBody>
            <a:bodyPr wrap="square" lIns="45719" tIns="45719" rIns="45719" bIns="45719" numCol="1" anchor="t">
              <a:noAutofit/>
            </a:bodyPr>
            <a:lstStyle/>
            <a:p>
              <a:pPr/>
            </a:p>
          </p:txBody>
        </p:sp>
        <p:sp>
          <p:nvSpPr>
            <p:cNvPr id="373" name="gold2_n"/>
            <p:cNvSpPr txBox="1"/>
            <p:nvPr/>
          </p:nvSpPr>
          <p:spPr>
            <a:xfrm>
              <a:off x="201167" y="277367"/>
              <a:ext cx="45720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100">
                  <a:solidFill>
                    <a:srgbClr val="F5B301"/>
                  </a:solidFill>
                  <a:latin typeface="Georgia"/>
                  <a:ea typeface="Georgia"/>
                  <a:cs typeface="Georgia"/>
                  <a:sym typeface="Georgia"/>
                </a:defRPr>
              </a:lvl1pPr>
            </a:lstStyle>
            <a:p>
              <a:pPr/>
              <a:r>
                <a:t>3</a:t>
              </a:r>
            </a:p>
          </p:txBody>
        </p:sp>
        <p:sp>
          <p:nvSpPr>
            <p:cNvPr id="374" name="gold2_h"/>
            <p:cNvSpPr txBox="1"/>
            <p:nvPr/>
          </p:nvSpPr>
          <p:spPr>
            <a:xfrm>
              <a:off x="768096" y="184772"/>
              <a:ext cx="68881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Without enough nitrogen, a plant cannot build enough chlorophyll.</a:t>
              </a:r>
            </a:p>
          </p:txBody>
        </p:sp>
        <p:sp>
          <p:nvSpPr>
            <p:cNvPr id="375" name="gold2_b"/>
            <p:cNvSpPr txBox="1"/>
            <p:nvPr/>
          </p:nvSpPr>
          <p:spPr>
            <a:xfrm>
              <a:off x="768096" y="535384"/>
              <a:ext cx="6888176"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Chlorophyll is the green pigment. Less chlorophyll, less green.</a:t>
              </a:r>
            </a:p>
          </p:txBody>
        </p:sp>
      </p:grpSp>
      <p:grpSp>
        <p:nvGrpSpPr>
          <p:cNvPr id="381" name="gold3"/>
          <p:cNvGrpSpPr/>
          <p:nvPr/>
        </p:nvGrpSpPr>
        <p:grpSpPr>
          <a:xfrm>
            <a:off x="502919" y="4919471"/>
            <a:ext cx="7894017" cy="859537"/>
            <a:chOff x="0" y="0"/>
            <a:chExt cx="7894015" cy="859536"/>
          </a:xfrm>
        </p:grpSpPr>
        <p:sp>
          <p:nvSpPr>
            <p:cNvPr id="377" name="gold3_bg"/>
            <p:cNvSpPr/>
            <p:nvPr/>
          </p:nvSpPr>
          <p:spPr>
            <a:xfrm>
              <a:off x="0" y="0"/>
              <a:ext cx="7894016" cy="859537"/>
            </a:xfrm>
            <a:prstGeom prst="roundRect">
              <a:avLst>
                <a:gd name="adj" fmla="val 14894"/>
              </a:avLst>
            </a:prstGeom>
            <a:solidFill>
              <a:srgbClr val="FFFFFF"/>
            </a:solidFill>
            <a:ln w="15875" cap="flat">
              <a:solidFill>
                <a:srgbClr val="F0E4C8"/>
              </a:solidFill>
              <a:prstDash val="solid"/>
              <a:round/>
            </a:ln>
            <a:effectLst/>
          </p:spPr>
          <p:txBody>
            <a:bodyPr wrap="square" lIns="45719" tIns="45719" rIns="45719" bIns="45719" numCol="1" anchor="t">
              <a:noAutofit/>
            </a:bodyPr>
            <a:lstStyle/>
            <a:p>
              <a:pPr/>
            </a:p>
          </p:txBody>
        </p:sp>
        <p:sp>
          <p:nvSpPr>
            <p:cNvPr id="378" name="gold3_n"/>
            <p:cNvSpPr txBox="1"/>
            <p:nvPr/>
          </p:nvSpPr>
          <p:spPr>
            <a:xfrm>
              <a:off x="201167" y="277367"/>
              <a:ext cx="45720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100">
                  <a:solidFill>
                    <a:srgbClr val="F5B301"/>
                  </a:solidFill>
                  <a:latin typeface="Georgia"/>
                  <a:ea typeface="Georgia"/>
                  <a:cs typeface="Georgia"/>
                  <a:sym typeface="Georgia"/>
                </a:defRPr>
              </a:lvl1pPr>
            </a:lstStyle>
            <a:p>
              <a:pPr/>
              <a:r>
                <a:t>4</a:t>
              </a:r>
            </a:p>
          </p:txBody>
        </p:sp>
        <p:sp>
          <p:nvSpPr>
            <p:cNvPr id="379" name="gold3_h"/>
            <p:cNvSpPr txBox="1"/>
            <p:nvPr/>
          </p:nvSpPr>
          <p:spPr>
            <a:xfrm>
              <a:off x="768096" y="184772"/>
              <a:ext cx="68881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400">
                  <a:solidFill>
                    <a:srgbClr val="0E3A3F"/>
                  </a:solidFill>
                  <a:latin typeface="Arial"/>
                  <a:ea typeface="Arial"/>
                  <a:cs typeface="Arial"/>
                  <a:sym typeface="Arial"/>
                </a:defRPr>
              </a:lvl1pPr>
            </a:lstStyle>
            <a:p>
              <a:pPr/>
              <a:r>
                <a:t>So the leaves stay gold and the trees stay short.</a:t>
              </a:r>
            </a:p>
          </p:txBody>
        </p:sp>
        <p:sp>
          <p:nvSpPr>
            <p:cNvPr id="380" name="gold3_b"/>
            <p:cNvSpPr txBox="1"/>
            <p:nvPr/>
          </p:nvSpPr>
          <p:spPr>
            <a:xfrm>
              <a:off x="768096" y="535384"/>
              <a:ext cx="6888176"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A6165"/>
                  </a:solidFill>
                  <a:latin typeface="Arial"/>
                  <a:ea typeface="Arial"/>
                  <a:cs typeface="Arial"/>
                  <a:sym typeface="Arial"/>
                </a:defRPr>
              </a:lvl1pPr>
            </a:lstStyle>
            <a:p>
              <a:pPr/>
              <a:r>
                <a:t>One abiotic factor, and you can see the result from a hundred metres away.</a:t>
              </a:r>
            </a:p>
          </p:txBody>
        </p:sp>
      </p:grpSp>
      <p:grpSp>
        <p:nvGrpSpPr>
          <p:cNvPr id="385" name="gold_src"/>
          <p:cNvGrpSpPr/>
          <p:nvPr/>
        </p:nvGrpSpPr>
        <p:grpSpPr>
          <a:xfrm>
            <a:off x="8625534" y="2011679"/>
            <a:ext cx="3063241" cy="3675889"/>
            <a:chOff x="0" y="0"/>
            <a:chExt cx="3063239" cy="3675888"/>
          </a:xfrm>
        </p:grpSpPr>
        <p:sp>
          <p:nvSpPr>
            <p:cNvPr id="382" name="gold_src_bg"/>
            <p:cNvSpPr/>
            <p:nvPr/>
          </p:nvSpPr>
          <p:spPr>
            <a:xfrm>
              <a:off x="0" y="0"/>
              <a:ext cx="3063240" cy="3675889"/>
            </a:xfrm>
            <a:prstGeom prst="roundRect">
              <a:avLst>
                <a:gd name="adj" fmla="val 4179"/>
              </a:avLst>
            </a:prstGeom>
            <a:solidFill>
              <a:srgbClr val="FFF4D4"/>
            </a:solidFill>
            <a:ln w="15875" cap="flat">
              <a:solidFill>
                <a:srgbClr val="F5B301"/>
              </a:solidFill>
              <a:prstDash val="solid"/>
              <a:round/>
            </a:ln>
            <a:effectLst/>
          </p:spPr>
          <p:txBody>
            <a:bodyPr wrap="square" lIns="45719" tIns="45719" rIns="45719" bIns="45719" numCol="1" anchor="t">
              <a:noAutofit/>
            </a:bodyPr>
            <a:lstStyle/>
            <a:p>
              <a:pPr/>
            </a:p>
          </p:txBody>
        </p:sp>
        <p:sp>
          <p:nvSpPr>
            <p:cNvPr id="383" name="gold_src_h"/>
            <p:cNvSpPr txBox="1"/>
            <p:nvPr/>
          </p:nvSpPr>
          <p:spPr>
            <a:xfrm>
              <a:off x="201167" y="255269"/>
              <a:ext cx="266090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1100">
                  <a:solidFill>
                    <a:srgbClr val="F5B301"/>
                  </a:solidFill>
                  <a:latin typeface="Arial"/>
                  <a:ea typeface="Arial"/>
                  <a:cs typeface="Arial"/>
                  <a:sym typeface="Arial"/>
                </a:defRPr>
              </a:lvl1pPr>
            </a:lstStyle>
            <a:p>
              <a:pPr/>
              <a:r>
                <a:t>WHO SAYS SO</a:t>
              </a:r>
            </a:p>
          </p:txBody>
        </p:sp>
        <p:sp>
          <p:nvSpPr>
            <p:cNvPr id="384" name="gold_src_b"/>
            <p:cNvSpPr txBox="1"/>
            <p:nvPr/>
          </p:nvSpPr>
          <p:spPr>
            <a:xfrm>
              <a:off x="201167" y="530351"/>
              <a:ext cx="2660905" cy="27958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defRPr sz="1200">
                  <a:solidFill>
                    <a:srgbClr val="14282B"/>
                  </a:solidFill>
                  <a:latin typeface="Arial"/>
                  <a:ea typeface="Arial"/>
                  <a:cs typeface="Arial"/>
                  <a:sym typeface="Arial"/>
                </a:defRPr>
              </a:pPr>
              <a:r>
                <a:t>Assoc. Prof. Dr Kitichate Sridith, a plant scientist at Prince of Songkla University, explained in 2023 that the prong trees at Tung Prong Thong are stunted and yellow because the sandbank leaves them short of nitrogen. Plant-science textbooks agree: nitrogen shortage blocks chlorophyll production, so leaves go pale and growth slows.</a:t>
              </a:r>
            </a:p>
            <a:p>
              <a:pPr>
                <a:lnSpc>
                  <a:spcPts val="1700"/>
                </a:lnSpc>
                <a:defRPr sz="1200"/>
              </a:pPr>
            </a:p>
            <a:p>
              <a:pPr>
                <a:lnSpc>
                  <a:spcPts val="1700"/>
                </a:lnSpc>
                <a:defRPr sz="1200">
                  <a:solidFill>
                    <a:srgbClr val="14282B"/>
                  </a:solidFill>
                  <a:latin typeface="Arial"/>
                  <a:ea typeface="Arial"/>
                  <a:cs typeface="Arial"/>
                  <a:sym typeface="Arial"/>
                </a:defRPr>
              </a:pPr>
              <a:r>
                <a:t>Same species. Same sun. Different ground.</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366"/>
                                        </p:tgtEl>
                                        <p:attrNameLst>
                                          <p:attrName>style.visibility</p:attrName>
                                        </p:attrNameLst>
                                      </p:cBhvr>
                                      <p:to>
                                        <p:strVal val="visible"/>
                                      </p:to>
                                    </p:set>
                                    <p:animEffect filter="wipe(left)" transition="in">
                                      <p:cBhvr>
                                        <p:cTn id="7" dur="500"/>
                                        <p:tgtEl>
                                          <p:spTgt spid="36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371"/>
                                        </p:tgtEl>
                                        <p:attrNameLst>
                                          <p:attrName>style.visibility</p:attrName>
                                        </p:attrNameLst>
                                      </p:cBhvr>
                                      <p:to>
                                        <p:strVal val="visible"/>
                                      </p:to>
                                    </p:set>
                                    <p:animEffect filter="wipe(left)" transition="in">
                                      <p:cBhvr>
                                        <p:cTn id="12" dur="500"/>
                                        <p:tgtEl>
                                          <p:spTgt spid="37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376"/>
                                        </p:tgtEl>
                                        <p:attrNameLst>
                                          <p:attrName>style.visibility</p:attrName>
                                        </p:attrNameLst>
                                      </p:cBhvr>
                                      <p:to>
                                        <p:strVal val="visible"/>
                                      </p:to>
                                    </p:set>
                                    <p:animEffect filter="wipe(left)" transition="in">
                                      <p:cBhvr>
                                        <p:cTn id="17" dur="500"/>
                                        <p:tgtEl>
                                          <p:spTgt spid="376"/>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381"/>
                                        </p:tgtEl>
                                        <p:attrNameLst>
                                          <p:attrName>style.visibility</p:attrName>
                                        </p:attrNameLst>
                                      </p:cBhvr>
                                      <p:to>
                                        <p:strVal val="visible"/>
                                      </p:to>
                                    </p:set>
                                    <p:animEffect filter="wipe(left)" transition="in">
                                      <p:cBhvr>
                                        <p:cTn id="22" dur="700"/>
                                        <p:tgtEl>
                                          <p:spTgt spid="38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85"/>
                                        </p:tgtEl>
                                        <p:attrNameLst>
                                          <p:attrName>style.visibility</p:attrName>
                                        </p:attrNameLst>
                                      </p:cBhvr>
                                      <p:to>
                                        <p:strVal val="visible"/>
                                      </p:to>
                                    </p:set>
                                    <p:anim calcmode="lin" valueType="num">
                                      <p:cBhvr>
                                        <p:cTn id="27" dur="650" fill="hold"/>
                                        <p:tgtEl>
                                          <p:spTgt spid="385"/>
                                        </p:tgtEl>
                                        <p:attrNameLst>
                                          <p:attrName>ppt_w</p:attrName>
                                        </p:attrNameLst>
                                      </p:cBhvr>
                                      <p:tavLst>
                                        <p:tav tm="0">
                                          <p:val>
                                            <p:fltVal val="0"/>
                                          </p:val>
                                        </p:tav>
                                        <p:tav tm="100000">
                                          <p:val>
                                            <p:strVal val="#ppt_w"/>
                                          </p:val>
                                        </p:tav>
                                      </p:tavLst>
                                    </p:anim>
                                    <p:anim calcmode="lin" valueType="num">
                                      <p:cBhvr>
                                        <p:cTn id="28" dur="650" fill="hold"/>
                                        <p:tgtEl>
                                          <p:spTgt spid="38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5" grpId="5"/>
      <p:bldP build="whole" bldLvl="1" animBg="1" rev="0" advAuto="0" spid="366" grpId="1"/>
      <p:bldP build="whole" bldLvl="1" animBg="1" rev="0" advAuto="0" spid="376" grpId="3"/>
      <p:bldP build="whole" bldLvl="1" animBg="1" rev="0" advAuto="0" spid="381" grpId="4"/>
      <p:bldP build="whole" bldLvl="1" animBg="1" rev="0" advAuto="0" spid="371" grpId="2"/>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4E6"/>
        </a:solidFill>
      </p:bgPr>
    </p:bg>
    <p:spTree>
      <p:nvGrpSpPr>
        <p:cNvPr id="1" name=""/>
        <p:cNvGrpSpPr/>
        <p:nvPr/>
      </p:nvGrpSpPr>
      <p:grpSpPr>
        <a:xfrm>
          <a:off x="0" y="0"/>
          <a:ext cx="0" cy="0"/>
          <a:chOff x="0" y="0"/>
          <a:chExt cx="0" cy="0"/>
        </a:xfrm>
      </p:grpSpPr>
      <p:grpSp>
        <p:nvGrpSpPr>
          <p:cNvPr id="391" name="phase_pill"/>
          <p:cNvGrpSpPr/>
          <p:nvPr/>
        </p:nvGrpSpPr>
        <p:grpSpPr>
          <a:xfrm>
            <a:off x="502919" y="274320"/>
            <a:ext cx="2578609" cy="347473"/>
            <a:chOff x="0" y="0"/>
            <a:chExt cx="2578607" cy="347472"/>
          </a:xfrm>
        </p:grpSpPr>
        <p:sp>
          <p:nvSpPr>
            <p:cNvPr id="389" name="Rounded Rectangle"/>
            <p:cNvSpPr/>
            <p:nvPr/>
          </p:nvSpPr>
          <p:spPr>
            <a:xfrm>
              <a:off x="0" y="0"/>
              <a:ext cx="2578608" cy="347473"/>
            </a:xfrm>
            <a:prstGeom prst="roundRect">
              <a:avLst>
                <a:gd name="adj" fmla="val 50000"/>
              </a:avLst>
            </a:prstGeom>
            <a:solidFill>
              <a:srgbClr val="0E3A3F"/>
            </a:solidFill>
            <a:ln w="12700" cap="flat">
              <a:noFill/>
              <a:miter lim="400000"/>
            </a:ln>
            <a:effectLst/>
          </p:spPr>
          <p:txBody>
            <a:bodyPr wrap="square" lIns="45719" tIns="45719" rIns="45719" bIns="45719" numCol="1" anchor="ctr">
              <a:noAutofit/>
            </a:bodyPr>
            <a:lstStyle/>
            <a:p>
              <a:pPr algn="ctr">
                <a:defRPr sz="1100"/>
              </a:pPr>
            </a:p>
          </p:txBody>
        </p:sp>
        <p:sp>
          <p:nvSpPr>
            <p:cNvPr id="390" name="CONTEXT · 1 MIN"/>
            <p:cNvSpPr txBox="1"/>
            <p:nvPr/>
          </p:nvSpPr>
          <p:spPr>
            <a:xfrm>
              <a:off x="50886" y="99821"/>
              <a:ext cx="24768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AF4E6"/>
                  </a:solidFill>
                  <a:latin typeface="Arial"/>
                  <a:ea typeface="Arial"/>
                  <a:cs typeface="Arial"/>
                  <a:sym typeface="Arial"/>
                </a:defRPr>
              </a:lvl1pPr>
            </a:lstStyle>
            <a:p>
              <a:pPr/>
              <a:r>
                <a:t>CONTEXT · 1 MIN</a:t>
              </a:r>
            </a:p>
          </p:txBody>
        </p:sp>
      </p:grpSp>
      <p:sp>
        <p:nvSpPr>
          <p:cNvPr id="392"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E3A3F"/>
                </a:solidFill>
                <a:latin typeface="Georgia"/>
                <a:ea typeface="Georgia"/>
                <a:cs typeface="Georgia"/>
                <a:sym typeface="Georgia"/>
              </a:defRPr>
            </a:lvl1pPr>
          </a:lstStyle>
          <a:p>
            <a:pPr/>
            <a:r>
              <a:t>One man, one estuary, thirty years</a:t>
            </a:r>
          </a:p>
        </p:txBody>
      </p:sp>
      <p:sp>
        <p:nvSpPr>
          <p:cNvPr id="393"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4A6165"/>
                </a:solidFill>
                <a:latin typeface="Arial"/>
                <a:ea typeface="Arial"/>
                <a:cs typeface="Arial"/>
                <a:sym typeface="Arial"/>
              </a:defRPr>
            </a:lvl1pPr>
          </a:lstStyle>
          <a:p>
            <a:pPr/>
            <a:r>
              <a:t>Chalome Wongthim · Pak Nam Prasae, Klaeng District, Rayong</a:t>
            </a:r>
          </a:p>
        </p:txBody>
      </p:sp>
      <p:grpSp>
        <p:nvGrpSpPr>
          <p:cNvPr id="397" name="case0"/>
          <p:cNvGrpSpPr/>
          <p:nvPr/>
        </p:nvGrpSpPr>
        <p:grpSpPr>
          <a:xfrm>
            <a:off x="502919" y="2084832"/>
            <a:ext cx="2645590" cy="3017521"/>
            <a:chOff x="0" y="0"/>
            <a:chExt cx="2645588" cy="3017520"/>
          </a:xfrm>
        </p:grpSpPr>
        <p:sp>
          <p:nvSpPr>
            <p:cNvPr id="394" name="case0_bg"/>
            <p:cNvSpPr/>
            <p:nvPr/>
          </p:nvSpPr>
          <p:spPr>
            <a:xfrm>
              <a:off x="-1" y="0"/>
              <a:ext cx="2645590" cy="3017521"/>
            </a:xfrm>
            <a:prstGeom prst="roundRect">
              <a:avLst>
                <a:gd name="adj" fmla="val 4839"/>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395" name="case0_y"/>
            <p:cNvSpPr txBox="1"/>
            <p:nvPr/>
          </p:nvSpPr>
          <p:spPr>
            <a:xfrm>
              <a:off x="201167" y="259842"/>
              <a:ext cx="224325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F5B301"/>
                  </a:solidFill>
                  <a:latin typeface="Georgia"/>
                  <a:ea typeface="Georgia"/>
                  <a:cs typeface="Georgia"/>
                  <a:sym typeface="Georgia"/>
                </a:defRPr>
              </a:lvl1pPr>
            </a:lstStyle>
            <a:p>
              <a:pPr/>
              <a:r>
                <a:t>Before 1994</a:t>
              </a:r>
            </a:p>
          </p:txBody>
        </p:sp>
        <p:sp>
          <p:nvSpPr>
            <p:cNvPr id="396" name="case0_b"/>
            <p:cNvSpPr txBox="1"/>
            <p:nvPr/>
          </p:nvSpPr>
          <p:spPr>
            <a:xfrm>
              <a:off x="201167" y="676656"/>
              <a:ext cx="2243253" cy="12845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14282B"/>
                  </a:solidFill>
                  <a:latin typeface="Arial"/>
                  <a:ea typeface="Arial"/>
                  <a:cs typeface="Arial"/>
                  <a:sym typeface="Arial"/>
                </a:defRPr>
              </a:lvl1pPr>
            </a:lstStyle>
            <a:p>
              <a:pPr/>
              <a:r>
                <a:t>The mangrove is down to stumps. Charcoal burning, firewood cutting and shrimp ponds have taken most of it. Crabs, shellfish and fish are getting hard to find.</a:t>
              </a:r>
            </a:p>
          </p:txBody>
        </p:sp>
      </p:grpSp>
      <p:grpSp>
        <p:nvGrpSpPr>
          <p:cNvPr id="402" name="case1"/>
          <p:cNvGrpSpPr/>
          <p:nvPr/>
        </p:nvGrpSpPr>
        <p:grpSpPr>
          <a:xfrm>
            <a:off x="3166796" y="2084832"/>
            <a:ext cx="2828469" cy="3017521"/>
            <a:chOff x="0" y="0"/>
            <a:chExt cx="2828468" cy="3017520"/>
          </a:xfrm>
        </p:grpSpPr>
        <p:sp>
          <p:nvSpPr>
            <p:cNvPr id="398" name="case_arrow0"/>
            <p:cNvSpPr/>
            <p:nvPr/>
          </p:nvSpPr>
          <p:spPr>
            <a:xfrm>
              <a:off x="0" y="1353312"/>
              <a:ext cx="164593" cy="274321"/>
            </a:xfrm>
            <a:prstGeom prst="rightArrow">
              <a:avLst>
                <a:gd name="adj1" fmla="val 50000"/>
                <a:gd name="adj2" fmla="val 50000"/>
              </a:avLst>
            </a:prstGeom>
            <a:solidFill>
              <a:srgbClr val="F0E4C8"/>
            </a:solidFill>
            <a:ln w="12700" cap="flat">
              <a:solidFill>
                <a:srgbClr val="F0E4C8"/>
              </a:solidFill>
              <a:prstDash val="solid"/>
              <a:round/>
            </a:ln>
            <a:effectLst/>
          </p:spPr>
          <p:txBody>
            <a:bodyPr wrap="square" lIns="45719" tIns="45719" rIns="45719" bIns="45719" numCol="1" anchor="t">
              <a:noAutofit/>
            </a:bodyPr>
            <a:lstStyle/>
            <a:p>
              <a:pPr/>
            </a:p>
          </p:txBody>
        </p:sp>
        <p:sp>
          <p:nvSpPr>
            <p:cNvPr id="399" name="case1_bg"/>
            <p:cNvSpPr/>
            <p:nvPr/>
          </p:nvSpPr>
          <p:spPr>
            <a:xfrm>
              <a:off x="182879" y="0"/>
              <a:ext cx="2645590" cy="3017521"/>
            </a:xfrm>
            <a:prstGeom prst="roundRect">
              <a:avLst>
                <a:gd name="adj" fmla="val 4839"/>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400" name="case1_y"/>
            <p:cNvSpPr txBox="1"/>
            <p:nvPr/>
          </p:nvSpPr>
          <p:spPr>
            <a:xfrm>
              <a:off x="384047" y="221742"/>
              <a:ext cx="2243254"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5B301"/>
                  </a:solidFill>
                  <a:latin typeface="Georgia"/>
                  <a:ea typeface="Georgia"/>
                  <a:cs typeface="Georgia"/>
                  <a:sym typeface="Georgia"/>
                </a:defRPr>
              </a:lvl1pPr>
            </a:lstStyle>
            <a:p>
              <a:pPr/>
              <a:r>
                <a:t>1994</a:t>
              </a:r>
            </a:p>
          </p:txBody>
        </p:sp>
        <p:sp>
          <p:nvSpPr>
            <p:cNvPr id="401" name="case1_b"/>
            <p:cNvSpPr txBox="1"/>
            <p:nvPr/>
          </p:nvSpPr>
          <p:spPr>
            <a:xfrm>
              <a:off x="384047" y="676656"/>
              <a:ext cx="2243254" cy="10686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14282B"/>
                  </a:solidFill>
                  <a:latin typeface="Arial"/>
                  <a:ea typeface="Arial"/>
                  <a:cs typeface="Arial"/>
                  <a:sym typeface="Arial"/>
                </a:defRPr>
              </a:lvl1pPr>
            </a:lstStyle>
            <a:p>
              <a:pPr/>
              <a:r>
                <a:t>Chalome — himself a former woodcutter — finds that seedlings pushed into the mud sprout green leaves in about a month. He starts planting, alone.</a:t>
              </a:r>
            </a:p>
          </p:txBody>
        </p:sp>
      </p:grpSp>
      <p:grpSp>
        <p:nvGrpSpPr>
          <p:cNvPr id="407" name="case2"/>
          <p:cNvGrpSpPr/>
          <p:nvPr/>
        </p:nvGrpSpPr>
        <p:grpSpPr>
          <a:xfrm>
            <a:off x="6013551" y="2084832"/>
            <a:ext cx="2828470" cy="3017521"/>
            <a:chOff x="0" y="0"/>
            <a:chExt cx="2828468" cy="3017520"/>
          </a:xfrm>
        </p:grpSpPr>
        <p:sp>
          <p:nvSpPr>
            <p:cNvPr id="403" name="case_arrow1"/>
            <p:cNvSpPr/>
            <p:nvPr/>
          </p:nvSpPr>
          <p:spPr>
            <a:xfrm>
              <a:off x="0" y="1353312"/>
              <a:ext cx="164593" cy="274321"/>
            </a:xfrm>
            <a:prstGeom prst="rightArrow">
              <a:avLst>
                <a:gd name="adj1" fmla="val 50000"/>
                <a:gd name="adj2" fmla="val 50000"/>
              </a:avLst>
            </a:prstGeom>
            <a:solidFill>
              <a:srgbClr val="F0E4C8"/>
            </a:solidFill>
            <a:ln w="12700" cap="flat">
              <a:solidFill>
                <a:srgbClr val="F0E4C8"/>
              </a:solidFill>
              <a:prstDash val="solid"/>
              <a:round/>
            </a:ln>
            <a:effectLst/>
          </p:spPr>
          <p:txBody>
            <a:bodyPr wrap="square" lIns="45719" tIns="45719" rIns="45719" bIns="45719" numCol="1" anchor="t">
              <a:noAutofit/>
            </a:bodyPr>
            <a:lstStyle/>
            <a:p>
              <a:pPr/>
            </a:p>
          </p:txBody>
        </p:sp>
        <p:sp>
          <p:nvSpPr>
            <p:cNvPr id="404" name="case2_bg"/>
            <p:cNvSpPr/>
            <p:nvPr/>
          </p:nvSpPr>
          <p:spPr>
            <a:xfrm>
              <a:off x="182879" y="0"/>
              <a:ext cx="2645590" cy="3017521"/>
            </a:xfrm>
            <a:prstGeom prst="roundRect">
              <a:avLst>
                <a:gd name="adj" fmla="val 4839"/>
              </a:avLst>
            </a:prstGeom>
            <a:solidFill>
              <a:srgbClr val="FFFFFF"/>
            </a:solidFill>
            <a:ln w="15240" cap="flat">
              <a:solidFill>
                <a:srgbClr val="F0E4C8"/>
              </a:solidFill>
              <a:prstDash val="solid"/>
              <a:round/>
            </a:ln>
            <a:effectLst/>
          </p:spPr>
          <p:txBody>
            <a:bodyPr wrap="square" lIns="45719" tIns="45719" rIns="45719" bIns="45719" numCol="1" anchor="t">
              <a:noAutofit/>
            </a:bodyPr>
            <a:lstStyle/>
            <a:p>
              <a:pPr/>
            </a:p>
          </p:txBody>
        </p:sp>
        <p:sp>
          <p:nvSpPr>
            <p:cNvPr id="405" name="case2_y"/>
            <p:cNvSpPr txBox="1"/>
            <p:nvPr/>
          </p:nvSpPr>
          <p:spPr>
            <a:xfrm>
              <a:off x="384047" y="221742"/>
              <a:ext cx="2243254"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5B301"/>
                  </a:solidFill>
                  <a:latin typeface="Georgia"/>
                  <a:ea typeface="Georgia"/>
                  <a:cs typeface="Georgia"/>
                  <a:sym typeface="Georgia"/>
                </a:defRPr>
              </a:lvl1pPr>
            </a:lstStyle>
            <a:p>
              <a:pPr/>
              <a:r>
                <a:t>2000</a:t>
              </a:r>
            </a:p>
          </p:txBody>
        </p:sp>
        <p:sp>
          <p:nvSpPr>
            <p:cNvPr id="406" name="case2_b"/>
            <p:cNvSpPr txBox="1"/>
            <p:nvPr/>
          </p:nvSpPr>
          <p:spPr>
            <a:xfrm>
              <a:off x="384047" y="676656"/>
              <a:ext cx="2243254" cy="10686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14282B"/>
                  </a:solidFill>
                  <a:latin typeface="Arial"/>
                  <a:ea typeface="Arial"/>
                  <a:cs typeface="Arial"/>
                  <a:sym typeface="Arial"/>
                </a:defRPr>
              </a:lvl1pPr>
            </a:lstStyle>
            <a:p>
              <a:pPr/>
              <a:r>
                <a:t>Now community leader, he persuades the village to build a boardwalk. He and more than 35 villagers replant the public land at Tung Prong Thong.</a:t>
              </a:r>
            </a:p>
          </p:txBody>
        </p:sp>
      </p:grpSp>
      <p:grpSp>
        <p:nvGrpSpPr>
          <p:cNvPr id="412" name="case3"/>
          <p:cNvGrpSpPr/>
          <p:nvPr/>
        </p:nvGrpSpPr>
        <p:grpSpPr>
          <a:xfrm>
            <a:off x="8860307" y="2084832"/>
            <a:ext cx="2828469" cy="3017521"/>
            <a:chOff x="0" y="0"/>
            <a:chExt cx="2828468" cy="3017520"/>
          </a:xfrm>
        </p:grpSpPr>
        <p:sp>
          <p:nvSpPr>
            <p:cNvPr id="408" name="case_arrow2"/>
            <p:cNvSpPr/>
            <p:nvPr/>
          </p:nvSpPr>
          <p:spPr>
            <a:xfrm>
              <a:off x="0" y="1353312"/>
              <a:ext cx="164593" cy="274321"/>
            </a:xfrm>
            <a:prstGeom prst="rightArrow">
              <a:avLst>
                <a:gd name="adj1" fmla="val 50000"/>
                <a:gd name="adj2" fmla="val 50000"/>
              </a:avLst>
            </a:prstGeom>
            <a:solidFill>
              <a:srgbClr val="F0E4C8"/>
            </a:solidFill>
            <a:ln w="12700" cap="flat">
              <a:solidFill>
                <a:srgbClr val="F0E4C8"/>
              </a:solidFill>
              <a:prstDash val="solid"/>
              <a:round/>
            </a:ln>
            <a:effectLst/>
          </p:spPr>
          <p:txBody>
            <a:bodyPr wrap="square" lIns="45719" tIns="45719" rIns="45719" bIns="45719" numCol="1" anchor="t">
              <a:noAutofit/>
            </a:bodyPr>
            <a:lstStyle/>
            <a:p>
              <a:pPr/>
            </a:p>
          </p:txBody>
        </p:sp>
        <p:sp>
          <p:nvSpPr>
            <p:cNvPr id="409" name="case3_bg"/>
            <p:cNvSpPr/>
            <p:nvPr/>
          </p:nvSpPr>
          <p:spPr>
            <a:xfrm>
              <a:off x="182879" y="0"/>
              <a:ext cx="2645590" cy="3017521"/>
            </a:xfrm>
            <a:prstGeom prst="roundRect">
              <a:avLst>
                <a:gd name="adj" fmla="val 4839"/>
              </a:avLst>
            </a:prstGeom>
            <a:solidFill>
              <a:srgbClr val="FFFFFF"/>
            </a:solidFill>
            <a:ln w="22860" cap="flat">
              <a:solidFill>
                <a:srgbClr val="2E9E6B"/>
              </a:solidFill>
              <a:prstDash val="solid"/>
              <a:round/>
            </a:ln>
            <a:effectLst/>
          </p:spPr>
          <p:txBody>
            <a:bodyPr wrap="square" lIns="45719" tIns="45719" rIns="45719" bIns="45719" numCol="1" anchor="t">
              <a:noAutofit/>
            </a:bodyPr>
            <a:lstStyle/>
            <a:p>
              <a:pPr/>
            </a:p>
          </p:txBody>
        </p:sp>
        <p:sp>
          <p:nvSpPr>
            <p:cNvPr id="410" name="case3_y"/>
            <p:cNvSpPr txBox="1"/>
            <p:nvPr/>
          </p:nvSpPr>
          <p:spPr>
            <a:xfrm>
              <a:off x="384047" y="221742"/>
              <a:ext cx="2243254"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2E9E6B"/>
                  </a:solidFill>
                  <a:latin typeface="Georgia"/>
                  <a:ea typeface="Georgia"/>
                  <a:cs typeface="Georgia"/>
                  <a:sym typeface="Georgia"/>
                </a:defRPr>
              </a:lvl1pPr>
            </a:lstStyle>
            <a:p>
              <a:pPr/>
              <a:r>
                <a:t>Today</a:t>
              </a:r>
            </a:p>
          </p:txBody>
        </p:sp>
        <p:sp>
          <p:nvSpPr>
            <p:cNvPr id="411" name="case3_b"/>
            <p:cNvSpPr txBox="1"/>
            <p:nvPr/>
          </p:nvSpPr>
          <p:spPr>
            <a:xfrm>
              <a:off x="384047" y="676656"/>
              <a:ext cx="2243254" cy="10686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200">
                  <a:solidFill>
                    <a:srgbClr val="14282B"/>
                  </a:solidFill>
                  <a:latin typeface="Arial"/>
                  <a:ea typeface="Arial"/>
                  <a:cs typeface="Arial"/>
                  <a:sym typeface="Arial"/>
                </a:defRPr>
              </a:lvl1pPr>
            </a:lstStyle>
            <a:p>
              <a:pPr/>
              <a:r>
                <a:t>He estimates the forest has gone from about 30% remaining to 70–80%. The boardwalk brings visitors, and the visitors give the village a reason to keep it.</a:t>
              </a:r>
            </a:p>
          </p:txBody>
        </p:sp>
      </p:grpSp>
      <p:sp>
        <p:nvSpPr>
          <p:cNvPr id="413" name="case_point"/>
          <p:cNvSpPr txBox="1"/>
          <p:nvPr/>
        </p:nvSpPr>
        <p:spPr>
          <a:xfrm>
            <a:off x="502919" y="5369262"/>
            <a:ext cx="11185857" cy="4720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b="1" sz="1400">
                <a:solidFill>
                  <a:srgbClr val="0E3A3F"/>
                </a:solidFill>
                <a:latin typeface="Arial"/>
                <a:ea typeface="Arial"/>
                <a:cs typeface="Arial"/>
                <a:sym typeface="Arial"/>
              </a:defRPr>
            </a:lvl1pPr>
          </a:lstStyle>
          <a:p>
            <a:pPr/>
            <a:r>
              <a:t>Biotic and abiotic together: replanting put the trees back (biotic), and the trees trapped sediment and shaded the mud (abiotic), which is what let the crabs return.</a:t>
            </a:r>
          </a:p>
        </p:txBody>
      </p:sp>
      <p:sp>
        <p:nvSpPr>
          <p:cNvPr id="414"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4A6165"/>
                </a:solidFill>
                <a:latin typeface="Arial"/>
                <a:ea typeface="Arial"/>
                <a:cs typeface="Arial"/>
                <a:sym typeface="Arial"/>
              </a:defRPr>
            </a:lvl1pPr>
          </a:lstStyle>
          <a:p>
            <a:pPr/>
            <a:r>
              <a:t>Source: Sarakadee Magazine, August 2023, interviews recorded 17 June 2023.</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397"/>
                                        </p:tgtEl>
                                        <p:attrNameLst>
                                          <p:attrName>style.visibility</p:attrName>
                                        </p:attrNameLst>
                                      </p:cBhvr>
                                      <p:to>
                                        <p:strVal val="visible"/>
                                      </p:to>
                                    </p:set>
                                    <p:animEffect filter="fade" transition="in">
                                      <p:cBhvr>
                                        <p:cTn id="7" dur="500"/>
                                        <p:tgtEl>
                                          <p:spTgt spid="39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402"/>
                                        </p:tgtEl>
                                        <p:attrNameLst>
                                          <p:attrName>style.visibility</p:attrName>
                                        </p:attrNameLst>
                                      </p:cBhvr>
                                      <p:to>
                                        <p:strVal val="visible"/>
                                      </p:to>
                                    </p:set>
                                    <p:animEffect filter="wipe(left)" transition="in">
                                      <p:cBhvr>
                                        <p:cTn id="12" dur="500"/>
                                        <p:tgtEl>
                                          <p:spTgt spid="40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407"/>
                                        </p:tgtEl>
                                        <p:attrNameLst>
                                          <p:attrName>style.visibility</p:attrName>
                                        </p:attrNameLst>
                                      </p:cBhvr>
                                      <p:to>
                                        <p:strVal val="visible"/>
                                      </p:to>
                                    </p:set>
                                    <p:animEffect filter="wipe(left)" transition="in">
                                      <p:cBhvr>
                                        <p:cTn id="17" dur="500"/>
                                        <p:tgtEl>
                                          <p:spTgt spid="40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412"/>
                                        </p:tgtEl>
                                        <p:attrNameLst>
                                          <p:attrName>style.visibility</p:attrName>
                                        </p:attrNameLst>
                                      </p:cBhvr>
                                      <p:to>
                                        <p:strVal val="visible"/>
                                      </p:to>
                                    </p:set>
                                    <p:animEffect filter="wipe(left)" transition="in">
                                      <p:cBhvr>
                                        <p:cTn id="22" dur="500"/>
                                        <p:tgtEl>
                                          <p:spTgt spid="41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413"/>
                                        </p:tgtEl>
                                        <p:attrNameLst>
                                          <p:attrName>style.visibility</p:attrName>
                                        </p:attrNameLst>
                                      </p:cBhvr>
                                      <p:to>
                                        <p:strVal val="visible"/>
                                      </p:to>
                                    </p:set>
                                    <p:animEffect filter="fade" transition="in">
                                      <p:cBhvr>
                                        <p:cTn id="27" dur="65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7" grpId="1"/>
      <p:bldP build="whole" bldLvl="1" animBg="1" rev="0" advAuto="0" spid="407" grpId="3"/>
      <p:bldP build="whole" bldLvl="1" animBg="1" rev="0" advAuto="0" spid="413" grpId="5"/>
      <p:bldP build="whole" bldLvl="1" animBg="1" rev="0" advAuto="0" spid="402" grpId="2"/>
      <p:bldP build="whole" bldLvl="1" animBg="1" rev="0" advAuto="0" spid="412" grpId="4"/>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3A3F"/>
        </a:solidFill>
      </p:bgPr>
    </p:bg>
    <p:spTree>
      <p:nvGrpSpPr>
        <p:cNvPr id="1" name=""/>
        <p:cNvGrpSpPr/>
        <p:nvPr/>
      </p:nvGrpSpPr>
      <p:grpSpPr>
        <a:xfrm>
          <a:off x="0" y="0"/>
          <a:ext cx="0" cy="0"/>
          <a:chOff x="0" y="0"/>
          <a:chExt cx="0" cy="0"/>
        </a:xfrm>
      </p:grpSpPr>
      <p:grpSp>
        <p:nvGrpSpPr>
          <p:cNvPr id="420" name="phase_pill"/>
          <p:cNvGrpSpPr/>
          <p:nvPr/>
        </p:nvGrpSpPr>
        <p:grpSpPr>
          <a:xfrm>
            <a:off x="502919" y="274320"/>
            <a:ext cx="2578609" cy="347473"/>
            <a:chOff x="0" y="0"/>
            <a:chExt cx="2578607" cy="347472"/>
          </a:xfrm>
        </p:grpSpPr>
        <p:sp>
          <p:nvSpPr>
            <p:cNvPr id="418" name="Rounded Rectangle"/>
            <p:cNvSpPr/>
            <p:nvPr/>
          </p:nvSpPr>
          <p:spPr>
            <a:xfrm>
              <a:off x="0" y="0"/>
              <a:ext cx="2578608" cy="347473"/>
            </a:xfrm>
            <a:prstGeom prst="roundRect">
              <a:avLst>
                <a:gd name="adj" fmla="val 50000"/>
              </a:avLst>
            </a:prstGeom>
            <a:solidFill>
              <a:srgbClr val="F5B301"/>
            </a:solidFill>
            <a:ln w="12700" cap="flat">
              <a:noFill/>
              <a:miter lim="400000"/>
            </a:ln>
            <a:effectLst/>
          </p:spPr>
          <p:txBody>
            <a:bodyPr wrap="square" lIns="45719" tIns="45719" rIns="45719" bIns="45719" numCol="1" anchor="ctr">
              <a:noAutofit/>
            </a:bodyPr>
            <a:lstStyle/>
            <a:p>
              <a:pPr algn="ctr">
                <a:defRPr sz="1100"/>
              </a:pPr>
            </a:p>
          </p:txBody>
        </p:sp>
        <p:sp>
          <p:nvSpPr>
            <p:cNvPr id="419" name="PLENARY · 5 MIN"/>
            <p:cNvSpPr txBox="1"/>
            <p:nvPr/>
          </p:nvSpPr>
          <p:spPr>
            <a:xfrm>
              <a:off x="50886" y="99821"/>
              <a:ext cx="247683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0E3A3F"/>
                  </a:solidFill>
                  <a:latin typeface="Arial"/>
                  <a:ea typeface="Arial"/>
                  <a:cs typeface="Arial"/>
                  <a:sym typeface="Arial"/>
                </a:defRPr>
              </a:lvl1pPr>
            </a:lstStyle>
            <a:p>
              <a:pPr/>
              <a:r>
                <a:t>PLENARY · 5 MIN</a:t>
              </a:r>
            </a:p>
          </p:txBody>
        </p:sp>
      </p:grpSp>
      <p:sp>
        <p:nvSpPr>
          <p:cNvPr id="421"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AF4E6"/>
                </a:solidFill>
                <a:latin typeface="Georgia"/>
                <a:ea typeface="Georgia"/>
                <a:cs typeface="Georgia"/>
                <a:sym typeface="Georgia"/>
              </a:defRPr>
            </a:lvl1pPr>
          </a:lstStyle>
          <a:p>
            <a:pPr/>
            <a:r>
              <a:t>True or false?</a:t>
            </a:r>
          </a:p>
        </p:txBody>
      </p:sp>
      <p:sp>
        <p:nvSpPr>
          <p:cNvPr id="422" name="slide_kicker"/>
          <p:cNvSpPr txBox="1"/>
          <p:nvPr/>
        </p:nvSpPr>
        <p:spPr>
          <a:xfrm>
            <a:off x="502919" y="1647812"/>
            <a:ext cx="11185857"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5B301"/>
                </a:solidFill>
                <a:latin typeface="Arial"/>
                <a:ea typeface="Arial"/>
                <a:cs typeface="Arial"/>
                <a:sym typeface="Arial"/>
              </a:defRPr>
            </a:lvl1pPr>
          </a:lstStyle>
          <a:p>
            <a:pPr/>
            <a:r>
              <a:t>Stand up for TRUE. Stay sitting for FALSE. No fence-sitting.</a:t>
            </a:r>
          </a:p>
        </p:txBody>
      </p:sp>
      <p:grpSp>
        <p:nvGrpSpPr>
          <p:cNvPr id="427" name="motif_return"/>
          <p:cNvGrpSpPr/>
          <p:nvPr/>
        </p:nvGrpSpPr>
        <p:grpSpPr>
          <a:xfrm>
            <a:off x="10113264" y="640079"/>
            <a:ext cx="1920241" cy="1188722"/>
            <a:chOff x="0" y="0"/>
            <a:chExt cx="1920239" cy="1188720"/>
          </a:xfrm>
        </p:grpSpPr>
        <p:sp>
          <p:nvSpPr>
            <p:cNvPr id="423" name="motif2_water"/>
            <p:cNvSpPr/>
            <p:nvPr/>
          </p:nvSpPr>
          <p:spPr>
            <a:xfrm>
              <a:off x="0" y="1115567"/>
              <a:ext cx="1920240" cy="73153"/>
            </a:xfrm>
            <a:prstGeom prst="rect">
              <a:avLst/>
            </a:prstGeom>
            <a:solidFill>
              <a:srgbClr val="2E9E6B"/>
            </a:solidFill>
            <a:ln w="12700" cap="flat">
              <a:solidFill>
                <a:srgbClr val="2E9E6B"/>
              </a:solidFill>
              <a:prstDash val="solid"/>
              <a:round/>
            </a:ln>
            <a:effectLst/>
          </p:spPr>
          <p:txBody>
            <a:bodyPr wrap="square" lIns="45719" tIns="45719" rIns="45719" bIns="45719" numCol="1" anchor="t">
              <a:noAutofit/>
            </a:bodyPr>
            <a:lstStyle/>
            <a:p>
              <a:pPr/>
            </a:p>
          </p:txBody>
        </p:sp>
        <p:sp>
          <p:nvSpPr>
            <p:cNvPr id="424" name="motif2_trunk"/>
            <p:cNvSpPr/>
            <p:nvPr/>
          </p:nvSpPr>
          <p:spPr>
            <a:xfrm>
              <a:off x="1069847" y="512063"/>
              <a:ext cx="91441" cy="658369"/>
            </a:xfrm>
            <a:prstGeom prst="rect">
              <a:avLst/>
            </a:prstGeom>
            <a:solidFill>
              <a:srgbClr val="FAF4E6"/>
            </a:solidFill>
            <a:ln w="12700" cap="flat">
              <a:solidFill>
                <a:srgbClr val="FAF4E6"/>
              </a:solidFill>
              <a:prstDash val="solid"/>
              <a:round/>
            </a:ln>
            <a:effectLst/>
          </p:spPr>
          <p:txBody>
            <a:bodyPr wrap="square" lIns="45719" tIns="45719" rIns="45719" bIns="45719" numCol="1" anchor="t">
              <a:noAutofit/>
            </a:bodyPr>
            <a:lstStyle/>
            <a:p>
              <a:pPr/>
            </a:p>
          </p:txBody>
        </p:sp>
        <p:sp>
          <p:nvSpPr>
            <p:cNvPr id="425" name="motif2_leaf1"/>
            <p:cNvSpPr/>
            <p:nvPr/>
          </p:nvSpPr>
          <p:spPr>
            <a:xfrm>
              <a:off x="438911" y="109727"/>
              <a:ext cx="804673" cy="530353"/>
            </a:xfrm>
            <a:prstGeom prst="ellipse">
              <a:avLst/>
            </a:prstGeom>
            <a:solidFill>
              <a:srgbClr val="2E9E6B"/>
            </a:solidFill>
            <a:ln w="12700" cap="flat">
              <a:solidFill>
                <a:srgbClr val="2E9E6B"/>
              </a:solidFill>
              <a:prstDash val="solid"/>
              <a:round/>
            </a:ln>
            <a:effectLst/>
          </p:spPr>
          <p:txBody>
            <a:bodyPr wrap="square" lIns="45719" tIns="45719" rIns="45719" bIns="45719" numCol="1" anchor="t">
              <a:noAutofit/>
            </a:bodyPr>
            <a:lstStyle/>
            <a:p>
              <a:pPr/>
            </a:p>
          </p:txBody>
        </p:sp>
        <p:sp>
          <p:nvSpPr>
            <p:cNvPr id="426" name="motif2_leaf2"/>
            <p:cNvSpPr/>
            <p:nvPr/>
          </p:nvSpPr>
          <p:spPr>
            <a:xfrm>
              <a:off x="950976" y="-1"/>
              <a:ext cx="877824" cy="585217"/>
            </a:xfrm>
            <a:prstGeom prst="ellipse">
              <a:avLst/>
            </a:prstGeom>
            <a:solidFill>
              <a:srgbClr val="F5B301"/>
            </a:solidFill>
            <a:ln w="12700" cap="flat">
              <a:solidFill>
                <a:srgbClr val="F5B301"/>
              </a:solidFill>
              <a:prstDash val="solid"/>
              <a:round/>
            </a:ln>
            <a:effectLst/>
          </p:spPr>
          <p:txBody>
            <a:bodyPr wrap="square" lIns="45719" tIns="45719" rIns="45719" bIns="45719" numCol="1" anchor="t">
              <a:noAutofit/>
            </a:bodyPr>
            <a:lstStyle/>
            <a:p>
              <a:pPr/>
            </a:p>
          </p:txBody>
        </p:sp>
      </p:grpSp>
      <p:grpSp>
        <p:nvGrpSpPr>
          <p:cNvPr id="430" name="tf0"/>
          <p:cNvGrpSpPr/>
          <p:nvPr/>
        </p:nvGrpSpPr>
        <p:grpSpPr>
          <a:xfrm>
            <a:off x="502919" y="1975104"/>
            <a:ext cx="8259776" cy="731521"/>
            <a:chOff x="0" y="0"/>
            <a:chExt cx="8259774" cy="731520"/>
          </a:xfrm>
        </p:grpSpPr>
        <p:sp>
          <p:nvSpPr>
            <p:cNvPr id="428" name="tf0_bg"/>
            <p:cNvSpPr/>
            <p:nvPr/>
          </p:nvSpPr>
          <p:spPr>
            <a:xfrm>
              <a:off x="0" y="-1"/>
              <a:ext cx="8259775" cy="731522"/>
            </a:xfrm>
            <a:prstGeom prst="roundRect">
              <a:avLst>
                <a:gd name="adj" fmla="val 15000"/>
              </a:avLst>
            </a:prstGeom>
            <a:solidFill>
              <a:srgbClr val="17505A"/>
            </a:solidFill>
            <a:ln w="12700" cap="flat">
              <a:solidFill>
                <a:srgbClr val="2A6470"/>
              </a:solidFill>
              <a:prstDash val="solid"/>
              <a:round/>
            </a:ln>
            <a:effectLst/>
          </p:spPr>
          <p:txBody>
            <a:bodyPr wrap="square" lIns="45719" tIns="45719" rIns="45719" bIns="45719" numCol="1" anchor="t">
              <a:noAutofit/>
            </a:bodyPr>
            <a:lstStyle/>
            <a:p>
              <a:pPr/>
            </a:p>
          </p:txBody>
        </p:sp>
        <p:sp>
          <p:nvSpPr>
            <p:cNvPr id="429" name="tf0_q"/>
            <p:cNvSpPr txBox="1"/>
            <p:nvPr/>
          </p:nvSpPr>
          <p:spPr>
            <a:xfrm>
              <a:off x="237744" y="267068"/>
              <a:ext cx="7784287"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400">
                  <a:solidFill>
                    <a:srgbClr val="FAF4E6"/>
                  </a:solidFill>
                  <a:latin typeface="Arial"/>
                  <a:ea typeface="Arial"/>
                  <a:cs typeface="Arial"/>
                  <a:sym typeface="Arial"/>
                </a:defRPr>
              </a:lvl1pPr>
            </a:lstStyle>
            <a:p>
              <a:pPr/>
              <a:r>
                <a:t>1.  An ecosystem is only the living things in an area.</a:t>
              </a:r>
            </a:p>
          </p:txBody>
        </p:sp>
      </p:grpSp>
      <p:sp>
        <p:nvSpPr>
          <p:cNvPr id="431" name="tf0_a"/>
          <p:cNvSpPr txBox="1"/>
          <p:nvPr/>
        </p:nvSpPr>
        <p:spPr>
          <a:xfrm>
            <a:off x="8899855" y="2153266"/>
            <a:ext cx="2788921" cy="3751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500"/>
              </a:lnSpc>
              <a:defRPr b="1" sz="1200">
                <a:solidFill>
                  <a:srgbClr val="F5B301"/>
                </a:solidFill>
                <a:latin typeface="Arial"/>
                <a:ea typeface="Arial"/>
                <a:cs typeface="Arial"/>
                <a:sym typeface="Arial"/>
              </a:defRPr>
            </a:pPr>
            <a:r>
              <a:t>FALSE   </a:t>
            </a:r>
            <a:r>
              <a:rPr b="0">
                <a:solidFill>
                  <a:srgbClr val="F0E4C8"/>
                </a:solidFill>
              </a:rPr>
              <a:t>Living things PLUS the non-living surroundings.</a:t>
            </a:r>
          </a:p>
        </p:txBody>
      </p:sp>
      <p:grpSp>
        <p:nvGrpSpPr>
          <p:cNvPr id="434" name="tf1"/>
          <p:cNvGrpSpPr/>
          <p:nvPr/>
        </p:nvGrpSpPr>
        <p:grpSpPr>
          <a:xfrm>
            <a:off x="502919" y="2834639"/>
            <a:ext cx="8259776" cy="731521"/>
            <a:chOff x="0" y="0"/>
            <a:chExt cx="8259774" cy="731520"/>
          </a:xfrm>
        </p:grpSpPr>
        <p:sp>
          <p:nvSpPr>
            <p:cNvPr id="432" name="tf1_bg"/>
            <p:cNvSpPr/>
            <p:nvPr/>
          </p:nvSpPr>
          <p:spPr>
            <a:xfrm>
              <a:off x="0" y="-1"/>
              <a:ext cx="8259775" cy="731522"/>
            </a:xfrm>
            <a:prstGeom prst="roundRect">
              <a:avLst>
                <a:gd name="adj" fmla="val 15000"/>
              </a:avLst>
            </a:prstGeom>
            <a:solidFill>
              <a:srgbClr val="17505A"/>
            </a:solidFill>
            <a:ln w="12700" cap="flat">
              <a:solidFill>
                <a:srgbClr val="2A6470"/>
              </a:solidFill>
              <a:prstDash val="solid"/>
              <a:round/>
            </a:ln>
            <a:effectLst/>
          </p:spPr>
          <p:txBody>
            <a:bodyPr wrap="square" lIns="45719" tIns="45719" rIns="45719" bIns="45719" numCol="1" anchor="t">
              <a:noAutofit/>
            </a:bodyPr>
            <a:lstStyle/>
            <a:p>
              <a:pPr/>
            </a:p>
          </p:txBody>
        </p:sp>
        <p:sp>
          <p:nvSpPr>
            <p:cNvPr id="433" name="tf1_q"/>
            <p:cNvSpPr txBox="1"/>
            <p:nvPr/>
          </p:nvSpPr>
          <p:spPr>
            <a:xfrm>
              <a:off x="237744" y="267068"/>
              <a:ext cx="7784287"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400">
                  <a:solidFill>
                    <a:srgbClr val="FAF4E6"/>
                  </a:solidFill>
                  <a:latin typeface="Arial"/>
                  <a:ea typeface="Arial"/>
                  <a:cs typeface="Arial"/>
                  <a:sym typeface="Arial"/>
                </a:defRPr>
              </a:lvl1pPr>
            </a:lstStyle>
            <a:p>
              <a:pPr/>
              <a:r>
                <a:t>2.  A dead mangrove leaf is an abiotic factor.</a:t>
              </a:r>
            </a:p>
          </p:txBody>
        </p:sp>
      </p:grpSp>
      <p:sp>
        <p:nvSpPr>
          <p:cNvPr id="435" name="tf1_a"/>
          <p:cNvSpPr txBox="1"/>
          <p:nvPr/>
        </p:nvSpPr>
        <p:spPr>
          <a:xfrm>
            <a:off x="8899855" y="3012802"/>
            <a:ext cx="2788921" cy="3751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500"/>
              </a:lnSpc>
              <a:defRPr b="1" sz="1200">
                <a:solidFill>
                  <a:srgbClr val="F5B301"/>
                </a:solidFill>
                <a:latin typeface="Arial"/>
                <a:ea typeface="Arial"/>
                <a:cs typeface="Arial"/>
                <a:sym typeface="Arial"/>
              </a:defRPr>
            </a:pPr>
            <a:r>
              <a:t>FALSE   </a:t>
            </a:r>
            <a:r>
              <a:rPr b="0">
                <a:solidFill>
                  <a:srgbClr val="F0E4C8"/>
                </a:solidFill>
              </a:rPr>
              <a:t>It was alive, so it is biotic. Abiotic means never alive.</a:t>
            </a:r>
          </a:p>
        </p:txBody>
      </p:sp>
      <p:grpSp>
        <p:nvGrpSpPr>
          <p:cNvPr id="438" name="tf2"/>
          <p:cNvGrpSpPr/>
          <p:nvPr/>
        </p:nvGrpSpPr>
        <p:grpSpPr>
          <a:xfrm>
            <a:off x="502919" y="3694176"/>
            <a:ext cx="8259776" cy="731521"/>
            <a:chOff x="0" y="0"/>
            <a:chExt cx="8259774" cy="731520"/>
          </a:xfrm>
        </p:grpSpPr>
        <p:sp>
          <p:nvSpPr>
            <p:cNvPr id="436" name="tf2_bg"/>
            <p:cNvSpPr/>
            <p:nvPr/>
          </p:nvSpPr>
          <p:spPr>
            <a:xfrm>
              <a:off x="0" y="-1"/>
              <a:ext cx="8259775" cy="731522"/>
            </a:xfrm>
            <a:prstGeom prst="roundRect">
              <a:avLst>
                <a:gd name="adj" fmla="val 15000"/>
              </a:avLst>
            </a:prstGeom>
            <a:solidFill>
              <a:srgbClr val="17505A"/>
            </a:solidFill>
            <a:ln w="12700" cap="flat">
              <a:solidFill>
                <a:srgbClr val="2A6470"/>
              </a:solidFill>
              <a:prstDash val="solid"/>
              <a:round/>
            </a:ln>
            <a:effectLst/>
          </p:spPr>
          <p:txBody>
            <a:bodyPr wrap="square" lIns="45719" tIns="45719" rIns="45719" bIns="45719" numCol="1" anchor="t">
              <a:noAutofit/>
            </a:bodyPr>
            <a:lstStyle/>
            <a:p>
              <a:pPr/>
            </a:p>
          </p:txBody>
        </p:sp>
        <p:sp>
          <p:nvSpPr>
            <p:cNvPr id="437" name="tf2_q"/>
            <p:cNvSpPr txBox="1"/>
            <p:nvPr/>
          </p:nvSpPr>
          <p:spPr>
            <a:xfrm>
              <a:off x="237744" y="267068"/>
              <a:ext cx="7784287"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400">
                  <a:solidFill>
                    <a:srgbClr val="FAF4E6"/>
                  </a:solidFill>
                  <a:latin typeface="Arial"/>
                  <a:ea typeface="Arial"/>
                  <a:cs typeface="Arial"/>
                  <a:sym typeface="Arial"/>
                </a:defRPr>
              </a:lvl1pPr>
            </a:lstStyle>
            <a:p>
              <a:pPr/>
              <a:r>
                <a:t>3.  Salt in the water is an abiotic factor at Prasae.</a:t>
              </a:r>
            </a:p>
          </p:txBody>
        </p:sp>
      </p:grpSp>
      <p:sp>
        <p:nvSpPr>
          <p:cNvPr id="439" name="tf2_a"/>
          <p:cNvSpPr txBox="1"/>
          <p:nvPr/>
        </p:nvSpPr>
        <p:spPr>
          <a:xfrm>
            <a:off x="8899855" y="3872338"/>
            <a:ext cx="2788921" cy="3751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500"/>
              </a:lnSpc>
              <a:defRPr b="1" sz="1200">
                <a:solidFill>
                  <a:srgbClr val="2E9E6B"/>
                </a:solidFill>
                <a:latin typeface="Arial"/>
                <a:ea typeface="Arial"/>
                <a:cs typeface="Arial"/>
                <a:sym typeface="Arial"/>
              </a:defRPr>
            </a:pPr>
            <a:r>
              <a:t>TRUE   </a:t>
            </a:r>
            <a:r>
              <a:rPr b="0">
                <a:solidFill>
                  <a:srgbClr val="F0E4C8"/>
                </a:solidFill>
              </a:rPr>
              <a:t>Never alive, and it decides which plants can survive.</a:t>
            </a:r>
          </a:p>
        </p:txBody>
      </p:sp>
      <p:grpSp>
        <p:nvGrpSpPr>
          <p:cNvPr id="442" name="tf3"/>
          <p:cNvGrpSpPr/>
          <p:nvPr/>
        </p:nvGrpSpPr>
        <p:grpSpPr>
          <a:xfrm>
            <a:off x="502919" y="4553711"/>
            <a:ext cx="8259776" cy="731521"/>
            <a:chOff x="0" y="0"/>
            <a:chExt cx="8259774" cy="731520"/>
          </a:xfrm>
        </p:grpSpPr>
        <p:sp>
          <p:nvSpPr>
            <p:cNvPr id="440" name="tf3_bg"/>
            <p:cNvSpPr/>
            <p:nvPr/>
          </p:nvSpPr>
          <p:spPr>
            <a:xfrm>
              <a:off x="0" y="-1"/>
              <a:ext cx="8259775" cy="731522"/>
            </a:xfrm>
            <a:prstGeom prst="roundRect">
              <a:avLst>
                <a:gd name="adj" fmla="val 15000"/>
              </a:avLst>
            </a:prstGeom>
            <a:solidFill>
              <a:srgbClr val="17505A"/>
            </a:solidFill>
            <a:ln w="12700" cap="flat">
              <a:solidFill>
                <a:srgbClr val="2A6470"/>
              </a:solidFill>
              <a:prstDash val="solid"/>
              <a:round/>
            </a:ln>
            <a:effectLst/>
          </p:spPr>
          <p:txBody>
            <a:bodyPr wrap="square" lIns="45719" tIns="45719" rIns="45719" bIns="45719" numCol="1" anchor="t">
              <a:noAutofit/>
            </a:bodyPr>
            <a:lstStyle/>
            <a:p>
              <a:pPr/>
            </a:p>
          </p:txBody>
        </p:sp>
        <p:sp>
          <p:nvSpPr>
            <p:cNvPr id="441" name="tf3_q"/>
            <p:cNvSpPr txBox="1"/>
            <p:nvPr/>
          </p:nvSpPr>
          <p:spPr>
            <a:xfrm>
              <a:off x="237744" y="267068"/>
              <a:ext cx="7784287"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400">
                  <a:solidFill>
                    <a:srgbClr val="FAF4E6"/>
                  </a:solidFill>
                  <a:latin typeface="Arial"/>
                  <a:ea typeface="Arial"/>
                  <a:cs typeface="Arial"/>
                  <a:sym typeface="Arial"/>
                </a:defRPr>
              </a:lvl1pPr>
            </a:lstStyle>
            <a:p>
              <a:pPr/>
              <a:r>
                <a:t>4.  "Habitat" and "ecosystem" mean the same thing.</a:t>
              </a:r>
            </a:p>
          </p:txBody>
        </p:sp>
      </p:grpSp>
      <p:sp>
        <p:nvSpPr>
          <p:cNvPr id="443" name="tf3_a"/>
          <p:cNvSpPr txBox="1"/>
          <p:nvPr/>
        </p:nvSpPr>
        <p:spPr>
          <a:xfrm>
            <a:off x="8899855" y="4731874"/>
            <a:ext cx="2788921" cy="3751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500"/>
              </a:lnSpc>
              <a:defRPr b="1" sz="1200">
                <a:solidFill>
                  <a:srgbClr val="F5B301"/>
                </a:solidFill>
                <a:latin typeface="Arial"/>
                <a:ea typeface="Arial"/>
                <a:cs typeface="Arial"/>
                <a:sym typeface="Arial"/>
              </a:defRPr>
            </a:pPr>
            <a:r>
              <a:t>FALSE   </a:t>
            </a:r>
            <a:r>
              <a:rPr b="0">
                <a:solidFill>
                  <a:srgbClr val="F0E4C8"/>
                </a:solidFill>
              </a:rPr>
              <a:t>A habitat is where one species lives.</a:t>
            </a:r>
          </a:p>
        </p:txBody>
      </p:sp>
      <p:grpSp>
        <p:nvGrpSpPr>
          <p:cNvPr id="446" name="tf4"/>
          <p:cNvGrpSpPr/>
          <p:nvPr/>
        </p:nvGrpSpPr>
        <p:grpSpPr>
          <a:xfrm>
            <a:off x="502919" y="5413247"/>
            <a:ext cx="8259776" cy="731521"/>
            <a:chOff x="0" y="0"/>
            <a:chExt cx="8259774" cy="731520"/>
          </a:xfrm>
        </p:grpSpPr>
        <p:sp>
          <p:nvSpPr>
            <p:cNvPr id="444" name="tf4_bg"/>
            <p:cNvSpPr/>
            <p:nvPr/>
          </p:nvSpPr>
          <p:spPr>
            <a:xfrm>
              <a:off x="0" y="-1"/>
              <a:ext cx="8259775" cy="731522"/>
            </a:xfrm>
            <a:prstGeom prst="roundRect">
              <a:avLst>
                <a:gd name="adj" fmla="val 15000"/>
              </a:avLst>
            </a:prstGeom>
            <a:solidFill>
              <a:srgbClr val="17505A"/>
            </a:solidFill>
            <a:ln w="12700" cap="flat">
              <a:solidFill>
                <a:srgbClr val="2A6470"/>
              </a:solidFill>
              <a:prstDash val="solid"/>
              <a:round/>
            </a:ln>
            <a:effectLst/>
          </p:spPr>
          <p:txBody>
            <a:bodyPr wrap="square" lIns="45719" tIns="45719" rIns="45719" bIns="45719" numCol="1" anchor="t">
              <a:noAutofit/>
            </a:bodyPr>
            <a:lstStyle/>
            <a:p>
              <a:pPr/>
            </a:p>
          </p:txBody>
        </p:sp>
        <p:sp>
          <p:nvSpPr>
            <p:cNvPr id="445" name="tf4_q"/>
            <p:cNvSpPr txBox="1"/>
            <p:nvPr/>
          </p:nvSpPr>
          <p:spPr>
            <a:xfrm>
              <a:off x="237744" y="267068"/>
              <a:ext cx="7784287"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400">
                  <a:solidFill>
                    <a:srgbClr val="FAF4E6"/>
                  </a:solidFill>
                  <a:latin typeface="Arial"/>
                  <a:ea typeface="Arial"/>
                  <a:cs typeface="Arial"/>
                  <a:sym typeface="Arial"/>
                </a:defRPr>
              </a:lvl1pPr>
            </a:lstStyle>
            <a:p>
              <a:pPr/>
              <a:r>
                <a:t>5.  Decomposers are the least important part of an ecosystem.</a:t>
              </a:r>
            </a:p>
          </p:txBody>
        </p:sp>
      </p:grpSp>
      <p:sp>
        <p:nvSpPr>
          <p:cNvPr id="447" name="tf4_a"/>
          <p:cNvSpPr txBox="1"/>
          <p:nvPr/>
        </p:nvSpPr>
        <p:spPr>
          <a:xfrm>
            <a:off x="8899855" y="5591410"/>
            <a:ext cx="2788921" cy="3751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500"/>
              </a:lnSpc>
              <a:defRPr b="1" sz="1200">
                <a:solidFill>
                  <a:srgbClr val="F5B301"/>
                </a:solidFill>
                <a:latin typeface="Arial"/>
                <a:ea typeface="Arial"/>
                <a:cs typeface="Arial"/>
                <a:sym typeface="Arial"/>
              </a:defRPr>
            </a:pPr>
            <a:r>
              <a:t>FALSE   </a:t>
            </a:r>
            <a:r>
              <a:rPr b="0">
                <a:solidFill>
                  <a:srgbClr val="F0E4C8"/>
                </a:solidFill>
              </a:rPr>
              <a:t>They release the nutrients everything else depends on.</a:t>
            </a:r>
          </a:p>
        </p:txBody>
      </p:sp>
    </p:spTree>
  </p:cSld>
  <p:clrMapOvr>
    <a:masterClrMapping/>
  </p:clrMapOvr>
  <mc:AlternateContent xmlns:mc="http://schemas.openxmlformats.org/markup-compatibility/2006">
    <mc:Choice xmlns:p14="http://schemas.microsoft.com/office/powerpoint/2010/main" Requires="p14">
      <p:transition spd="med" advClick="1" p14:dur="1000">
        <p:cover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300"/>
                                  </p:stCondLst>
                                  <p:iterate type="el" backwards="0">
                                    <p:tmAbs val="0"/>
                                  </p:iterate>
                                  <p:childTnLst>
                                    <p:set>
                                      <p:cBhvr>
                                        <p:cTn id="6" fill="hold"/>
                                        <p:tgtEl>
                                          <p:spTgt spid="427"/>
                                        </p:tgtEl>
                                        <p:attrNameLst>
                                          <p:attrName>style.visibility</p:attrName>
                                        </p:attrNameLst>
                                      </p:cBhvr>
                                      <p:to>
                                        <p:strVal val="visible"/>
                                      </p:to>
                                    </p:set>
                                    <p:anim calcmode="lin" valueType="num">
                                      <p:cBhvr>
                                        <p:cTn id="7" dur="700" fill="hold"/>
                                        <p:tgtEl>
                                          <p:spTgt spid="427"/>
                                        </p:tgtEl>
                                        <p:attrNameLst>
                                          <p:attrName>ppt_w</p:attrName>
                                        </p:attrNameLst>
                                      </p:cBhvr>
                                      <p:tavLst>
                                        <p:tav tm="0">
                                          <p:val>
                                            <p:fltVal val="0"/>
                                          </p:val>
                                        </p:tav>
                                        <p:tav tm="100000">
                                          <p:val>
                                            <p:strVal val="#ppt_w"/>
                                          </p:val>
                                        </p:tav>
                                      </p:tavLst>
                                    </p:anim>
                                    <p:anim calcmode="lin" valueType="num">
                                      <p:cBhvr>
                                        <p:cTn id="8" dur="700" fill="hold"/>
                                        <p:tgtEl>
                                          <p:spTgt spid="42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2" grpId="2" fill="hold">
                                  <p:stCondLst>
                                    <p:cond delay="0"/>
                                  </p:stCondLst>
                                  <p:iterate type="el" backwards="0">
                                    <p:tmAbs val="0"/>
                                  </p:iterate>
                                  <p:childTnLst>
                                    <p:set>
                                      <p:cBhvr>
                                        <p:cTn id="12" fill="hold"/>
                                        <p:tgtEl>
                                          <p:spTgt spid="430"/>
                                        </p:tgtEl>
                                        <p:attrNameLst>
                                          <p:attrName>style.visibility</p:attrName>
                                        </p:attrNameLst>
                                      </p:cBhvr>
                                      <p:to>
                                        <p:strVal val="visible"/>
                                      </p:to>
                                    </p:set>
                                    <p:animEffect filter="wipe(left)" transition="in">
                                      <p:cBhvr>
                                        <p:cTn id="13" dur="500"/>
                                        <p:tgtEl>
                                          <p:spTgt spid="430"/>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ID="10" grpId="3" fill="hold">
                                  <p:stCondLst>
                                    <p:cond delay="0"/>
                                  </p:stCondLst>
                                  <p:iterate type="el" backwards="0">
                                    <p:tmAbs val="0"/>
                                  </p:iterate>
                                  <p:childTnLst>
                                    <p:set>
                                      <p:cBhvr>
                                        <p:cTn id="17" fill="hold"/>
                                        <p:tgtEl>
                                          <p:spTgt spid="431"/>
                                        </p:tgtEl>
                                        <p:attrNameLst>
                                          <p:attrName>style.visibility</p:attrName>
                                        </p:attrNameLst>
                                      </p:cBhvr>
                                      <p:to>
                                        <p:strVal val="visible"/>
                                      </p:to>
                                    </p:set>
                                    <p:animEffect filter="fade" transition="in">
                                      <p:cBhvr>
                                        <p:cTn id="18" dur="500"/>
                                        <p:tgtEl>
                                          <p:spTgt spid="431"/>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2" grpId="4" fill="hold">
                                  <p:stCondLst>
                                    <p:cond delay="0"/>
                                  </p:stCondLst>
                                  <p:iterate type="el" backwards="0">
                                    <p:tmAbs val="0"/>
                                  </p:iterate>
                                  <p:childTnLst>
                                    <p:set>
                                      <p:cBhvr>
                                        <p:cTn id="22" fill="hold"/>
                                        <p:tgtEl>
                                          <p:spTgt spid="434"/>
                                        </p:tgtEl>
                                        <p:attrNameLst>
                                          <p:attrName>style.visibility</p:attrName>
                                        </p:attrNameLst>
                                      </p:cBhvr>
                                      <p:to>
                                        <p:strVal val="visible"/>
                                      </p:to>
                                    </p:set>
                                    <p:animEffect filter="wipe(left)" transition="in">
                                      <p:cBhvr>
                                        <p:cTn id="23" dur="500"/>
                                        <p:tgtEl>
                                          <p:spTgt spid="434"/>
                                        </p:tgtEl>
                                      </p:cBhvr>
                                    </p:animEffect>
                                  </p:childTnLst>
                                </p:cTn>
                              </p:par>
                            </p:childTnLst>
                          </p:cTn>
                        </p:par>
                      </p:childTnLst>
                    </p:cTn>
                  </p:par>
                  <p:par>
                    <p:cTn id="24" fill="hold">
                      <p:stCondLst>
                        <p:cond delay="indefinite"/>
                      </p:stCondLst>
                      <p:childTnLst>
                        <p:par>
                          <p:cTn id="25" fill="hold">
                            <p:stCondLst>
                              <p:cond delay="0"/>
                            </p:stCondLst>
                            <p:childTnLst>
                              <p:par>
                                <p:cTn id="26" presetClass="entr" nodeType="clickEffect" presetID="10" grpId="5" fill="hold">
                                  <p:stCondLst>
                                    <p:cond delay="0"/>
                                  </p:stCondLst>
                                  <p:iterate type="el" backwards="0">
                                    <p:tmAbs val="0"/>
                                  </p:iterate>
                                  <p:childTnLst>
                                    <p:set>
                                      <p:cBhvr>
                                        <p:cTn id="27" fill="hold"/>
                                        <p:tgtEl>
                                          <p:spTgt spid="435"/>
                                        </p:tgtEl>
                                        <p:attrNameLst>
                                          <p:attrName>style.visibility</p:attrName>
                                        </p:attrNameLst>
                                      </p:cBhvr>
                                      <p:to>
                                        <p:strVal val="visible"/>
                                      </p:to>
                                    </p:set>
                                    <p:animEffect filter="fade" transition="in">
                                      <p:cBhvr>
                                        <p:cTn id="28" dur="500"/>
                                        <p:tgtEl>
                                          <p:spTgt spid="435"/>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2" grpId="6" fill="hold">
                                  <p:stCondLst>
                                    <p:cond delay="0"/>
                                  </p:stCondLst>
                                  <p:iterate type="el" backwards="0">
                                    <p:tmAbs val="0"/>
                                  </p:iterate>
                                  <p:childTnLst>
                                    <p:set>
                                      <p:cBhvr>
                                        <p:cTn id="32" fill="hold"/>
                                        <p:tgtEl>
                                          <p:spTgt spid="438"/>
                                        </p:tgtEl>
                                        <p:attrNameLst>
                                          <p:attrName>style.visibility</p:attrName>
                                        </p:attrNameLst>
                                      </p:cBhvr>
                                      <p:to>
                                        <p:strVal val="visible"/>
                                      </p:to>
                                    </p:set>
                                    <p:animEffect filter="wipe(left)" transition="in">
                                      <p:cBhvr>
                                        <p:cTn id="33" dur="500"/>
                                        <p:tgtEl>
                                          <p:spTgt spid="438"/>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7" fill="hold">
                                  <p:stCondLst>
                                    <p:cond delay="0"/>
                                  </p:stCondLst>
                                  <p:iterate type="el" backwards="0">
                                    <p:tmAbs val="0"/>
                                  </p:iterate>
                                  <p:childTnLst>
                                    <p:set>
                                      <p:cBhvr>
                                        <p:cTn id="37" fill="hold"/>
                                        <p:tgtEl>
                                          <p:spTgt spid="439"/>
                                        </p:tgtEl>
                                        <p:attrNameLst>
                                          <p:attrName>style.visibility</p:attrName>
                                        </p:attrNameLst>
                                      </p:cBhvr>
                                      <p:to>
                                        <p:strVal val="visible"/>
                                      </p:to>
                                    </p:set>
                                    <p:animEffect filter="fade" transition="in">
                                      <p:cBhvr>
                                        <p:cTn id="38" dur="500"/>
                                        <p:tgtEl>
                                          <p:spTgt spid="439"/>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2" grpId="8" fill="hold">
                                  <p:stCondLst>
                                    <p:cond delay="0"/>
                                  </p:stCondLst>
                                  <p:iterate type="el" backwards="0">
                                    <p:tmAbs val="0"/>
                                  </p:iterate>
                                  <p:childTnLst>
                                    <p:set>
                                      <p:cBhvr>
                                        <p:cTn id="42" fill="hold"/>
                                        <p:tgtEl>
                                          <p:spTgt spid="442"/>
                                        </p:tgtEl>
                                        <p:attrNameLst>
                                          <p:attrName>style.visibility</p:attrName>
                                        </p:attrNameLst>
                                      </p:cBhvr>
                                      <p:to>
                                        <p:strVal val="visible"/>
                                      </p:to>
                                    </p:set>
                                    <p:animEffect filter="wipe(left)" transition="in">
                                      <p:cBhvr>
                                        <p:cTn id="43" dur="500"/>
                                        <p:tgtEl>
                                          <p:spTgt spid="442"/>
                                        </p:tgtEl>
                                      </p:cBhvr>
                                    </p:animEffect>
                                  </p:childTnLst>
                                </p:cTn>
                              </p:par>
                            </p:childTnLst>
                          </p:cTn>
                        </p:par>
                      </p:childTnLst>
                    </p:cTn>
                  </p:par>
                  <p:par>
                    <p:cTn id="44" fill="hold">
                      <p:stCondLst>
                        <p:cond delay="indefinite"/>
                      </p:stCondLst>
                      <p:childTnLst>
                        <p:par>
                          <p:cTn id="45" fill="hold">
                            <p:stCondLst>
                              <p:cond delay="0"/>
                            </p:stCondLst>
                            <p:childTnLst>
                              <p:par>
                                <p:cTn id="46" presetClass="entr" nodeType="clickEffect" presetID="10" grpId="9" fill="hold">
                                  <p:stCondLst>
                                    <p:cond delay="0"/>
                                  </p:stCondLst>
                                  <p:iterate type="el" backwards="0">
                                    <p:tmAbs val="0"/>
                                  </p:iterate>
                                  <p:childTnLst>
                                    <p:set>
                                      <p:cBhvr>
                                        <p:cTn id="47" fill="hold"/>
                                        <p:tgtEl>
                                          <p:spTgt spid="443"/>
                                        </p:tgtEl>
                                        <p:attrNameLst>
                                          <p:attrName>style.visibility</p:attrName>
                                        </p:attrNameLst>
                                      </p:cBhvr>
                                      <p:to>
                                        <p:strVal val="visible"/>
                                      </p:to>
                                    </p:set>
                                    <p:animEffect filter="fade" transition="in">
                                      <p:cBhvr>
                                        <p:cTn id="48" dur="500"/>
                                        <p:tgtEl>
                                          <p:spTgt spid="443"/>
                                        </p:tgtEl>
                                      </p:cBhvr>
                                    </p:animEffect>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8" presetID="22" grpId="10" fill="hold">
                                  <p:stCondLst>
                                    <p:cond delay="0"/>
                                  </p:stCondLst>
                                  <p:iterate type="el" backwards="0">
                                    <p:tmAbs val="0"/>
                                  </p:iterate>
                                  <p:childTnLst>
                                    <p:set>
                                      <p:cBhvr>
                                        <p:cTn id="52" fill="hold"/>
                                        <p:tgtEl>
                                          <p:spTgt spid="446"/>
                                        </p:tgtEl>
                                        <p:attrNameLst>
                                          <p:attrName>style.visibility</p:attrName>
                                        </p:attrNameLst>
                                      </p:cBhvr>
                                      <p:to>
                                        <p:strVal val="visible"/>
                                      </p:to>
                                    </p:set>
                                    <p:animEffect filter="wipe(left)" transition="in">
                                      <p:cBhvr>
                                        <p:cTn id="53" dur="500"/>
                                        <p:tgtEl>
                                          <p:spTgt spid="446"/>
                                        </p:tgtEl>
                                      </p:cBhvr>
                                    </p:animEffect>
                                  </p:childTnLst>
                                </p:cTn>
                              </p:par>
                            </p:childTnLst>
                          </p:cTn>
                        </p:par>
                      </p:childTnLst>
                    </p:cTn>
                  </p:par>
                  <p:par>
                    <p:cTn id="54" fill="hold">
                      <p:stCondLst>
                        <p:cond delay="indefinite"/>
                      </p:stCondLst>
                      <p:childTnLst>
                        <p:par>
                          <p:cTn id="55" fill="hold">
                            <p:stCondLst>
                              <p:cond delay="0"/>
                            </p:stCondLst>
                            <p:childTnLst>
                              <p:par>
                                <p:cTn id="56" presetClass="entr" nodeType="clickEffect" presetID="10" grpId="11" fill="hold">
                                  <p:stCondLst>
                                    <p:cond delay="0"/>
                                  </p:stCondLst>
                                  <p:iterate type="el" backwards="0">
                                    <p:tmAbs val="0"/>
                                  </p:iterate>
                                  <p:childTnLst>
                                    <p:set>
                                      <p:cBhvr>
                                        <p:cTn id="57" fill="hold"/>
                                        <p:tgtEl>
                                          <p:spTgt spid="447"/>
                                        </p:tgtEl>
                                        <p:attrNameLst>
                                          <p:attrName>style.visibility</p:attrName>
                                        </p:attrNameLst>
                                      </p:cBhvr>
                                      <p:to>
                                        <p:strVal val="visible"/>
                                      </p:to>
                                    </p:set>
                                    <p:animEffect filter="fade" transition="in">
                                      <p:cBhvr>
                                        <p:cTn id="58" dur="5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5" grpId="5"/>
      <p:bldP build="whole" bldLvl="1" animBg="1" rev="0" advAuto="0" spid="431" grpId="3"/>
      <p:bldP build="whole" bldLvl="1" animBg="1" rev="0" advAuto="0" spid="439" grpId="7"/>
      <p:bldP build="whole" bldLvl="1" animBg="1" rev="0" advAuto="0" spid="443" grpId="9"/>
      <p:bldP build="whole" bldLvl="1" animBg="1" rev="0" advAuto="0" spid="442" grpId="8"/>
      <p:bldP build="whole" bldLvl="1" animBg="1" rev="0" advAuto="0" spid="446" grpId="10"/>
      <p:bldP build="whole" bldLvl="1" animBg="1" rev="0" advAuto="0" spid="438" grpId="6"/>
      <p:bldP build="whole" bldLvl="1" animBg="1" rev="0" advAuto="0" spid="434" grpId="4"/>
      <p:bldP build="whole" bldLvl="1" animBg="1" rev="0" advAuto="0" spid="447" grpId="11"/>
      <p:bldP build="whole" bldLvl="1" animBg="1" rev="0" advAuto="0" spid="427" grpId="1"/>
      <p:bldP build="whole" bldLvl="1" animBg="1" rev="0" advAuto="0" spid="430" grpId="2"/>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3A3F"/>
        </a:solidFill>
      </p:bgPr>
    </p:bg>
    <p:spTree>
      <p:nvGrpSpPr>
        <p:cNvPr id="1" name=""/>
        <p:cNvGrpSpPr/>
        <p:nvPr/>
      </p:nvGrpSpPr>
      <p:grpSpPr>
        <a:xfrm>
          <a:off x="0" y="0"/>
          <a:ext cx="0" cy="0"/>
          <a:chOff x="0" y="0"/>
          <a:chExt cx="0" cy="0"/>
        </a:xfrm>
      </p:grpSpPr>
      <p:sp>
        <p:nvSpPr>
          <p:cNvPr id="451" name="slide_title"/>
          <p:cNvSpPr txBox="1"/>
          <p:nvPr/>
        </p:nvSpPr>
        <p:spPr>
          <a:xfrm>
            <a:off x="50291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AF4E6"/>
                </a:solidFill>
                <a:latin typeface="Georgia"/>
                <a:ea typeface="Georgia"/>
                <a:cs typeface="Georgia"/>
                <a:sym typeface="Georgia"/>
              </a:defRPr>
            </a:lvl1pPr>
          </a:lstStyle>
          <a:p>
            <a:pPr/>
            <a:r>
              <a:t>Credits and sources</a:t>
            </a:r>
          </a:p>
        </p:txBody>
      </p:sp>
      <p:sp>
        <p:nvSpPr>
          <p:cNvPr id="452" name="cred0_a"/>
          <p:cNvSpPr txBox="1"/>
          <p:nvPr/>
        </p:nvSpPr>
        <p:spPr>
          <a:xfrm>
            <a:off x="502919" y="1828037"/>
            <a:ext cx="1118585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100">
                <a:solidFill>
                  <a:srgbClr val="F5B301"/>
                </a:solidFill>
                <a:latin typeface="Arial"/>
                <a:ea typeface="Arial"/>
                <a:cs typeface="Arial"/>
                <a:sym typeface="Arial"/>
              </a:defRPr>
            </a:lvl1pPr>
          </a:lstStyle>
          <a:p>
            <a:pPr/>
            <a:r>
              <a:t>IMAGES — all Creative Commons or public domain</a:t>
            </a:r>
          </a:p>
        </p:txBody>
      </p:sp>
      <p:sp>
        <p:nvSpPr>
          <p:cNvPr id="453" name="cred1_a"/>
          <p:cNvSpPr txBox="1"/>
          <p:nvPr/>
        </p:nvSpPr>
        <p:spPr>
          <a:xfrm>
            <a:off x="502919" y="2339754"/>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Ceriops tagal (prong mangrove)</a:t>
            </a:r>
          </a:p>
        </p:txBody>
      </p:sp>
      <p:sp>
        <p:nvSpPr>
          <p:cNvPr id="454" name="cred1_b"/>
          <p:cNvSpPr txBox="1"/>
          <p:nvPr/>
        </p:nvSpPr>
        <p:spPr>
          <a:xfrm>
            <a:off x="6446520" y="2345896"/>
            <a:ext cx="5242255"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Abu Hamas · CC BY-SA 4.0 · Wikimedia Commons</a:t>
            </a:r>
          </a:p>
        </p:txBody>
      </p:sp>
      <p:sp>
        <p:nvSpPr>
          <p:cNvPr id="455" name="cred2_a"/>
          <p:cNvSpPr txBox="1"/>
          <p:nvPr/>
        </p:nvSpPr>
        <p:spPr>
          <a:xfrm>
            <a:off x="502919" y="2870106"/>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Long-tailed macaques, Khlong Khone mangrove</a:t>
            </a:r>
          </a:p>
        </p:txBody>
      </p:sp>
      <p:sp>
        <p:nvSpPr>
          <p:cNvPr id="456" name="cred2_b"/>
          <p:cNvSpPr txBox="1"/>
          <p:nvPr/>
        </p:nvSpPr>
        <p:spPr>
          <a:xfrm>
            <a:off x="6446520" y="2876248"/>
            <a:ext cx="5242255"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Niwat Tantayanusorn · CC BY-SA 4.0 · Wikimedia Commons</a:t>
            </a:r>
          </a:p>
        </p:txBody>
      </p:sp>
      <p:sp>
        <p:nvSpPr>
          <p:cNvPr id="457" name="cred3_a"/>
          <p:cNvSpPr txBox="1"/>
          <p:nvPr/>
        </p:nvSpPr>
        <p:spPr>
          <a:xfrm>
            <a:off x="502919" y="3400458"/>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Silver-lined mudskipper, Periophthalmus argentilineatus</a:t>
            </a:r>
          </a:p>
        </p:txBody>
      </p:sp>
      <p:sp>
        <p:nvSpPr>
          <p:cNvPr id="458" name="cred3_b"/>
          <p:cNvSpPr txBox="1"/>
          <p:nvPr/>
        </p:nvSpPr>
        <p:spPr>
          <a:xfrm>
            <a:off x="6446520" y="3406601"/>
            <a:ext cx="5242255"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Charles J. Sharp · CC BY-SA 4.0 · Wikimedia Commons</a:t>
            </a:r>
          </a:p>
        </p:txBody>
      </p:sp>
      <p:sp>
        <p:nvSpPr>
          <p:cNvPr id="459" name="cred4_a"/>
          <p:cNvSpPr txBox="1"/>
          <p:nvPr/>
        </p:nvSpPr>
        <p:spPr>
          <a:xfrm>
            <a:off x="502919" y="3949445"/>
            <a:ext cx="11185857"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100">
                <a:solidFill>
                  <a:srgbClr val="F5B301"/>
                </a:solidFill>
                <a:latin typeface="Arial"/>
                <a:ea typeface="Arial"/>
                <a:cs typeface="Arial"/>
                <a:sym typeface="Arial"/>
              </a:defRPr>
            </a:lvl1pPr>
          </a:lstStyle>
          <a:p>
            <a:pPr/>
            <a:r>
              <a:t>SOURCES</a:t>
            </a:r>
          </a:p>
        </p:txBody>
      </p:sp>
      <p:sp>
        <p:nvSpPr>
          <p:cNvPr id="460" name="cred5_a"/>
          <p:cNvSpPr txBox="1"/>
          <p:nvPr/>
        </p:nvSpPr>
        <p:spPr>
          <a:xfrm>
            <a:off x="502919" y="4461162"/>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Chalome Wongthim and the Prasae restoration; nitrogen and the gold leaves</a:t>
            </a:r>
          </a:p>
        </p:txBody>
      </p:sp>
      <p:sp>
        <p:nvSpPr>
          <p:cNvPr id="461" name="cred5_b"/>
          <p:cNvSpPr txBox="1"/>
          <p:nvPr/>
        </p:nvSpPr>
        <p:spPr>
          <a:xfrm>
            <a:off x="6446520" y="4378404"/>
            <a:ext cx="5242255" cy="3506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Sarakadee Magazine, "People and the Forest", 9 Aug 2023 (interviews 16–17 June 2023)</a:t>
            </a:r>
          </a:p>
        </p:txBody>
      </p:sp>
      <p:sp>
        <p:nvSpPr>
          <p:cNvPr id="462" name="cred6_a"/>
          <p:cNvSpPr txBox="1"/>
          <p:nvPr/>
        </p:nvSpPr>
        <p:spPr>
          <a:xfrm>
            <a:off x="502919" y="4991514"/>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Nitrogen shortage limits chlorophyll synthesis</a:t>
            </a:r>
          </a:p>
        </p:txBody>
      </p:sp>
      <p:sp>
        <p:nvSpPr>
          <p:cNvPr id="463" name="cred6_b"/>
          <p:cNvSpPr txBox="1"/>
          <p:nvPr/>
        </p:nvSpPr>
        <p:spPr>
          <a:xfrm>
            <a:off x="6446520" y="4908757"/>
            <a:ext cx="5242255"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Penn State Dept. of Plant Science, Nutritional Disorders; Zhang et al., J. Exp. Bot. 2022</a:t>
            </a:r>
          </a:p>
        </p:txBody>
      </p:sp>
      <p:sp>
        <p:nvSpPr>
          <p:cNvPr id="464" name="cred7_a"/>
          <p:cNvSpPr txBox="1"/>
          <p:nvPr/>
        </p:nvSpPr>
        <p:spPr>
          <a:xfrm>
            <a:off x="502919" y="5521866"/>
            <a:ext cx="57607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4E6"/>
                </a:solidFill>
                <a:latin typeface="Arial"/>
                <a:ea typeface="Arial"/>
                <a:cs typeface="Arial"/>
                <a:sym typeface="Arial"/>
              </a:defRPr>
            </a:lvl1pPr>
          </a:lstStyle>
          <a:p>
            <a:pPr/>
            <a:r>
              <a:t>Objectives and vocabulary</a:t>
            </a:r>
          </a:p>
        </p:txBody>
      </p:sp>
      <p:sp>
        <p:nvSpPr>
          <p:cNvPr id="465" name="cred7_b"/>
          <p:cNvSpPr txBox="1"/>
          <p:nvPr/>
        </p:nvSpPr>
        <p:spPr>
          <a:xfrm>
            <a:off x="6446520" y="5528008"/>
            <a:ext cx="5242255"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0E4C8"/>
                </a:solidFill>
                <a:latin typeface="Arial"/>
                <a:ea typeface="Arial"/>
                <a:cs typeface="Arial"/>
                <a:sym typeface="Arial"/>
              </a:defRPr>
            </a:lvl1pPr>
          </a:lstStyle>
          <a:p>
            <a:pPr/>
            <a:r>
              <a:t>CK-12 Lesson 19.1; GIS KS3 SoW, Y9 Term 1.1 Unit 2</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