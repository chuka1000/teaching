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media1.mp4" ContentType="video/unknown"/>
  <Override PartName="/ppt/notesSlides/notesSlide2.xml" ContentType="application/vnd.openxmlformats-officedocument.presentationml.notesSlide+xml"/>
  <Override PartName="/ppt/media/media2.mp4" ContentType="video/unknown"/>
  <Override PartName="/ppt/notesSlides/notesSlide3.xml" ContentType="application/vnd.openxmlformats-officedocument.presentationml.notesSlide+xml"/>
  <Override PartName="/ppt/media/media3.mp4" ContentType="video/unknown"/>
  <Override PartName="/ppt/notesSlides/notesSlide4.xml" ContentType="application/vnd.openxmlformats-officedocument.presentationml.notesSlide+xml"/>
  <Override PartName="/ppt/media/media4.mp4" ContentType="video/unknown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media5.mp4" ContentType="video/unknown"/>
  <Override PartName="/ppt/notesSlides/notesSlide7.xml" ContentType="application/vnd.openxmlformats-officedocument.presentationml.notesSlide+xml"/>
  <Override PartName="/ppt/media/media6.mp4" ContentType="video/unknown"/>
  <Override PartName="/ppt/notesSlides/notesSlide8.xml" ContentType="application/vnd.openxmlformats-officedocument.presentationml.notesSlide+xml"/>
  <Override PartName="/ppt/media/media7.mp4" ContentType="video/unknown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media8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 NOW — 10 minutes. Six clicks.</a:t>
            </a:r>
          </a:p>
          <a:p>
            <a:pPr/>
          </a:p>
          <a:p>
            <a:pPr/>
            <a:r>
              <a:t>Q1 to Q4 are the raw materials for today. Both equations come out of a gradient and an area, and Q4 is the shape of the area.</a:t>
            </a:r>
          </a:p>
          <a:p>
            <a:pPr/>
          </a:p>
          <a:p>
            <a:pPr/>
            <a:r>
              <a:t>Q4 SURPRISES THEM in a physics lesson. Tell them that is the point — they are about to build a physics equation out of a Year 8 area formula.</a:t>
            </a:r>
          </a:p>
          <a:p>
            <a:pPr/>
          </a:p>
          <a:p>
            <a:pPr/>
            <a:r>
              <a:t>Q5 AND Q6 are the same car. They can already do both without either equation, using last lesson’s graph rules. Say so when you mark them.</a:t>
            </a:r>
          </a:p>
          <a:p>
            <a:pPr/>
          </a:p>
          <a:p>
            <a:pPr/>
            <a:r>
              <a:t>CHANGE THE DATE before you teach.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TODAY — 1 minute. Four clicks. The banner matters: these are not formulae to memorise, they are last lesson’s graph rules written as algebra.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HOOK — 2 minutes. Four clicks.</a:t>
            </a:r>
          </a:p>
          <a:p>
            <a:pPr/>
          </a:p>
          <a:p>
            <a:pPr/>
            <a:r>
              <a:t>Hands up for each. Tally on the board.</a:t>
            </a:r>
          </a:p>
          <a:p>
            <a:pPr/>
          </a:p>
          <a:p>
            <a:pPr/>
            <a:r>
              <a:t>ANSWER: B, 400 m. Do not reveal it here — slide 5 gets it from the area.</a:t>
            </a:r>
          </a:p>
          <a:p>
            <a:pPr/>
          </a:p>
          <a:p>
            <a:pPr/>
            <a:r>
              <a:t>A IS 30 × 20: they used the final velocity for the whole journey. It was only going that fast at the very end.</a:t>
            </a:r>
          </a:p>
          <a:p>
            <a:pPr/>
          </a:p>
          <a:p>
            <a:pPr/>
            <a:r>
              <a:t>C IS 10 × 20: the starting velocity for the whole journey. Too slow.</a:t>
            </a:r>
          </a:p>
          <a:p>
            <a:pPr/>
          </a:p>
          <a:p>
            <a:pPr/>
            <a:r>
              <a:t>THE ANSWER IS BETWEEN THEM, and that is worth saying before you move on. The average of 10 and 30 is 20, and 20 × 20 = 400.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Shape 1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Six clicks: the graph with u and v marked, then the four steps.</a:t>
            </a:r>
          </a:p>
          <a:p>
            <a:pPr/>
          </a:p>
          <a:p>
            <a:pPr/>
            <a:r>
              <a:t>THEY ALREADY KNOW STEP 1. Say so. All you are doing is writing it in symbols.</a:t>
            </a:r>
          </a:p>
          <a:p>
            <a:pPr/>
          </a:p>
          <a:p>
            <a:pPr/>
            <a:r>
              <a:t>STEP 2: the rise is from u up to v, so the rise is v − u. The run is t. Point at the graph.</a:t>
            </a:r>
          </a:p>
          <a:p>
            <a:pPr/>
          </a:p>
          <a:p>
            <a:pPr/>
            <a:r>
              <a:t>STEP 4 is one rearrangement: multiply both sides by t, then add u. Do it on the board, do not just show it.</a:t>
            </a:r>
          </a:p>
          <a:p>
            <a:pPr/>
          </a:p>
          <a:p>
            <a:pPr/>
            <a:r>
              <a:t>CHECK IT AGAINST DO NOW Q5: u = 4, a = 4, t = 4 gives v = 4 + 16 = 20. Which is what the question said.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Shape 1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3 minutes. Six clicks.</a:t>
            </a:r>
          </a:p>
          <a:p>
            <a:pPr/>
          </a:p>
          <a:p>
            <a:pPr/>
            <a:r>
              <a:t>THE PARALLEL SIDES ARE u AND v. Turn the graph on its side in the air if it helps — the trapezium is lying down.</a:t>
            </a:r>
          </a:p>
          <a:p>
            <a:pPr/>
          </a:p>
          <a:p>
            <a:pPr/>
            <a:r>
              <a:t>STEP 4 SETTLES THE HOOK. Go back to the tally. ½(10 + 30) is 20, the average velocity, and 20 × 20 = 400 m.</a:t>
            </a:r>
          </a:p>
          <a:p>
            <a:pPr/>
          </a:p>
          <a:p>
            <a:pPr/>
            <a:r>
              <a:t>THE USEFUL SENTENCE: this equation is just "average velocity × time". If they remember nothing else, that gets them there.</a:t>
            </a:r>
          </a:p>
          <a:p>
            <a:pPr/>
          </a:p>
          <a:p>
            <a:pPr/>
            <a:r>
              <a:t>CHECK AGAINST DO NOW Q6: ½(4 + 20) × 4 = 48 m. Same answer they got from the graph.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Shape 2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DO — 5 minutes. Four clicks. Take answers from the room first.</a:t>
            </a:r>
          </a:p>
          <a:p>
            <a:pPr/>
          </a:p>
          <a:p>
            <a:pPr/>
            <a:r>
              <a:t>ROW 1 is hook answer A. It uses the final velocity for the whole journey.</a:t>
            </a:r>
          </a:p>
          <a:p>
            <a:pPr/>
          </a:p>
          <a:p>
            <a:pPr/>
            <a:r>
              <a:t>ROW 2 forgot u. a = (30 − 10) ÷ 20 = 1.0. Very common.</a:t>
            </a:r>
          </a:p>
          <a:p>
            <a:pPr/>
          </a:p>
          <a:p>
            <a:pPr/>
            <a:r>
              <a:t>ROW 3 is the "u is always zero" habit that forms when every early question starts from rest. Here u = 10.</a:t>
            </a:r>
          </a:p>
          <a:p>
            <a:pPr/>
          </a:p>
          <a:p>
            <a:pPr/>
            <a:r>
              <a:t>ROW 4 IS THE SUBTLE ONE. The train could be slowing down and still moving forwards the whole time. Negative a, positive s. This is last lesson’s falling-line question wearing different clothes.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4" name="Shape 2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COLD CALL — 6 minutes. Six clicks. Name a student, then ask. Thinking time before the answer.</a:t>
            </a:r>
          </a:p>
          <a:p>
            <a:pPr/>
          </a:p>
          <a:p>
            <a:pPr/>
            <a:r>
              <a:t>Q4 and Q5 are the same car, so Q5 should be quick once Q4 lands.</a:t>
            </a:r>
          </a:p>
          <a:p>
            <a:pPr/>
          </a:p>
          <a:p>
            <a:pPr/>
            <a:r>
              <a:t>Q6 IS THE ONE THAT MATTERS. Choosing the equation is the skill; doing the arithmetic is not. Ask two or three students how they decided.</a:t>
            </a:r>
          </a:p>
          <a:p>
            <a:pPr/>
          </a:p>
          <a:p>
            <a:pPr/>
            <a:r>
              <a:t>If a student cannot answer, take it elsewhere and come back for them to repeat it.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0" name="Shape 3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DO — 14 minutes. Four clicks.</a:t>
            </a:r>
          </a:p>
          <a:p>
            <a:pPr/>
          </a:p>
          <a:p>
            <a:pPr/>
            <a:r>
              <a:t>THE LIST FIRST. u, v, a, s, t down the side of the page, filled in from the question, with a gap for the unknown. It turns "which equation?" into "which one has three things I know?"</a:t>
            </a:r>
          </a:p>
          <a:p>
            <a:pPr/>
          </a:p>
          <a:p>
            <a:pPr/>
            <a:r>
              <a:t>CIRCULATE WITH ONE QUESTION: "what have you written down for u?"</a:t>
            </a:r>
          </a:p>
          <a:p>
            <a:pPr/>
          </a:p>
          <a:p>
            <a:pPr/>
            <a:r>
              <a:t>WHERE THEY WILL STALL: Q8, where s is given and v is the unknown, and the Gold rearrangements.</a:t>
            </a:r>
          </a:p>
          <a:p>
            <a:pPr/>
          </a:p>
          <a:p>
            <a:pPr/>
            <a:r>
              <a:t>AT 3 MINUTES REMAINING, stop them. Answers are on the next slide.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8" name="Shape 3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ANSWERS — 3 minutes. Five clicks, two at a time. They mark their own in a different colour.</a:t>
            </a:r>
          </a:p>
          <a:p>
            <a:pPr/>
          </a:p>
          <a:p>
            <a:pPr/>
            <a:r>
              <a:t>Q7 has a NEGATIVE acceleration and a POSITIVE displacement. That pairing is worth thirty seconds — it is We Do row 4.</a:t>
            </a:r>
          </a:p>
          <a:p>
            <a:pPr/>
          </a:p>
          <a:p>
            <a:pPr/>
            <a:r>
              <a:t>Q8 is the rearrangement. Show it on the board: 100 = ½ × v × 8 gives 100 = 4v, so v = 25.</a:t>
            </a:r>
          </a:p>
          <a:p>
            <a:pPr/>
          </a:p>
          <a:p>
            <a:pPr/>
            <a:r>
              <a:t>Q9 has a = 0, so the object is at constant velocity. Some will think the question is broken.</a:t>
            </a:r>
          </a:p>
          <a:p>
            <a:pPr/>
          </a:p>
          <a:p>
            <a:pPr/>
            <a:r>
              <a:t>The Gold answers are not here — take two or three out loud.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3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7" name="Shape 3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PLENARY — 3 minutes. Six clicks.</a:t>
            </a:r>
          </a:p>
          <a:p>
            <a:pPr/>
          </a:p>
          <a:p>
            <a:pPr/>
            <a:r>
              <a:t>Q3 checks they know WHICH graph feature gave WHICH equation. The gradient gave v = u + at; the area gave s = ½(u + v)t. If this splits the room, reteach the two I Do slides in the next Do Now.</a:t>
            </a:r>
          </a:p>
          <a:p>
            <a:pPr/>
          </a:p>
          <a:p>
            <a:pPr/>
            <a:r>
              <a:t>Q5 IS THE HONEST LIMIT of everything today. If the acceleration changes, neither equation works — and a curved velocity–time graph is exactly that case.</a:t>
            </a:r>
          </a:p>
          <a:p>
            <a:pPr/>
          </a:p>
          <a:p>
            <a:pPr/>
            <a:r>
              <a:t>The closing line is the habit to leave them with.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ideo" Target="../media/media1.mp4"/><Relationship Id="rId4" Type="http://schemas.microsoft.com/office/2007/relationships/media" Target="../media/media1.mp4"/><Relationship Id="rId5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video" Target="../media/media2.mp4"/><Relationship Id="rId4" Type="http://schemas.microsoft.com/office/2007/relationships/media" Target="../media/media2.mp4"/><Relationship Id="rId5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video" Target="../media/media3.mp4"/><Relationship Id="rId4" Type="http://schemas.microsoft.com/office/2007/relationships/media" Target="../media/media3.mp4"/><Relationship Id="rId5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video" Target="../media/media5.mp4"/><Relationship Id="rId4" Type="http://schemas.microsoft.com/office/2007/relationships/media" Target="../media/media5.mp4"/><Relationship Id="rId5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video" Target="../media/media6.mp4"/><Relationship Id="rId4" Type="http://schemas.microsoft.com/office/2007/relationships/media" Target="../media/media6.mp4"/><Relationship Id="rId5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video" Target="../media/media7.mp4"/><Relationship Id="rId4" Type="http://schemas.microsoft.com/office/2007/relationships/media" Target="../media/media7.mp4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video" Target="../media/media4.mp4"/><Relationship Id="rId4" Type="http://schemas.microsoft.com/office/2007/relationships/media" Target="../media/media4.mp4"/><Relationship Id="rId5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video" Target="../media/media8.mp4"/><Relationship Id="rId4" Type="http://schemas.microsoft.com/office/2007/relationships/media" Target="../media/media8.mp4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1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2" name="DO NOW · 10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DO NOW · 10 MIN</a:t>
              </a:r>
            </a:p>
          </p:txBody>
        </p:sp>
      </p:grpSp>
      <p:sp>
        <p:nvSpPr>
          <p:cNvPr id="24" name="lesson_title"/>
          <p:cNvSpPr txBox="1"/>
          <p:nvPr/>
        </p:nvSpPr>
        <p:spPr>
          <a:xfrm>
            <a:off x="3840479" y="312419"/>
            <a:ext cx="475488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6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Equations of Motion</a:t>
            </a:r>
          </a:p>
        </p:txBody>
      </p:sp>
      <p:sp>
        <p:nvSpPr>
          <p:cNvPr id="25" name="lesson_date"/>
          <p:cNvSpPr txBox="1"/>
          <p:nvPr/>
        </p:nvSpPr>
        <p:spPr>
          <a:xfrm>
            <a:off x="8534095" y="382938"/>
            <a:ext cx="310896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300"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Friday 18 September 2026</a:t>
            </a:r>
          </a:p>
        </p:txBody>
      </p:sp>
      <p:sp>
        <p:nvSpPr>
          <p:cNvPr id="26" name="rule"/>
          <p:cNvSpPr/>
          <p:nvPr/>
        </p:nvSpPr>
        <p:spPr>
          <a:xfrm>
            <a:off x="1170432" y="896111"/>
            <a:ext cx="10472623" cy="3657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d0_bg"/>
          <p:cNvSpPr/>
          <p:nvPr/>
        </p:nvSpPr>
        <p:spPr>
          <a:xfrm>
            <a:off x="1170432" y="1133855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d0_badge"/>
          <p:cNvSpPr/>
          <p:nvPr/>
        </p:nvSpPr>
        <p:spPr>
          <a:xfrm>
            <a:off x="1371600" y="1298447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d0_num"/>
          <p:cNvSpPr txBox="1"/>
          <p:nvPr/>
        </p:nvSpPr>
        <p:spPr>
          <a:xfrm>
            <a:off x="1371600" y="138887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" name="d0_q"/>
          <p:cNvSpPr txBox="1"/>
          <p:nvPr/>
        </p:nvSpPr>
        <p:spPr>
          <a:xfrm>
            <a:off x="1901951" y="1344151"/>
            <a:ext cx="4166465" cy="548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does the gradient of a velocity–time graph give you?</a:t>
            </a:r>
          </a:p>
        </p:txBody>
      </p:sp>
      <p:grpSp>
        <p:nvGrpSpPr>
          <p:cNvPr id="33" name="d0_a"/>
          <p:cNvGrpSpPr/>
          <p:nvPr/>
        </p:nvGrpSpPr>
        <p:grpSpPr>
          <a:xfrm>
            <a:off x="1371600" y="2048255"/>
            <a:ext cx="4696817" cy="438914"/>
            <a:chOff x="0" y="0"/>
            <a:chExt cx="4696816" cy="438912"/>
          </a:xfrm>
        </p:grpSpPr>
        <p:sp>
          <p:nvSpPr>
            <p:cNvPr id="31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2" name="The acceleration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acceleration.</a:t>
              </a:r>
            </a:p>
          </p:txBody>
        </p:sp>
      </p:grpSp>
      <p:sp>
        <p:nvSpPr>
          <p:cNvPr id="34" name="d1_bg"/>
          <p:cNvSpPr/>
          <p:nvPr/>
        </p:nvSpPr>
        <p:spPr>
          <a:xfrm>
            <a:off x="6543903" y="1133855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d1_badge"/>
          <p:cNvSpPr/>
          <p:nvPr/>
        </p:nvSpPr>
        <p:spPr>
          <a:xfrm>
            <a:off x="6745072" y="1298447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d1_num"/>
          <p:cNvSpPr txBox="1"/>
          <p:nvPr/>
        </p:nvSpPr>
        <p:spPr>
          <a:xfrm>
            <a:off x="6745072" y="138887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" name="d1_q"/>
          <p:cNvSpPr txBox="1"/>
          <p:nvPr/>
        </p:nvSpPr>
        <p:spPr>
          <a:xfrm>
            <a:off x="7275424" y="1344151"/>
            <a:ext cx="4166465" cy="548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does the area under a velocity–time graph give you?</a:t>
            </a:r>
          </a:p>
        </p:txBody>
      </p:sp>
      <p:grpSp>
        <p:nvGrpSpPr>
          <p:cNvPr id="40" name="d1_a"/>
          <p:cNvGrpSpPr/>
          <p:nvPr/>
        </p:nvGrpSpPr>
        <p:grpSpPr>
          <a:xfrm>
            <a:off x="6745072" y="2048255"/>
            <a:ext cx="4696817" cy="438914"/>
            <a:chOff x="0" y="0"/>
            <a:chExt cx="4696816" cy="438912"/>
          </a:xfrm>
        </p:grpSpPr>
        <p:sp>
          <p:nvSpPr>
            <p:cNvPr id="38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39" name="The displacement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displacement.</a:t>
              </a:r>
            </a:p>
          </p:txBody>
        </p:sp>
      </p:grpSp>
      <p:sp>
        <p:nvSpPr>
          <p:cNvPr id="41" name="d2_bg"/>
          <p:cNvSpPr/>
          <p:nvPr/>
        </p:nvSpPr>
        <p:spPr>
          <a:xfrm>
            <a:off x="1170432" y="2798064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d2_badge"/>
          <p:cNvSpPr/>
          <p:nvPr/>
        </p:nvSpPr>
        <p:spPr>
          <a:xfrm>
            <a:off x="1371600" y="2962655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d2_num"/>
          <p:cNvSpPr txBox="1"/>
          <p:nvPr/>
        </p:nvSpPr>
        <p:spPr>
          <a:xfrm>
            <a:off x="1371600" y="30530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" name="d2_q"/>
          <p:cNvSpPr txBox="1"/>
          <p:nvPr/>
        </p:nvSpPr>
        <p:spPr>
          <a:xfrm>
            <a:off x="1901951" y="3008359"/>
            <a:ext cx="4166465" cy="548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 motion equations, what does ‘u’ stand for?</a:t>
            </a:r>
          </a:p>
        </p:txBody>
      </p:sp>
      <p:grpSp>
        <p:nvGrpSpPr>
          <p:cNvPr id="47" name="d2_a"/>
          <p:cNvGrpSpPr/>
          <p:nvPr/>
        </p:nvGrpSpPr>
        <p:grpSpPr>
          <a:xfrm>
            <a:off x="1371600" y="3712464"/>
            <a:ext cx="4696817" cy="438913"/>
            <a:chOff x="0" y="0"/>
            <a:chExt cx="4696816" cy="438912"/>
          </a:xfrm>
        </p:grpSpPr>
        <p:sp>
          <p:nvSpPr>
            <p:cNvPr id="45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46" name="The starting velocity.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starting velocity.</a:t>
              </a:r>
            </a:p>
          </p:txBody>
        </p:sp>
      </p:grpSp>
      <p:sp>
        <p:nvSpPr>
          <p:cNvPr id="48" name="d3_bg"/>
          <p:cNvSpPr/>
          <p:nvPr/>
        </p:nvSpPr>
        <p:spPr>
          <a:xfrm>
            <a:off x="6543903" y="2798064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d3_badge"/>
          <p:cNvSpPr/>
          <p:nvPr/>
        </p:nvSpPr>
        <p:spPr>
          <a:xfrm>
            <a:off x="6745072" y="2962655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d3_num"/>
          <p:cNvSpPr txBox="1"/>
          <p:nvPr/>
        </p:nvSpPr>
        <p:spPr>
          <a:xfrm>
            <a:off x="6745072" y="30530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1" name="d3_q"/>
          <p:cNvSpPr txBox="1"/>
          <p:nvPr/>
        </p:nvSpPr>
        <p:spPr>
          <a:xfrm>
            <a:off x="7275424" y="3148059"/>
            <a:ext cx="4166465" cy="269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the area of a trapezium?</a:t>
            </a:r>
          </a:p>
        </p:txBody>
      </p:sp>
      <p:grpSp>
        <p:nvGrpSpPr>
          <p:cNvPr id="54" name="d3_a"/>
          <p:cNvGrpSpPr/>
          <p:nvPr/>
        </p:nvGrpSpPr>
        <p:grpSpPr>
          <a:xfrm>
            <a:off x="6745072" y="3712464"/>
            <a:ext cx="4696817" cy="438913"/>
            <a:chOff x="0" y="0"/>
            <a:chExt cx="4696816" cy="438912"/>
          </a:xfrm>
        </p:grpSpPr>
        <p:sp>
          <p:nvSpPr>
            <p:cNvPr id="52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53" name="½ (a + b) × h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½ (a + b) × h</a:t>
              </a:r>
            </a:p>
          </p:txBody>
        </p:sp>
      </p:grpSp>
      <p:sp>
        <p:nvSpPr>
          <p:cNvPr id="55" name="d4_bg"/>
          <p:cNvSpPr/>
          <p:nvPr/>
        </p:nvSpPr>
        <p:spPr>
          <a:xfrm>
            <a:off x="1170432" y="4462271"/>
            <a:ext cx="5099152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d4_badge"/>
          <p:cNvSpPr/>
          <p:nvPr/>
        </p:nvSpPr>
        <p:spPr>
          <a:xfrm>
            <a:off x="1371600" y="4626864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d4_num"/>
          <p:cNvSpPr txBox="1"/>
          <p:nvPr/>
        </p:nvSpPr>
        <p:spPr>
          <a:xfrm>
            <a:off x="1371600" y="4717288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" name="d4_q"/>
          <p:cNvSpPr txBox="1"/>
          <p:nvPr/>
        </p:nvSpPr>
        <p:spPr>
          <a:xfrm>
            <a:off x="1901951" y="4672567"/>
            <a:ext cx="4166465" cy="548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car goes from 4 to 20 m s⁻¹ in 4.0 s. Find a.</a:t>
            </a:r>
          </a:p>
        </p:txBody>
      </p:sp>
      <p:grpSp>
        <p:nvGrpSpPr>
          <p:cNvPr id="61" name="d4_a"/>
          <p:cNvGrpSpPr/>
          <p:nvPr/>
        </p:nvGrpSpPr>
        <p:grpSpPr>
          <a:xfrm>
            <a:off x="1371600" y="5376671"/>
            <a:ext cx="4696817" cy="438913"/>
            <a:chOff x="0" y="0"/>
            <a:chExt cx="4696816" cy="438912"/>
          </a:xfrm>
        </p:grpSpPr>
        <p:sp>
          <p:nvSpPr>
            <p:cNvPr id="59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60" name="4 m s⁻²"/>
            <p:cNvSpPr txBox="1"/>
            <p:nvPr/>
          </p:nvSpPr>
          <p:spPr>
            <a:xfrm>
              <a:off x="35035" y="104139"/>
              <a:ext cx="4626746" cy="2306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4 m s⁻²</a:t>
              </a:r>
            </a:p>
          </p:txBody>
        </p:sp>
      </p:grpSp>
      <p:sp>
        <p:nvSpPr>
          <p:cNvPr id="62" name="d5_bg"/>
          <p:cNvSpPr/>
          <p:nvPr/>
        </p:nvSpPr>
        <p:spPr>
          <a:xfrm>
            <a:off x="6543903" y="4462271"/>
            <a:ext cx="5099153" cy="1481329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d5_badge"/>
          <p:cNvSpPr/>
          <p:nvPr/>
        </p:nvSpPr>
        <p:spPr>
          <a:xfrm>
            <a:off x="6745072" y="4626864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d5_num"/>
          <p:cNvSpPr txBox="1"/>
          <p:nvPr/>
        </p:nvSpPr>
        <p:spPr>
          <a:xfrm>
            <a:off x="6745072" y="4717288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5" name="d5_q"/>
          <p:cNvSpPr txBox="1"/>
          <p:nvPr/>
        </p:nvSpPr>
        <p:spPr>
          <a:xfrm>
            <a:off x="7275424" y="4672567"/>
            <a:ext cx="4166465" cy="548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far did the same car travel in those 4 s?</a:t>
            </a:r>
          </a:p>
        </p:txBody>
      </p:sp>
      <p:grpSp>
        <p:nvGrpSpPr>
          <p:cNvPr id="68" name="d5_a"/>
          <p:cNvGrpSpPr/>
          <p:nvPr/>
        </p:nvGrpSpPr>
        <p:grpSpPr>
          <a:xfrm>
            <a:off x="6745072" y="5376671"/>
            <a:ext cx="4696817" cy="438913"/>
            <a:chOff x="0" y="0"/>
            <a:chExt cx="4696816" cy="438912"/>
          </a:xfrm>
        </p:grpSpPr>
        <p:sp>
          <p:nvSpPr>
            <p:cNvPr id="66" name="Rounded Rectangle"/>
            <p:cNvSpPr/>
            <p:nvPr/>
          </p:nvSpPr>
          <p:spPr>
            <a:xfrm>
              <a:off x="0" y="0"/>
              <a:ext cx="4696817" cy="438913"/>
            </a:xfrm>
            <a:prstGeom prst="roundRect">
              <a:avLst>
                <a:gd name="adj" fmla="val 20833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67" name="48 m"/>
            <p:cNvSpPr txBox="1"/>
            <p:nvPr/>
          </p:nvSpPr>
          <p:spPr>
            <a:xfrm>
              <a:off x="35035" y="113606"/>
              <a:ext cx="4626746" cy="21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5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48 m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20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build="whole" bldLvl="1" animBg="1" rev="0" advAuto="0" spid="68" grpId="7"/>
      <p:bldP build="whole" bldLvl="1" animBg="1" rev="0" advAuto="0" spid="33" grpId="2"/>
      <p:bldP build="whole" bldLvl="1" animBg="1" rev="0" advAuto="0" spid="54" grpId="5"/>
      <p:bldP build="whole" bldLvl="1" animBg="1" rev="0" advAuto="0" spid="47" grpId="4"/>
      <p:bldP build="whole" bldLvl="1" animBg="1" rev="0" advAuto="0" spid="61" grpId="6"/>
      <p:bldP build="whole" bldLvl="1" animBg="1" rev="0" advAuto="0" spid="40" grpId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5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73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74" name="TODAY · 1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TODAY · 1 MIN</a:t>
              </a:r>
            </a:p>
          </p:txBody>
        </p:sp>
      </p:grpSp>
      <p:sp>
        <p:nvSpPr>
          <p:cNvPr id="76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Learning Objectives</a:t>
            </a:r>
          </a:p>
        </p:txBody>
      </p:sp>
      <p:grpSp>
        <p:nvGrpSpPr>
          <p:cNvPr id="81" name="o0"/>
          <p:cNvGrpSpPr/>
          <p:nvPr/>
        </p:nvGrpSpPr>
        <p:grpSpPr>
          <a:xfrm>
            <a:off x="1170432" y="2194560"/>
            <a:ext cx="3307994" cy="1792224"/>
            <a:chOff x="0" y="0"/>
            <a:chExt cx="3307993" cy="1792223"/>
          </a:xfrm>
        </p:grpSpPr>
        <p:sp>
          <p:nvSpPr>
            <p:cNvPr id="77" name="o0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8" name="o0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" name="o0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80" name="o0_t"/>
            <p:cNvSpPr txBox="1"/>
            <p:nvPr/>
          </p:nvSpPr>
          <p:spPr>
            <a:xfrm>
              <a:off x="237744" y="713231"/>
              <a:ext cx="2832506" cy="5486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defRPr b="1" sz="17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Get  v = u + at  from the gradient of a graph.</a:t>
              </a:r>
            </a:p>
          </p:txBody>
        </p:sp>
      </p:grpSp>
      <p:grpSp>
        <p:nvGrpSpPr>
          <p:cNvPr id="86" name="o1"/>
          <p:cNvGrpSpPr/>
          <p:nvPr/>
        </p:nvGrpSpPr>
        <p:grpSpPr>
          <a:xfrm>
            <a:off x="4752745" y="2194560"/>
            <a:ext cx="3307995" cy="1792224"/>
            <a:chOff x="0" y="0"/>
            <a:chExt cx="3307993" cy="1792223"/>
          </a:xfrm>
        </p:grpSpPr>
        <p:sp>
          <p:nvSpPr>
            <p:cNvPr id="82" name="o1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3" name="o1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" name="o1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85" name="o1_t"/>
            <p:cNvSpPr txBox="1"/>
            <p:nvPr/>
          </p:nvSpPr>
          <p:spPr>
            <a:xfrm>
              <a:off x="237744" y="713231"/>
              <a:ext cx="2832506" cy="5486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defRPr b="1" sz="17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Get  s = ½(u + v)t  from the area under it.</a:t>
              </a:r>
            </a:p>
          </p:txBody>
        </p:sp>
      </p:grpSp>
      <p:grpSp>
        <p:nvGrpSpPr>
          <p:cNvPr id="91" name="o2"/>
          <p:cNvGrpSpPr/>
          <p:nvPr/>
        </p:nvGrpSpPr>
        <p:grpSpPr>
          <a:xfrm>
            <a:off x="8335061" y="2194560"/>
            <a:ext cx="3307994" cy="1792224"/>
            <a:chOff x="0" y="0"/>
            <a:chExt cx="3307993" cy="1792223"/>
          </a:xfrm>
        </p:grpSpPr>
        <p:sp>
          <p:nvSpPr>
            <p:cNvPr id="87" name="o2_bg"/>
            <p:cNvSpPr/>
            <p:nvPr/>
          </p:nvSpPr>
          <p:spPr>
            <a:xfrm>
              <a:off x="0" y="0"/>
              <a:ext cx="3307994" cy="1792224"/>
            </a:xfrm>
            <a:prstGeom prst="roundRect">
              <a:avLst>
                <a:gd name="adj" fmla="val 510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" name="o2_badge"/>
            <p:cNvSpPr/>
            <p:nvPr/>
          </p:nvSpPr>
          <p:spPr>
            <a:xfrm>
              <a:off x="237744" y="201168"/>
              <a:ext cx="384049" cy="384049"/>
            </a:xfrm>
            <a:prstGeom prst="ellipse">
              <a:avLst/>
            </a:prstGeom>
            <a:solidFill>
              <a:srgbClr val="FF8A3D"/>
            </a:solidFill>
            <a:ln w="1270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9" name="o2_num"/>
            <p:cNvSpPr txBox="1"/>
            <p:nvPr/>
          </p:nvSpPr>
          <p:spPr>
            <a:xfrm>
              <a:off x="237744" y="291591"/>
              <a:ext cx="384048" cy="20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90" name="o2_t"/>
            <p:cNvSpPr txBox="1"/>
            <p:nvPr/>
          </p:nvSpPr>
          <p:spPr>
            <a:xfrm>
              <a:off x="237744" y="713231"/>
              <a:ext cx="2832506" cy="5486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defRPr b="1" sz="17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Choose the right equation and use it.</a:t>
              </a:r>
            </a:p>
          </p:txBody>
        </p:sp>
      </p:grpSp>
      <p:grpSp>
        <p:nvGrpSpPr>
          <p:cNvPr id="94" name="obj_banner"/>
          <p:cNvGrpSpPr/>
          <p:nvPr/>
        </p:nvGrpSpPr>
        <p:grpSpPr>
          <a:xfrm>
            <a:off x="1170432" y="4279391"/>
            <a:ext cx="10472623" cy="640081"/>
            <a:chOff x="0" y="0"/>
            <a:chExt cx="10472622" cy="640080"/>
          </a:xfrm>
        </p:grpSpPr>
        <p:sp>
          <p:nvSpPr>
            <p:cNvPr id="92" name="Rounded Rectangle"/>
            <p:cNvSpPr/>
            <p:nvPr/>
          </p:nvSpPr>
          <p:spPr>
            <a:xfrm>
              <a:off x="0" y="0"/>
              <a:ext cx="10472623" cy="640081"/>
            </a:xfrm>
            <a:prstGeom prst="roundRect">
              <a:avLst>
                <a:gd name="adj" fmla="val 17143"/>
              </a:avLst>
            </a:prstGeom>
            <a:solidFill>
              <a:srgbClr val="17203F"/>
            </a:solidFill>
            <a:ln w="9525" cap="flat">
              <a:solidFill>
                <a:srgbClr val="1720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700"/>
              </a:pPr>
            </a:p>
          </p:txBody>
        </p:sp>
        <p:sp>
          <p:nvSpPr>
            <p:cNvPr id="93" name="You will learn where these equations come from."/>
            <p:cNvSpPr txBox="1"/>
            <p:nvPr/>
          </p:nvSpPr>
          <p:spPr>
            <a:xfrm>
              <a:off x="36901" y="196571"/>
              <a:ext cx="10398821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700">
                  <a:solidFill>
                    <a:srgbClr val="FF8A3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will learn where these equations come from.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8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seq concurrent="1" prevAc="none" nextAc="seek">
              <p:cTn id="29" evtFilter="cancelBubble" nodeType="interactiveSeq" restart="whenNotActive" fill="hold">
                <p:stCondLst>
                  <p:cond delay="0" evt="onClick">
                    <p:tgtEl>
                      <p:spTgt spid="7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3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build="whole" bldLvl="1" animBg="1" rev="0" advAuto="0" spid="86" grpId="3"/>
      <p:bldP build="whole" bldLvl="1" animBg="1" rev="0" advAuto="0" spid="94" grpId="5"/>
      <p:bldP build="whole" bldLvl="1" animBg="1" rev="0" advAuto="0" spid="81" grpId="2"/>
      <p:bldP build="whole" bldLvl="1" animBg="1" rev="0" advAuto="0" spid="91" grpId="4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1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00" name="HOOK · 2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HOOK · 2 MIN</a:t>
              </a:r>
            </a:p>
          </p:txBody>
        </p:sp>
      </p:grpSp>
      <p:sp>
        <p:nvSpPr>
          <p:cNvPr id="102" name="slide_title"/>
          <p:cNvSpPr txBox="1"/>
          <p:nvPr/>
        </p:nvSpPr>
        <p:spPr>
          <a:xfrm>
            <a:off x="1170432" y="1041554"/>
            <a:ext cx="10472623" cy="49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4000"/>
              </a:lnSpc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 train speeds up from 10 to 30 m s⁻¹ in 20 s.</a:t>
            </a:r>
          </a:p>
        </p:txBody>
      </p:sp>
      <p:sp>
        <p:nvSpPr>
          <p:cNvPr id="103" name="slide_sub"/>
          <p:cNvSpPr txBox="1"/>
          <p:nvPr/>
        </p:nvSpPr>
        <p:spPr>
          <a:xfrm>
            <a:off x="1170432" y="1872925"/>
            <a:ext cx="10472623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far does it travel?</a:t>
            </a:r>
          </a:p>
        </p:txBody>
      </p:sp>
      <p:grpSp>
        <p:nvGrpSpPr>
          <p:cNvPr id="107" name="h0"/>
          <p:cNvGrpSpPr/>
          <p:nvPr/>
        </p:nvGrpSpPr>
        <p:grpSpPr>
          <a:xfrm>
            <a:off x="1170432" y="2487167"/>
            <a:ext cx="3307994" cy="1554481"/>
            <a:chOff x="0" y="0"/>
            <a:chExt cx="3307993" cy="1554480"/>
          </a:xfrm>
        </p:grpSpPr>
        <p:sp>
          <p:nvSpPr>
            <p:cNvPr id="104" name="h0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" name="h0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6" name="h0_t"/>
            <p:cNvSpPr txBox="1"/>
            <p:nvPr/>
          </p:nvSpPr>
          <p:spPr>
            <a:xfrm>
              <a:off x="256032" y="816102"/>
              <a:ext cx="2795930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600 m</a:t>
              </a:r>
            </a:p>
          </p:txBody>
        </p:sp>
      </p:grpSp>
      <p:grpSp>
        <p:nvGrpSpPr>
          <p:cNvPr id="111" name="h1"/>
          <p:cNvGrpSpPr/>
          <p:nvPr/>
        </p:nvGrpSpPr>
        <p:grpSpPr>
          <a:xfrm>
            <a:off x="4752745" y="2487167"/>
            <a:ext cx="3307995" cy="1554481"/>
            <a:chOff x="0" y="0"/>
            <a:chExt cx="3307993" cy="1554480"/>
          </a:xfrm>
        </p:grpSpPr>
        <p:sp>
          <p:nvSpPr>
            <p:cNvPr id="108" name="h1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9" name="h1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0" name="h1_t"/>
            <p:cNvSpPr txBox="1"/>
            <p:nvPr/>
          </p:nvSpPr>
          <p:spPr>
            <a:xfrm>
              <a:off x="256032" y="816102"/>
              <a:ext cx="2795930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400 m</a:t>
              </a:r>
            </a:p>
          </p:txBody>
        </p:sp>
      </p:grpSp>
      <p:grpSp>
        <p:nvGrpSpPr>
          <p:cNvPr id="115" name="h2"/>
          <p:cNvGrpSpPr/>
          <p:nvPr/>
        </p:nvGrpSpPr>
        <p:grpSpPr>
          <a:xfrm>
            <a:off x="8335061" y="2487167"/>
            <a:ext cx="3307994" cy="1554481"/>
            <a:chOff x="0" y="0"/>
            <a:chExt cx="3307993" cy="1554480"/>
          </a:xfrm>
        </p:grpSpPr>
        <p:sp>
          <p:nvSpPr>
            <p:cNvPr id="112" name="h2_bg"/>
            <p:cNvSpPr/>
            <p:nvPr/>
          </p:nvSpPr>
          <p:spPr>
            <a:xfrm>
              <a:off x="0" y="0"/>
              <a:ext cx="3307994" cy="1554481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3" name="h2_k"/>
            <p:cNvSpPr txBox="1"/>
            <p:nvPr/>
          </p:nvSpPr>
          <p:spPr>
            <a:xfrm>
              <a:off x="256032" y="239268"/>
              <a:ext cx="548640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600">
                  <a:solidFill>
                    <a:srgbClr val="E03D6B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4" name="h2_t"/>
            <p:cNvSpPr txBox="1"/>
            <p:nvPr/>
          </p:nvSpPr>
          <p:spPr>
            <a:xfrm>
              <a:off x="256032" y="816102"/>
              <a:ext cx="2795930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4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200 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0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Class="entr" nodeType="afterEffect" presetID="10" grpId="4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0" fill="hold" display="0">
                  <p:stCondLst>
                    <p:cond delay="indefinite"/>
                  </p:stCondLst>
                </p:cTn>
                <p:tgtEl>
                  <p:spTgt spid="98"/>
                </p:tgtEl>
              </p:cMediaNode>
            </p:video>
            <p:seq concurrent="1" prevAc="none" nextAc="seek">
              <p:cTn id="21" evtFilter="cancelBubble" nodeType="interactiveSeq" restart="whenNotActive" fill="hold">
                <p:stCondLst>
                  <p:cond delay="0" evt="onClick">
                    <p:tgtEl>
                      <p:spTgt spid="9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" dur="1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98"/>
                  </p:tgtEl>
                </p:cond>
              </p:nextCondLst>
            </p:seq>
          </p:childTnLst>
        </p:cTn>
      </p:par>
    </p:tnLst>
    <p:bldLst>
      <p:bldP build="whole" bldLvl="1" animBg="1" rev="0" advAuto="0" spid="107" grpId="2"/>
      <p:bldP build="whole" bldLvl="1" animBg="1" rev="0" advAuto="0" spid="111" grpId="3"/>
      <p:bldP build="whole" bldLvl="1" animBg="1" rev="0" advAuto="0" spid="115" grpId="4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2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120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21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123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gradient gives you the first equation</a:t>
            </a:r>
          </a:p>
        </p:txBody>
      </p:sp>
      <p:grpSp>
        <p:nvGrpSpPr>
          <p:cNvPr id="135" name="g1_graph"/>
          <p:cNvGrpSpPr/>
          <p:nvPr/>
        </p:nvGrpSpPr>
        <p:grpSpPr>
          <a:xfrm>
            <a:off x="1024127" y="2486152"/>
            <a:ext cx="4535425" cy="3028790"/>
            <a:chOff x="0" y="0"/>
            <a:chExt cx="4535424" cy="3028789"/>
          </a:xfrm>
        </p:grpSpPr>
        <p:sp>
          <p:nvSpPr>
            <p:cNvPr id="124" name="g1_panel"/>
            <p:cNvSpPr/>
            <p:nvPr/>
          </p:nvSpPr>
          <p:spPr>
            <a:xfrm>
              <a:off x="329183" y="348488"/>
              <a:ext cx="4206242" cy="2377441"/>
            </a:xfrm>
            <a:prstGeom prst="rect">
              <a:avLst/>
            </a:prstGeom>
            <a:solidFill>
              <a:srgbClr val="FFFFFF"/>
            </a:solidFill>
            <a:ln w="1524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5" name="g1_ay"/>
            <p:cNvSpPr/>
            <p:nvPr/>
          </p:nvSpPr>
          <p:spPr>
            <a:xfrm flipH="1">
              <a:off x="329183" y="348488"/>
              <a:ext cx="1" cy="2377441"/>
            </a:xfrm>
            <a:prstGeom prst="line">
              <a:avLst/>
            </a:prstGeom>
            <a:noFill/>
            <a:ln w="2032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6" name="g1_ax"/>
            <p:cNvSpPr/>
            <p:nvPr/>
          </p:nvSpPr>
          <p:spPr>
            <a:xfrm>
              <a:off x="329183" y="2725928"/>
              <a:ext cx="4206241" cy="1"/>
            </a:xfrm>
            <a:prstGeom prst="line">
              <a:avLst/>
            </a:prstGeom>
            <a:noFill/>
            <a:ln w="2032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7" name="g1_yl"/>
            <p:cNvSpPr txBox="1"/>
            <p:nvPr/>
          </p:nvSpPr>
          <p:spPr>
            <a:xfrm>
              <a:off x="237743" y="0"/>
              <a:ext cx="2194562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 / m s⁻¹</a:t>
              </a:r>
            </a:p>
          </p:txBody>
        </p:sp>
        <p:sp>
          <p:nvSpPr>
            <p:cNvPr id="128" name="g1_xl"/>
            <p:cNvSpPr txBox="1"/>
            <p:nvPr/>
          </p:nvSpPr>
          <p:spPr>
            <a:xfrm>
              <a:off x="3346704" y="2843690"/>
              <a:ext cx="1188721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 / s</a:t>
              </a:r>
            </a:p>
          </p:txBody>
        </p:sp>
        <p:sp>
          <p:nvSpPr>
            <p:cNvPr id="129" name="g1_g1"/>
            <p:cNvSpPr/>
            <p:nvPr/>
          </p:nvSpPr>
          <p:spPr>
            <a:xfrm>
              <a:off x="329183" y="2131568"/>
              <a:ext cx="4206241" cy="1"/>
            </a:xfrm>
            <a:prstGeom prst="line">
              <a:avLst/>
            </a:prstGeom>
            <a:noFill/>
            <a:ln w="12700" cap="flat">
              <a:solidFill>
                <a:srgbClr val="EDF0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0" name="g1_g2"/>
            <p:cNvSpPr/>
            <p:nvPr/>
          </p:nvSpPr>
          <p:spPr>
            <a:xfrm>
              <a:off x="329183" y="1537208"/>
              <a:ext cx="4206241" cy="1"/>
            </a:xfrm>
            <a:prstGeom prst="line">
              <a:avLst/>
            </a:prstGeom>
            <a:noFill/>
            <a:ln w="12700" cap="flat">
              <a:solidFill>
                <a:srgbClr val="EDF0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1" name="g1_g3"/>
            <p:cNvSpPr/>
            <p:nvPr/>
          </p:nvSpPr>
          <p:spPr>
            <a:xfrm>
              <a:off x="329183" y="942848"/>
              <a:ext cx="4206241" cy="1"/>
            </a:xfrm>
            <a:prstGeom prst="line">
              <a:avLst/>
            </a:prstGeom>
            <a:noFill/>
            <a:ln w="12700" cap="flat">
              <a:solidFill>
                <a:srgbClr val="EDF0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2" name="g1_s0"/>
            <p:cNvSpPr/>
            <p:nvPr/>
          </p:nvSpPr>
          <p:spPr>
            <a:xfrm>
              <a:off x="329183" y="705104"/>
              <a:ext cx="4206241" cy="1426465"/>
            </a:xfrm>
            <a:prstGeom prst="line">
              <a:avLst/>
            </a:prstGeom>
            <a:noFill/>
            <a:ln w="50800" cap="flat">
              <a:solidFill>
                <a:srgbClr val="1FB6B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3" name="g1_u"/>
            <p:cNvSpPr txBox="1"/>
            <p:nvPr/>
          </p:nvSpPr>
          <p:spPr>
            <a:xfrm>
              <a:off x="0" y="2004568"/>
              <a:ext cx="310896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700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134" name="g1_v"/>
            <p:cNvSpPr txBox="1"/>
            <p:nvPr/>
          </p:nvSpPr>
          <p:spPr>
            <a:xfrm>
              <a:off x="0" y="578104"/>
              <a:ext cx="310896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700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v</a:t>
              </a:r>
            </a:p>
          </p:txBody>
        </p:sp>
      </p:grpSp>
      <p:grpSp>
        <p:nvGrpSpPr>
          <p:cNvPr id="140" name="e1_0"/>
          <p:cNvGrpSpPr/>
          <p:nvPr/>
        </p:nvGrpSpPr>
        <p:grpSpPr>
          <a:xfrm>
            <a:off x="6016752" y="2194560"/>
            <a:ext cx="5626304" cy="786385"/>
            <a:chOff x="0" y="0"/>
            <a:chExt cx="5626303" cy="786384"/>
          </a:xfrm>
        </p:grpSpPr>
        <p:sp>
          <p:nvSpPr>
            <p:cNvPr id="136" name="e1_0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7" name="e1_0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38" name="e1_0_e"/>
            <p:cNvSpPr txBox="1"/>
            <p:nvPr/>
          </p:nvSpPr>
          <p:spPr>
            <a:xfrm>
              <a:off x="585216" y="131825"/>
              <a:ext cx="4821632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9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gradient  =  acceleration</a:t>
              </a:r>
            </a:p>
          </p:txBody>
        </p:sp>
        <p:sp>
          <p:nvSpPr>
            <p:cNvPr id="139" name="e1_0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That was last lesson.</a:t>
              </a:r>
            </a:p>
          </p:txBody>
        </p:sp>
      </p:grpSp>
      <p:grpSp>
        <p:nvGrpSpPr>
          <p:cNvPr id="145" name="e1_1"/>
          <p:cNvGrpSpPr/>
          <p:nvPr/>
        </p:nvGrpSpPr>
        <p:grpSpPr>
          <a:xfrm>
            <a:off x="6016752" y="3127248"/>
            <a:ext cx="5626304" cy="786385"/>
            <a:chOff x="0" y="0"/>
            <a:chExt cx="5626303" cy="786384"/>
          </a:xfrm>
        </p:grpSpPr>
        <p:sp>
          <p:nvSpPr>
            <p:cNvPr id="141" name="e1_1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2" name="e1_1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43" name="e1_1_e"/>
            <p:cNvSpPr txBox="1"/>
            <p:nvPr/>
          </p:nvSpPr>
          <p:spPr>
            <a:xfrm>
              <a:off x="585216" y="131825"/>
              <a:ext cx="4821632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9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gradient  =  (v − u) ÷ t</a:t>
              </a:r>
            </a:p>
          </p:txBody>
        </p:sp>
        <p:sp>
          <p:nvSpPr>
            <p:cNvPr id="144" name="e1_1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Rise over run, from u up to v.</a:t>
              </a:r>
            </a:p>
          </p:txBody>
        </p:sp>
      </p:grpSp>
      <p:grpSp>
        <p:nvGrpSpPr>
          <p:cNvPr id="150" name="e1_2"/>
          <p:cNvGrpSpPr/>
          <p:nvPr/>
        </p:nvGrpSpPr>
        <p:grpSpPr>
          <a:xfrm>
            <a:off x="6016752" y="4059935"/>
            <a:ext cx="5626304" cy="786385"/>
            <a:chOff x="0" y="0"/>
            <a:chExt cx="5626303" cy="786384"/>
          </a:xfrm>
        </p:grpSpPr>
        <p:sp>
          <p:nvSpPr>
            <p:cNvPr id="146" name="e1_2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7" name="e1_2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8" name="e1_2_e"/>
            <p:cNvSpPr txBox="1"/>
            <p:nvPr/>
          </p:nvSpPr>
          <p:spPr>
            <a:xfrm>
              <a:off x="585216" y="131825"/>
              <a:ext cx="4821632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9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  =  (v − u) ÷ t</a:t>
              </a:r>
            </a:p>
          </p:txBody>
        </p:sp>
        <p:sp>
          <p:nvSpPr>
            <p:cNvPr id="149" name="e1_2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So put the two together.</a:t>
              </a:r>
            </a:p>
          </p:txBody>
        </p:sp>
      </p:grpSp>
      <p:grpSp>
        <p:nvGrpSpPr>
          <p:cNvPr id="155" name="e1_3"/>
          <p:cNvGrpSpPr/>
          <p:nvPr/>
        </p:nvGrpSpPr>
        <p:grpSpPr>
          <a:xfrm>
            <a:off x="6016752" y="4992623"/>
            <a:ext cx="5626304" cy="786385"/>
            <a:chOff x="0" y="0"/>
            <a:chExt cx="5626303" cy="786384"/>
          </a:xfrm>
        </p:grpSpPr>
        <p:sp>
          <p:nvSpPr>
            <p:cNvPr id="151" name="e1_3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EFE2"/>
            </a:solidFill>
            <a:ln w="2159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2" name="e1_3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53" name="e1_3_e"/>
            <p:cNvSpPr txBox="1"/>
            <p:nvPr/>
          </p:nvSpPr>
          <p:spPr>
            <a:xfrm>
              <a:off x="585216" y="131825"/>
              <a:ext cx="4821632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9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v  =  u + at</a:t>
              </a:r>
            </a:p>
          </p:txBody>
        </p:sp>
        <p:sp>
          <p:nvSpPr>
            <p:cNvPr id="154" name="e1_3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Rearranged. That is the first equation.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4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2" fill="hold" display="0">
                  <p:stCondLst>
                    <p:cond delay="indefinite"/>
                  </p:stCondLst>
                </p:cTn>
                <p:tgtEl>
                  <p:spTgt spid="119"/>
                </p:tgtEl>
              </p:cMediaNode>
            </p:video>
            <p:seq concurrent="1" prevAc="none" nextAc="seek">
              <p:cTn id="33" evtFilter="cancelBubble" nodeType="interactiveSeq" restart="whenNotActive" fill="hold">
                <p:stCondLst>
                  <p:cond delay="0" evt="onClick">
                    <p:tgtEl>
                      <p:spTgt spid="11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19"/>
                  </p:tgtEl>
                </p:cond>
              </p:nextCondLst>
            </p:seq>
          </p:childTnLst>
        </p:cTn>
      </p:par>
    </p:tnLst>
    <p:bldLst>
      <p:bldP build="whole" bldLvl="1" animBg="1" rev="0" advAuto="0" spid="135" grpId="2"/>
      <p:bldP build="whole" bldLvl="1" animBg="1" rev="0" advAuto="0" spid="145" grpId="4"/>
      <p:bldP build="whole" bldLvl="1" animBg="1" rev="0" advAuto="0" spid="155" grpId="6"/>
      <p:bldP build="whole" bldLvl="1" animBg="1" rev="0" advAuto="0" spid="140" grpId="3"/>
      <p:bldP build="whole" bldLvl="1" animBg="1" rev="0" advAuto="0" spid="150" grpId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2" name="phase_pill"/>
          <p:cNvGrpSpPr/>
          <p:nvPr/>
        </p:nvGrpSpPr>
        <p:grpSpPr>
          <a:xfrm>
            <a:off x="1170432" y="310895"/>
            <a:ext cx="1623975" cy="329185"/>
            <a:chOff x="0" y="0"/>
            <a:chExt cx="1623974" cy="329184"/>
          </a:xfrm>
        </p:grpSpPr>
        <p:sp>
          <p:nvSpPr>
            <p:cNvPr id="160" name="Rounded Rectangle"/>
            <p:cNvSpPr/>
            <p:nvPr/>
          </p:nvSpPr>
          <p:spPr>
            <a:xfrm>
              <a:off x="0" y="0"/>
              <a:ext cx="1623975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61" name="I DO · 3 MIN"/>
            <p:cNvSpPr txBox="1"/>
            <p:nvPr/>
          </p:nvSpPr>
          <p:spPr>
            <a:xfrm>
              <a:off x="42851" y="90677"/>
              <a:ext cx="153827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3 MIN</a:t>
              </a:r>
            </a:p>
          </p:txBody>
        </p:sp>
      </p:grpSp>
      <p:sp>
        <p:nvSpPr>
          <p:cNvPr id="163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area gives you the second</a:t>
            </a:r>
          </a:p>
        </p:txBody>
      </p:sp>
      <p:grpSp>
        <p:nvGrpSpPr>
          <p:cNvPr id="174" name="g2_graph"/>
          <p:cNvGrpSpPr/>
          <p:nvPr/>
        </p:nvGrpSpPr>
        <p:grpSpPr>
          <a:xfrm>
            <a:off x="1261871" y="2486152"/>
            <a:ext cx="4297681" cy="3126372"/>
            <a:chOff x="0" y="0"/>
            <a:chExt cx="4297680" cy="3126371"/>
          </a:xfrm>
        </p:grpSpPr>
        <p:sp>
          <p:nvSpPr>
            <p:cNvPr id="164" name="g2_panel"/>
            <p:cNvSpPr/>
            <p:nvPr/>
          </p:nvSpPr>
          <p:spPr>
            <a:xfrm>
              <a:off x="91439" y="348488"/>
              <a:ext cx="4206242" cy="2377441"/>
            </a:xfrm>
            <a:prstGeom prst="rect">
              <a:avLst/>
            </a:prstGeom>
            <a:solidFill>
              <a:srgbClr val="FFFFFF"/>
            </a:solidFill>
            <a:ln w="1524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5" name="g2_ay"/>
            <p:cNvSpPr/>
            <p:nvPr/>
          </p:nvSpPr>
          <p:spPr>
            <a:xfrm flipH="1">
              <a:off x="91440" y="348488"/>
              <a:ext cx="1" cy="2377441"/>
            </a:xfrm>
            <a:prstGeom prst="line">
              <a:avLst/>
            </a:prstGeom>
            <a:noFill/>
            <a:ln w="2032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6" name="g2_ax"/>
            <p:cNvSpPr/>
            <p:nvPr/>
          </p:nvSpPr>
          <p:spPr>
            <a:xfrm>
              <a:off x="91439" y="2725928"/>
              <a:ext cx="4206241" cy="1"/>
            </a:xfrm>
            <a:prstGeom prst="line">
              <a:avLst/>
            </a:prstGeom>
            <a:noFill/>
            <a:ln w="2032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7" name="g2_yl"/>
            <p:cNvSpPr txBox="1"/>
            <p:nvPr/>
          </p:nvSpPr>
          <p:spPr>
            <a:xfrm>
              <a:off x="0" y="0"/>
              <a:ext cx="2194561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 / m s⁻¹</a:t>
              </a:r>
            </a:p>
          </p:txBody>
        </p:sp>
        <p:sp>
          <p:nvSpPr>
            <p:cNvPr id="168" name="g2_xl"/>
            <p:cNvSpPr txBox="1"/>
            <p:nvPr/>
          </p:nvSpPr>
          <p:spPr>
            <a:xfrm>
              <a:off x="3108960" y="2843690"/>
              <a:ext cx="1188721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 / s</a:t>
              </a:r>
            </a:p>
          </p:txBody>
        </p:sp>
        <p:sp>
          <p:nvSpPr>
            <p:cNvPr id="169" name="g2_g1"/>
            <p:cNvSpPr/>
            <p:nvPr/>
          </p:nvSpPr>
          <p:spPr>
            <a:xfrm>
              <a:off x="91439" y="2131568"/>
              <a:ext cx="4206241" cy="1"/>
            </a:xfrm>
            <a:prstGeom prst="line">
              <a:avLst/>
            </a:prstGeom>
            <a:noFill/>
            <a:ln w="12700" cap="flat">
              <a:solidFill>
                <a:srgbClr val="EDF0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0" name="g2_g2"/>
            <p:cNvSpPr/>
            <p:nvPr/>
          </p:nvSpPr>
          <p:spPr>
            <a:xfrm>
              <a:off x="91439" y="1537208"/>
              <a:ext cx="4206241" cy="1"/>
            </a:xfrm>
            <a:prstGeom prst="line">
              <a:avLst/>
            </a:prstGeom>
            <a:noFill/>
            <a:ln w="12700" cap="flat">
              <a:solidFill>
                <a:srgbClr val="EDF0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1" name="g2_g3"/>
            <p:cNvSpPr/>
            <p:nvPr/>
          </p:nvSpPr>
          <p:spPr>
            <a:xfrm>
              <a:off x="91439" y="942848"/>
              <a:ext cx="4206241" cy="1"/>
            </a:xfrm>
            <a:prstGeom prst="line">
              <a:avLst/>
            </a:prstGeom>
            <a:noFill/>
            <a:ln w="12700" cap="flat">
              <a:solidFill>
                <a:srgbClr val="EDF0F7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2" name="g2_s0"/>
            <p:cNvSpPr/>
            <p:nvPr/>
          </p:nvSpPr>
          <p:spPr>
            <a:xfrm>
              <a:off x="91439" y="705104"/>
              <a:ext cx="4206241" cy="1426465"/>
            </a:xfrm>
            <a:prstGeom prst="line">
              <a:avLst/>
            </a:prstGeom>
            <a:noFill/>
            <a:ln w="50800" cap="flat">
              <a:solidFill>
                <a:srgbClr val="1FB6B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3" name="g2_note"/>
            <p:cNvSpPr txBox="1"/>
            <p:nvPr/>
          </p:nvSpPr>
          <p:spPr>
            <a:xfrm>
              <a:off x="91439" y="2928988"/>
              <a:ext cx="4206242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i="1" sz="14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This shape is a trapezium.</a:t>
              </a:r>
            </a:p>
          </p:txBody>
        </p:sp>
      </p:grpSp>
      <p:grpSp>
        <p:nvGrpSpPr>
          <p:cNvPr id="179" name="e2_0"/>
          <p:cNvGrpSpPr/>
          <p:nvPr/>
        </p:nvGrpSpPr>
        <p:grpSpPr>
          <a:xfrm>
            <a:off x="6016752" y="2194560"/>
            <a:ext cx="5626304" cy="786385"/>
            <a:chOff x="0" y="0"/>
            <a:chExt cx="5626303" cy="786384"/>
          </a:xfrm>
        </p:grpSpPr>
        <p:sp>
          <p:nvSpPr>
            <p:cNvPr id="175" name="e2_0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6" name="e2_0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77" name="e2_0_e"/>
            <p:cNvSpPr txBox="1"/>
            <p:nvPr/>
          </p:nvSpPr>
          <p:spPr>
            <a:xfrm>
              <a:off x="585216" y="131825"/>
              <a:ext cx="4821632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area  =  displacement</a:t>
              </a:r>
            </a:p>
          </p:txBody>
        </p:sp>
        <p:sp>
          <p:nvSpPr>
            <p:cNvPr id="178" name="e2_0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Also last lesson.</a:t>
              </a:r>
            </a:p>
          </p:txBody>
        </p:sp>
      </p:grpSp>
      <p:grpSp>
        <p:nvGrpSpPr>
          <p:cNvPr id="184" name="e2_1"/>
          <p:cNvGrpSpPr/>
          <p:nvPr/>
        </p:nvGrpSpPr>
        <p:grpSpPr>
          <a:xfrm>
            <a:off x="6016752" y="3127248"/>
            <a:ext cx="5626304" cy="786385"/>
            <a:chOff x="0" y="0"/>
            <a:chExt cx="5626303" cy="786384"/>
          </a:xfrm>
        </p:grpSpPr>
        <p:sp>
          <p:nvSpPr>
            <p:cNvPr id="180" name="e2_1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1" name="e2_1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82" name="e2_1_e"/>
            <p:cNvSpPr txBox="1"/>
            <p:nvPr/>
          </p:nvSpPr>
          <p:spPr>
            <a:xfrm>
              <a:off x="585216" y="131825"/>
              <a:ext cx="4821632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area of a trapezium  =  ½(a + b) × h</a:t>
              </a:r>
            </a:p>
          </p:txBody>
        </p:sp>
        <p:sp>
          <p:nvSpPr>
            <p:cNvPr id="183" name="e2_1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two parallel sides are u and v.</a:t>
              </a:r>
            </a:p>
          </p:txBody>
        </p:sp>
      </p:grpSp>
      <p:grpSp>
        <p:nvGrpSpPr>
          <p:cNvPr id="189" name="e2_2"/>
          <p:cNvGrpSpPr/>
          <p:nvPr/>
        </p:nvGrpSpPr>
        <p:grpSpPr>
          <a:xfrm>
            <a:off x="6016752" y="4059935"/>
            <a:ext cx="5626304" cy="786385"/>
            <a:chOff x="0" y="0"/>
            <a:chExt cx="5626303" cy="786384"/>
          </a:xfrm>
        </p:grpSpPr>
        <p:sp>
          <p:nvSpPr>
            <p:cNvPr id="185" name="e2_2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6" name="e2_2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87" name="e2_2_e"/>
            <p:cNvSpPr txBox="1"/>
            <p:nvPr/>
          </p:nvSpPr>
          <p:spPr>
            <a:xfrm>
              <a:off x="585216" y="131825"/>
              <a:ext cx="4821632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s  =  ½(u + v) × t</a:t>
              </a:r>
            </a:p>
          </p:txBody>
        </p:sp>
        <p:sp>
          <p:nvSpPr>
            <p:cNvPr id="188" name="e2_2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height of the trapezium is the time.</a:t>
              </a:r>
            </a:p>
          </p:txBody>
        </p:sp>
      </p:grpSp>
      <p:grpSp>
        <p:nvGrpSpPr>
          <p:cNvPr id="194" name="e2_3"/>
          <p:cNvGrpSpPr/>
          <p:nvPr/>
        </p:nvGrpSpPr>
        <p:grpSpPr>
          <a:xfrm>
            <a:off x="6016752" y="4992623"/>
            <a:ext cx="5626304" cy="786385"/>
            <a:chOff x="0" y="0"/>
            <a:chExt cx="5626303" cy="786384"/>
          </a:xfrm>
        </p:grpSpPr>
        <p:sp>
          <p:nvSpPr>
            <p:cNvPr id="190" name="e2_3_bg"/>
            <p:cNvSpPr/>
            <p:nvPr/>
          </p:nvSpPr>
          <p:spPr>
            <a:xfrm>
              <a:off x="0" y="-1"/>
              <a:ext cx="5626304" cy="786386"/>
            </a:xfrm>
            <a:prstGeom prst="roundRect">
              <a:avLst>
                <a:gd name="adj" fmla="val 11628"/>
              </a:avLst>
            </a:prstGeom>
            <a:solidFill>
              <a:srgbClr val="FFEFE2"/>
            </a:solidFill>
            <a:ln w="2159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1" name="e2_3_n"/>
            <p:cNvSpPr txBox="1"/>
            <p:nvPr/>
          </p:nvSpPr>
          <p:spPr>
            <a:xfrm>
              <a:off x="201168" y="259841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92" name="e2_3_e"/>
            <p:cNvSpPr txBox="1"/>
            <p:nvPr/>
          </p:nvSpPr>
          <p:spPr>
            <a:xfrm>
              <a:off x="585216" y="144525"/>
              <a:ext cx="4821632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So the train travels  ½(10 + 30) × 20  =  400 m</a:t>
              </a:r>
            </a:p>
          </p:txBody>
        </p:sp>
        <p:sp>
          <p:nvSpPr>
            <p:cNvPr id="193" name="e2_3_t"/>
            <p:cNvSpPr txBox="1"/>
            <p:nvPr/>
          </p:nvSpPr>
          <p:spPr>
            <a:xfrm>
              <a:off x="585216" y="492666"/>
              <a:ext cx="4821632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That’s your answer.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1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4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2" fill="hold" display="0">
                  <p:stCondLst>
                    <p:cond delay="indefinite"/>
                  </p:stCondLst>
                </p:cTn>
                <p:tgtEl>
                  <p:spTgt spid="159"/>
                </p:tgtEl>
              </p:cMediaNode>
            </p:video>
            <p:seq concurrent="1" prevAc="none" nextAc="seek">
              <p:cTn id="33" evtFilter="cancelBubble" nodeType="interactiveSeq" restart="whenNotActive" fill="hold">
                <p:stCondLst>
                  <p:cond delay="0" evt="onClick">
                    <p:tgtEl>
                      <p:spTgt spid="15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59"/>
                  </p:tgtEl>
                </p:cond>
              </p:nextCondLst>
            </p:seq>
          </p:childTnLst>
        </p:cTn>
      </p:par>
    </p:tnLst>
    <p:bldLst>
      <p:bldP build="whole" bldLvl="1" animBg="1" rev="0" advAuto="0" spid="194" grpId="6"/>
      <p:bldP build="whole" bldLvl="1" animBg="1" rev="0" advAuto="0" spid="179" grpId="3"/>
      <p:bldP build="whole" bldLvl="1" animBg="1" rev="0" advAuto="0" spid="189" grpId="5"/>
      <p:bldP build="whole" bldLvl="1" animBg="1" rev="0" advAuto="0" spid="174" grpId="2"/>
      <p:bldP build="whole" bldLvl="1" animBg="1" rev="0" advAuto="0" spid="184" grpId="4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1" name="phase_pill"/>
          <p:cNvGrpSpPr/>
          <p:nvPr/>
        </p:nvGrpSpPr>
        <p:grpSpPr>
          <a:xfrm>
            <a:off x="1170432" y="310895"/>
            <a:ext cx="1713586" cy="329185"/>
            <a:chOff x="0" y="0"/>
            <a:chExt cx="1713585" cy="329184"/>
          </a:xfrm>
        </p:grpSpPr>
        <p:sp>
          <p:nvSpPr>
            <p:cNvPr id="199" name="Rounded Rectangle"/>
            <p:cNvSpPr/>
            <p:nvPr/>
          </p:nvSpPr>
          <p:spPr>
            <a:xfrm>
              <a:off x="0" y="0"/>
              <a:ext cx="1713586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00" name="WE DO · 5 MIN"/>
            <p:cNvSpPr txBox="1"/>
            <p:nvPr/>
          </p:nvSpPr>
          <p:spPr>
            <a:xfrm>
              <a:off x="42850" y="90677"/>
              <a:ext cx="1627885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 DO · 5 MIN</a:t>
              </a:r>
            </a:p>
          </p:txBody>
        </p:sp>
      </p:grpSp>
      <p:sp>
        <p:nvSpPr>
          <p:cNvPr id="202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should be the correct answer?</a:t>
            </a:r>
          </a:p>
        </p:txBody>
      </p:sp>
      <p:sp>
        <p:nvSpPr>
          <p:cNvPr id="203" name="slide_sub"/>
          <p:cNvSpPr txBox="1"/>
          <p:nvPr/>
        </p:nvSpPr>
        <p:spPr>
          <a:xfrm>
            <a:off x="1170432" y="1634997"/>
            <a:ext cx="1047262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A64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Spot the mistake. A train goes from 10 to 30 m s⁻¹ in 20 s.</a:t>
            </a:r>
          </a:p>
        </p:txBody>
      </p:sp>
      <p:sp>
        <p:nvSpPr>
          <p:cNvPr id="204" name="wd0_bg"/>
          <p:cNvSpPr/>
          <p:nvPr/>
        </p:nvSpPr>
        <p:spPr>
          <a:xfrm>
            <a:off x="1170432" y="2322576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wd0_q"/>
          <p:cNvSpPr txBox="1"/>
          <p:nvPr/>
        </p:nvSpPr>
        <p:spPr>
          <a:xfrm>
            <a:off x="1426463" y="2614989"/>
            <a:ext cx="6035042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 = 30 × 20 = 600 m</a:t>
            </a:r>
          </a:p>
        </p:txBody>
      </p:sp>
      <p:grpSp>
        <p:nvGrpSpPr>
          <p:cNvPr id="208" name="wd0_a"/>
          <p:cNvGrpSpPr/>
          <p:nvPr/>
        </p:nvGrpSpPr>
        <p:grpSpPr>
          <a:xfrm>
            <a:off x="7662671" y="2450592"/>
            <a:ext cx="3888944" cy="585217"/>
            <a:chOff x="0" y="0"/>
            <a:chExt cx="3888942" cy="585216"/>
          </a:xfrm>
        </p:grpSpPr>
        <p:sp>
          <p:nvSpPr>
            <p:cNvPr id="206" name="Rounded Rectangle"/>
            <p:cNvSpPr/>
            <p:nvPr/>
          </p:nvSpPr>
          <p:spPr>
            <a:xfrm>
              <a:off x="0" y="0"/>
              <a:ext cx="3888943" cy="585217"/>
            </a:xfrm>
            <a:prstGeom prst="roundRect">
              <a:avLst>
                <a:gd name="adj" fmla="val 15625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207" name="400 m"/>
            <p:cNvSpPr txBox="1"/>
            <p:nvPr/>
          </p:nvSpPr>
          <p:spPr>
            <a:xfrm>
              <a:off x="36307" y="180869"/>
              <a:ext cx="3816328" cy="2234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400 m</a:t>
              </a:r>
            </a:p>
          </p:txBody>
        </p:sp>
      </p:grpSp>
      <p:sp>
        <p:nvSpPr>
          <p:cNvPr id="209" name="wd1_bg"/>
          <p:cNvSpPr/>
          <p:nvPr/>
        </p:nvSpPr>
        <p:spPr>
          <a:xfrm>
            <a:off x="1170432" y="3346703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wd1_q"/>
          <p:cNvSpPr txBox="1"/>
          <p:nvPr/>
        </p:nvSpPr>
        <p:spPr>
          <a:xfrm>
            <a:off x="1426463" y="3637281"/>
            <a:ext cx="6035042" cy="260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= 30 ÷ 20 = 1.5 m s⁻²</a:t>
            </a:r>
          </a:p>
        </p:txBody>
      </p:sp>
      <p:grpSp>
        <p:nvGrpSpPr>
          <p:cNvPr id="213" name="wd1_a"/>
          <p:cNvGrpSpPr/>
          <p:nvPr/>
        </p:nvGrpSpPr>
        <p:grpSpPr>
          <a:xfrm>
            <a:off x="7662671" y="3474720"/>
            <a:ext cx="3888944" cy="585217"/>
            <a:chOff x="0" y="0"/>
            <a:chExt cx="3888942" cy="585216"/>
          </a:xfrm>
        </p:grpSpPr>
        <p:sp>
          <p:nvSpPr>
            <p:cNvPr id="211" name="Rounded Rectangle"/>
            <p:cNvSpPr/>
            <p:nvPr/>
          </p:nvSpPr>
          <p:spPr>
            <a:xfrm>
              <a:off x="0" y="0"/>
              <a:ext cx="3888943" cy="585217"/>
            </a:xfrm>
            <a:prstGeom prst="roundRect">
              <a:avLst>
                <a:gd name="adj" fmla="val 15625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212" name="1.0 m s⁻²"/>
            <p:cNvSpPr txBox="1"/>
            <p:nvPr/>
          </p:nvSpPr>
          <p:spPr>
            <a:xfrm>
              <a:off x="36307" y="171195"/>
              <a:ext cx="3816328" cy="2428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1.0 m s⁻²</a:t>
              </a:r>
            </a:p>
          </p:txBody>
        </p:sp>
      </p:grpSp>
      <p:sp>
        <p:nvSpPr>
          <p:cNvPr id="214" name="wd2_bg"/>
          <p:cNvSpPr/>
          <p:nvPr/>
        </p:nvSpPr>
        <p:spPr>
          <a:xfrm>
            <a:off x="1170432" y="4370832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wd2_q"/>
          <p:cNvSpPr txBox="1"/>
          <p:nvPr/>
        </p:nvSpPr>
        <p:spPr>
          <a:xfrm>
            <a:off x="1426463" y="4663245"/>
            <a:ext cx="6035042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 is always 0, so s = ½ × 30 × 20 = 300 m</a:t>
            </a:r>
          </a:p>
        </p:txBody>
      </p:sp>
      <p:grpSp>
        <p:nvGrpSpPr>
          <p:cNvPr id="218" name="wd2_a"/>
          <p:cNvGrpSpPr/>
          <p:nvPr/>
        </p:nvGrpSpPr>
        <p:grpSpPr>
          <a:xfrm>
            <a:off x="7662671" y="4498847"/>
            <a:ext cx="3888944" cy="585217"/>
            <a:chOff x="0" y="0"/>
            <a:chExt cx="3888942" cy="585216"/>
          </a:xfrm>
        </p:grpSpPr>
        <p:sp>
          <p:nvSpPr>
            <p:cNvPr id="216" name="Rounded Rectangle"/>
            <p:cNvSpPr/>
            <p:nvPr/>
          </p:nvSpPr>
          <p:spPr>
            <a:xfrm>
              <a:off x="0" y="0"/>
              <a:ext cx="3888943" cy="585217"/>
            </a:xfrm>
            <a:prstGeom prst="roundRect">
              <a:avLst>
                <a:gd name="adj" fmla="val 15625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217" name="u is 10 here"/>
            <p:cNvSpPr txBox="1"/>
            <p:nvPr/>
          </p:nvSpPr>
          <p:spPr>
            <a:xfrm>
              <a:off x="36307" y="180869"/>
              <a:ext cx="3816328" cy="2234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 is 10 here</a:t>
              </a:r>
            </a:p>
          </p:txBody>
        </p:sp>
      </p:grpSp>
      <p:sp>
        <p:nvSpPr>
          <p:cNvPr id="219" name="wd3_bg"/>
          <p:cNvSpPr/>
          <p:nvPr/>
        </p:nvSpPr>
        <p:spPr>
          <a:xfrm>
            <a:off x="1170432" y="5394959"/>
            <a:ext cx="10472623" cy="8412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wd3_q"/>
          <p:cNvSpPr txBox="1"/>
          <p:nvPr/>
        </p:nvSpPr>
        <p:spPr>
          <a:xfrm>
            <a:off x="1426463" y="5687373"/>
            <a:ext cx="6035042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negative acceleration means a negative displacement.</a:t>
            </a:r>
          </a:p>
        </p:txBody>
      </p:sp>
      <p:grpSp>
        <p:nvGrpSpPr>
          <p:cNvPr id="223" name="wd3_a"/>
          <p:cNvGrpSpPr/>
          <p:nvPr/>
        </p:nvGrpSpPr>
        <p:grpSpPr>
          <a:xfrm>
            <a:off x="7662671" y="5522976"/>
            <a:ext cx="3888944" cy="585217"/>
            <a:chOff x="0" y="0"/>
            <a:chExt cx="3888942" cy="585216"/>
          </a:xfrm>
        </p:grpSpPr>
        <p:sp>
          <p:nvSpPr>
            <p:cNvPr id="221" name="Rounded Rectangle"/>
            <p:cNvSpPr/>
            <p:nvPr/>
          </p:nvSpPr>
          <p:spPr>
            <a:xfrm>
              <a:off x="0" y="0"/>
              <a:ext cx="3888943" cy="585217"/>
            </a:xfrm>
            <a:prstGeom prst="roundRect">
              <a:avLst>
                <a:gd name="adj" fmla="val 15625"/>
              </a:avLst>
            </a:prstGeom>
            <a:solidFill>
              <a:srgbClr val="FFEFE2"/>
            </a:solidFill>
            <a:ln w="1905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222" name="It can still go forwards"/>
            <p:cNvSpPr txBox="1"/>
            <p:nvPr/>
          </p:nvSpPr>
          <p:spPr>
            <a:xfrm>
              <a:off x="36307" y="180869"/>
              <a:ext cx="3816328" cy="2234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It can still go forwards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0" fill="hold"/>
                                        <p:tgtEl>
                                          <p:spTgt spid="1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16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1" fill="hold" display="0">
                  <p:stCondLst>
                    <p:cond delay="indefinite"/>
                  </p:stCondLst>
                </p:cTn>
                <p:tgtEl>
                  <p:spTgt spid="198"/>
                </p:tgtEl>
              </p:cMediaNode>
            </p:video>
            <p:seq concurrent="1" prevAc="none" nextAc="seek">
              <p:cTn id="32" evtFilter="cancelBubble" nodeType="interactiveSeq" restart="whenNotActive" fill="hold">
                <p:stCondLst>
                  <p:cond delay="0" evt="onClick">
                    <p:tgtEl>
                      <p:spTgt spid="19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98"/>
                  </p:tgtEl>
                </p:cond>
              </p:nextCondLst>
            </p:seq>
          </p:childTnLst>
        </p:cTn>
      </p:par>
    </p:tnLst>
    <p:bldLst>
      <p:bldP build="whole" bldLvl="1" animBg="1" rev="0" advAuto="0" spid="218" grpId="4"/>
      <p:bldP build="whole" bldLvl="1" animBg="1" rev="0" advAuto="0" spid="213" grpId="3"/>
      <p:bldP build="whole" bldLvl="1" animBg="1" rev="0" advAuto="0" spid="208" grpId="2"/>
      <p:bldP build="whole" bldLvl="1" animBg="1" rev="0" advAuto="0" spid="223" grpId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0" name="phase_pill"/>
          <p:cNvGrpSpPr/>
          <p:nvPr/>
        </p:nvGrpSpPr>
        <p:grpSpPr>
          <a:xfrm>
            <a:off x="1170432" y="310895"/>
            <a:ext cx="2072030" cy="329185"/>
            <a:chOff x="0" y="0"/>
            <a:chExt cx="2072029" cy="329184"/>
          </a:xfrm>
        </p:grpSpPr>
        <p:sp>
          <p:nvSpPr>
            <p:cNvPr id="228" name="Rounded Rectangle"/>
            <p:cNvSpPr/>
            <p:nvPr/>
          </p:nvSpPr>
          <p:spPr>
            <a:xfrm>
              <a:off x="0" y="0"/>
              <a:ext cx="2072030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29" name="COLD CALL · 6 MIN"/>
            <p:cNvSpPr txBox="1"/>
            <p:nvPr/>
          </p:nvSpPr>
          <p:spPr>
            <a:xfrm>
              <a:off x="42850" y="90677"/>
              <a:ext cx="1986329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COLD CALL · 6 MIN</a:t>
              </a:r>
            </a:p>
          </p:txBody>
        </p:sp>
      </p:grpSp>
      <p:sp>
        <p:nvSpPr>
          <p:cNvPr id="231" name="c0_bg"/>
          <p:cNvSpPr/>
          <p:nvPr/>
        </p:nvSpPr>
        <p:spPr>
          <a:xfrm>
            <a:off x="1170432" y="969263"/>
            <a:ext cx="5117441" cy="138989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c0_badge"/>
          <p:cNvSpPr/>
          <p:nvPr/>
        </p:nvSpPr>
        <p:spPr>
          <a:xfrm>
            <a:off x="1371600" y="1133855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c0_num"/>
          <p:cNvSpPr txBox="1"/>
          <p:nvPr/>
        </p:nvSpPr>
        <p:spPr>
          <a:xfrm>
            <a:off x="1371600" y="1224279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4" name="c0_q"/>
          <p:cNvSpPr txBox="1"/>
          <p:nvPr/>
        </p:nvSpPr>
        <p:spPr>
          <a:xfrm>
            <a:off x="1901951" y="1289109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Write the equation linking v, u, a and t.</a:t>
            </a:r>
          </a:p>
        </p:txBody>
      </p:sp>
      <p:grpSp>
        <p:nvGrpSpPr>
          <p:cNvPr id="237" name="c0_a"/>
          <p:cNvGrpSpPr/>
          <p:nvPr/>
        </p:nvGrpSpPr>
        <p:grpSpPr>
          <a:xfrm>
            <a:off x="1371600" y="1810511"/>
            <a:ext cx="4715105" cy="402337"/>
            <a:chOff x="0" y="0"/>
            <a:chExt cx="4715104" cy="402336"/>
          </a:xfrm>
        </p:grpSpPr>
        <p:sp>
          <p:nvSpPr>
            <p:cNvPr id="235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36" name="v = u + at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 = u + at</a:t>
              </a:r>
            </a:p>
          </p:txBody>
        </p:sp>
      </p:grpSp>
      <p:sp>
        <p:nvSpPr>
          <p:cNvPr id="238" name="c1_bg"/>
          <p:cNvSpPr/>
          <p:nvPr/>
        </p:nvSpPr>
        <p:spPr>
          <a:xfrm>
            <a:off x="6525615" y="969263"/>
            <a:ext cx="5117441" cy="138989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c1_badge"/>
          <p:cNvSpPr/>
          <p:nvPr/>
        </p:nvSpPr>
        <p:spPr>
          <a:xfrm>
            <a:off x="6726783" y="1133855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c1_num"/>
          <p:cNvSpPr txBox="1"/>
          <p:nvPr/>
        </p:nvSpPr>
        <p:spPr>
          <a:xfrm>
            <a:off x="6726783" y="1224279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41" name="c1_q"/>
          <p:cNvSpPr txBox="1"/>
          <p:nvPr/>
        </p:nvSpPr>
        <p:spPr>
          <a:xfrm>
            <a:off x="7257136" y="1289109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Write the equation for s using u, v and t.</a:t>
            </a:r>
          </a:p>
        </p:txBody>
      </p:sp>
      <p:grpSp>
        <p:nvGrpSpPr>
          <p:cNvPr id="244" name="c1_a"/>
          <p:cNvGrpSpPr/>
          <p:nvPr/>
        </p:nvGrpSpPr>
        <p:grpSpPr>
          <a:xfrm>
            <a:off x="6726783" y="1810511"/>
            <a:ext cx="4715106" cy="402337"/>
            <a:chOff x="0" y="0"/>
            <a:chExt cx="4715104" cy="402336"/>
          </a:xfrm>
        </p:grpSpPr>
        <p:sp>
          <p:nvSpPr>
            <p:cNvPr id="242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43" name="s = ½(u + v)t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 = ½(u + v)t</a:t>
              </a:r>
            </a:p>
          </p:txBody>
        </p:sp>
      </p:grpSp>
      <p:sp>
        <p:nvSpPr>
          <p:cNvPr id="245" name="c2_bg"/>
          <p:cNvSpPr/>
          <p:nvPr/>
        </p:nvSpPr>
        <p:spPr>
          <a:xfrm>
            <a:off x="1170432" y="2560320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c2_badge"/>
          <p:cNvSpPr/>
          <p:nvPr/>
        </p:nvSpPr>
        <p:spPr>
          <a:xfrm>
            <a:off x="1371600" y="2724911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c2_num"/>
          <p:cNvSpPr txBox="1"/>
          <p:nvPr/>
        </p:nvSpPr>
        <p:spPr>
          <a:xfrm>
            <a:off x="1371600" y="2815335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8" name="c2_q"/>
          <p:cNvSpPr txBox="1"/>
          <p:nvPr/>
        </p:nvSpPr>
        <p:spPr>
          <a:xfrm>
            <a:off x="1901951" y="2880165"/>
            <a:ext cx="4184753" cy="256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 object starts from rest. What is u?</a:t>
            </a:r>
          </a:p>
        </p:txBody>
      </p:sp>
      <p:grpSp>
        <p:nvGrpSpPr>
          <p:cNvPr id="251" name="c2_a"/>
          <p:cNvGrpSpPr/>
          <p:nvPr/>
        </p:nvGrpSpPr>
        <p:grpSpPr>
          <a:xfrm>
            <a:off x="1371600" y="3401567"/>
            <a:ext cx="4715105" cy="402337"/>
            <a:chOff x="0" y="0"/>
            <a:chExt cx="4715104" cy="402336"/>
          </a:xfrm>
        </p:grpSpPr>
        <p:sp>
          <p:nvSpPr>
            <p:cNvPr id="249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50" name="Zero.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Zero.</a:t>
              </a:r>
            </a:p>
          </p:txBody>
        </p:sp>
      </p:grpSp>
      <p:sp>
        <p:nvSpPr>
          <p:cNvPr id="252" name="c3_bg"/>
          <p:cNvSpPr/>
          <p:nvPr/>
        </p:nvSpPr>
        <p:spPr>
          <a:xfrm>
            <a:off x="6525615" y="2560320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c3_badge"/>
          <p:cNvSpPr/>
          <p:nvPr/>
        </p:nvSpPr>
        <p:spPr>
          <a:xfrm>
            <a:off x="6726783" y="2724911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c3_num"/>
          <p:cNvSpPr txBox="1"/>
          <p:nvPr/>
        </p:nvSpPr>
        <p:spPr>
          <a:xfrm>
            <a:off x="6726783" y="2815335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55" name="c3_q"/>
          <p:cNvSpPr txBox="1"/>
          <p:nvPr/>
        </p:nvSpPr>
        <p:spPr>
          <a:xfrm>
            <a:off x="7257136" y="2878329"/>
            <a:ext cx="4184753" cy="260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car goes from 0 to 18 m s⁻¹ in 6.0 s. Find a.</a:t>
            </a:r>
          </a:p>
        </p:txBody>
      </p:sp>
      <p:grpSp>
        <p:nvGrpSpPr>
          <p:cNvPr id="258" name="c3_a"/>
          <p:cNvGrpSpPr/>
          <p:nvPr/>
        </p:nvGrpSpPr>
        <p:grpSpPr>
          <a:xfrm>
            <a:off x="6726783" y="3401567"/>
            <a:ext cx="4715106" cy="402337"/>
            <a:chOff x="0" y="0"/>
            <a:chExt cx="4715104" cy="402336"/>
          </a:xfrm>
        </p:grpSpPr>
        <p:sp>
          <p:nvSpPr>
            <p:cNvPr id="256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57" name="3 m s⁻²"/>
            <p:cNvSpPr txBox="1"/>
            <p:nvPr/>
          </p:nvSpPr>
          <p:spPr>
            <a:xfrm>
              <a:off x="35037" y="79502"/>
              <a:ext cx="4645030" cy="2433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 m s⁻²</a:t>
              </a:r>
            </a:p>
          </p:txBody>
        </p:sp>
      </p:grpSp>
      <p:sp>
        <p:nvSpPr>
          <p:cNvPr id="259" name="c4_bg"/>
          <p:cNvSpPr/>
          <p:nvPr/>
        </p:nvSpPr>
        <p:spPr>
          <a:xfrm>
            <a:off x="1170432" y="4151376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c4_badge"/>
          <p:cNvSpPr/>
          <p:nvPr/>
        </p:nvSpPr>
        <p:spPr>
          <a:xfrm>
            <a:off x="1371600" y="4315967"/>
            <a:ext cx="384048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c4_num"/>
          <p:cNvSpPr txBox="1"/>
          <p:nvPr/>
        </p:nvSpPr>
        <p:spPr>
          <a:xfrm>
            <a:off x="1371600" y="4406391"/>
            <a:ext cx="3840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62" name="c4_q"/>
          <p:cNvSpPr txBox="1"/>
          <p:nvPr/>
        </p:nvSpPr>
        <p:spPr>
          <a:xfrm>
            <a:off x="1901951" y="4337871"/>
            <a:ext cx="4184753" cy="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far does the same car travel in those 6 seconds?</a:t>
            </a:r>
          </a:p>
        </p:txBody>
      </p:sp>
      <p:grpSp>
        <p:nvGrpSpPr>
          <p:cNvPr id="265" name="c4_a"/>
          <p:cNvGrpSpPr/>
          <p:nvPr/>
        </p:nvGrpSpPr>
        <p:grpSpPr>
          <a:xfrm>
            <a:off x="1371600" y="4992623"/>
            <a:ext cx="4715105" cy="402337"/>
            <a:chOff x="0" y="0"/>
            <a:chExt cx="4715104" cy="402336"/>
          </a:xfrm>
        </p:grpSpPr>
        <p:sp>
          <p:nvSpPr>
            <p:cNvPr id="263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64" name="½(0 + 18) × 6 = 54 m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½(0 + 18) × 6 = 54 m</a:t>
              </a:r>
            </a:p>
          </p:txBody>
        </p:sp>
      </p:grpSp>
      <p:sp>
        <p:nvSpPr>
          <p:cNvPr id="266" name="c5_bg"/>
          <p:cNvSpPr/>
          <p:nvPr/>
        </p:nvSpPr>
        <p:spPr>
          <a:xfrm>
            <a:off x="6525615" y="4151376"/>
            <a:ext cx="5117441" cy="1389889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6510">
            <a:solidFill>
              <a:srgbClr val="D8D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c5_badge"/>
          <p:cNvSpPr/>
          <p:nvPr/>
        </p:nvSpPr>
        <p:spPr>
          <a:xfrm>
            <a:off x="6726783" y="4315967"/>
            <a:ext cx="384049" cy="38404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c5_num"/>
          <p:cNvSpPr txBox="1"/>
          <p:nvPr/>
        </p:nvSpPr>
        <p:spPr>
          <a:xfrm>
            <a:off x="6726783" y="4406391"/>
            <a:ext cx="38404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69" name="c5_q"/>
          <p:cNvSpPr txBox="1"/>
          <p:nvPr/>
        </p:nvSpPr>
        <p:spPr>
          <a:xfrm>
            <a:off x="7257136" y="4337871"/>
            <a:ext cx="4184753" cy="52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600">
                <a:solidFill>
                  <a:srgbClr val="141A3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 are not told the acceleration. Which equation do you use?</a:t>
            </a:r>
          </a:p>
        </p:txBody>
      </p:sp>
      <p:grpSp>
        <p:nvGrpSpPr>
          <p:cNvPr id="272" name="c5_a"/>
          <p:cNvGrpSpPr/>
          <p:nvPr/>
        </p:nvGrpSpPr>
        <p:grpSpPr>
          <a:xfrm>
            <a:off x="6726783" y="4992623"/>
            <a:ext cx="4715106" cy="402337"/>
            <a:chOff x="0" y="0"/>
            <a:chExt cx="4715104" cy="402336"/>
          </a:xfrm>
        </p:grpSpPr>
        <p:sp>
          <p:nvSpPr>
            <p:cNvPr id="270" name="Rounded Rectangle"/>
            <p:cNvSpPr/>
            <p:nvPr/>
          </p:nvSpPr>
          <p:spPr>
            <a:xfrm>
              <a:off x="0" y="0"/>
              <a:ext cx="4715105" cy="402337"/>
            </a:xfrm>
            <a:prstGeom prst="roundRect">
              <a:avLst>
                <a:gd name="adj" fmla="val 22727"/>
              </a:avLst>
            </a:prstGeom>
            <a:solidFill>
              <a:srgbClr val="FFEFE2"/>
            </a:solidFill>
            <a:ln w="1651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71" name="s = ½(u + v)t"/>
            <p:cNvSpPr txBox="1"/>
            <p:nvPr/>
          </p:nvSpPr>
          <p:spPr>
            <a:xfrm>
              <a:off x="35037" y="89175"/>
              <a:ext cx="4645030" cy="223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5" tIns="1015" rIns="1015" bIns="1015" numCol="1" anchor="ctr">
              <a:spAutoFit/>
            </a:bodyPr>
            <a:lstStyle>
              <a:lvl1pPr>
                <a:defRPr b="1" sz="16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 = ½(u + v)t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00" fill="hold"/>
                                        <p:tgtEl>
                                          <p:spTgt spid="2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4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6" dur="4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1" dur="4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6" dur="4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4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6" dur="4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37" fill="hold" display="0">
                  <p:stCondLst>
                    <p:cond delay="indefinite"/>
                  </p:stCondLst>
                </p:cTn>
                <p:tgtEl>
                  <p:spTgt spid="227"/>
                </p:tgtEl>
              </p:cMediaNode>
            </p:video>
            <p:seq concurrent="1" prevAc="none" nextAc="seek">
              <p:cTn id="38" evtFilter="cancelBubble" nodeType="interactiveSeq" restart="whenNotActive" fill="hold">
                <p:stCondLst>
                  <p:cond delay="0" evt="onClick">
                    <p:tgtEl>
                      <p:spTgt spid="227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27"/>
                  </p:tgtEl>
                </p:cond>
              </p:nextCondLst>
            </p:seq>
          </p:childTnLst>
        </p:cTn>
      </p:par>
    </p:tnLst>
    <p:bldLst>
      <p:bldP build="whole" bldLvl="1" animBg="1" rev="0" advAuto="0" spid="251" grpId="4"/>
      <p:bldP build="whole" bldLvl="1" animBg="1" rev="0" advAuto="0" spid="272" grpId="7"/>
      <p:bldP build="whole" bldLvl="1" animBg="1" rev="0" advAuto="0" spid="237" grpId="2"/>
      <p:bldP build="whole" bldLvl="1" animBg="1" rev="0" advAuto="0" spid="258" grpId="5"/>
      <p:bldP build="whole" bldLvl="1" animBg="1" rev="0" advAuto="0" spid="244" grpId="3"/>
      <p:bldP build="whole" bldLvl="1" animBg="1" rev="0" advAuto="0" spid="265" grpId="6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9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277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78" name="YOU DO · 14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DO · 14 MIN</a:t>
              </a:r>
            </a:p>
          </p:txBody>
        </p:sp>
      </p:grpSp>
      <p:pic>
        <p:nvPicPr>
          <p:cNvPr id="280" name="gc_logo" descr="gc_logo"/>
          <p:cNvPicPr>
            <a:picLocks noChangeAspect="1"/>
          </p:cNvPicPr>
          <p:nvPr/>
        </p:nvPicPr>
        <p:blipFill>
          <a:blip r:embed="rId6">
            <a:alphaModFix amt="38000"/>
            <a:extLst/>
          </a:blip>
          <a:stretch>
            <a:fillRect/>
          </a:stretch>
        </p:blipFill>
        <p:spPr>
          <a:xfrm>
            <a:off x="10088574" y="786383"/>
            <a:ext cx="1554481" cy="1344169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slide_title"/>
          <p:cNvSpPr txBox="1"/>
          <p:nvPr/>
        </p:nvSpPr>
        <p:spPr>
          <a:xfrm>
            <a:off x="1170432" y="1059842"/>
            <a:ext cx="8643823" cy="49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4000"/>
              </a:lnSpc>
              <a:defRPr b="1" sz="32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Equations of Motion worksheet</a:t>
            </a:r>
          </a:p>
        </p:txBody>
      </p:sp>
      <p:sp>
        <p:nvSpPr>
          <p:cNvPr id="282" name="slide_sub"/>
          <p:cNvSpPr txBox="1"/>
          <p:nvPr/>
        </p:nvSpPr>
        <p:spPr>
          <a:xfrm>
            <a:off x="1170432" y="1924787"/>
            <a:ext cx="864382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E03D6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Open Google Classroom now.</a:t>
            </a:r>
          </a:p>
        </p:txBody>
      </p:sp>
      <p:grpSp>
        <p:nvGrpSpPr>
          <p:cNvPr id="287" name="t0"/>
          <p:cNvGrpSpPr/>
          <p:nvPr/>
        </p:nvGrpSpPr>
        <p:grpSpPr>
          <a:xfrm>
            <a:off x="1170432" y="2322576"/>
            <a:ext cx="3307994" cy="1828801"/>
            <a:chOff x="0" y="0"/>
            <a:chExt cx="3307993" cy="1828800"/>
          </a:xfrm>
        </p:grpSpPr>
        <p:sp>
          <p:nvSpPr>
            <p:cNvPr id="283" name="t0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FE9E0"/>
            </a:solidFill>
            <a:ln w="20320" cap="flat">
              <a:solidFill>
                <a:srgbClr val="E03D6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4" name="t0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E03D6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BRONZE</a:t>
              </a:r>
            </a:p>
          </p:txBody>
        </p:sp>
        <p:sp>
          <p:nvSpPr>
            <p:cNvPr id="285" name="t0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Substitute</a:t>
              </a:r>
            </a:p>
          </p:txBody>
        </p:sp>
        <p:sp>
          <p:nvSpPr>
            <p:cNvPr id="286" name="t0_b"/>
            <p:cNvSpPr txBox="1"/>
            <p:nvPr/>
          </p:nvSpPr>
          <p:spPr>
            <a:xfrm>
              <a:off x="237744" y="877823"/>
              <a:ext cx="2832506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sz="15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Numbers straight into the equation.</a:t>
              </a:r>
            </a:p>
          </p:txBody>
        </p:sp>
      </p:grpSp>
      <p:grpSp>
        <p:nvGrpSpPr>
          <p:cNvPr id="292" name="t1"/>
          <p:cNvGrpSpPr/>
          <p:nvPr/>
        </p:nvGrpSpPr>
        <p:grpSpPr>
          <a:xfrm>
            <a:off x="4752745" y="2322576"/>
            <a:ext cx="3307995" cy="1828801"/>
            <a:chOff x="0" y="0"/>
            <a:chExt cx="3307993" cy="1828800"/>
          </a:xfrm>
        </p:grpSpPr>
        <p:sp>
          <p:nvSpPr>
            <p:cNvPr id="288" name="t1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1F2F6"/>
            </a:solidFill>
            <a:ln w="20320" cap="flat">
              <a:solidFill>
                <a:srgbClr val="5A648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9" name="t1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SILVER</a:t>
              </a:r>
            </a:p>
          </p:txBody>
        </p:sp>
        <p:sp>
          <p:nvSpPr>
            <p:cNvPr id="290" name="t1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Two steps</a:t>
              </a:r>
            </a:p>
          </p:txBody>
        </p:sp>
        <p:sp>
          <p:nvSpPr>
            <p:cNvPr id="291" name="t1_b"/>
            <p:cNvSpPr txBox="1"/>
            <p:nvPr/>
          </p:nvSpPr>
          <p:spPr>
            <a:xfrm>
              <a:off x="237744" y="877823"/>
              <a:ext cx="2832506" cy="243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sz="15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Find v first, then use it to find s.</a:t>
              </a:r>
            </a:p>
          </p:txBody>
        </p:sp>
      </p:grpSp>
      <p:grpSp>
        <p:nvGrpSpPr>
          <p:cNvPr id="297" name="t2"/>
          <p:cNvGrpSpPr/>
          <p:nvPr/>
        </p:nvGrpSpPr>
        <p:grpSpPr>
          <a:xfrm>
            <a:off x="8335061" y="2322576"/>
            <a:ext cx="3307994" cy="1828801"/>
            <a:chOff x="0" y="0"/>
            <a:chExt cx="3307993" cy="1828800"/>
          </a:xfrm>
        </p:grpSpPr>
        <p:sp>
          <p:nvSpPr>
            <p:cNvPr id="293" name="t2_bg"/>
            <p:cNvSpPr/>
            <p:nvPr/>
          </p:nvSpPr>
          <p:spPr>
            <a:xfrm>
              <a:off x="0" y="0"/>
              <a:ext cx="3307994" cy="1828800"/>
            </a:xfrm>
            <a:prstGeom prst="roundRect">
              <a:avLst>
                <a:gd name="adj" fmla="val 5000"/>
              </a:avLst>
            </a:prstGeom>
            <a:solidFill>
              <a:srgbClr val="FFEFE2"/>
            </a:solidFill>
            <a:ln w="20320" cap="flat">
              <a:solidFill>
                <a:srgbClr val="FF8A3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4" name="t2_h"/>
            <p:cNvSpPr txBox="1"/>
            <p:nvPr/>
          </p:nvSpPr>
          <p:spPr>
            <a:xfrm>
              <a:off x="237744" y="242638"/>
              <a:ext cx="283250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20" sz="1500">
                  <a:solidFill>
                    <a:srgbClr val="FF8A3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GOLD</a:t>
              </a:r>
            </a:p>
          </p:txBody>
        </p:sp>
        <p:sp>
          <p:nvSpPr>
            <p:cNvPr id="295" name="t2_s"/>
            <p:cNvSpPr txBox="1"/>
            <p:nvPr/>
          </p:nvSpPr>
          <p:spPr>
            <a:xfrm>
              <a:off x="237744" y="571475"/>
              <a:ext cx="2832506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7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Reason</a:t>
              </a:r>
            </a:p>
          </p:txBody>
        </p:sp>
        <p:sp>
          <p:nvSpPr>
            <p:cNvPr id="296" name="t2_b"/>
            <p:cNvSpPr txBox="1"/>
            <p:nvPr/>
          </p:nvSpPr>
          <p:spPr>
            <a:xfrm>
              <a:off x="237744" y="877823"/>
              <a:ext cx="2832506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sz="1500">
                  <a:solidFill>
                    <a:srgbClr val="5A648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Rearrange, derive, and say when these equations fail.</a:t>
              </a:r>
            </a:p>
          </p:txBody>
        </p:sp>
      </p:grpSp>
      <p:sp>
        <p:nvSpPr>
          <p:cNvPr id="298" name="yd_note"/>
          <p:cNvSpPr txBox="1"/>
          <p:nvPr/>
        </p:nvSpPr>
        <p:spPr>
          <a:xfrm>
            <a:off x="1170432" y="4530827"/>
            <a:ext cx="1047262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720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Write down u, v, a, s and t before you pick an equation.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0000" fill="hold"/>
                                        <p:tgtEl>
                                          <p:spTgt spid="2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4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4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27" fill="hold" display="0">
                  <p:stCondLst>
                    <p:cond delay="indefinite"/>
                  </p:stCondLst>
                </p:cTn>
                <p:tgtEl>
                  <p:spTgt spid="276"/>
                </p:tgtEl>
              </p:cMediaNode>
            </p:video>
            <p:seq concurrent="1" prevAc="none" nextAc="seek">
              <p:cTn id="28" evtFilter="cancelBubble" nodeType="interactiveSeq" restart="whenNotActive" fill="hold">
                <p:stCondLst>
                  <p:cond delay="0" evt="onClick">
                    <p:tgtEl>
                      <p:spTgt spid="276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76"/>
                  </p:tgtEl>
                </p:cond>
              </p:nextCondLst>
            </p:seq>
          </p:childTnLst>
        </p:cTn>
      </p:par>
    </p:tnLst>
    <p:bldLst>
      <p:bldP build="whole" bldLvl="1" animBg="1" rev="0" advAuto="0" spid="298" grpId="5"/>
      <p:bldP build="whole" bldLvl="1" animBg="1" rev="0" advAuto="0" spid="287" grpId="2"/>
      <p:bldP build="whole" bldLvl="1" animBg="1" rev="0" advAuto="0" spid="297" grpId="4"/>
      <p:bldP build="whole" bldLvl="1" animBg="1" rev="0" advAuto="0" spid="292" grpId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05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303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1720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304" name="ANSWERS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ANSWERS · 3 MIN</a:t>
              </a:r>
            </a:p>
          </p:txBody>
        </p:sp>
      </p:grpSp>
      <p:sp>
        <p:nvSpPr>
          <p:cNvPr id="306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7203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Answers</a:t>
            </a:r>
          </a:p>
        </p:txBody>
      </p:sp>
      <p:grpSp>
        <p:nvGrpSpPr>
          <p:cNvPr id="310" name="a0"/>
          <p:cNvGrpSpPr/>
          <p:nvPr/>
        </p:nvGrpSpPr>
        <p:grpSpPr>
          <a:xfrm>
            <a:off x="1170432" y="1828800"/>
            <a:ext cx="5117441" cy="658369"/>
            <a:chOff x="0" y="0"/>
            <a:chExt cx="5117439" cy="658368"/>
          </a:xfrm>
        </p:grpSpPr>
        <p:sp>
          <p:nvSpPr>
            <p:cNvPr id="307" name="a0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8" name="a0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09" name="a0_t"/>
            <p:cNvSpPr txBox="1"/>
            <p:nvPr/>
          </p:nvSpPr>
          <p:spPr>
            <a:xfrm>
              <a:off x="749808" y="212479"/>
              <a:ext cx="4166464" cy="2334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 = u + at</a:t>
              </a:r>
            </a:p>
          </p:txBody>
        </p:sp>
      </p:grpSp>
      <p:grpSp>
        <p:nvGrpSpPr>
          <p:cNvPr id="314" name="a1"/>
          <p:cNvGrpSpPr/>
          <p:nvPr/>
        </p:nvGrpSpPr>
        <p:grpSpPr>
          <a:xfrm>
            <a:off x="6525615" y="1828800"/>
            <a:ext cx="5117441" cy="658369"/>
            <a:chOff x="0" y="0"/>
            <a:chExt cx="5117439" cy="658368"/>
          </a:xfrm>
        </p:grpSpPr>
        <p:sp>
          <p:nvSpPr>
            <p:cNvPr id="311" name="a1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2" name="a1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313" name="a1_t"/>
            <p:cNvSpPr txBox="1"/>
            <p:nvPr/>
          </p:nvSpPr>
          <p:spPr>
            <a:xfrm>
              <a:off x="749808" y="212479"/>
              <a:ext cx="4166464" cy="2334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 = ½(u + v)t</a:t>
              </a:r>
            </a:p>
          </p:txBody>
        </p:sp>
      </p:grpSp>
      <p:grpSp>
        <p:nvGrpSpPr>
          <p:cNvPr id="318" name="a2"/>
          <p:cNvGrpSpPr/>
          <p:nvPr/>
        </p:nvGrpSpPr>
        <p:grpSpPr>
          <a:xfrm>
            <a:off x="1170432" y="2578607"/>
            <a:ext cx="5117441" cy="658369"/>
            <a:chOff x="0" y="0"/>
            <a:chExt cx="5117439" cy="658368"/>
          </a:xfrm>
        </p:grpSpPr>
        <p:sp>
          <p:nvSpPr>
            <p:cNvPr id="315" name="a2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6" name="a2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17" name="a2_t"/>
            <p:cNvSpPr txBox="1"/>
            <p:nvPr/>
          </p:nvSpPr>
          <p:spPr>
            <a:xfrm>
              <a:off x="749808" y="210758"/>
              <a:ext cx="4166464" cy="2368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15 m s⁻¹</a:t>
              </a:r>
            </a:p>
          </p:txBody>
        </p:sp>
      </p:grpSp>
      <p:grpSp>
        <p:nvGrpSpPr>
          <p:cNvPr id="322" name="a3"/>
          <p:cNvGrpSpPr/>
          <p:nvPr/>
        </p:nvGrpSpPr>
        <p:grpSpPr>
          <a:xfrm>
            <a:off x="6525615" y="2578607"/>
            <a:ext cx="5117441" cy="658369"/>
            <a:chOff x="0" y="0"/>
            <a:chExt cx="5117439" cy="658368"/>
          </a:xfrm>
        </p:grpSpPr>
        <p:sp>
          <p:nvSpPr>
            <p:cNvPr id="319" name="a3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0" name="a3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321" name="a3_t"/>
            <p:cNvSpPr txBox="1"/>
            <p:nvPr/>
          </p:nvSpPr>
          <p:spPr>
            <a:xfrm>
              <a:off x="749808" y="210758"/>
              <a:ext cx="4166464" cy="2368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 m s⁻²</a:t>
              </a:r>
            </a:p>
          </p:txBody>
        </p:sp>
      </p:grpSp>
      <p:grpSp>
        <p:nvGrpSpPr>
          <p:cNvPr id="326" name="a4"/>
          <p:cNvGrpSpPr/>
          <p:nvPr/>
        </p:nvGrpSpPr>
        <p:grpSpPr>
          <a:xfrm>
            <a:off x="1170432" y="3328415"/>
            <a:ext cx="5117441" cy="658369"/>
            <a:chOff x="0" y="0"/>
            <a:chExt cx="5117439" cy="658368"/>
          </a:xfrm>
        </p:grpSpPr>
        <p:sp>
          <p:nvSpPr>
            <p:cNvPr id="323" name="a4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4" name="a4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25" name="a4_t"/>
            <p:cNvSpPr txBox="1"/>
            <p:nvPr/>
          </p:nvSpPr>
          <p:spPr>
            <a:xfrm>
              <a:off x="749808" y="212479"/>
              <a:ext cx="4166464" cy="2334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72 m</a:t>
              </a:r>
            </a:p>
          </p:txBody>
        </p:sp>
      </p:grpSp>
      <p:grpSp>
        <p:nvGrpSpPr>
          <p:cNvPr id="330" name="a5"/>
          <p:cNvGrpSpPr/>
          <p:nvPr/>
        </p:nvGrpSpPr>
        <p:grpSpPr>
          <a:xfrm>
            <a:off x="6525615" y="3328415"/>
            <a:ext cx="5117441" cy="658369"/>
            <a:chOff x="0" y="0"/>
            <a:chExt cx="5117439" cy="658368"/>
          </a:xfrm>
        </p:grpSpPr>
        <p:sp>
          <p:nvSpPr>
            <p:cNvPr id="327" name="a5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8" name="a5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329" name="a5_t"/>
            <p:cNvSpPr txBox="1"/>
            <p:nvPr/>
          </p:nvSpPr>
          <p:spPr>
            <a:xfrm>
              <a:off x="749808" y="210758"/>
              <a:ext cx="4166464" cy="2368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 = 21 m s⁻¹,  then  s = 104 m</a:t>
              </a:r>
            </a:p>
          </p:txBody>
        </p:sp>
      </p:grpSp>
      <p:grpSp>
        <p:nvGrpSpPr>
          <p:cNvPr id="334" name="a6"/>
          <p:cNvGrpSpPr/>
          <p:nvPr/>
        </p:nvGrpSpPr>
        <p:grpSpPr>
          <a:xfrm>
            <a:off x="1170432" y="4078223"/>
            <a:ext cx="5117441" cy="658369"/>
            <a:chOff x="0" y="0"/>
            <a:chExt cx="5117439" cy="658368"/>
          </a:xfrm>
        </p:grpSpPr>
        <p:sp>
          <p:nvSpPr>
            <p:cNvPr id="331" name="a6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2" name="a6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333" name="a6_t"/>
            <p:cNvSpPr txBox="1"/>
            <p:nvPr/>
          </p:nvSpPr>
          <p:spPr>
            <a:xfrm>
              <a:off x="749808" y="210758"/>
              <a:ext cx="4166464" cy="2368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= −3 m s⁻²,  s = 126 m</a:t>
              </a:r>
            </a:p>
          </p:txBody>
        </p:sp>
      </p:grpSp>
      <p:grpSp>
        <p:nvGrpSpPr>
          <p:cNvPr id="338" name="a7"/>
          <p:cNvGrpSpPr/>
          <p:nvPr/>
        </p:nvGrpSpPr>
        <p:grpSpPr>
          <a:xfrm>
            <a:off x="6525615" y="4078223"/>
            <a:ext cx="5117441" cy="658369"/>
            <a:chOff x="0" y="0"/>
            <a:chExt cx="5117439" cy="658368"/>
          </a:xfrm>
        </p:grpSpPr>
        <p:sp>
          <p:nvSpPr>
            <p:cNvPr id="335" name="a7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6" name="a7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337" name="a7_t"/>
            <p:cNvSpPr txBox="1"/>
            <p:nvPr/>
          </p:nvSpPr>
          <p:spPr>
            <a:xfrm>
              <a:off x="749808" y="210758"/>
              <a:ext cx="4166464" cy="2368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25 m s⁻¹  (100 = ½ × v × 8)</a:t>
              </a:r>
            </a:p>
          </p:txBody>
        </p:sp>
      </p:grpSp>
      <p:grpSp>
        <p:nvGrpSpPr>
          <p:cNvPr id="342" name="a8"/>
          <p:cNvGrpSpPr/>
          <p:nvPr/>
        </p:nvGrpSpPr>
        <p:grpSpPr>
          <a:xfrm>
            <a:off x="1170432" y="4828032"/>
            <a:ext cx="5117441" cy="658369"/>
            <a:chOff x="0" y="0"/>
            <a:chExt cx="5117439" cy="658368"/>
          </a:xfrm>
        </p:grpSpPr>
        <p:sp>
          <p:nvSpPr>
            <p:cNvPr id="339" name="a8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0" name="a8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341" name="a8_t"/>
            <p:cNvSpPr txBox="1"/>
            <p:nvPr/>
          </p:nvSpPr>
          <p:spPr>
            <a:xfrm>
              <a:off x="749808" y="212479"/>
              <a:ext cx="4166464" cy="2334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= 0,  s = 120 m</a:t>
              </a:r>
            </a:p>
          </p:txBody>
        </p:sp>
      </p:grpSp>
      <p:grpSp>
        <p:nvGrpSpPr>
          <p:cNvPr id="346" name="a9"/>
          <p:cNvGrpSpPr/>
          <p:nvPr/>
        </p:nvGrpSpPr>
        <p:grpSpPr>
          <a:xfrm>
            <a:off x="6525615" y="4828032"/>
            <a:ext cx="5117441" cy="658369"/>
            <a:chOff x="0" y="0"/>
            <a:chExt cx="5117439" cy="658368"/>
          </a:xfrm>
        </p:grpSpPr>
        <p:sp>
          <p:nvSpPr>
            <p:cNvPr id="343" name="a9_bg"/>
            <p:cNvSpPr/>
            <p:nvPr/>
          </p:nvSpPr>
          <p:spPr>
            <a:xfrm>
              <a:off x="0" y="0"/>
              <a:ext cx="5117440" cy="658369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6510" cap="flat">
              <a:solidFill>
                <a:srgbClr val="D8DEE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4" name="a9_n"/>
            <p:cNvSpPr txBox="1"/>
            <p:nvPr/>
          </p:nvSpPr>
          <p:spPr>
            <a:xfrm>
              <a:off x="219455" y="195833"/>
              <a:ext cx="457201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8A3D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345" name="a9_t"/>
            <p:cNvSpPr txBox="1"/>
            <p:nvPr/>
          </p:nvSpPr>
          <p:spPr>
            <a:xfrm>
              <a:off x="749808" y="210758"/>
              <a:ext cx="4166464" cy="2368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sz="1500">
                  <a:solidFill>
                    <a:srgbClr val="141A3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 = 13 m s⁻¹,  then  s = 51 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3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4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"/>
                            </p:stCondLst>
                            <p:childTnLst>
                              <p:par>
                                <p:cTn id="31" presetClass="entr" nodeType="afterEffect" presetID="10" grpId="7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4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"/>
                            </p:stCondLst>
                            <p:childTnLst>
                              <p:par>
                                <p:cTn id="40" presetClass="entr" nodeType="afterEffect" presetID="10" grpId="9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2" dur="4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7" dur="4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"/>
                            </p:stCondLst>
                            <p:childTnLst>
                              <p:par>
                                <p:cTn id="49" presetClass="entr" nodeType="afterEffect" presetID="10" grpId="11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1" dur="4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52" fill="hold" display="0">
                  <p:stCondLst>
                    <p:cond delay="indefinite"/>
                  </p:stCondLst>
                </p:cTn>
                <p:tgtEl>
                  <p:spTgt spid="302"/>
                </p:tgtEl>
              </p:cMediaNode>
            </p:video>
            <p:seq concurrent="1" prevAc="none" nextAc="seek">
              <p:cTn id="53" evtFilter="cancelBubble" nodeType="interactiveSeq" restart="whenNotActive" fill="hold">
                <p:stCondLst>
                  <p:cond delay="0" evt="onClick">
                    <p:tgtEl>
                      <p:spTgt spid="30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7" dur="1" fill="hold"/>
                                        <p:tgtEl>
                                          <p:spTgt spid="3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02"/>
                  </p:tgtEl>
                </p:cond>
              </p:nextCondLst>
            </p:seq>
          </p:childTnLst>
        </p:cTn>
      </p:par>
    </p:tnLst>
    <p:bldLst>
      <p:bldP build="whole" bldLvl="1" animBg="1" rev="0" advAuto="0" spid="310" grpId="2"/>
      <p:bldP build="whole" bldLvl="1" animBg="1" rev="0" advAuto="0" spid="326" grpId="6"/>
      <p:bldP build="whole" bldLvl="1" animBg="1" rev="0" advAuto="0" spid="342" grpId="10"/>
      <p:bldP build="whole" bldLvl="1" animBg="1" rev="0" advAuto="0" spid="346" grpId="11"/>
      <p:bldP build="whole" bldLvl="1" animBg="1" rev="0" advAuto="0" spid="322" grpId="5"/>
      <p:bldP build="whole" bldLvl="1" animBg="1" rev="0" advAuto="0" spid="338" grpId="9"/>
      <p:bldP build="whole" bldLvl="1" animBg="1" rev="0" advAuto="0" spid="318" grpId="4"/>
      <p:bldP build="whole" bldLvl="1" animBg="1" rev="0" advAuto="0" spid="334" grpId="8"/>
      <p:bldP build="whole" bldLvl="1" animBg="1" rev="0" advAuto="0" spid="314" grpId="3"/>
      <p:bldP build="whole" bldLvl="1" animBg="1" rev="0" advAuto="0" spid="330" grpId="7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timer_video" descr="timer_video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10895" y="310895"/>
            <a:ext cx="457201" cy="62362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3" name="phase_pill"/>
          <p:cNvGrpSpPr/>
          <p:nvPr/>
        </p:nvGrpSpPr>
        <p:grpSpPr>
          <a:xfrm>
            <a:off x="1170432" y="310895"/>
            <a:ext cx="1892808" cy="329185"/>
            <a:chOff x="0" y="0"/>
            <a:chExt cx="1892807" cy="329184"/>
          </a:xfrm>
        </p:grpSpPr>
        <p:sp>
          <p:nvSpPr>
            <p:cNvPr id="351" name="Rounded Rectangle"/>
            <p:cNvSpPr/>
            <p:nvPr/>
          </p:nvSpPr>
          <p:spPr>
            <a:xfrm>
              <a:off x="0" y="0"/>
              <a:ext cx="1892808" cy="329185"/>
            </a:xfrm>
            <a:prstGeom prst="roundRect">
              <a:avLst>
                <a:gd name="adj" fmla="val 44444"/>
              </a:avLst>
            </a:prstGeom>
            <a:solidFill>
              <a:srgbClr val="FF8A3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352" name="PLENARY · 3 MIN"/>
            <p:cNvSpPr txBox="1"/>
            <p:nvPr/>
          </p:nvSpPr>
          <p:spPr>
            <a:xfrm>
              <a:off x="42850" y="90677"/>
              <a:ext cx="1807107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20" sz="1100">
                  <a:solidFill>
                    <a:srgbClr val="17203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PLENARY · 3 MIN</a:t>
              </a:r>
            </a:p>
          </p:txBody>
        </p:sp>
      </p:grpSp>
      <p:sp>
        <p:nvSpPr>
          <p:cNvPr id="354" name="slide_title"/>
          <p:cNvSpPr txBox="1"/>
          <p:nvPr/>
        </p:nvSpPr>
        <p:spPr>
          <a:xfrm>
            <a:off x="1170432" y="946657"/>
            <a:ext cx="1047262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F2F4F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True or false?</a:t>
            </a:r>
          </a:p>
        </p:txBody>
      </p:sp>
      <p:grpSp>
        <p:nvGrpSpPr>
          <p:cNvPr id="357" name="p0_stmt"/>
          <p:cNvGrpSpPr/>
          <p:nvPr/>
        </p:nvGrpSpPr>
        <p:grpSpPr>
          <a:xfrm>
            <a:off x="1170432" y="2194560"/>
            <a:ext cx="8552383" cy="640081"/>
            <a:chOff x="0" y="0"/>
            <a:chExt cx="8552382" cy="640080"/>
          </a:xfrm>
        </p:grpSpPr>
        <p:sp>
          <p:nvSpPr>
            <p:cNvPr id="355" name="p0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6" name="p0_q"/>
            <p:cNvSpPr txBox="1"/>
            <p:nvPr/>
          </p:nvSpPr>
          <p:spPr>
            <a:xfrm>
              <a:off x="256032" y="209063"/>
              <a:ext cx="818662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 = ½(u + v)t is just average velocity × time.</a:t>
              </a:r>
            </a:p>
          </p:txBody>
        </p:sp>
      </p:grpSp>
      <p:sp>
        <p:nvSpPr>
          <p:cNvPr id="358" name="p0_v"/>
          <p:cNvSpPr txBox="1"/>
          <p:nvPr/>
        </p:nvSpPr>
        <p:spPr>
          <a:xfrm>
            <a:off x="9905695" y="2391131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1FB6B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grpSp>
        <p:nvGrpSpPr>
          <p:cNvPr id="361" name="p1_stmt"/>
          <p:cNvGrpSpPr/>
          <p:nvPr/>
        </p:nvGrpSpPr>
        <p:grpSpPr>
          <a:xfrm>
            <a:off x="1170432" y="2999232"/>
            <a:ext cx="8552383" cy="640081"/>
            <a:chOff x="0" y="0"/>
            <a:chExt cx="8552382" cy="640080"/>
          </a:xfrm>
        </p:grpSpPr>
        <p:sp>
          <p:nvSpPr>
            <p:cNvPr id="359" name="p1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0" name="p1_q"/>
            <p:cNvSpPr txBox="1"/>
            <p:nvPr/>
          </p:nvSpPr>
          <p:spPr>
            <a:xfrm>
              <a:off x="256032" y="209063"/>
              <a:ext cx="818662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 is always zero.</a:t>
              </a:r>
            </a:p>
          </p:txBody>
        </p:sp>
      </p:grpSp>
      <p:sp>
        <p:nvSpPr>
          <p:cNvPr id="362" name="p1_v"/>
          <p:cNvSpPr txBox="1"/>
          <p:nvPr/>
        </p:nvSpPr>
        <p:spPr>
          <a:xfrm>
            <a:off x="9905695" y="3195803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365" name="p2_stmt"/>
          <p:cNvGrpSpPr/>
          <p:nvPr/>
        </p:nvGrpSpPr>
        <p:grpSpPr>
          <a:xfrm>
            <a:off x="1170432" y="3803903"/>
            <a:ext cx="8552383" cy="640081"/>
            <a:chOff x="0" y="0"/>
            <a:chExt cx="8552382" cy="640080"/>
          </a:xfrm>
        </p:grpSpPr>
        <p:sp>
          <p:nvSpPr>
            <p:cNvPr id="363" name="p2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4" name="p2_q"/>
            <p:cNvSpPr txBox="1"/>
            <p:nvPr/>
          </p:nvSpPr>
          <p:spPr>
            <a:xfrm>
              <a:off x="256032" y="209063"/>
              <a:ext cx="818662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 = u + at comes from the area under a velocity–time graph.</a:t>
              </a:r>
            </a:p>
          </p:txBody>
        </p:sp>
      </p:grpSp>
      <p:sp>
        <p:nvSpPr>
          <p:cNvPr id="366" name="p2_v"/>
          <p:cNvSpPr txBox="1"/>
          <p:nvPr/>
        </p:nvSpPr>
        <p:spPr>
          <a:xfrm>
            <a:off x="9905695" y="4000475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369" name="p3_stmt"/>
          <p:cNvGrpSpPr/>
          <p:nvPr/>
        </p:nvGrpSpPr>
        <p:grpSpPr>
          <a:xfrm>
            <a:off x="1170432" y="4608576"/>
            <a:ext cx="8552383" cy="640081"/>
            <a:chOff x="0" y="0"/>
            <a:chExt cx="8552382" cy="640080"/>
          </a:xfrm>
        </p:grpSpPr>
        <p:sp>
          <p:nvSpPr>
            <p:cNvPr id="367" name="p3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8" name="p3_q"/>
            <p:cNvSpPr txBox="1"/>
            <p:nvPr/>
          </p:nvSpPr>
          <p:spPr>
            <a:xfrm>
              <a:off x="256032" y="209063"/>
              <a:ext cx="818662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negative acceleration always gives a negative displacement.</a:t>
              </a:r>
            </a:p>
          </p:txBody>
        </p:sp>
      </p:grpSp>
      <p:sp>
        <p:nvSpPr>
          <p:cNvPr id="370" name="p3_v"/>
          <p:cNvSpPr txBox="1"/>
          <p:nvPr/>
        </p:nvSpPr>
        <p:spPr>
          <a:xfrm>
            <a:off x="9905695" y="4805147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FALSE</a:t>
            </a:r>
          </a:p>
        </p:txBody>
      </p:sp>
      <p:grpSp>
        <p:nvGrpSpPr>
          <p:cNvPr id="373" name="p4_stmt"/>
          <p:cNvGrpSpPr/>
          <p:nvPr/>
        </p:nvGrpSpPr>
        <p:grpSpPr>
          <a:xfrm>
            <a:off x="1170432" y="5413247"/>
            <a:ext cx="8552383" cy="640081"/>
            <a:chOff x="0" y="0"/>
            <a:chExt cx="8552382" cy="640080"/>
          </a:xfrm>
        </p:grpSpPr>
        <p:sp>
          <p:nvSpPr>
            <p:cNvPr id="371" name="p4_bg"/>
            <p:cNvSpPr/>
            <p:nvPr/>
          </p:nvSpPr>
          <p:spPr>
            <a:xfrm>
              <a:off x="0" y="0"/>
              <a:ext cx="8552383" cy="640081"/>
            </a:xfrm>
            <a:prstGeom prst="roundRect">
              <a:avLst>
                <a:gd name="adj" fmla="val 14286"/>
              </a:avLst>
            </a:prstGeom>
            <a:solidFill>
              <a:srgbClr val="1F2A52"/>
            </a:solidFill>
            <a:ln w="12700" cap="flat">
              <a:solidFill>
                <a:srgbClr val="2C39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2" name="p4_q"/>
            <p:cNvSpPr txBox="1"/>
            <p:nvPr/>
          </p:nvSpPr>
          <p:spPr>
            <a:xfrm>
              <a:off x="256032" y="209063"/>
              <a:ext cx="818662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600">
                  <a:solidFill>
                    <a:srgbClr val="F2F4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These equations only work when the acceleration is constant.</a:t>
              </a:r>
            </a:p>
          </p:txBody>
        </p:sp>
      </p:grpSp>
      <p:sp>
        <p:nvSpPr>
          <p:cNvPr id="374" name="p4_v"/>
          <p:cNvSpPr txBox="1"/>
          <p:nvPr/>
        </p:nvSpPr>
        <p:spPr>
          <a:xfrm>
            <a:off x="9905695" y="5609819"/>
            <a:ext cx="17373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700">
                <a:solidFill>
                  <a:srgbClr val="1FB6B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TRUE</a:t>
            </a:r>
          </a:p>
        </p:txBody>
      </p:sp>
      <p:sp>
        <p:nvSpPr>
          <p:cNvPr id="375" name="pl_next"/>
          <p:cNvSpPr txBox="1"/>
          <p:nvPr/>
        </p:nvSpPr>
        <p:spPr>
          <a:xfrm>
            <a:off x="1170432" y="6189239"/>
            <a:ext cx="1047262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600">
                <a:solidFill>
                  <a:srgbClr val="FF8A3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Write down what you know first. Then pick the equation that has three of them in 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u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0" fill="hold"/>
                                        <p:tgtEl>
                                          <p:spTgt spid="3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16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4" dur="4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16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4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Subtype="16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ID="10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6" dur="4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67" fill="hold" display="0">
                  <p:stCondLst>
                    <p:cond delay="indefinite"/>
                  </p:stCondLst>
                </p:cTn>
                <p:tgtEl>
                  <p:spTgt spid="350"/>
                </p:tgtEl>
              </p:cMediaNode>
            </p:video>
            <p:seq concurrent="1" prevAc="none" nextAc="seek">
              <p:cTn id="68" evtFilter="cancelBubble" nodeType="interactiveSeq" restart="whenNotActive" fill="hold">
                <p:stCondLst>
                  <p:cond delay="0" evt="onClick">
                    <p:tgtEl>
                      <p:spTgt spid="350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2" dur="1" fill="hold"/>
                                        <p:tgtEl>
                                          <p:spTgt spid="3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50"/>
                  </p:tgtEl>
                </p:cond>
              </p:nextCondLst>
            </p:seq>
          </p:childTnLst>
        </p:cTn>
      </p:par>
    </p:tnLst>
    <p:bldLst>
      <p:bldP build="whole" bldLvl="1" animBg="1" rev="0" advAuto="0" spid="365" grpId="6"/>
      <p:bldP build="whole" bldLvl="1" animBg="1" rev="0" advAuto="0" spid="358" grpId="3"/>
      <p:bldP build="whole" bldLvl="1" animBg="1" rev="0" advAuto="0" spid="362" grpId="5"/>
      <p:bldP build="whole" bldLvl="1" animBg="1" rev="0" advAuto="0" spid="361" grpId="4"/>
      <p:bldP build="whole" bldLvl="1" animBg="1" rev="0" advAuto="0" spid="357" grpId="2"/>
      <p:bldP build="whole" bldLvl="1" animBg="1" rev="0" advAuto="0" spid="370" grpId="9"/>
      <p:bldP build="whole" bldLvl="1" animBg="1" rev="0" advAuto="0" spid="374" grpId="11"/>
      <p:bldP build="whole" bldLvl="1" animBg="1" rev="0" advAuto="0" spid="375" grpId="12"/>
      <p:bldP build="whole" bldLvl="1" animBg="1" rev="0" advAuto="0" spid="373" grpId="10"/>
      <p:bldP build="whole" bldLvl="1" animBg="1" rev="0" advAuto="0" spid="369" grpId="8"/>
      <p:bldP build="whole" bldLvl="1" animBg="1" rev="0" advAuto="0" spid="366" grpId="7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