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media6.mp4" ContentType="video/unknown"/>
  <Override PartName="/ppt/notesSlides/notesSlide9.xml" ContentType="application/vnd.openxmlformats-officedocument.presentationml.notesSlide+xml"/>
  <Override PartName="/ppt/media/media7.mp4" ContentType="video/unknown"/>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6 minutes, not 10, to make room for a real practical. Six clicks.</a:t>
            </a:r>
          </a:p>
          <a:p>
            <a:pPr/>
          </a:p>
          <a:p>
            <a:pPr/>
            <a:r>
              <a:t>FROM Fair Tests and Variables. That lesson taught independent and dependent (with "manipulated" and "responding" beside them), controlled variables and repeating a test. It was a design task only, no aeroplane was thrown. Its I Do slide ended "We might investigate!", so today keeps that promise.</a:t>
            </a:r>
          </a:p>
          <a:p>
            <a:pPr/>
          </a:p>
          <a:p>
            <a:pPr/>
            <a:r>
              <a:t>Q1-4 ARE THE DIFFICULT PART, ON PURPOSE. The brief says independent versus dependent is what this class found hard, so four of the six questions are on it. Ask Q1 and Q2 in words, then Q3 and Q4 on a fresh example (sugar and ice, from last lesson's Cold Call). If Q3 and Q4 come out reversed, do not correct yet. Say "hold that thought, the I Do will give you a test".</a:t>
            </a:r>
          </a:p>
          <a:p>
            <a:pPr/>
          </a:p>
          <a:p>
            <a:pPr/>
            <a:r>
              <a:t>Q5 IS RETRIEVAL. Q6 IS PLANTED: bread, pasta and cereal are all fine. It leads straight into the Hook.</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Shape 100"/>
          <p:cNvSpPr/>
          <p:nvPr>
            <p:ph type="sldImg"/>
          </p:nvPr>
        </p:nvSpPr>
        <p:spPr>
          <a:prstGeom prst="rect">
            <a:avLst/>
          </a:prstGeom>
        </p:spPr>
        <p:txBody>
          <a:bodyPr/>
          <a:lstStyle/>
          <a:p>
            <a:pPr/>
          </a:p>
        </p:txBody>
      </p:sp>
      <p:sp>
        <p:nvSpPr>
          <p:cNvPr id="101" name="Shape 101"/>
          <p:cNvSpPr/>
          <p:nvPr>
            <p:ph type="body" sz="quarter" idx="1"/>
          </p:nvPr>
        </p:nvSpPr>
        <p:spPr>
          <a:prstGeom prst="rect">
            <a:avLst/>
          </a:prstGeom>
        </p:spPr>
        <p:txBody>
          <a:bodyPr/>
          <a:lstStyle/>
          <a:p>
            <a:pPr/>
            <a:r>
              <a:t>TODAY. 1 minute. Five clicks.</a:t>
            </a:r>
          </a:p>
          <a:p>
            <a:pPr/>
          </a:p>
          <a:p>
            <a:pPr/>
            <a:r>
              <a:t>THE BANNER IS LAST LESSON'S CLOSING LINE, UNFINISHED. Last lesson ended "Change one thing. Measure one thing. Keep the rest the same. Then do it again." Today the class does all four, with real fire.</a:t>
            </a:r>
          </a:p>
          <a:p>
            <a:pPr/>
          </a:p>
          <a:p>
            <a:pPr/>
            <a:r>
              <a:t>SAY THE PRACTICAL NOW. "We are going to burn food and use it to heat water." It is the reason to pay attention for the next 20 minutes.</a:t>
            </a:r>
          </a:p>
          <a:p>
            <a:pPr/>
          </a:p>
          <a:p>
            <a:pPr/>
            <a:r>
              <a:t>OBJECTIVES 1 AND 2 ARE THE ONES THE CLASS FOUND HARD. Spend your attention there.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Shape 130"/>
          <p:cNvSpPr/>
          <p:nvPr>
            <p:ph type="sldImg"/>
          </p:nvPr>
        </p:nvSpPr>
        <p:spPr>
          <a:prstGeom prst="rect">
            <a:avLst/>
          </a:prstGeom>
        </p:spPr>
        <p:txBody>
          <a:bodyPr/>
          <a:lstStyle/>
          <a:p>
            <a:pPr/>
          </a:p>
        </p:txBody>
      </p:sp>
      <p:sp>
        <p:nvSpPr>
          <p:cNvPr id="131" name="Shape 131"/>
          <p:cNvSpPr/>
          <p:nvPr>
            <p:ph type="body" sz="quarter" idx="1"/>
          </p:nvPr>
        </p:nvSpPr>
        <p:spPr>
          <a:prstGeom prst="rect">
            <a:avLst/>
          </a:prstGeom>
        </p:spPr>
        <p:txBody>
          <a:bodyPr/>
          <a:lstStyle/>
          <a:p>
            <a:pPr/>
            <a:r>
              <a:t>HOOK. 2 minutes. Four cards arrive together, then vote.</a:t>
            </a:r>
          </a:p>
          <a:p>
            <a:pPr/>
          </a:p>
          <a:p>
            <a:pPr/>
            <a:r>
              <a:t>Hands up for each, tally on the board. Nobody knows: this is a real question, and that is the point. Accept every reason ("it is oily", "it looks dry").</a:t>
            </a:r>
          </a:p>
          <a:p>
            <a:pPr/>
          </a:p>
          <a:p>
            <a:pPr/>
            <a:r>
              <a:t>DO NOT SETTLE IT. Say "let's find out, and this time we will do it fairly". Then ask the question on the slide: how would you find out fairly? Take two or three answers. Someone may say "burn the same amount of each", which is a control variable, and worth naming as one.</a:t>
            </a:r>
          </a:p>
          <a:p>
            <a:pPr/>
          </a:p>
          <a:p>
            <a:pPr/>
            <a:r>
              <a:t>WHAT TO EXPECT, FOR YOU. Crisps run at about 500 to 540 kcal per 100 g and white bread about 266, so expect crisps near the top and bread near the bottom. Check the packets for corn flakes and crackers. It is a class result, not a guarantee: bread may barely burn, and that is worth recording too.</a:t>
            </a:r>
          </a:p>
          <a:p>
            <a:pPr/>
          </a:p>
          <a:p>
            <a:pPr/>
            <a:r>
              <a:t>CRISPS: the brief said "potato chips". I have written "crisps" because that is the British word. Change it if you prefer.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hape 164"/>
          <p:cNvSpPr/>
          <p:nvPr>
            <p:ph type="sldImg"/>
          </p:nvPr>
        </p:nvSpPr>
        <p:spPr>
          <a:prstGeom prst="rect">
            <a:avLst/>
          </a:prstGeom>
        </p:spPr>
        <p:txBody>
          <a:bodyPr/>
          <a:lstStyle/>
          <a:p>
            <a:pPr/>
          </a:p>
        </p:txBody>
      </p:sp>
      <p:sp>
        <p:nvSpPr>
          <p:cNvPr id="165" name="Shape 165"/>
          <p:cNvSpPr/>
          <p:nvPr>
            <p:ph type="body" sz="quarter" idx="1"/>
          </p:nvPr>
        </p:nvSpPr>
        <p:spPr>
          <a:prstGeom prst="rect">
            <a:avLst/>
          </a:prstGeom>
        </p:spPr>
        <p:txBody>
          <a:bodyPr/>
          <a:lstStyle/>
          <a:p>
            <a:pPr/>
            <a:r>
              <a:t>I DO. 3 minutes. Four clicks: the question, the two boxes and arrow together, then the depends-on test.</a:t>
            </a:r>
          </a:p>
          <a:p>
            <a:pPr/>
          </a:p>
          <a:p>
            <a:pPr/>
            <a:r>
              <a:t>THIS IS THE LESSON'S HARD PART. The class found independent versus dependent difficult, so this slide gives them a test to use rather than a definition to remember.</a:t>
            </a:r>
          </a:p>
          <a:p>
            <a:pPr/>
          </a:p>
          <a:p>
            <a:pPr/>
            <a:r>
              <a:t>A NEW EXAMPLE, NOT FOOD. Ramp and car, so the food investigation is theirs to plan later. Do not use the burning food question here.</a:t>
            </a:r>
          </a:p>
          <a:p>
            <a:pPr/>
          </a:p>
          <a:p>
            <a:pPr/>
            <a:r>
              <a:t>SAY IT IN THIS ORDER EVERY TIME: "I change this, so this responds." The arrow runs from independent to dependent.</a:t>
            </a:r>
          </a:p>
          <a:p>
            <a:pPr/>
          </a:p>
          <a:p>
            <a:pPr/>
            <a:r>
              <a:t>THE TEST. Put the two variables into the sentence "X depends on Y". If it sounds right, X is dependent and Y is independent. "The distance depends on the ramp height" is sensible. Flip it and it is backwards. Ask the class to try the test on the sugar and ice question from the Do Now, and correct any reversed answers now.</a:t>
            </a:r>
          </a:p>
          <a:p>
            <a:pPr/>
          </a:p>
          <a:p>
            <a:pPr/>
            <a:r>
              <a:t>"INDEPENDENT" AND "DEPENDENT" ARE THE EXAM WORDS. "Manipulated" and "responding" are the plain-English ones, both were taught last lesson. Say both together.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r>
              <a:t>I DO. 3 minutes. Two clicks: control variables, then replication.</a:t>
            </a:r>
          </a:p>
          <a:p>
            <a:pPr/>
          </a:p>
          <a:p>
            <a:pPr/>
            <a:r>
              <a:t>CONTROL VARIABLES ARE THE EASIEST TO FORGET because nothing happens to them. Ask: "what if a different person let go of the car each time?" The result could be the person, not the ramp.</a:t>
            </a:r>
          </a:p>
          <a:p>
            <a:pPr/>
          </a:p>
          <a:p>
            <a:pPr/>
            <a:r>
              <a:t>REPLICATION: THE NUMBERS ARE CHECKED. 14, 15 and 13 add to 42, and 42 divided by 3 is 14. If a fourth result of 25 turns up among 14 and 15, it is the odd one out. It would drag an average of 14, 15 and 25 up to 18, which is not what the test was showing. Repeat that trial, and say so. Do not throw results away without a reason.</a:t>
            </a:r>
          </a:p>
          <a:p>
            <a:pPr/>
          </a:p>
          <a:p>
            <a:pPr/>
            <a:r>
              <a:t>LINK TO TODAY: the numbers are temperature rises, so the practical already looks familiar.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Shape 227"/>
          <p:cNvSpPr/>
          <p:nvPr>
            <p:ph type="sldImg"/>
          </p:nvPr>
        </p:nvSpPr>
        <p:spPr>
          <a:prstGeom prst="rect">
            <a:avLst/>
          </a:prstGeom>
        </p:spPr>
        <p:txBody>
          <a:bodyPr/>
          <a:lstStyle/>
          <a:p>
            <a:pPr/>
          </a:p>
        </p:txBody>
      </p:sp>
      <p:sp>
        <p:nvSpPr>
          <p:cNvPr id="228" name="Shape 228"/>
          <p:cNvSpPr/>
          <p:nvPr>
            <p:ph type="body" sz="quarter" idx="1"/>
          </p:nvPr>
        </p:nvSpPr>
        <p:spPr>
          <a:prstGeom prst="rect">
            <a:avLst/>
          </a:prstGeom>
        </p:spPr>
        <p:txBody>
          <a:bodyPr/>
          <a:lstStyle/>
          <a:p>
            <a:pPr/>
            <a:r>
              <a:t>WE DO. 4 minutes. Four clicks. Take answers from the room first, then click.</a:t>
            </a:r>
          </a:p>
          <a:p>
            <a:pPr/>
          </a:p>
          <a:p>
            <a:pPr/>
            <a:r>
              <a:t>ROWS 1 AND 2 ARE THE SAME MISTAKE IN TWO CONTEXTS: the pair reversed. Row 1 is the food test the class is about to run, so it is also the answer to the planning slide. Row 2 is the ramp, to check they can do it on something new. If either splits the room, apply the depends-on test out loud: "the temperature rise depends on the food".</a:t>
            </a:r>
          </a:p>
          <a:p>
            <a:pPr/>
          </a:p>
          <a:p>
            <a:pPr/>
            <a:r>
              <a:t>ROW 3 IS OBJECTIVE 3, AND A SET-UP FOR THE PRACTICAL. About 1 g of every food. Ask "what else must stay the same?" and take suggestions. They will be back on the next slide.</a:t>
            </a:r>
          </a:p>
          <a:p>
            <a:pPr/>
          </a:p>
          <a:p>
            <a:pPr/>
            <a:r>
              <a:t>ROW 4 IS OBJECTIVE 4. Practical time is short, so they will be tempted to do one burn. Say that this is why the practical has three burns for each food.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hape 268"/>
          <p:cNvSpPr/>
          <p:nvPr>
            <p:ph type="sldImg"/>
          </p:nvPr>
        </p:nvSpPr>
        <p:spPr>
          <a:prstGeom prst="rect">
            <a:avLst/>
          </a:prstGeom>
        </p:spPr>
        <p:txBody>
          <a:bodyPr/>
          <a:lstStyle/>
          <a:p>
            <a:pPr/>
          </a:p>
        </p:txBody>
      </p:sp>
      <p:sp>
        <p:nvSpPr>
          <p:cNvPr id="269" name="Shape 269"/>
          <p:cNvSpPr/>
          <p:nvPr>
            <p:ph type="body" sz="quarter" idx="1"/>
          </p:nvPr>
        </p:nvSpPr>
        <p:spPr>
          <a:prstGeom prst="rect">
            <a:avLst/>
          </a:prstGeom>
        </p:spPr>
        <p:txBody>
          <a:bodyPr/>
          <a:lstStyle/>
          <a:p>
            <a:pPr/>
            <a:r>
              <a:t>PLAN IT. 4 minutes. Three clicks: the question, the two variables, then controls and hypothesis. Students write on the printed sheet, Bronze Q1 to 4 and Silver Q5.</a:t>
            </a:r>
          </a:p>
          <a:p>
            <a:pPr/>
          </a:p>
          <a:p>
            <a:pPr/>
            <a:r>
              <a:t>THE CLASS QUESTION IS GIVEN so everyone plans the same test and the class results can be pooled. They copy it into Q1.</a:t>
            </a:r>
          </a:p>
          <a:p>
            <a:pPr/>
          </a:p>
          <a:p>
            <a:pPr/>
            <a:r>
              <a:t>THE DEPENDENT VARIABLE IS THE ONE TO WATCH. The right answer is the RISE in water temperature, in °C. Some will write "the food" or "the temperature" without the rise. Accept "temperature of the water", but nudge: the starting temperature will differ a little, so the rise is fairer. It is highest temperature minus starting temperature.</a:t>
            </a:r>
          </a:p>
          <a:p>
            <a:pPr/>
          </a:p>
          <a:p>
            <a:pPr/>
            <a:r>
              <a:t>CONTROLS, ANY THREE OF: mass of food (about 1 g), volume of water, starting temperature of the water, same metal container, same gap between flame and container, same stirring. They can see most of them in the method on the next slide, so this is a good place to say "name it before you do it".</a:t>
            </a:r>
          </a:p>
          <a:p>
            <a:pPr/>
          </a:p>
          <a:p>
            <a:pPr/>
            <a:r>
              <a:t>HYPOTHESIS: any "if, then, because". A typical one is "If I burn crisps, then the water will heat the most, because they are oily". Accept any reason. If you want to steer, say "bread looks dry, does that matter?".</a:t>
            </a:r>
          </a:p>
          <a:p>
            <a:pPr/>
          </a:p>
          <a:p>
            <a:pPr/>
            <a:r>
              <a:t>IF THEY STALL ON INDEPENDENT AND DEPENDENT, point back to the depends-on test on I Do 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Shape 328"/>
          <p:cNvSpPr/>
          <p:nvPr>
            <p:ph type="sldImg"/>
          </p:nvPr>
        </p:nvSpPr>
        <p:spPr>
          <a:prstGeom prst="rect">
            <a:avLst/>
          </a:prstGeom>
        </p:spPr>
        <p:txBody>
          <a:bodyPr/>
          <a:lstStyle/>
          <a:p>
            <a:pPr/>
          </a:p>
        </p:txBody>
      </p:sp>
      <p:sp>
        <p:nvSpPr>
          <p:cNvPr id="329" name="Shape 329"/>
          <p:cNvSpPr/>
          <p:nvPr>
            <p:ph type="body" sz="quarter" idx="1"/>
          </p:nvPr>
        </p:nvSpPr>
        <p:spPr>
          <a:prstGeom prst="rect">
            <a:avLst/>
          </a:prstGeom>
        </p:spPr>
        <p:txBody>
          <a:bodyPr/>
          <a:lstStyle/>
          <a:p>
            <a:pPr/>
            <a:r>
              <a:t>PRACTICAL. 14 minutes. Four clicks: the rig, the six steps, the safety line, then the recording line. Students record on the printed sheet, Silver Q6.</a:t>
            </a:r>
          </a:p>
          <a:p>
            <a:pPr/>
          </a:p>
          <a:p>
            <a:pPr/>
            <a:r>
              <a:t>RISK ASSESSMENT FIRST. This is an open-flame practical. Use your school's approved method and risk assessment for burning food. The points below are the usual ones, not a substitute: goggles on for everyone at the bench; hair tied back and loose sleeves secured; heatproof mat under every rig; flammables cleared; a damp cloth or fire blanket within reach; the food is NEVER eaten; let food, holder and container cool before touching; keep the group at the bench, standing. Metal containers such as a small can transfer heat much better than a boiling tube.</a:t>
            </a:r>
          </a:p>
          <a:p>
            <a:pPr/>
          </a:p>
          <a:p>
            <a:pPr/>
            <a:r>
              <a:t>GROUPS AND FOODS. Groups of about four, one food per group, so every food is tested by at least one group. Two groups on the same food gives extra replicates for free. Each group does THREE burns of its own food, and the class pools averages on the board on the next slide. Write "bread, corn flakes, crisps, crackers" on the board and assign.</a:t>
            </a:r>
          </a:p>
          <a:p>
            <a:pPr/>
          </a:p>
          <a:p>
            <a:pPr/>
            <a:r>
              <a:t>ROLES IN A GROUP OF FOUR: one holds and lights the food, one stirs and reads the thermometer, one times and records, one checks the controls against the list. Swap for the next burn if time allows.</a:t>
            </a:r>
          </a:p>
          <a:p>
            <a:pPr/>
          </a:p>
          <a:p>
            <a:pPr/>
            <a:r>
              <a:t>TIMING. 2 minutes: click through and hand out the kit. 10 minutes: three burns at about 3 minutes each (weigh and set up, burn, read the highest temperature, cool). 2 minutes: clear up and find the average. If you are short, pre-cut samples to about 1 g so they only check the mass, or run two burns each and say so.</a:t>
            </a:r>
          </a:p>
          <a:p>
            <a:pPr/>
          </a:p>
          <a:p>
            <a:pPr/>
            <a:r>
              <a:t>WHAT WILL GO WRONG. Bread and corn flakes are hard to keep burning: the flame goes out, the water barely warms. That is a result, not a failure. Record "did not keep burning" and the small rise. Do NOT let them switch to a different food or add extra: that changes the independent variable. Also expect the mass to vary. Their sample will not be exactly 1 g, and it is a limitation for Gold Q10.</a:t>
            </a:r>
          </a:p>
          <a:p>
            <a:pPr/>
          </a:p>
          <a:p>
            <a:pPr/>
            <a:r>
              <a:t>THE FOOD IS A CONTROL AS WELL AS THE INDEPENDENT VARIABLE: the type of food changes between groups, and the same food is used within a group. Say that.</a:t>
            </a:r>
          </a:p>
          <a:p>
            <a:pPr/>
          </a:p>
          <a:p>
            <a:pPr/>
            <a:r>
              <a:t>ALLERGIES: no nuts are used, but check for gluten or other allergies if any student is sensitive to handling wheat products. No one eats anything.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9" name="Shape 379"/>
          <p:cNvSpPr/>
          <p:nvPr>
            <p:ph type="sldImg"/>
          </p:nvPr>
        </p:nvSpPr>
        <p:spPr>
          <a:prstGeom prst="rect">
            <a:avLst/>
          </a:prstGeom>
        </p:spPr>
        <p:txBody>
          <a:bodyPr/>
          <a:lstStyle/>
          <a:p>
            <a:pPr/>
          </a:p>
        </p:txBody>
      </p:sp>
      <p:sp>
        <p:nvSpPr>
          <p:cNvPr id="380" name="Shape 380"/>
          <p:cNvSpPr/>
          <p:nvPr>
            <p:ph type="body" sz="quarter" idx="1"/>
          </p:nvPr>
        </p:nvSpPr>
        <p:spPr>
          <a:prstGeom prst="rect">
            <a:avLst/>
          </a:prstGeom>
        </p:spPr>
        <p:txBody>
          <a:bodyPr/>
          <a:lstStyle/>
          <a:p>
            <a:pPr/>
            <a:r>
              <a:t>YOU DO. 7 minutes. Five clicks: the results table, then each of the four tasks. The class works on the printed sheet, Silver Q7 then Gold Q8 to 10. There is no Google Classroom step today. The sheet is printed.</a:t>
            </a:r>
          </a:p>
          <a:p>
            <a:pPr/>
          </a:p>
          <a:p>
            <a:pPr/>
            <a:r>
              <a:t>FIRST MINUTE: COLLECT THE AVERAGES. Ask each group for the average rise for its food and write it on the board, or write it on the slide table. If two groups tested the same food, write both and take the average, and point out that this is more replication. Students copy the class numbers onto their sheet.</a:t>
            </a:r>
          </a:p>
          <a:p>
            <a:pPr/>
          </a:p>
          <a:p>
            <a:pPr/>
            <a:r>
              <a:t>THIS SHEET IS A SEQUENCE, NOT THREE DIFFICULTIES. Bronze was Plan it, Silver was Test it, Gold is Explain it. Everyone does all three. Q10 is the stretch.</a:t>
            </a:r>
          </a:p>
          <a:p>
            <a:pPr/>
          </a:p>
          <a:p>
            <a:pPr/>
            <a:r>
              <a:t>WHERE THEY WILL STALL. Q8: they say "crisps" without quoting the numbers. Ask for the number. Q9: "to be fair" instead of "so one odd result does not mislead us". Q10: "we did it wrong". Ask what specifically, and what they would change.</a:t>
            </a:r>
          </a:p>
          <a:p>
            <a:pPr/>
          </a:p>
          <a:p>
            <a:pPr/>
            <a:r>
              <a:t>IF THE RESULTS DO NOT MATCH THE HYPOTHESIS, that is fine and worth a sentence. A hypothesis can be wrong. It is still a good test if it was fair.</a:t>
            </a:r>
          </a:p>
          <a:p>
            <a:pPr/>
          </a:p>
          <a:p>
            <a:pPr/>
            <a:r>
              <a:t>AT 2 MINUTES REMAINING, stop them. Answers are on the next slide.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Shape 427"/>
          <p:cNvSpPr/>
          <p:nvPr>
            <p:ph type="sldImg"/>
          </p:nvPr>
        </p:nvSpPr>
        <p:spPr>
          <a:prstGeom prst="rect">
            <a:avLst/>
          </a:prstGeom>
        </p:spPr>
        <p:txBody>
          <a:bodyPr/>
          <a:lstStyle/>
          <a:p>
            <a:pPr/>
          </a:p>
        </p:txBody>
      </p:sp>
      <p:sp>
        <p:nvSpPr>
          <p:cNvPr id="428" name="Shape 428"/>
          <p:cNvSpPr/>
          <p:nvPr>
            <p:ph type="body" sz="quarter" idx="1"/>
          </p:nvPr>
        </p:nvSpPr>
        <p:spPr>
          <a:prstGeom prst="rect">
            <a:avLst/>
          </a:prstGeom>
        </p:spPr>
        <p:txBody>
          <a:bodyPr/>
          <a:lstStyle/>
          <a:p>
            <a:pPr/>
            <a:r>
              <a:t>ANSWERS. 3 minutes. Five clicks, two at a time. They mark their own in a different colour.</a:t>
            </a:r>
          </a:p>
          <a:p>
            <a:pPr/>
          </a:p>
          <a:p>
            <a:pPr/>
            <a:r>
              <a:t>Q1 TO Q4 ARE THE PLAN. Q2 AND Q3 are the pair the class found hard, so mark those aloud. If anyone has them reversed, use the depends-on test one more time: "the temperature rise depends on the food".</a:t>
            </a:r>
          </a:p>
          <a:p>
            <a:pPr/>
          </a:p>
          <a:p>
            <a:pPr/>
            <a:r>
              <a:t>Q5, Q6, Q8 AND Q10 HAVE NO SINGLE RIGHT ANSWER. Q6 comes from their own table, and Q8 from the class numbers. Take two or three answers aloud for Q5, Q8 and Q10 rather than reading the model answer.</a:t>
            </a:r>
          </a:p>
          <a:p>
            <a:pPr/>
          </a:p>
          <a:p>
            <a:pPr/>
            <a:r>
              <a:t>Q9 IS OBJECTIVE 4. Someone will say "to be fair". Repeating is for reliability: it is not about fairness. Controls make it fair.</a:t>
            </a:r>
          </a:p>
          <a:p>
            <a:pPr/>
          </a:p>
          <a:p>
            <a:pPr/>
            <a:r>
              <a:t>Q10 HAS SEVERAL RIGHT ANSWERS. The commonest is the mass: nobody weighs exactly 1 g. Heat lost to the air is the biggest error in this practical, and a good one to praise.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6" name="Shape 456"/>
          <p:cNvSpPr/>
          <p:nvPr>
            <p:ph type="sldImg"/>
          </p:nvPr>
        </p:nvSpPr>
        <p:spPr>
          <a:prstGeom prst="rect">
            <a:avLst/>
          </a:prstGeom>
        </p:spPr>
        <p:txBody>
          <a:bodyPr/>
          <a:lstStyle/>
          <a:p>
            <a:pPr/>
          </a:p>
        </p:txBody>
      </p:sp>
      <p:sp>
        <p:nvSpPr>
          <p:cNvPr id="457" name="Shape 457"/>
          <p:cNvSpPr/>
          <p:nvPr>
            <p:ph type="body" sz="quarter" idx="1"/>
          </p:nvPr>
        </p:nvSpPr>
        <p:spPr>
          <a:prstGeom prst="rect">
            <a:avLst/>
          </a:prstGeom>
        </p:spPr>
        <p:txBody>
          <a:bodyPr/>
          <a:lstStyle/>
          <a:p>
            <a:pPr/>
            <a:r>
              <a:t>PLENARY. 3 minutes. Eleven clicks: each statement, then its answer, then the closing line.</a:t>
            </a:r>
          </a:p>
          <a:p>
            <a:pPr/>
          </a:p>
          <a:p>
            <a:pPr/>
            <a:r>
              <a:t>Q1 CHECKS THE PAIR ISN'T REVERSED, the mistake this class makes most. Q5 checks it the other way round. If either splits the room, that is the first five minutes of next lesson.</a:t>
            </a:r>
          </a:p>
          <a:p>
            <a:pPr/>
          </a:p>
          <a:p>
            <a:pPr/>
            <a:r>
              <a:t>Q3 IS THE CONTROL MISCONCEPTION: "different foods are different, so the mass can differ". The food is the independent variable and everything else is controlled, including its mass.</a:t>
            </a:r>
          </a:p>
          <a:p>
            <a:pPr/>
          </a:p>
          <a:p>
            <a:pPr/>
            <a:r>
              <a:t>THE CLOSING LINE IS LAST LESSON'S, COMPLETE. Last lesson ended without "Then do it again", because there was no practical. Today there was.</a:t>
            </a:r>
          </a:p>
          <a:p>
            <a:pPr/>
          </a:p>
          <a:p>
            <a:pPr/>
            <a:r>
              <a:t>THIS LESSON MAKES NO PROMISE FOR THE NEXT ONE. If you want to lead on, calculating the energy released from these results (using the mass of food and the temperature rise) is the natural next step, but only if the class has met energy calculations. Your call.</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image" Target="../media/image6.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7.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9.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 Id="rId6"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03197" cy="329185"/>
            <a:chOff x="0" y="0"/>
            <a:chExt cx="1803196" cy="329184"/>
          </a:xfrm>
        </p:grpSpPr>
        <p:sp>
          <p:nvSpPr>
            <p:cNvPr id="21" name="Rounded Rectangle"/>
            <p:cNvSpPr/>
            <p:nvPr/>
          </p:nvSpPr>
          <p:spPr>
            <a:xfrm>
              <a:off x="0" y="0"/>
              <a:ext cx="1803197"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22" name="DO NOW · 6 MIN"/>
            <p:cNvSpPr txBox="1"/>
            <p:nvPr/>
          </p:nvSpPr>
          <p:spPr>
            <a:xfrm>
              <a:off x="42850" y="90677"/>
              <a:ext cx="171749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6 MIN</a:t>
              </a:r>
            </a:p>
          </p:txBody>
        </p:sp>
      </p:grpSp>
      <p:sp>
        <p:nvSpPr>
          <p:cNvPr id="24" name="lesson_title"/>
          <p:cNvSpPr txBox="1"/>
          <p:nvPr/>
        </p:nvSpPr>
        <p:spPr>
          <a:xfrm>
            <a:off x="2926079" y="344170"/>
            <a:ext cx="630936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15395C"/>
                </a:solidFill>
                <a:latin typeface="Georgia"/>
                <a:ea typeface="Georgia"/>
                <a:cs typeface="Georgia"/>
                <a:sym typeface="Georgia"/>
              </a:defRPr>
            </a:lvl1pPr>
          </a:lstStyle>
          <a:p>
            <a:pPr/>
            <a:r>
              <a:t>Burning Food</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5708A"/>
                </a:solidFill>
                <a:latin typeface="Arial"/>
                <a:ea typeface="Arial"/>
                <a:cs typeface="Arial"/>
                <a:sym typeface="Arial"/>
              </a:defRPr>
            </a:lvl1pPr>
          </a:lstStyle>
          <a:p>
            <a:pPr/>
            <a:r>
              <a:t>Friday 2 October 2026</a:t>
            </a:r>
          </a:p>
        </p:txBody>
      </p:sp>
      <p:sp>
        <p:nvSpPr>
          <p:cNvPr id="26" name="rule"/>
          <p:cNvSpPr/>
          <p:nvPr/>
        </p:nvSpPr>
        <p:spPr>
          <a:xfrm>
            <a:off x="1170432" y="896111"/>
            <a:ext cx="10472623" cy="36577"/>
          </a:xfrm>
          <a:prstGeom prst="rect">
            <a:avLst/>
          </a:prstGeom>
          <a:solidFill>
            <a:srgbClr val="FFD921"/>
          </a:solidFill>
          <a:ln w="12700">
            <a:solidFill>
              <a:srgbClr val="FFD921"/>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28" name="d0_badge"/>
          <p:cNvSpPr/>
          <p:nvPr/>
        </p:nvSpPr>
        <p:spPr>
          <a:xfrm>
            <a:off x="1371600" y="1298447"/>
            <a:ext cx="384048" cy="384049"/>
          </a:xfrm>
          <a:prstGeom prst="ellipse">
            <a:avLst/>
          </a:prstGeom>
          <a:solidFill>
            <a:srgbClr val="FFD921"/>
          </a:solidFill>
          <a:ln w="12700">
            <a:solidFill>
              <a:srgbClr val="FFD921"/>
            </a:solidFill>
          </a:ln>
        </p:spPr>
        <p:txBody>
          <a:bodyPr lIns="45719" rIns="45719"/>
          <a:lstStyle/>
          <a:p>
            <a:pPr/>
          </a:p>
        </p:txBody>
      </p:sp>
      <p:sp>
        <p:nvSpPr>
          <p:cNvPr id="29" name="d0_num"/>
          <p:cNvSpPr txBox="1"/>
          <p:nvPr/>
        </p:nvSpPr>
        <p:spPr>
          <a:xfrm>
            <a:off x="1371600" y="138887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30" name="d0_q"/>
          <p:cNvSpPr txBox="1"/>
          <p:nvPr/>
        </p:nvSpPr>
        <p:spPr>
          <a:xfrm>
            <a:off x="1901951" y="1501783"/>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State what the independent variable is.</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FFF6CC"/>
            </a:solidFill>
            <a:ln w="16510" cap="flat">
              <a:solidFill>
                <a:srgbClr val="957D11"/>
              </a:solidFill>
              <a:prstDash val="solid"/>
              <a:round/>
            </a:ln>
            <a:effectLst/>
          </p:spPr>
          <p:txBody>
            <a:bodyPr wrap="square" lIns="45719" tIns="45719" rIns="45719" bIns="45719" numCol="1" anchor="ctr">
              <a:noAutofit/>
            </a:bodyPr>
            <a:lstStyle/>
            <a:p>
              <a:pPr>
                <a:defRPr sz="1300"/>
              </a:pPr>
            </a:p>
          </p:txBody>
        </p:sp>
        <p:sp>
          <p:nvSpPr>
            <p:cNvPr id="32" name="The variable you change on purpose."/>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The variable you change on purpose.</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35" name="d1_badge"/>
          <p:cNvSpPr/>
          <p:nvPr/>
        </p:nvSpPr>
        <p:spPr>
          <a:xfrm>
            <a:off x="6745072" y="1298447"/>
            <a:ext cx="384049" cy="384049"/>
          </a:xfrm>
          <a:prstGeom prst="ellipse">
            <a:avLst/>
          </a:prstGeom>
          <a:solidFill>
            <a:srgbClr val="FFD921"/>
          </a:solidFill>
          <a:ln w="12700">
            <a:solidFill>
              <a:srgbClr val="FFD921"/>
            </a:solidFill>
          </a:ln>
        </p:spPr>
        <p:txBody>
          <a:bodyPr lIns="45719" rIns="45719"/>
          <a:lstStyle/>
          <a:p>
            <a:pPr/>
          </a:p>
        </p:txBody>
      </p:sp>
      <p:sp>
        <p:nvSpPr>
          <p:cNvPr id="36" name="d1_num"/>
          <p:cNvSpPr txBox="1"/>
          <p:nvPr/>
        </p:nvSpPr>
        <p:spPr>
          <a:xfrm>
            <a:off x="6745072" y="138887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37" name="d1_q"/>
          <p:cNvSpPr txBox="1"/>
          <p:nvPr/>
        </p:nvSpPr>
        <p:spPr>
          <a:xfrm>
            <a:off x="7275424" y="1501783"/>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State what the dependent variable is.</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FFF6CC"/>
            </a:solidFill>
            <a:ln w="16510" cap="flat">
              <a:solidFill>
                <a:srgbClr val="957D11"/>
              </a:solidFill>
              <a:prstDash val="solid"/>
              <a:round/>
            </a:ln>
            <a:effectLst/>
          </p:spPr>
          <p:txBody>
            <a:bodyPr wrap="square" lIns="45719" tIns="45719" rIns="45719" bIns="45719" numCol="1" anchor="ctr">
              <a:noAutofit/>
            </a:bodyPr>
            <a:lstStyle/>
            <a:p>
              <a:pPr>
                <a:defRPr sz="1300"/>
              </a:pPr>
            </a:p>
          </p:txBody>
        </p:sp>
        <p:sp>
          <p:nvSpPr>
            <p:cNvPr id="39" name="The variable you measure."/>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The variable you measure.</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2" name="d2_badge"/>
          <p:cNvSpPr/>
          <p:nvPr/>
        </p:nvSpPr>
        <p:spPr>
          <a:xfrm>
            <a:off x="1371600" y="2962655"/>
            <a:ext cx="384048" cy="384049"/>
          </a:xfrm>
          <a:prstGeom prst="ellipse">
            <a:avLst/>
          </a:prstGeom>
          <a:solidFill>
            <a:srgbClr val="FFD921"/>
          </a:solidFill>
          <a:ln w="12700">
            <a:solidFill>
              <a:srgbClr val="FFD921"/>
            </a:solidFill>
          </a:ln>
        </p:spPr>
        <p:txBody>
          <a:bodyPr lIns="45719" rIns="45719"/>
          <a:lstStyle/>
          <a:p>
            <a:pPr/>
          </a:p>
        </p:txBody>
      </p:sp>
      <p:sp>
        <p:nvSpPr>
          <p:cNvPr id="43" name="d2_num"/>
          <p:cNvSpPr txBox="1"/>
          <p:nvPr/>
        </p:nvSpPr>
        <p:spPr>
          <a:xfrm>
            <a:off x="1371600" y="305307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44" name="d2_q"/>
          <p:cNvSpPr txBox="1"/>
          <p:nvPr/>
        </p:nvSpPr>
        <p:spPr>
          <a:xfrm>
            <a:off x="1901951"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In "does more sugar make ice melt faster", name the independent variable.</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FFF6CC"/>
            </a:solidFill>
            <a:ln w="16510" cap="flat">
              <a:solidFill>
                <a:srgbClr val="957D11"/>
              </a:solidFill>
              <a:prstDash val="solid"/>
              <a:round/>
            </a:ln>
            <a:effectLst/>
          </p:spPr>
          <p:txBody>
            <a:bodyPr wrap="square" lIns="45719" tIns="45719" rIns="45719" bIns="45719" numCol="1" anchor="ctr">
              <a:noAutofit/>
            </a:bodyPr>
            <a:lstStyle/>
            <a:p>
              <a:pPr>
                <a:defRPr sz="1300"/>
              </a:pPr>
            </a:p>
          </p:txBody>
        </p:sp>
        <p:sp>
          <p:nvSpPr>
            <p:cNvPr id="46" name="The amount of sugar."/>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The amount of sugar.</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9" name="d3_badge"/>
          <p:cNvSpPr/>
          <p:nvPr/>
        </p:nvSpPr>
        <p:spPr>
          <a:xfrm>
            <a:off x="6745072" y="2962655"/>
            <a:ext cx="384049" cy="384049"/>
          </a:xfrm>
          <a:prstGeom prst="ellipse">
            <a:avLst/>
          </a:prstGeom>
          <a:solidFill>
            <a:srgbClr val="FFD921"/>
          </a:solidFill>
          <a:ln w="12700">
            <a:solidFill>
              <a:srgbClr val="FFD921"/>
            </a:solidFill>
          </a:ln>
        </p:spPr>
        <p:txBody>
          <a:bodyPr lIns="45719" rIns="45719"/>
          <a:lstStyle/>
          <a:p>
            <a:pPr/>
          </a:p>
        </p:txBody>
      </p:sp>
      <p:sp>
        <p:nvSpPr>
          <p:cNvPr id="50" name="d3_num"/>
          <p:cNvSpPr txBox="1"/>
          <p:nvPr/>
        </p:nvSpPr>
        <p:spPr>
          <a:xfrm>
            <a:off x="6745072" y="30530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4</a:t>
            </a:r>
          </a:p>
        </p:txBody>
      </p:sp>
      <p:sp>
        <p:nvSpPr>
          <p:cNvPr id="51" name="d3_q"/>
          <p:cNvSpPr txBox="1"/>
          <p:nvPr/>
        </p:nvSpPr>
        <p:spPr>
          <a:xfrm>
            <a:off x="7275424" y="3165991"/>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In the same test, name the dependent variable.</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FFF6CC"/>
            </a:solidFill>
            <a:ln w="16510" cap="flat">
              <a:solidFill>
                <a:srgbClr val="957D11"/>
              </a:solidFill>
              <a:prstDash val="solid"/>
              <a:round/>
            </a:ln>
            <a:effectLst/>
          </p:spPr>
          <p:txBody>
            <a:bodyPr wrap="square" lIns="45719" tIns="45719" rIns="45719" bIns="45719" numCol="1" anchor="ctr">
              <a:noAutofit/>
            </a:bodyPr>
            <a:lstStyle/>
            <a:p>
              <a:pPr>
                <a:defRPr sz="1300"/>
              </a:pPr>
            </a:p>
          </p:txBody>
        </p:sp>
        <p:sp>
          <p:nvSpPr>
            <p:cNvPr id="53" name="How fast the ice melts."/>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How fast the ice melts.</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56" name="d4_badge"/>
          <p:cNvSpPr/>
          <p:nvPr/>
        </p:nvSpPr>
        <p:spPr>
          <a:xfrm>
            <a:off x="1371600" y="4626864"/>
            <a:ext cx="384048" cy="384049"/>
          </a:xfrm>
          <a:prstGeom prst="ellipse">
            <a:avLst/>
          </a:prstGeom>
          <a:solidFill>
            <a:srgbClr val="FFD921"/>
          </a:solidFill>
          <a:ln w="12700">
            <a:solidFill>
              <a:srgbClr val="FFD921"/>
            </a:solidFill>
          </a:ln>
        </p:spPr>
        <p:txBody>
          <a:bodyPr lIns="45719" rIns="45719"/>
          <a:lstStyle/>
          <a:p>
            <a:pPr/>
          </a:p>
        </p:txBody>
      </p:sp>
      <p:sp>
        <p:nvSpPr>
          <p:cNvPr id="57" name="d4_num"/>
          <p:cNvSpPr txBox="1"/>
          <p:nvPr/>
        </p:nvSpPr>
        <p:spPr>
          <a:xfrm>
            <a:off x="1371600" y="47172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5</a:t>
            </a:r>
          </a:p>
        </p:txBody>
      </p:sp>
      <p:sp>
        <p:nvSpPr>
          <p:cNvPr id="58" name="d4_q"/>
          <p:cNvSpPr txBox="1"/>
          <p:nvPr/>
        </p:nvSpPr>
        <p:spPr>
          <a:xfrm>
            <a:off x="1901951" y="4830199"/>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State what a controlled variable is.</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FFF6CC"/>
            </a:solidFill>
            <a:ln w="16510" cap="flat">
              <a:solidFill>
                <a:srgbClr val="957D11"/>
              </a:solidFill>
              <a:prstDash val="solid"/>
              <a:round/>
            </a:ln>
            <a:effectLst/>
          </p:spPr>
          <p:txBody>
            <a:bodyPr wrap="square" lIns="45719" tIns="45719" rIns="45719" bIns="45719" numCol="1" anchor="ctr">
              <a:noAutofit/>
            </a:bodyPr>
            <a:lstStyle/>
            <a:p>
              <a:pPr>
                <a:defRPr sz="1300"/>
              </a:pPr>
            </a:p>
          </p:txBody>
        </p:sp>
        <p:sp>
          <p:nvSpPr>
            <p:cNvPr id="60" name="A variable kept the same, so the test is fair."/>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A variable kept the same, so the test is fair.</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63" name="d5_badge"/>
          <p:cNvSpPr/>
          <p:nvPr/>
        </p:nvSpPr>
        <p:spPr>
          <a:xfrm>
            <a:off x="6745072" y="4626864"/>
            <a:ext cx="384049" cy="384049"/>
          </a:xfrm>
          <a:prstGeom prst="ellipse">
            <a:avLst/>
          </a:prstGeom>
          <a:solidFill>
            <a:srgbClr val="FFD921"/>
          </a:solidFill>
          <a:ln w="12700">
            <a:solidFill>
              <a:srgbClr val="FFD921"/>
            </a:solidFill>
          </a:ln>
        </p:spPr>
        <p:txBody>
          <a:bodyPr lIns="45719" rIns="45719"/>
          <a:lstStyle/>
          <a:p>
            <a:pPr/>
          </a:p>
        </p:txBody>
      </p:sp>
      <p:sp>
        <p:nvSpPr>
          <p:cNvPr id="64" name="d5_num"/>
          <p:cNvSpPr txBox="1"/>
          <p:nvPr/>
        </p:nvSpPr>
        <p:spPr>
          <a:xfrm>
            <a:off x="6745072" y="47172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6</a:t>
            </a:r>
          </a:p>
        </p:txBody>
      </p:sp>
      <p:sp>
        <p:nvSpPr>
          <p:cNvPr id="65" name="d5_q"/>
          <p:cNvSpPr txBox="1"/>
          <p:nvPr/>
        </p:nvSpPr>
        <p:spPr>
          <a:xfrm>
            <a:off x="7275424" y="4830199"/>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Name a food that gives you energy.</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FFF6CC"/>
            </a:solidFill>
            <a:ln w="16510" cap="flat">
              <a:solidFill>
                <a:srgbClr val="957D11"/>
              </a:solidFill>
              <a:prstDash val="solid"/>
              <a:round/>
            </a:ln>
            <a:effectLst/>
          </p:spPr>
          <p:txBody>
            <a:bodyPr wrap="square" lIns="45719" tIns="45719" rIns="45719" bIns="45719" numCol="1" anchor="ctr">
              <a:noAutofit/>
            </a:bodyPr>
            <a:lstStyle/>
            <a:p>
              <a:pPr>
                <a:defRPr sz="1300"/>
              </a:pPr>
            </a:p>
          </p:txBody>
        </p:sp>
        <p:sp>
          <p:nvSpPr>
            <p:cNvPr id="67" name="Any: bread, pasta, rice, cereal, crisps."/>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Any: bread, pasta, rice, cereal, crisps.</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54" grpId="5"/>
      <p:bldP build="whole" bldLvl="1" animBg="1" rev="0" advAuto="0" spid="33" grpId="2"/>
      <p:bldP build="whole" bldLvl="1" animBg="1" rev="0" advAuto="0" spid="40" grpId="3"/>
      <p:bldP build="whole" bldLvl="1" animBg="1" rev="0" advAuto="0" spid="68" grpId="7"/>
      <p:bldP build="whole" bldLvl="1" animBg="1" rev="0" advAuto="0" spid="61" grpId="6"/>
      <p:bldP build="whole" bldLvl="1" animBg="1" rev="0" advAuto="0" spid="47" grpId="4"/>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Today</a:t>
            </a:r>
          </a:p>
        </p:txBody>
      </p:sp>
      <p:grpSp>
        <p:nvGrpSpPr>
          <p:cNvPr id="81" name="o0"/>
          <p:cNvGrpSpPr/>
          <p:nvPr/>
        </p:nvGrpSpPr>
        <p:grpSpPr>
          <a:xfrm>
            <a:off x="1170432" y="2194560"/>
            <a:ext cx="2453565" cy="1920240"/>
            <a:chOff x="0" y="0"/>
            <a:chExt cx="2453563" cy="1920239"/>
          </a:xfrm>
        </p:grpSpPr>
        <p:sp>
          <p:nvSpPr>
            <p:cNvPr id="77" name="o0_bg"/>
            <p:cNvSpPr/>
            <p:nvPr/>
          </p:nvSpPr>
          <p:spPr>
            <a:xfrm>
              <a:off x="0" y="0"/>
              <a:ext cx="2453564" cy="1920240"/>
            </a:xfrm>
            <a:prstGeom prst="roundRect">
              <a:avLst>
                <a:gd name="adj" fmla="val 476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78" name="o0_badge"/>
            <p:cNvSpPr/>
            <p:nvPr/>
          </p:nvSpPr>
          <p:spPr>
            <a:xfrm>
              <a:off x="219455" y="182879"/>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79" name="o0_num"/>
            <p:cNvSpPr txBox="1"/>
            <p:nvPr/>
          </p:nvSpPr>
          <p:spPr>
            <a:xfrm>
              <a:off x="219455"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80" name="o0_t"/>
            <p:cNvSpPr txBox="1"/>
            <p:nvPr/>
          </p:nvSpPr>
          <p:spPr>
            <a:xfrm>
              <a:off x="219455" y="676656"/>
              <a:ext cx="2014653" cy="7160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b="1" sz="1500">
                  <a:solidFill>
                    <a:srgbClr val="0E2A40"/>
                  </a:solidFill>
                  <a:latin typeface="Arial"/>
                  <a:ea typeface="Arial"/>
                  <a:cs typeface="Arial"/>
                  <a:sym typeface="Arial"/>
                </a:defRPr>
              </a:lvl1pPr>
            </a:lstStyle>
            <a:p>
              <a:pPr/>
              <a:r>
                <a:t>Identify the independent variable in an investigation.</a:t>
              </a:r>
            </a:p>
          </p:txBody>
        </p:sp>
      </p:grpSp>
      <p:grpSp>
        <p:nvGrpSpPr>
          <p:cNvPr id="86" name="o1"/>
          <p:cNvGrpSpPr/>
          <p:nvPr/>
        </p:nvGrpSpPr>
        <p:grpSpPr>
          <a:xfrm>
            <a:off x="3843451" y="2194560"/>
            <a:ext cx="2453565" cy="1920240"/>
            <a:chOff x="0" y="0"/>
            <a:chExt cx="2453563" cy="1920239"/>
          </a:xfrm>
        </p:grpSpPr>
        <p:sp>
          <p:nvSpPr>
            <p:cNvPr id="82" name="o1_bg"/>
            <p:cNvSpPr/>
            <p:nvPr/>
          </p:nvSpPr>
          <p:spPr>
            <a:xfrm>
              <a:off x="0" y="0"/>
              <a:ext cx="2453564" cy="1920240"/>
            </a:xfrm>
            <a:prstGeom prst="roundRect">
              <a:avLst>
                <a:gd name="adj" fmla="val 476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3" name="o1_badge"/>
            <p:cNvSpPr/>
            <p:nvPr/>
          </p:nvSpPr>
          <p:spPr>
            <a:xfrm>
              <a:off x="219455" y="182879"/>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84" name="o1_num"/>
            <p:cNvSpPr txBox="1"/>
            <p:nvPr/>
          </p:nvSpPr>
          <p:spPr>
            <a:xfrm>
              <a:off x="219455"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85" name="o1_t"/>
            <p:cNvSpPr txBox="1"/>
            <p:nvPr/>
          </p:nvSpPr>
          <p:spPr>
            <a:xfrm>
              <a:off x="219455" y="676656"/>
              <a:ext cx="2014653" cy="4747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b="1" sz="1500">
                  <a:solidFill>
                    <a:srgbClr val="0E2A40"/>
                  </a:solidFill>
                  <a:latin typeface="Arial"/>
                  <a:ea typeface="Arial"/>
                  <a:cs typeface="Arial"/>
                  <a:sym typeface="Arial"/>
                </a:defRPr>
              </a:lvl1pPr>
            </a:lstStyle>
            <a:p>
              <a:pPr/>
              <a:r>
                <a:t>Identify the dependent variable.</a:t>
              </a:r>
            </a:p>
          </p:txBody>
        </p:sp>
      </p:grpSp>
      <p:grpSp>
        <p:nvGrpSpPr>
          <p:cNvPr id="91" name="o2"/>
          <p:cNvGrpSpPr/>
          <p:nvPr/>
        </p:nvGrpSpPr>
        <p:grpSpPr>
          <a:xfrm>
            <a:off x="6516472" y="2194560"/>
            <a:ext cx="2453565" cy="1920240"/>
            <a:chOff x="0" y="0"/>
            <a:chExt cx="2453563" cy="1920239"/>
          </a:xfrm>
        </p:grpSpPr>
        <p:sp>
          <p:nvSpPr>
            <p:cNvPr id="87" name="o2_bg"/>
            <p:cNvSpPr/>
            <p:nvPr/>
          </p:nvSpPr>
          <p:spPr>
            <a:xfrm>
              <a:off x="0" y="0"/>
              <a:ext cx="2453564" cy="1920240"/>
            </a:xfrm>
            <a:prstGeom prst="roundRect">
              <a:avLst>
                <a:gd name="adj" fmla="val 476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8" name="o2_badge"/>
            <p:cNvSpPr/>
            <p:nvPr/>
          </p:nvSpPr>
          <p:spPr>
            <a:xfrm>
              <a:off x="219455" y="182879"/>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89" name="o2_num"/>
            <p:cNvSpPr txBox="1"/>
            <p:nvPr/>
          </p:nvSpPr>
          <p:spPr>
            <a:xfrm>
              <a:off x="219455"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90" name="o2_t"/>
            <p:cNvSpPr txBox="1"/>
            <p:nvPr/>
          </p:nvSpPr>
          <p:spPr>
            <a:xfrm>
              <a:off x="219455" y="676656"/>
              <a:ext cx="2014653" cy="4747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b="1" sz="1500">
                  <a:solidFill>
                    <a:srgbClr val="0E2A40"/>
                  </a:solidFill>
                  <a:latin typeface="Arial"/>
                  <a:ea typeface="Arial"/>
                  <a:cs typeface="Arial"/>
                  <a:sym typeface="Arial"/>
                </a:defRPr>
              </a:lvl1pPr>
            </a:lstStyle>
            <a:p>
              <a:pPr/>
              <a:r>
                <a:t>Identify control variables.</a:t>
              </a:r>
            </a:p>
          </p:txBody>
        </p:sp>
      </p:grpSp>
      <p:grpSp>
        <p:nvGrpSpPr>
          <p:cNvPr id="96" name="o3"/>
          <p:cNvGrpSpPr/>
          <p:nvPr/>
        </p:nvGrpSpPr>
        <p:grpSpPr>
          <a:xfrm>
            <a:off x="9189491" y="2194560"/>
            <a:ext cx="2453565" cy="1920240"/>
            <a:chOff x="0" y="0"/>
            <a:chExt cx="2453563" cy="1920239"/>
          </a:xfrm>
        </p:grpSpPr>
        <p:sp>
          <p:nvSpPr>
            <p:cNvPr id="92" name="o3_bg"/>
            <p:cNvSpPr/>
            <p:nvPr/>
          </p:nvSpPr>
          <p:spPr>
            <a:xfrm>
              <a:off x="0" y="0"/>
              <a:ext cx="2453564" cy="1920240"/>
            </a:xfrm>
            <a:prstGeom prst="roundRect">
              <a:avLst>
                <a:gd name="adj" fmla="val 476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93" name="o3_badge"/>
            <p:cNvSpPr/>
            <p:nvPr/>
          </p:nvSpPr>
          <p:spPr>
            <a:xfrm>
              <a:off x="219455" y="182879"/>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94" name="o3_num"/>
            <p:cNvSpPr txBox="1"/>
            <p:nvPr/>
          </p:nvSpPr>
          <p:spPr>
            <a:xfrm>
              <a:off x="219455"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4</a:t>
              </a:r>
            </a:p>
          </p:txBody>
        </p:sp>
        <p:sp>
          <p:nvSpPr>
            <p:cNvPr id="95" name="o3_t"/>
            <p:cNvSpPr txBox="1"/>
            <p:nvPr/>
          </p:nvSpPr>
          <p:spPr>
            <a:xfrm>
              <a:off x="219455" y="676656"/>
              <a:ext cx="2014653" cy="9573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b="1" sz="1500">
                  <a:solidFill>
                    <a:srgbClr val="0E2A40"/>
                  </a:solidFill>
                  <a:latin typeface="Arial"/>
                  <a:ea typeface="Arial"/>
                  <a:cs typeface="Arial"/>
                  <a:sym typeface="Arial"/>
                </a:defRPr>
              </a:lvl1pPr>
            </a:lstStyle>
            <a:p>
              <a:pPr/>
              <a:r>
                <a:t>Record multiple results, and explain why replication matters.</a:t>
              </a:r>
            </a:p>
          </p:txBody>
        </p:sp>
      </p:grpSp>
      <p:grpSp>
        <p:nvGrpSpPr>
          <p:cNvPr id="99" name="obj_banner"/>
          <p:cNvGrpSpPr/>
          <p:nvPr/>
        </p:nvGrpSpPr>
        <p:grpSpPr>
          <a:xfrm>
            <a:off x="1170432" y="4407408"/>
            <a:ext cx="10472623" cy="640081"/>
            <a:chOff x="0" y="0"/>
            <a:chExt cx="10472622" cy="640080"/>
          </a:xfrm>
        </p:grpSpPr>
        <p:sp>
          <p:nvSpPr>
            <p:cNvPr id="97" name="Rounded Rectangle"/>
            <p:cNvSpPr/>
            <p:nvPr/>
          </p:nvSpPr>
          <p:spPr>
            <a:xfrm>
              <a:off x="0" y="0"/>
              <a:ext cx="10472623" cy="640081"/>
            </a:xfrm>
            <a:prstGeom prst="roundRect">
              <a:avLst>
                <a:gd name="adj" fmla="val 17143"/>
              </a:avLst>
            </a:prstGeom>
            <a:solidFill>
              <a:srgbClr val="15395C"/>
            </a:solidFill>
            <a:ln w="9525" cap="flat">
              <a:solidFill>
                <a:srgbClr val="15395C"/>
              </a:solidFill>
              <a:prstDash val="solid"/>
              <a:round/>
            </a:ln>
            <a:effectLst/>
          </p:spPr>
          <p:txBody>
            <a:bodyPr wrap="square" lIns="45719" tIns="45719" rIns="45719" bIns="45719" numCol="1" anchor="ctr">
              <a:noAutofit/>
            </a:bodyPr>
            <a:lstStyle/>
            <a:p>
              <a:pPr algn="ctr">
                <a:defRPr sz="1700"/>
              </a:pPr>
            </a:p>
          </p:txBody>
        </p:sp>
        <p:sp>
          <p:nvSpPr>
            <p:cNvPr id="98" name="Change one thing. Measure one thing. Keep the rest the same."/>
            <p:cNvSpPr txBox="1"/>
            <p:nvPr/>
          </p:nvSpPr>
          <p:spPr>
            <a:xfrm>
              <a:off x="36901" y="196571"/>
              <a:ext cx="10398821"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700">
                  <a:solidFill>
                    <a:srgbClr val="FFD921"/>
                  </a:solidFill>
                  <a:latin typeface="Arial"/>
                  <a:ea typeface="Arial"/>
                  <a:cs typeface="Arial"/>
                  <a:sym typeface="Arial"/>
                </a:defRPr>
              </a:lvl1pPr>
            </a:lstStyle>
            <a:p>
              <a:pPr/>
              <a:r>
                <a:t>Change one thing. Measure one thing. Keep the rest the same.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96"/>
                                        </p:tgtEl>
                                        <p:attrNameLst>
                                          <p:attrName>style.visibility</p:attrName>
                                        </p:attrNameLst>
                                      </p:cBhvr>
                                      <p:to>
                                        <p:strVal val="visible"/>
                                      </p:to>
                                    </p:set>
                                    <p:animEffect filter="fade" transition="in">
                                      <p:cBhvr>
                                        <p:cTn id="26" dur="400"/>
                                        <p:tgtEl>
                                          <p:spTgt spid="96"/>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6" presetID="23" grpId="6" fill="hold">
                                  <p:stCondLst>
                                    <p:cond delay="0"/>
                                  </p:stCondLst>
                                  <p:iterate type="el" backwards="0">
                                    <p:tmAbs val="0"/>
                                  </p:iterate>
                                  <p:childTnLst>
                                    <p:set>
                                      <p:cBhvr>
                                        <p:cTn id="30" fill="hold"/>
                                        <p:tgtEl>
                                          <p:spTgt spid="99"/>
                                        </p:tgtEl>
                                        <p:attrNameLst>
                                          <p:attrName>style.visibility</p:attrName>
                                        </p:attrNameLst>
                                      </p:cBhvr>
                                      <p:to>
                                        <p:strVal val="visible"/>
                                      </p:to>
                                    </p:set>
                                    <p:anim calcmode="lin" valueType="num">
                                      <p:cBhvr>
                                        <p:cTn id="31" dur="400" fill="hold"/>
                                        <p:tgtEl>
                                          <p:spTgt spid="99"/>
                                        </p:tgtEl>
                                        <p:attrNameLst>
                                          <p:attrName>ppt_w</p:attrName>
                                        </p:attrNameLst>
                                      </p:cBhvr>
                                      <p:tavLst>
                                        <p:tav tm="0">
                                          <p:val>
                                            <p:fltVal val="0"/>
                                          </p:val>
                                        </p:tav>
                                        <p:tav tm="100000">
                                          <p:val>
                                            <p:strVal val="#ppt_w"/>
                                          </p:val>
                                        </p:tav>
                                      </p:tavLst>
                                    </p:anim>
                                    <p:anim calcmode="lin" valueType="num">
                                      <p:cBhvr>
                                        <p:cTn id="32" dur="400" fill="hold"/>
                                        <p:tgtEl>
                                          <p:spTgt spid="9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3" fill="hold" display="0">
                  <p:stCondLst>
                    <p:cond delay="indefinite"/>
                  </p:stCondLst>
                </p:cTn>
                <p:tgtEl>
                  <p:spTgt spid="72"/>
                </p:tgtEl>
              </p:cMediaNode>
            </p:video>
            <p:seq concurrent="1" prevAc="none" nextAc="seek">
              <p:cTn id="34" evtFilter="cancelBubble" nodeType="interactiveSeq" restart="whenNotActive" fill="hold">
                <p:stCondLst>
                  <p:cond delay="0" evt="onClick">
                    <p:tgtEl>
                      <p:spTgt spid="72"/>
                    </p:tgtEl>
                  </p:cond>
                </p:stCondLst>
                <p:endSync delay="0" evt="end">
                  <p:rtn val="all"/>
                </p:endSync>
                <p:childTnLst>
                  <p:par>
                    <p:cTn id="35" fill="hold">
                      <p:stCondLst>
                        <p:cond delay="0"/>
                      </p:stCondLst>
                      <p:childTnLst>
                        <p:par>
                          <p:cTn id="36" fill="hold">
                            <p:stCondLst>
                              <p:cond delay="0"/>
                            </p:stCondLst>
                            <p:childTnLst>
                              <p:par>
                                <p:cTn id="37" presetClass="mediacall" nodeType="clickEffect" presetSubtype="0" presetID="2" fill="hold">
                                  <p:stCondLst>
                                    <p:cond delay="0"/>
                                  </p:stCondLst>
                                  <p:childTnLst>
                                    <p:cmd type="call" cmd="togglePause">
                                      <p:cBhvr>
                                        <p:cTn id="38"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6" grpId="3"/>
      <p:bldP build="whole" bldLvl="1" animBg="1" rev="0" advAuto="0" spid="96" grpId="5"/>
      <p:bldP build="whole" bldLvl="1" animBg="1" rev="0" advAuto="0" spid="81" grpId="2"/>
      <p:bldP build="whole" bldLvl="1" animBg="1" rev="0" advAuto="0" spid="91" grpId="4"/>
      <p:bldP build="whole" bldLvl="1" animBg="1" rev="0" advAuto="0" spid="99" grpId="6"/>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0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6" name="phase_pill"/>
          <p:cNvGrpSpPr/>
          <p:nvPr/>
        </p:nvGrpSpPr>
        <p:grpSpPr>
          <a:xfrm>
            <a:off x="1170432" y="310895"/>
            <a:ext cx="1623975" cy="329185"/>
            <a:chOff x="0" y="0"/>
            <a:chExt cx="1623974" cy="329184"/>
          </a:xfrm>
        </p:grpSpPr>
        <p:sp>
          <p:nvSpPr>
            <p:cNvPr id="104" name="Rounded Rectangle"/>
            <p:cNvSpPr/>
            <p:nvPr/>
          </p:nvSpPr>
          <p:spPr>
            <a:xfrm>
              <a:off x="0" y="0"/>
              <a:ext cx="1623975"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105"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pic>
        <p:nvPicPr>
          <p:cNvPr id="107" name="hook_icon" descr="hook_icon"/>
          <p:cNvPicPr>
            <a:picLocks noChangeAspect="1"/>
          </p:cNvPicPr>
          <p:nvPr/>
        </p:nvPicPr>
        <p:blipFill>
          <a:blip r:embed="rId6">
            <a:extLst/>
          </a:blip>
          <a:stretch>
            <a:fillRect/>
          </a:stretch>
        </p:blipFill>
        <p:spPr>
          <a:xfrm>
            <a:off x="10820095" y="822960"/>
            <a:ext cx="685801" cy="685801"/>
          </a:xfrm>
          <a:prstGeom prst="rect">
            <a:avLst/>
          </a:prstGeom>
          <a:ln w="12700">
            <a:miter lim="400000"/>
          </a:ln>
        </p:spPr>
      </p:pic>
      <p:sp>
        <p:nvSpPr>
          <p:cNvPr id="108" name="slide_title"/>
          <p:cNvSpPr txBox="1"/>
          <p:nvPr/>
        </p:nvSpPr>
        <p:spPr>
          <a:xfrm>
            <a:off x="1170432" y="806341"/>
            <a:ext cx="9466783" cy="9293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700"/>
              </a:lnSpc>
              <a:defRPr b="1" sz="3000">
                <a:solidFill>
                  <a:srgbClr val="15395C"/>
                </a:solidFill>
                <a:latin typeface="Georgia"/>
                <a:ea typeface="Georgia"/>
                <a:cs typeface="Georgia"/>
                <a:sym typeface="Georgia"/>
              </a:defRPr>
            </a:lvl1pPr>
          </a:lstStyle>
          <a:p>
            <a:pPr/>
            <a:r>
              <a:t>Which food will heat water the most when it burns?</a:t>
            </a:r>
          </a:p>
        </p:txBody>
      </p:sp>
      <p:sp>
        <p:nvSpPr>
          <p:cNvPr id="109" name="slide_sub"/>
          <p:cNvSpPr txBox="1"/>
          <p:nvPr/>
        </p:nvSpPr>
        <p:spPr>
          <a:xfrm>
            <a:off x="1170432" y="1868353"/>
            <a:ext cx="10472623"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55708A"/>
                </a:solidFill>
                <a:latin typeface="Arial"/>
                <a:ea typeface="Arial"/>
                <a:cs typeface="Arial"/>
                <a:sym typeface="Arial"/>
              </a:defRPr>
            </a:lvl1pPr>
          </a:lstStyle>
          <a:p>
            <a:pPr/>
            <a:r>
              <a:t>How would you find out fairly?</a:t>
            </a:r>
          </a:p>
        </p:txBody>
      </p:sp>
      <p:grpSp>
        <p:nvGrpSpPr>
          <p:cNvPr id="114" name="h0"/>
          <p:cNvGrpSpPr/>
          <p:nvPr/>
        </p:nvGrpSpPr>
        <p:grpSpPr>
          <a:xfrm>
            <a:off x="1170432" y="2487167"/>
            <a:ext cx="2453565" cy="2103122"/>
            <a:chOff x="0" y="0"/>
            <a:chExt cx="2453563" cy="2103120"/>
          </a:xfrm>
        </p:grpSpPr>
        <p:sp>
          <p:nvSpPr>
            <p:cNvPr id="110" name="h0_bg"/>
            <p:cNvSpPr/>
            <p:nvPr/>
          </p:nvSpPr>
          <p:spPr>
            <a:xfrm>
              <a:off x="0" y="0"/>
              <a:ext cx="2453564" cy="2103121"/>
            </a:xfrm>
            <a:prstGeom prst="roundRect">
              <a:avLst>
                <a:gd name="adj" fmla="val 434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11" name="h0_k"/>
            <p:cNvSpPr txBox="1"/>
            <p:nvPr/>
          </p:nvSpPr>
          <p:spPr>
            <a:xfrm>
              <a:off x="237743" y="202692"/>
              <a:ext cx="548641"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D312F"/>
                  </a:solidFill>
                  <a:latin typeface="Georgia"/>
                  <a:ea typeface="Georgia"/>
                  <a:cs typeface="Georgia"/>
                  <a:sym typeface="Georgia"/>
                </a:defRPr>
              </a:lvl1pPr>
            </a:lstStyle>
            <a:p>
              <a:pPr/>
              <a:r>
                <a:t>A</a:t>
              </a:r>
            </a:p>
          </p:txBody>
        </p:sp>
        <p:pic>
          <p:nvPicPr>
            <p:cNvPr id="112" name="h0_icon" descr="h0_icon"/>
            <p:cNvPicPr>
              <a:picLocks noChangeAspect="1"/>
            </p:cNvPicPr>
            <p:nvPr/>
          </p:nvPicPr>
          <p:blipFill>
            <a:blip r:embed="rId7">
              <a:extLst/>
            </a:blip>
            <a:stretch>
              <a:fillRect/>
            </a:stretch>
          </p:blipFill>
          <p:spPr>
            <a:xfrm>
              <a:off x="1447723" y="164592"/>
              <a:ext cx="731522" cy="731521"/>
            </a:xfrm>
            <a:prstGeom prst="rect">
              <a:avLst/>
            </a:prstGeom>
            <a:ln w="12700" cap="flat">
              <a:noFill/>
              <a:miter lim="400000"/>
            </a:ln>
            <a:effectLst/>
          </p:spPr>
        </p:pic>
        <p:sp>
          <p:nvSpPr>
            <p:cNvPr id="113" name="h0_t"/>
            <p:cNvSpPr txBox="1"/>
            <p:nvPr/>
          </p:nvSpPr>
          <p:spPr>
            <a:xfrm>
              <a:off x="237744" y="1323340"/>
              <a:ext cx="1978076"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15395C"/>
                  </a:solidFill>
                  <a:latin typeface="Georgia"/>
                  <a:ea typeface="Georgia"/>
                  <a:cs typeface="Georgia"/>
                  <a:sym typeface="Georgia"/>
                </a:defRPr>
              </a:lvl1pPr>
            </a:lstStyle>
            <a:p>
              <a:pPr/>
              <a:r>
                <a:t>Bread</a:t>
              </a:r>
            </a:p>
          </p:txBody>
        </p:sp>
      </p:grpSp>
      <p:grpSp>
        <p:nvGrpSpPr>
          <p:cNvPr id="119" name="h1"/>
          <p:cNvGrpSpPr/>
          <p:nvPr/>
        </p:nvGrpSpPr>
        <p:grpSpPr>
          <a:xfrm>
            <a:off x="3843451" y="2487167"/>
            <a:ext cx="2453565" cy="2103122"/>
            <a:chOff x="0" y="0"/>
            <a:chExt cx="2453563" cy="2103120"/>
          </a:xfrm>
        </p:grpSpPr>
        <p:sp>
          <p:nvSpPr>
            <p:cNvPr id="115" name="h1_bg"/>
            <p:cNvSpPr/>
            <p:nvPr/>
          </p:nvSpPr>
          <p:spPr>
            <a:xfrm>
              <a:off x="0" y="0"/>
              <a:ext cx="2453564" cy="2103121"/>
            </a:xfrm>
            <a:prstGeom prst="roundRect">
              <a:avLst>
                <a:gd name="adj" fmla="val 434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16" name="h1_k"/>
            <p:cNvSpPr txBox="1"/>
            <p:nvPr/>
          </p:nvSpPr>
          <p:spPr>
            <a:xfrm>
              <a:off x="237743" y="202692"/>
              <a:ext cx="548641"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D312F"/>
                  </a:solidFill>
                  <a:latin typeface="Georgia"/>
                  <a:ea typeface="Georgia"/>
                  <a:cs typeface="Georgia"/>
                  <a:sym typeface="Georgia"/>
                </a:defRPr>
              </a:lvl1pPr>
            </a:lstStyle>
            <a:p>
              <a:pPr/>
              <a:r>
                <a:t>B</a:t>
              </a:r>
            </a:p>
          </p:txBody>
        </p:sp>
        <p:pic>
          <p:nvPicPr>
            <p:cNvPr id="117" name="h1_icon" descr="h1_icon"/>
            <p:cNvPicPr>
              <a:picLocks noChangeAspect="1"/>
            </p:cNvPicPr>
            <p:nvPr/>
          </p:nvPicPr>
          <p:blipFill>
            <a:blip r:embed="rId8">
              <a:extLst/>
            </a:blip>
            <a:stretch>
              <a:fillRect/>
            </a:stretch>
          </p:blipFill>
          <p:spPr>
            <a:xfrm>
              <a:off x="1447723" y="164592"/>
              <a:ext cx="731522" cy="731521"/>
            </a:xfrm>
            <a:prstGeom prst="rect">
              <a:avLst/>
            </a:prstGeom>
            <a:ln w="12700" cap="flat">
              <a:noFill/>
              <a:miter lim="400000"/>
            </a:ln>
            <a:effectLst/>
          </p:spPr>
        </p:pic>
        <p:sp>
          <p:nvSpPr>
            <p:cNvPr id="118" name="h1_t"/>
            <p:cNvSpPr txBox="1"/>
            <p:nvPr/>
          </p:nvSpPr>
          <p:spPr>
            <a:xfrm>
              <a:off x="237744" y="1323340"/>
              <a:ext cx="1978076"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15395C"/>
                  </a:solidFill>
                  <a:latin typeface="Georgia"/>
                  <a:ea typeface="Georgia"/>
                  <a:cs typeface="Georgia"/>
                  <a:sym typeface="Georgia"/>
                </a:defRPr>
              </a:lvl1pPr>
            </a:lstStyle>
            <a:p>
              <a:pPr/>
              <a:r>
                <a:t>Corn flakes</a:t>
              </a:r>
            </a:p>
          </p:txBody>
        </p:sp>
      </p:grpSp>
      <p:grpSp>
        <p:nvGrpSpPr>
          <p:cNvPr id="124" name="h2"/>
          <p:cNvGrpSpPr/>
          <p:nvPr/>
        </p:nvGrpSpPr>
        <p:grpSpPr>
          <a:xfrm>
            <a:off x="6516472" y="2487167"/>
            <a:ext cx="2453565" cy="2103122"/>
            <a:chOff x="0" y="0"/>
            <a:chExt cx="2453563" cy="2103120"/>
          </a:xfrm>
        </p:grpSpPr>
        <p:sp>
          <p:nvSpPr>
            <p:cNvPr id="120" name="h2_bg"/>
            <p:cNvSpPr/>
            <p:nvPr/>
          </p:nvSpPr>
          <p:spPr>
            <a:xfrm>
              <a:off x="0" y="0"/>
              <a:ext cx="2453564" cy="2103121"/>
            </a:xfrm>
            <a:prstGeom prst="roundRect">
              <a:avLst>
                <a:gd name="adj" fmla="val 434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21" name="h2_k"/>
            <p:cNvSpPr txBox="1"/>
            <p:nvPr/>
          </p:nvSpPr>
          <p:spPr>
            <a:xfrm>
              <a:off x="237743" y="202692"/>
              <a:ext cx="548641"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D312F"/>
                  </a:solidFill>
                  <a:latin typeface="Georgia"/>
                  <a:ea typeface="Georgia"/>
                  <a:cs typeface="Georgia"/>
                  <a:sym typeface="Georgia"/>
                </a:defRPr>
              </a:lvl1pPr>
            </a:lstStyle>
            <a:p>
              <a:pPr/>
              <a:r>
                <a:t>C</a:t>
              </a:r>
            </a:p>
          </p:txBody>
        </p:sp>
        <p:pic>
          <p:nvPicPr>
            <p:cNvPr id="122" name="h2_icon" descr="h2_icon"/>
            <p:cNvPicPr>
              <a:picLocks noChangeAspect="1"/>
            </p:cNvPicPr>
            <p:nvPr/>
          </p:nvPicPr>
          <p:blipFill>
            <a:blip r:embed="rId9">
              <a:extLst/>
            </a:blip>
            <a:stretch>
              <a:fillRect/>
            </a:stretch>
          </p:blipFill>
          <p:spPr>
            <a:xfrm>
              <a:off x="1447722" y="164592"/>
              <a:ext cx="731522" cy="731521"/>
            </a:xfrm>
            <a:prstGeom prst="rect">
              <a:avLst/>
            </a:prstGeom>
            <a:ln w="12700" cap="flat">
              <a:noFill/>
              <a:miter lim="400000"/>
            </a:ln>
            <a:effectLst/>
          </p:spPr>
        </p:pic>
        <p:sp>
          <p:nvSpPr>
            <p:cNvPr id="123" name="h2_t"/>
            <p:cNvSpPr txBox="1"/>
            <p:nvPr/>
          </p:nvSpPr>
          <p:spPr>
            <a:xfrm>
              <a:off x="237744" y="1323340"/>
              <a:ext cx="1978076"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15395C"/>
                  </a:solidFill>
                  <a:latin typeface="Georgia"/>
                  <a:ea typeface="Georgia"/>
                  <a:cs typeface="Georgia"/>
                  <a:sym typeface="Georgia"/>
                </a:defRPr>
              </a:lvl1pPr>
            </a:lstStyle>
            <a:p>
              <a:pPr/>
              <a:r>
                <a:t>Crisps</a:t>
              </a:r>
            </a:p>
          </p:txBody>
        </p:sp>
      </p:grpSp>
      <p:grpSp>
        <p:nvGrpSpPr>
          <p:cNvPr id="129" name="h3"/>
          <p:cNvGrpSpPr/>
          <p:nvPr/>
        </p:nvGrpSpPr>
        <p:grpSpPr>
          <a:xfrm>
            <a:off x="9189491" y="2487167"/>
            <a:ext cx="2453565" cy="2103122"/>
            <a:chOff x="0" y="0"/>
            <a:chExt cx="2453563" cy="2103120"/>
          </a:xfrm>
        </p:grpSpPr>
        <p:sp>
          <p:nvSpPr>
            <p:cNvPr id="125" name="h3_bg"/>
            <p:cNvSpPr/>
            <p:nvPr/>
          </p:nvSpPr>
          <p:spPr>
            <a:xfrm>
              <a:off x="0" y="0"/>
              <a:ext cx="2453564" cy="2103121"/>
            </a:xfrm>
            <a:prstGeom prst="roundRect">
              <a:avLst>
                <a:gd name="adj" fmla="val 434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26" name="h3_k"/>
            <p:cNvSpPr txBox="1"/>
            <p:nvPr/>
          </p:nvSpPr>
          <p:spPr>
            <a:xfrm>
              <a:off x="237743" y="202692"/>
              <a:ext cx="548641"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D312F"/>
                  </a:solidFill>
                  <a:latin typeface="Georgia"/>
                  <a:ea typeface="Georgia"/>
                  <a:cs typeface="Georgia"/>
                  <a:sym typeface="Georgia"/>
                </a:defRPr>
              </a:lvl1pPr>
            </a:lstStyle>
            <a:p>
              <a:pPr/>
              <a:r>
                <a:t>D</a:t>
              </a:r>
            </a:p>
          </p:txBody>
        </p:sp>
        <p:pic>
          <p:nvPicPr>
            <p:cNvPr id="127" name="h3_icon" descr="h3_icon"/>
            <p:cNvPicPr>
              <a:picLocks noChangeAspect="1"/>
            </p:cNvPicPr>
            <p:nvPr/>
          </p:nvPicPr>
          <p:blipFill>
            <a:blip r:embed="rId10">
              <a:extLst/>
            </a:blip>
            <a:stretch>
              <a:fillRect/>
            </a:stretch>
          </p:blipFill>
          <p:spPr>
            <a:xfrm>
              <a:off x="1447723" y="164592"/>
              <a:ext cx="731522" cy="731521"/>
            </a:xfrm>
            <a:prstGeom prst="rect">
              <a:avLst/>
            </a:prstGeom>
            <a:ln w="12700" cap="flat">
              <a:noFill/>
              <a:miter lim="400000"/>
            </a:ln>
            <a:effectLst/>
          </p:spPr>
        </p:pic>
        <p:sp>
          <p:nvSpPr>
            <p:cNvPr id="128" name="h3_t"/>
            <p:cNvSpPr txBox="1"/>
            <p:nvPr/>
          </p:nvSpPr>
          <p:spPr>
            <a:xfrm>
              <a:off x="237744" y="1323340"/>
              <a:ext cx="1978076"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15395C"/>
                  </a:solidFill>
                  <a:latin typeface="Georgia"/>
                  <a:ea typeface="Georgia"/>
                  <a:cs typeface="Georgia"/>
                  <a:sym typeface="Georgia"/>
                </a:defRPr>
              </a:lvl1pPr>
            </a:lstStyle>
            <a:p>
              <a:pPr/>
              <a:r>
                <a:t>Crackers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10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14"/>
                                        </p:tgtEl>
                                        <p:attrNameLst>
                                          <p:attrName>style.visibility</p:attrName>
                                        </p:attrNameLst>
                                      </p:cBhvr>
                                      <p:to>
                                        <p:strVal val="visible"/>
                                      </p:to>
                                    </p:set>
                                    <p:animEffect filter="fade" transition="in">
                                      <p:cBhvr>
                                        <p:cTn id="11" dur="400"/>
                                        <p:tgtEl>
                                          <p:spTgt spid="114"/>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9"/>
                                        </p:tgtEl>
                                        <p:attrNameLst>
                                          <p:attrName>style.visibility</p:attrName>
                                        </p:attrNameLst>
                                      </p:cBhvr>
                                      <p:to>
                                        <p:strVal val="visible"/>
                                      </p:to>
                                    </p:set>
                                    <p:animEffect filter="fade" transition="in">
                                      <p:cBhvr>
                                        <p:cTn id="15" dur="400"/>
                                        <p:tgtEl>
                                          <p:spTgt spid="119"/>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24"/>
                                        </p:tgtEl>
                                        <p:attrNameLst>
                                          <p:attrName>style.visibility</p:attrName>
                                        </p:attrNameLst>
                                      </p:cBhvr>
                                      <p:to>
                                        <p:strVal val="visible"/>
                                      </p:to>
                                    </p:set>
                                    <p:animEffect filter="fade" transition="in">
                                      <p:cBhvr>
                                        <p:cTn id="19" dur="400"/>
                                        <p:tgtEl>
                                          <p:spTgt spid="124"/>
                                        </p:tgtEl>
                                      </p:cBhvr>
                                    </p:animEffect>
                                  </p:childTnLst>
                                </p:cTn>
                              </p:par>
                            </p:childTnLst>
                          </p:cTn>
                        </p:par>
                        <p:par>
                          <p:cTn id="20" fill="hold">
                            <p:stCondLst>
                              <p:cond delay="1650"/>
                            </p:stCondLst>
                            <p:childTnLst>
                              <p:par>
                                <p:cTn id="21" presetClass="entr" nodeType="afterEffect" presetID="10" grpId="5" fill="hold">
                                  <p:stCondLst>
                                    <p:cond delay="450"/>
                                  </p:stCondLst>
                                  <p:iterate type="el" backwards="0">
                                    <p:tmAbs val="0"/>
                                  </p:iterate>
                                  <p:childTnLst>
                                    <p:set>
                                      <p:cBhvr>
                                        <p:cTn id="22" fill="hold"/>
                                        <p:tgtEl>
                                          <p:spTgt spid="129"/>
                                        </p:tgtEl>
                                        <p:attrNameLst>
                                          <p:attrName>style.visibility</p:attrName>
                                        </p:attrNameLst>
                                      </p:cBhvr>
                                      <p:to>
                                        <p:strVal val="visible"/>
                                      </p:to>
                                    </p:set>
                                    <p:animEffect filter="fade" transition="in">
                                      <p:cBhvr>
                                        <p:cTn id="23" dur="4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4" fill="hold" display="0">
                  <p:stCondLst>
                    <p:cond delay="indefinite"/>
                  </p:stCondLst>
                </p:cTn>
                <p:tgtEl>
                  <p:spTgt spid="103"/>
                </p:tgtEl>
              </p:cMediaNode>
            </p:video>
            <p:seq concurrent="1" prevAc="none" nextAc="seek">
              <p:cTn id="25" evtFilter="cancelBubble" nodeType="interactiveSeq" restart="whenNotActive" fill="hold">
                <p:stCondLst>
                  <p:cond delay="0" evt="onClick">
                    <p:tgtEl>
                      <p:spTgt spid="103"/>
                    </p:tgtEl>
                  </p:cond>
                </p:stCondLst>
                <p:endSync delay="0" evt="end">
                  <p:rtn val="all"/>
                </p:endSync>
                <p:childTnLst>
                  <p:par>
                    <p:cTn id="26" fill="hold">
                      <p:stCondLst>
                        <p:cond delay="0"/>
                      </p:stCondLst>
                      <p:childTnLst>
                        <p:par>
                          <p:cTn id="27" fill="hold">
                            <p:stCondLst>
                              <p:cond delay="0"/>
                            </p:stCondLst>
                            <p:childTnLst>
                              <p:par>
                                <p:cTn id="28" presetClass="mediacall" nodeType="clickEffect" presetSubtype="0" presetID="2" fill="hold">
                                  <p:stCondLst>
                                    <p:cond delay="0"/>
                                  </p:stCondLst>
                                  <p:childTnLst>
                                    <p:cmd type="call" cmd="togglePause">
                                      <p:cBhvr>
                                        <p:cTn id="29" dur="1" fill="hold"/>
                                        <p:tgtEl>
                                          <p:spTgt spid="103"/>
                                        </p:tgtEl>
                                      </p:cBhvr>
                                    </p:cmd>
                                  </p:childTnLst>
                                </p:cTn>
                              </p:par>
                            </p:childTnLst>
                          </p:cTn>
                        </p:par>
                      </p:childTnLst>
                    </p:cTn>
                  </p:par>
                </p:childTnLst>
              </p:cTn>
              <p:nextCondLst>
                <p:cond delay="0" evt="onClick">
                  <p:tgtEl>
                    <p:spTgt spid="103"/>
                  </p:tgtEl>
                </p:cond>
              </p:nextCondLst>
            </p:seq>
          </p:childTnLst>
        </p:cTn>
      </p:par>
    </p:tnLst>
    <p:bldLst>
      <p:bldP build="whole" bldLvl="1" animBg="1" rev="0" advAuto="0" spid="114" grpId="2"/>
      <p:bldP build="whole" bldLvl="1" animBg="1" rev="0" advAuto="0" spid="129" grpId="5"/>
      <p:bldP build="whole" bldLvl="1" animBg="1" rev="0" advAuto="0" spid="124" grpId="4"/>
      <p:bldP build="whole" bldLvl="1" animBg="1" rev="0" advAuto="0" spid="119" grpId="3"/>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3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36" name="phase_pill"/>
          <p:cNvGrpSpPr/>
          <p:nvPr/>
        </p:nvGrpSpPr>
        <p:grpSpPr>
          <a:xfrm>
            <a:off x="1170432" y="310895"/>
            <a:ext cx="1623975" cy="329185"/>
            <a:chOff x="0" y="0"/>
            <a:chExt cx="1623974" cy="329184"/>
          </a:xfrm>
        </p:grpSpPr>
        <p:sp>
          <p:nvSpPr>
            <p:cNvPr id="134" name="Rounded Rectangle"/>
            <p:cNvSpPr/>
            <p:nvPr/>
          </p:nvSpPr>
          <p:spPr>
            <a:xfrm>
              <a:off x="0" y="0"/>
              <a:ext cx="1623975"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135"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37"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Which is which?</a:t>
            </a:r>
          </a:p>
        </p:txBody>
      </p:sp>
      <p:grpSp>
        <p:nvGrpSpPr>
          <p:cNvPr id="141" name="ex"/>
          <p:cNvGrpSpPr/>
          <p:nvPr/>
        </p:nvGrpSpPr>
        <p:grpSpPr>
          <a:xfrm>
            <a:off x="1170432" y="1700783"/>
            <a:ext cx="10472623" cy="658369"/>
            <a:chOff x="0" y="0"/>
            <a:chExt cx="10472622" cy="658368"/>
          </a:xfrm>
        </p:grpSpPr>
        <p:sp>
          <p:nvSpPr>
            <p:cNvPr id="138" name="ex_bg"/>
            <p:cNvSpPr/>
            <p:nvPr/>
          </p:nvSpPr>
          <p:spPr>
            <a:xfrm>
              <a:off x="0" y="0"/>
              <a:ext cx="10472623" cy="658369"/>
            </a:xfrm>
            <a:prstGeom prst="roundRect">
              <a:avLst>
                <a:gd name="adj" fmla="val 13889"/>
              </a:avLst>
            </a:prstGeom>
            <a:solidFill>
              <a:srgbClr val="FFF6CC"/>
            </a:solidFill>
            <a:ln w="16510" cap="flat">
              <a:solidFill>
                <a:srgbClr val="957D11"/>
              </a:solidFill>
              <a:prstDash val="solid"/>
              <a:round/>
            </a:ln>
            <a:effectLst/>
          </p:spPr>
          <p:txBody>
            <a:bodyPr wrap="square" lIns="45719" tIns="45719" rIns="45719" bIns="45719" numCol="1" anchor="t">
              <a:noAutofit/>
            </a:bodyPr>
            <a:lstStyle/>
            <a:p>
              <a:pPr/>
            </a:p>
          </p:txBody>
        </p:sp>
        <p:pic>
          <p:nvPicPr>
            <p:cNvPr id="139" name="ex_icon" descr="ex_icon"/>
            <p:cNvPicPr>
              <a:picLocks noChangeAspect="1"/>
            </p:cNvPicPr>
            <p:nvPr/>
          </p:nvPicPr>
          <p:blipFill>
            <a:blip r:embed="rId6">
              <a:extLst/>
            </a:blip>
            <a:stretch>
              <a:fillRect/>
            </a:stretch>
          </p:blipFill>
          <p:spPr>
            <a:xfrm>
              <a:off x="219455" y="128015"/>
              <a:ext cx="548641" cy="402338"/>
            </a:xfrm>
            <a:prstGeom prst="rect">
              <a:avLst/>
            </a:prstGeom>
            <a:ln w="12700" cap="flat">
              <a:noFill/>
              <a:miter lim="400000"/>
            </a:ln>
            <a:effectLst/>
          </p:spPr>
        </p:pic>
        <p:sp>
          <p:nvSpPr>
            <p:cNvPr id="140" name="ex_t"/>
            <p:cNvSpPr txBox="1"/>
            <p:nvPr/>
          </p:nvSpPr>
          <p:spPr>
            <a:xfrm>
              <a:off x="960120" y="195833"/>
              <a:ext cx="9329623"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900">
                  <a:solidFill>
                    <a:srgbClr val="15395C"/>
                  </a:solidFill>
                  <a:latin typeface="Georgia"/>
                  <a:ea typeface="Georgia"/>
                  <a:cs typeface="Georgia"/>
                  <a:sym typeface="Georgia"/>
                </a:defRPr>
              </a:lvl1pPr>
            </a:lstStyle>
            <a:p>
              <a:pPr/>
              <a:r>
                <a:t>Does a steeper ramp make a toy car roll further?</a:t>
              </a:r>
            </a:p>
          </p:txBody>
        </p:sp>
      </p:grpSp>
      <p:grpSp>
        <p:nvGrpSpPr>
          <p:cNvPr id="148" name="vb0"/>
          <p:cNvGrpSpPr/>
          <p:nvPr/>
        </p:nvGrpSpPr>
        <p:grpSpPr>
          <a:xfrm>
            <a:off x="1170432" y="2560320"/>
            <a:ext cx="4754880" cy="1783080"/>
            <a:chOff x="0" y="0"/>
            <a:chExt cx="4754879" cy="1783079"/>
          </a:xfrm>
        </p:grpSpPr>
        <p:sp>
          <p:nvSpPr>
            <p:cNvPr id="142" name="vb0_bg"/>
            <p:cNvSpPr/>
            <p:nvPr/>
          </p:nvSpPr>
          <p:spPr>
            <a:xfrm>
              <a:off x="0" y="0"/>
              <a:ext cx="4754880" cy="1783080"/>
            </a:xfrm>
            <a:prstGeom prst="roundRect">
              <a:avLst>
                <a:gd name="adj" fmla="val 512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43" name="vb0_h"/>
            <p:cNvSpPr txBox="1"/>
            <p:nvPr/>
          </p:nvSpPr>
          <p:spPr>
            <a:xfrm>
              <a:off x="237744" y="202183"/>
              <a:ext cx="427939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Georgia"/>
                  <a:ea typeface="Georgia"/>
                  <a:cs typeface="Georgia"/>
                  <a:sym typeface="Georgia"/>
                </a:defRPr>
              </a:lvl1pPr>
            </a:lstStyle>
            <a:p>
              <a:pPr/>
              <a:r>
                <a:t>INDEPENDENT variable</a:t>
              </a:r>
            </a:p>
          </p:txBody>
        </p:sp>
        <p:sp>
          <p:nvSpPr>
            <p:cNvPr id="144" name="vb0_d"/>
            <p:cNvSpPr txBox="1"/>
            <p:nvPr/>
          </p:nvSpPr>
          <p:spPr>
            <a:xfrm>
              <a:off x="237744" y="566927"/>
              <a:ext cx="4279392" cy="2334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0E2A40"/>
                  </a:solidFill>
                  <a:latin typeface="Arial"/>
                  <a:ea typeface="Arial"/>
                  <a:cs typeface="Arial"/>
                  <a:sym typeface="Arial"/>
                </a:defRPr>
              </a:lvl1pPr>
            </a:lstStyle>
            <a:p>
              <a:pPr/>
              <a:r>
                <a:t>I choose it. I change it on purpose.</a:t>
              </a:r>
            </a:p>
          </p:txBody>
        </p:sp>
        <p:grpSp>
          <p:nvGrpSpPr>
            <p:cNvPr id="147" name="vb0_e"/>
            <p:cNvGrpSpPr/>
            <p:nvPr/>
          </p:nvGrpSpPr>
          <p:grpSpPr>
            <a:xfrm>
              <a:off x="237744" y="1225295"/>
              <a:ext cx="4279392" cy="420625"/>
              <a:chOff x="0" y="0"/>
              <a:chExt cx="4279391" cy="420623"/>
            </a:xfrm>
          </p:grpSpPr>
          <p:sp>
            <p:nvSpPr>
              <p:cNvPr id="145" name="Rounded Rectangle"/>
              <p:cNvSpPr/>
              <p:nvPr/>
            </p:nvSpPr>
            <p:spPr>
              <a:xfrm>
                <a:off x="0" y="0"/>
                <a:ext cx="4279392" cy="420624"/>
              </a:xfrm>
              <a:prstGeom prst="roundRect">
                <a:avLst>
                  <a:gd name="adj" fmla="val 17391"/>
                </a:avLst>
              </a:prstGeom>
              <a:solidFill>
                <a:srgbClr val="15395C"/>
              </a:solidFill>
              <a:ln w="9525" cap="flat">
                <a:solidFill>
                  <a:srgbClr val="15395C"/>
                </a:solidFill>
                <a:prstDash val="solid"/>
                <a:round/>
              </a:ln>
              <a:effectLst/>
            </p:spPr>
            <p:txBody>
              <a:bodyPr wrap="square" lIns="45719" tIns="45719" rIns="45719" bIns="45719" numCol="1" anchor="ctr">
                <a:noAutofit/>
              </a:bodyPr>
              <a:lstStyle/>
              <a:p>
                <a:pPr algn="ctr">
                  <a:defRPr sz="1400"/>
                </a:pPr>
              </a:p>
            </p:txBody>
          </p:sp>
          <p:sp>
            <p:nvSpPr>
              <p:cNvPr id="146" name="Height of the ramp"/>
              <p:cNvSpPr txBox="1"/>
              <p:nvPr/>
            </p:nvSpPr>
            <p:spPr>
              <a:xfrm>
                <a:off x="26187" y="111620"/>
                <a:ext cx="422701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FFFFFF"/>
                    </a:solidFill>
                    <a:latin typeface="Arial"/>
                    <a:ea typeface="Arial"/>
                    <a:cs typeface="Arial"/>
                    <a:sym typeface="Arial"/>
                  </a:defRPr>
                </a:lvl1pPr>
              </a:lstStyle>
              <a:p>
                <a:pPr/>
                <a:r>
                  <a:t>Height of the ramp</a:t>
                </a:r>
              </a:p>
            </p:txBody>
          </p:sp>
        </p:grpSp>
      </p:grpSp>
      <p:grpSp>
        <p:nvGrpSpPr>
          <p:cNvPr id="155" name="vb1"/>
          <p:cNvGrpSpPr/>
          <p:nvPr/>
        </p:nvGrpSpPr>
        <p:grpSpPr>
          <a:xfrm>
            <a:off x="6888174" y="2560320"/>
            <a:ext cx="4754881" cy="1783080"/>
            <a:chOff x="0" y="0"/>
            <a:chExt cx="4754879" cy="1783079"/>
          </a:xfrm>
        </p:grpSpPr>
        <p:sp>
          <p:nvSpPr>
            <p:cNvPr id="149" name="vb1_bg"/>
            <p:cNvSpPr/>
            <p:nvPr/>
          </p:nvSpPr>
          <p:spPr>
            <a:xfrm>
              <a:off x="0" y="0"/>
              <a:ext cx="4754880" cy="1783080"/>
            </a:xfrm>
            <a:prstGeom prst="roundRect">
              <a:avLst>
                <a:gd name="adj" fmla="val 512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50" name="vb1_h"/>
            <p:cNvSpPr txBox="1"/>
            <p:nvPr/>
          </p:nvSpPr>
          <p:spPr>
            <a:xfrm>
              <a:off x="237744" y="202183"/>
              <a:ext cx="427939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Georgia"/>
                  <a:ea typeface="Georgia"/>
                  <a:cs typeface="Georgia"/>
                  <a:sym typeface="Georgia"/>
                </a:defRPr>
              </a:lvl1pPr>
            </a:lstStyle>
            <a:p>
              <a:pPr/>
              <a:r>
                <a:t>DEPENDENT variable</a:t>
              </a:r>
            </a:p>
          </p:txBody>
        </p:sp>
        <p:sp>
          <p:nvSpPr>
            <p:cNvPr id="151" name="vb1_d"/>
            <p:cNvSpPr txBox="1"/>
            <p:nvPr/>
          </p:nvSpPr>
          <p:spPr>
            <a:xfrm>
              <a:off x="237744" y="566927"/>
              <a:ext cx="4279392" cy="4747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0E2A40"/>
                  </a:solidFill>
                  <a:latin typeface="Arial"/>
                  <a:ea typeface="Arial"/>
                  <a:cs typeface="Arial"/>
                  <a:sym typeface="Arial"/>
                </a:defRPr>
              </a:lvl1pPr>
            </a:lstStyle>
            <a:p>
              <a:pPr/>
              <a:r>
                <a:t>I measure it. It depends on the independent variable.</a:t>
              </a:r>
            </a:p>
          </p:txBody>
        </p:sp>
        <p:grpSp>
          <p:nvGrpSpPr>
            <p:cNvPr id="154" name="vb1_e"/>
            <p:cNvGrpSpPr/>
            <p:nvPr/>
          </p:nvGrpSpPr>
          <p:grpSpPr>
            <a:xfrm>
              <a:off x="237744" y="1225295"/>
              <a:ext cx="4279392" cy="420625"/>
              <a:chOff x="0" y="0"/>
              <a:chExt cx="4279391" cy="420623"/>
            </a:xfrm>
          </p:grpSpPr>
          <p:sp>
            <p:nvSpPr>
              <p:cNvPr id="152" name="Rounded Rectangle"/>
              <p:cNvSpPr/>
              <p:nvPr/>
            </p:nvSpPr>
            <p:spPr>
              <a:xfrm>
                <a:off x="0" y="0"/>
                <a:ext cx="4279392" cy="420624"/>
              </a:xfrm>
              <a:prstGeom prst="roundRect">
                <a:avLst>
                  <a:gd name="adj" fmla="val 17391"/>
                </a:avLst>
              </a:prstGeom>
              <a:solidFill>
                <a:srgbClr val="15395C"/>
              </a:solidFill>
              <a:ln w="9525" cap="flat">
                <a:solidFill>
                  <a:srgbClr val="15395C"/>
                </a:solidFill>
                <a:prstDash val="solid"/>
                <a:round/>
              </a:ln>
              <a:effectLst/>
            </p:spPr>
            <p:txBody>
              <a:bodyPr wrap="square" lIns="45719" tIns="45719" rIns="45719" bIns="45719" numCol="1" anchor="ctr">
                <a:noAutofit/>
              </a:bodyPr>
              <a:lstStyle/>
              <a:p>
                <a:pPr algn="ctr">
                  <a:defRPr sz="1400"/>
                </a:pPr>
              </a:p>
            </p:txBody>
          </p:sp>
          <p:sp>
            <p:nvSpPr>
              <p:cNvPr id="153" name="Distance the car rolls"/>
              <p:cNvSpPr txBox="1"/>
              <p:nvPr/>
            </p:nvSpPr>
            <p:spPr>
              <a:xfrm>
                <a:off x="26187" y="111620"/>
                <a:ext cx="422701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FFFFFF"/>
                    </a:solidFill>
                    <a:latin typeface="Arial"/>
                    <a:ea typeface="Arial"/>
                    <a:cs typeface="Arial"/>
                    <a:sym typeface="Arial"/>
                  </a:defRPr>
                </a:lvl1pPr>
              </a:lstStyle>
              <a:p>
                <a:pPr/>
                <a:r>
                  <a:t>Distance the car rolls</a:t>
                </a:r>
              </a:p>
            </p:txBody>
          </p:sp>
        </p:grpSp>
      </p:grpSp>
      <p:sp>
        <p:nvSpPr>
          <p:cNvPr id="156" name="vb_arrow"/>
          <p:cNvSpPr/>
          <p:nvPr/>
        </p:nvSpPr>
        <p:spPr>
          <a:xfrm>
            <a:off x="6016752" y="3351276"/>
            <a:ext cx="779984" cy="201169"/>
          </a:xfrm>
          <a:prstGeom prst="rightArrow">
            <a:avLst>
              <a:gd name="adj1" fmla="val 50000"/>
              <a:gd name="adj2" fmla="val 50000"/>
            </a:avLst>
          </a:prstGeom>
          <a:solidFill>
            <a:srgbClr val="957D11"/>
          </a:solidFill>
          <a:ln w="12700">
            <a:solidFill>
              <a:srgbClr val="957D11"/>
            </a:solidFill>
          </a:ln>
        </p:spPr>
        <p:txBody>
          <a:bodyPr lIns="45719" rIns="45719"/>
          <a:lstStyle/>
          <a:p>
            <a:pPr/>
          </a:p>
        </p:txBody>
      </p:sp>
      <p:grpSp>
        <p:nvGrpSpPr>
          <p:cNvPr id="163" name="dep"/>
          <p:cNvGrpSpPr/>
          <p:nvPr/>
        </p:nvGrpSpPr>
        <p:grpSpPr>
          <a:xfrm>
            <a:off x="1170432" y="4544567"/>
            <a:ext cx="10472623" cy="1188721"/>
            <a:chOff x="0" y="0"/>
            <a:chExt cx="10472622" cy="1188719"/>
          </a:xfrm>
        </p:grpSpPr>
        <p:sp>
          <p:nvSpPr>
            <p:cNvPr id="157" name="dep_bg"/>
            <p:cNvSpPr/>
            <p:nvPr/>
          </p:nvSpPr>
          <p:spPr>
            <a:xfrm>
              <a:off x="0" y="0"/>
              <a:ext cx="10472623" cy="1188720"/>
            </a:xfrm>
            <a:prstGeom prst="roundRect">
              <a:avLst>
                <a:gd name="adj" fmla="val 769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58" name="dep_h"/>
            <p:cNvSpPr txBox="1"/>
            <p:nvPr/>
          </p:nvSpPr>
          <p:spPr>
            <a:xfrm>
              <a:off x="237743" y="151336"/>
              <a:ext cx="384048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200">
                  <a:solidFill>
                    <a:srgbClr val="957D11"/>
                  </a:solidFill>
                  <a:latin typeface="Arial"/>
                  <a:ea typeface="Arial"/>
                  <a:cs typeface="Arial"/>
                  <a:sym typeface="Arial"/>
                </a:defRPr>
              </a:lvl1pPr>
            </a:lstStyle>
            <a:p>
              <a:pPr/>
              <a:r>
                <a:t>THE "DEPENDS ON" TEST</a:t>
              </a:r>
            </a:p>
          </p:txBody>
        </p:sp>
        <p:sp>
          <p:nvSpPr>
            <p:cNvPr id="159" name="dep0_l"/>
            <p:cNvSpPr txBox="1"/>
            <p:nvPr/>
          </p:nvSpPr>
          <p:spPr>
            <a:xfrm>
              <a:off x="237743" y="480520"/>
              <a:ext cx="141732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200">
                  <a:solidFill>
                    <a:srgbClr val="00A33E"/>
                  </a:solidFill>
                  <a:latin typeface="Arial"/>
                  <a:ea typeface="Arial"/>
                  <a:cs typeface="Arial"/>
                  <a:sym typeface="Arial"/>
                </a:defRPr>
              </a:lvl1pPr>
            </a:lstStyle>
            <a:p>
              <a:pPr/>
              <a:r>
                <a:t>SENSIBLE</a:t>
              </a:r>
            </a:p>
          </p:txBody>
        </p:sp>
        <p:sp>
          <p:nvSpPr>
            <p:cNvPr id="160" name="dep0_t"/>
            <p:cNvSpPr txBox="1"/>
            <p:nvPr/>
          </p:nvSpPr>
          <p:spPr>
            <a:xfrm>
              <a:off x="1783079" y="462094"/>
              <a:ext cx="8460944"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0E2A40"/>
                  </a:solidFill>
                  <a:latin typeface="Arial"/>
                  <a:ea typeface="Arial"/>
                  <a:cs typeface="Arial"/>
                  <a:sym typeface="Arial"/>
                </a:defRPr>
              </a:lvl1pPr>
            </a:lstStyle>
            <a:p>
              <a:pPr/>
              <a:r>
                <a:t>The distance depends on the ramp height.</a:t>
              </a:r>
            </a:p>
          </p:txBody>
        </p:sp>
        <p:sp>
          <p:nvSpPr>
            <p:cNvPr id="161" name="dep1_l"/>
            <p:cNvSpPr txBox="1"/>
            <p:nvPr/>
          </p:nvSpPr>
          <p:spPr>
            <a:xfrm>
              <a:off x="237743" y="827992"/>
              <a:ext cx="141732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200">
                  <a:solidFill>
                    <a:srgbClr val="CD312F"/>
                  </a:solidFill>
                  <a:latin typeface="Arial"/>
                  <a:ea typeface="Arial"/>
                  <a:cs typeface="Arial"/>
                  <a:sym typeface="Arial"/>
                </a:defRPr>
              </a:lvl1pPr>
            </a:lstStyle>
            <a:p>
              <a:pPr/>
              <a:r>
                <a:t>BACKWARDS</a:t>
              </a:r>
            </a:p>
          </p:txBody>
        </p:sp>
        <p:sp>
          <p:nvSpPr>
            <p:cNvPr id="162" name="dep1_t"/>
            <p:cNvSpPr txBox="1"/>
            <p:nvPr/>
          </p:nvSpPr>
          <p:spPr>
            <a:xfrm>
              <a:off x="1783079" y="809566"/>
              <a:ext cx="8460944"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0E2A40"/>
                  </a:solidFill>
                  <a:latin typeface="Arial"/>
                  <a:ea typeface="Arial"/>
                  <a:cs typeface="Arial"/>
                  <a:sym typeface="Arial"/>
                </a:defRPr>
              </a:lvl1pPr>
            </a:lstStyle>
            <a:p>
              <a:pPr/>
              <a:r>
                <a:t>The ramp height depends on the distance.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3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41"/>
                                        </p:tgtEl>
                                        <p:attrNameLst>
                                          <p:attrName>style.visibility</p:attrName>
                                        </p:attrNameLst>
                                      </p:cBhvr>
                                      <p:to>
                                        <p:strVal val="visible"/>
                                      </p:to>
                                    </p:set>
                                    <p:animEffect filter="fade" transition="in">
                                      <p:cBhvr>
                                        <p:cTn id="11" dur="400"/>
                                        <p:tgtEl>
                                          <p:spTgt spid="14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48"/>
                                        </p:tgtEl>
                                        <p:attrNameLst>
                                          <p:attrName>style.visibility</p:attrName>
                                        </p:attrNameLst>
                                      </p:cBhvr>
                                      <p:to>
                                        <p:strVal val="visible"/>
                                      </p:to>
                                    </p:set>
                                    <p:animEffect filter="fade" transition="in">
                                      <p:cBhvr>
                                        <p:cTn id="16" dur="400"/>
                                        <p:tgtEl>
                                          <p:spTgt spid="148"/>
                                        </p:tgtEl>
                                      </p:cBhvr>
                                    </p:animEffect>
                                  </p:childTnLst>
                                </p:cTn>
                              </p:par>
                            </p:childTnLst>
                          </p:cTn>
                        </p:par>
                        <p:par>
                          <p:cTn id="17" fill="hold">
                            <p:stCondLst>
                              <p:cond delay="400"/>
                            </p:stCondLst>
                            <p:childTnLst>
                              <p:par>
                                <p:cTn id="18" presetClass="entr" nodeType="afterEffect" presetID="10" grpId="4" fill="hold">
                                  <p:stCondLst>
                                    <p:cond delay="150"/>
                                  </p:stCondLst>
                                  <p:iterate type="el" backwards="0">
                                    <p:tmAbs val="0"/>
                                  </p:iterate>
                                  <p:childTnLst>
                                    <p:set>
                                      <p:cBhvr>
                                        <p:cTn id="19" fill="hold"/>
                                        <p:tgtEl>
                                          <p:spTgt spid="156"/>
                                        </p:tgtEl>
                                        <p:attrNameLst>
                                          <p:attrName>style.visibility</p:attrName>
                                        </p:attrNameLst>
                                      </p:cBhvr>
                                      <p:to>
                                        <p:strVal val="visible"/>
                                      </p:to>
                                    </p:set>
                                    <p:animEffect filter="fade" transition="in">
                                      <p:cBhvr>
                                        <p:cTn id="20" dur="400"/>
                                        <p:tgtEl>
                                          <p:spTgt spid="156"/>
                                        </p:tgtEl>
                                      </p:cBhvr>
                                    </p:animEffect>
                                  </p:childTnLst>
                                </p:cTn>
                              </p:par>
                            </p:childTnLst>
                          </p:cTn>
                        </p:par>
                        <p:par>
                          <p:cTn id="21" fill="hold">
                            <p:stCondLst>
                              <p:cond delay="950"/>
                            </p:stCondLst>
                            <p:childTnLst>
                              <p:par>
                                <p:cTn id="22" presetClass="entr" nodeType="afterEffect" presetID="10" grpId="5" fill="hold">
                                  <p:stCondLst>
                                    <p:cond delay="300"/>
                                  </p:stCondLst>
                                  <p:iterate type="el" backwards="0">
                                    <p:tmAbs val="0"/>
                                  </p:iterate>
                                  <p:childTnLst>
                                    <p:set>
                                      <p:cBhvr>
                                        <p:cTn id="23" fill="hold"/>
                                        <p:tgtEl>
                                          <p:spTgt spid="155"/>
                                        </p:tgtEl>
                                        <p:attrNameLst>
                                          <p:attrName>style.visibility</p:attrName>
                                        </p:attrNameLst>
                                      </p:cBhvr>
                                      <p:to>
                                        <p:strVal val="visible"/>
                                      </p:to>
                                    </p:set>
                                    <p:animEffect filter="fade" transition="in">
                                      <p:cBhvr>
                                        <p:cTn id="24" dur="400"/>
                                        <p:tgtEl>
                                          <p:spTgt spid="155"/>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163"/>
                                        </p:tgtEl>
                                        <p:attrNameLst>
                                          <p:attrName>style.visibility</p:attrName>
                                        </p:attrNameLst>
                                      </p:cBhvr>
                                      <p:to>
                                        <p:strVal val="visible"/>
                                      </p:to>
                                    </p:set>
                                    <p:animEffect filter="fade" transition="in">
                                      <p:cBhvr>
                                        <p:cTn id="29" dur="4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0" fill="hold" display="0">
                  <p:stCondLst>
                    <p:cond delay="indefinite"/>
                  </p:stCondLst>
                </p:cTn>
                <p:tgtEl>
                  <p:spTgt spid="133"/>
                </p:tgtEl>
              </p:cMediaNode>
            </p:video>
            <p:seq concurrent="1" prevAc="none" nextAc="seek">
              <p:cTn id="31" evtFilter="cancelBubble" nodeType="interactiveSeq" restart="whenNotActive" fill="hold">
                <p:stCondLst>
                  <p:cond delay="0" evt="onClick">
                    <p:tgtEl>
                      <p:spTgt spid="133"/>
                    </p:tgtEl>
                  </p:cond>
                </p:stCondLst>
                <p:endSync delay="0" evt="end">
                  <p:rtn val="all"/>
                </p:endSync>
                <p:childTnLst>
                  <p:par>
                    <p:cTn id="32" fill="hold">
                      <p:stCondLst>
                        <p:cond delay="0"/>
                      </p:stCondLst>
                      <p:childTnLst>
                        <p:par>
                          <p:cTn id="33" fill="hold">
                            <p:stCondLst>
                              <p:cond delay="0"/>
                            </p:stCondLst>
                            <p:childTnLst>
                              <p:par>
                                <p:cTn id="34" presetClass="mediacall" nodeType="clickEffect" presetSubtype="0" presetID="2" fill="hold">
                                  <p:stCondLst>
                                    <p:cond delay="0"/>
                                  </p:stCondLst>
                                  <p:childTnLst>
                                    <p:cmd type="call" cmd="togglePause">
                                      <p:cBhvr>
                                        <p:cTn id="35" dur="1" fill="hold"/>
                                        <p:tgtEl>
                                          <p:spTgt spid="133"/>
                                        </p:tgtEl>
                                      </p:cBhvr>
                                    </p:cmd>
                                  </p:childTnLst>
                                </p:cTn>
                              </p:par>
                            </p:childTnLst>
                          </p:cTn>
                        </p:par>
                      </p:childTnLst>
                    </p:cTn>
                  </p:par>
                </p:childTnLst>
              </p:cTn>
              <p:nextCondLst>
                <p:cond delay="0" evt="onClick">
                  <p:tgtEl>
                    <p:spTgt spid="133"/>
                  </p:tgtEl>
                </p:cond>
              </p:nextCondLst>
            </p:seq>
          </p:childTnLst>
        </p:cTn>
      </p:par>
    </p:tnLst>
    <p:bldLst>
      <p:bldP build="whole" bldLvl="1" animBg="1" rev="0" advAuto="0" spid="148" grpId="3"/>
      <p:bldP build="whole" bldLvl="1" animBg="1" rev="0" advAuto="0" spid="155" grpId="5"/>
      <p:bldP build="whole" bldLvl="1" animBg="1" rev="0" advAuto="0" spid="141" grpId="2"/>
      <p:bldP build="whole" bldLvl="1" animBg="1" rev="0" advAuto="0" spid="163" grpId="6"/>
      <p:bldP build="whole" bldLvl="1" animBg="1" rev="0" advAuto="0" spid="156" grpId="4"/>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6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70" name="phase_pill"/>
          <p:cNvGrpSpPr/>
          <p:nvPr/>
        </p:nvGrpSpPr>
        <p:grpSpPr>
          <a:xfrm>
            <a:off x="1170432" y="310895"/>
            <a:ext cx="1623975" cy="329185"/>
            <a:chOff x="0" y="0"/>
            <a:chExt cx="1623974" cy="329184"/>
          </a:xfrm>
        </p:grpSpPr>
        <p:sp>
          <p:nvSpPr>
            <p:cNvPr id="168" name="Rounded Rectangle"/>
            <p:cNvSpPr/>
            <p:nvPr/>
          </p:nvSpPr>
          <p:spPr>
            <a:xfrm>
              <a:off x="0" y="0"/>
              <a:ext cx="1623975"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169"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71"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Keep it fair. Then do it again.</a:t>
            </a:r>
          </a:p>
        </p:txBody>
      </p:sp>
      <p:grpSp>
        <p:nvGrpSpPr>
          <p:cNvPr id="178" name="ctl"/>
          <p:cNvGrpSpPr/>
          <p:nvPr/>
        </p:nvGrpSpPr>
        <p:grpSpPr>
          <a:xfrm>
            <a:off x="1170432" y="1828800"/>
            <a:ext cx="5099152" cy="4160521"/>
            <a:chOff x="0" y="0"/>
            <a:chExt cx="5099151" cy="4160520"/>
          </a:xfrm>
        </p:grpSpPr>
        <p:sp>
          <p:nvSpPr>
            <p:cNvPr id="172" name="ctl_bg"/>
            <p:cNvSpPr/>
            <p:nvPr/>
          </p:nvSpPr>
          <p:spPr>
            <a:xfrm>
              <a:off x="0" y="0"/>
              <a:ext cx="5099152" cy="4160521"/>
            </a:xfrm>
            <a:prstGeom prst="roundRect">
              <a:avLst>
                <a:gd name="adj" fmla="val 219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73" name="ctl_icon" descr="ctl_icon"/>
            <p:cNvPicPr>
              <a:picLocks noChangeAspect="1"/>
            </p:cNvPicPr>
            <p:nvPr/>
          </p:nvPicPr>
          <p:blipFill>
            <a:blip r:embed="rId6">
              <a:extLst/>
            </a:blip>
            <a:stretch>
              <a:fillRect/>
            </a:stretch>
          </p:blipFill>
          <p:spPr>
            <a:xfrm>
              <a:off x="219455" y="201168"/>
              <a:ext cx="438913" cy="438913"/>
            </a:xfrm>
            <a:prstGeom prst="rect">
              <a:avLst/>
            </a:prstGeom>
            <a:ln w="12700" cap="flat">
              <a:noFill/>
              <a:miter lim="400000"/>
            </a:ln>
            <a:effectLst/>
          </p:spPr>
        </p:pic>
        <p:sp>
          <p:nvSpPr>
            <p:cNvPr id="174" name="ctl_h"/>
            <p:cNvSpPr txBox="1"/>
            <p:nvPr/>
          </p:nvSpPr>
          <p:spPr>
            <a:xfrm>
              <a:off x="786383" y="293624"/>
              <a:ext cx="4093313"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Georgia"/>
                  <a:ea typeface="Georgia"/>
                  <a:cs typeface="Georgia"/>
                  <a:sym typeface="Georgia"/>
                </a:defRPr>
              </a:lvl1pPr>
            </a:lstStyle>
            <a:p>
              <a:pPr/>
              <a:r>
                <a:t>CONTROL VARIABLES</a:t>
              </a:r>
            </a:p>
          </p:txBody>
        </p:sp>
        <p:sp>
          <p:nvSpPr>
            <p:cNvPr id="175" name="ctl_d"/>
            <p:cNvSpPr txBox="1"/>
            <p:nvPr/>
          </p:nvSpPr>
          <p:spPr>
            <a:xfrm>
              <a:off x="237744" y="841247"/>
              <a:ext cx="4623664" cy="4747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0E2A40"/>
                  </a:solidFill>
                  <a:latin typeface="Arial"/>
                  <a:ea typeface="Arial"/>
                  <a:cs typeface="Arial"/>
                  <a:sym typeface="Arial"/>
                </a:defRPr>
              </a:lvl1pPr>
            </a:lstStyle>
            <a:p>
              <a:pPr/>
              <a:r>
                <a:t>Kept exactly the same, so they cannot be the reason for the result.</a:t>
              </a:r>
            </a:p>
          </p:txBody>
        </p:sp>
        <p:sp>
          <p:nvSpPr>
            <p:cNvPr id="176" name="ctl_lab"/>
            <p:cNvSpPr txBox="1"/>
            <p:nvPr/>
          </p:nvSpPr>
          <p:spPr>
            <a:xfrm>
              <a:off x="237744" y="1772826"/>
              <a:ext cx="4623664"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300">
                  <a:solidFill>
                    <a:srgbClr val="55708A"/>
                  </a:solidFill>
                  <a:latin typeface="Arial"/>
                  <a:ea typeface="Arial"/>
                  <a:cs typeface="Arial"/>
                  <a:sym typeface="Arial"/>
                </a:defRPr>
              </a:lvl1pPr>
            </a:lstStyle>
            <a:p>
              <a:pPr/>
              <a:r>
                <a:t>For the ramp and car:</a:t>
              </a:r>
            </a:p>
          </p:txBody>
        </p:sp>
        <p:sp>
          <p:nvSpPr>
            <p:cNvPr id="177" name="ctl_l"/>
            <p:cNvSpPr txBox="1"/>
            <p:nvPr/>
          </p:nvSpPr>
          <p:spPr>
            <a:xfrm>
              <a:off x="237744" y="2066544"/>
              <a:ext cx="4623664" cy="12951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2600"/>
                </a:lnSpc>
                <a:defRPr b="1" sz="1500">
                  <a:solidFill>
                    <a:srgbClr val="0E2A40"/>
                  </a:solidFill>
                  <a:latin typeface="Arial"/>
                  <a:ea typeface="Arial"/>
                  <a:cs typeface="Arial"/>
                  <a:sym typeface="Arial"/>
                </a:defRPr>
              </a:pPr>
              <a:r>
                <a:t>Same car</a:t>
              </a:r>
            </a:p>
            <a:p>
              <a:pPr>
                <a:lnSpc>
                  <a:spcPts val="2600"/>
                </a:lnSpc>
                <a:defRPr b="1" sz="1500">
                  <a:solidFill>
                    <a:srgbClr val="0E2A40"/>
                  </a:solidFill>
                  <a:latin typeface="Arial"/>
                  <a:ea typeface="Arial"/>
                  <a:cs typeface="Arial"/>
                  <a:sym typeface="Arial"/>
                </a:defRPr>
              </a:pPr>
              <a:r>
                <a:t>Same ramp surface</a:t>
              </a:r>
            </a:p>
            <a:p>
              <a:pPr>
                <a:lnSpc>
                  <a:spcPts val="2600"/>
                </a:lnSpc>
                <a:defRPr b="1" sz="1500">
                  <a:solidFill>
                    <a:srgbClr val="0E2A40"/>
                  </a:solidFill>
                  <a:latin typeface="Arial"/>
                  <a:ea typeface="Arial"/>
                  <a:cs typeface="Arial"/>
                  <a:sym typeface="Arial"/>
                </a:defRPr>
              </a:pPr>
              <a:r>
                <a:t>Same starting line</a:t>
              </a:r>
            </a:p>
            <a:p>
              <a:pPr>
                <a:lnSpc>
                  <a:spcPts val="2600"/>
                </a:lnSpc>
                <a:defRPr b="1" sz="1500">
                  <a:solidFill>
                    <a:srgbClr val="0E2A40"/>
                  </a:solidFill>
                  <a:latin typeface="Arial"/>
                  <a:ea typeface="Arial"/>
                  <a:cs typeface="Arial"/>
                  <a:sym typeface="Arial"/>
                </a:defRPr>
              </a:pPr>
              <a:r>
                <a:t>Same person letting go</a:t>
              </a:r>
            </a:p>
          </p:txBody>
        </p:sp>
      </p:grpSp>
      <p:grpSp>
        <p:nvGrpSpPr>
          <p:cNvPr id="197" name="rep"/>
          <p:cNvGrpSpPr/>
          <p:nvPr/>
        </p:nvGrpSpPr>
        <p:grpSpPr>
          <a:xfrm>
            <a:off x="6543903" y="1828800"/>
            <a:ext cx="5099153" cy="4160521"/>
            <a:chOff x="0" y="0"/>
            <a:chExt cx="5099151" cy="4160520"/>
          </a:xfrm>
        </p:grpSpPr>
        <p:sp>
          <p:nvSpPr>
            <p:cNvPr id="179" name="rep_bg"/>
            <p:cNvSpPr/>
            <p:nvPr/>
          </p:nvSpPr>
          <p:spPr>
            <a:xfrm>
              <a:off x="0" y="0"/>
              <a:ext cx="5099152" cy="4160521"/>
            </a:xfrm>
            <a:prstGeom prst="roundRect">
              <a:avLst>
                <a:gd name="adj" fmla="val 219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80" name="rep_icon" descr="rep_icon"/>
            <p:cNvPicPr>
              <a:picLocks noChangeAspect="1"/>
            </p:cNvPicPr>
            <p:nvPr/>
          </p:nvPicPr>
          <p:blipFill>
            <a:blip r:embed="rId7">
              <a:extLst/>
            </a:blip>
            <a:stretch>
              <a:fillRect/>
            </a:stretch>
          </p:blipFill>
          <p:spPr>
            <a:xfrm>
              <a:off x="219455" y="201168"/>
              <a:ext cx="438913" cy="438913"/>
            </a:xfrm>
            <a:prstGeom prst="rect">
              <a:avLst/>
            </a:prstGeom>
            <a:ln w="12700" cap="flat">
              <a:noFill/>
              <a:miter lim="400000"/>
            </a:ln>
            <a:effectLst/>
          </p:spPr>
        </p:pic>
        <p:sp>
          <p:nvSpPr>
            <p:cNvPr id="181" name="rep_h"/>
            <p:cNvSpPr txBox="1"/>
            <p:nvPr/>
          </p:nvSpPr>
          <p:spPr>
            <a:xfrm>
              <a:off x="786383" y="293624"/>
              <a:ext cx="4093313"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Georgia"/>
                  <a:ea typeface="Georgia"/>
                  <a:cs typeface="Georgia"/>
                  <a:sym typeface="Georgia"/>
                </a:defRPr>
              </a:lvl1pPr>
            </a:lstStyle>
            <a:p>
              <a:pPr/>
              <a:r>
                <a:t>REPLICATION</a:t>
              </a:r>
            </a:p>
          </p:txBody>
        </p:sp>
        <p:sp>
          <p:nvSpPr>
            <p:cNvPr id="182" name="rep_d"/>
            <p:cNvSpPr txBox="1"/>
            <p:nvPr/>
          </p:nvSpPr>
          <p:spPr>
            <a:xfrm>
              <a:off x="237744" y="841248"/>
              <a:ext cx="4623664"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sz="1500">
                  <a:solidFill>
                    <a:srgbClr val="0E2A40"/>
                  </a:solidFill>
                  <a:latin typeface="Arial"/>
                  <a:ea typeface="Arial"/>
                  <a:cs typeface="Arial"/>
                  <a:sym typeface="Arial"/>
                </a:defRPr>
              </a:lvl1pPr>
            </a:lstStyle>
            <a:p>
              <a:pPr/>
              <a:r>
                <a:t>Repeat the test. Take an average.</a:t>
              </a:r>
            </a:p>
          </p:txBody>
        </p:sp>
        <p:sp>
          <p:nvSpPr>
            <p:cNvPr id="183" name="rep_lab"/>
            <p:cNvSpPr txBox="1"/>
            <p:nvPr/>
          </p:nvSpPr>
          <p:spPr>
            <a:xfrm>
              <a:off x="237744" y="1397922"/>
              <a:ext cx="4623664"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300">
                  <a:solidFill>
                    <a:srgbClr val="55708A"/>
                  </a:solidFill>
                  <a:latin typeface="Arial"/>
                  <a:ea typeface="Arial"/>
                  <a:cs typeface="Arial"/>
                  <a:sym typeface="Arial"/>
                </a:defRPr>
              </a:lvl1pPr>
            </a:lstStyle>
            <a:p>
              <a:pPr/>
              <a:r>
                <a:t>Temperature rise of the water:</a:t>
              </a:r>
            </a:p>
          </p:txBody>
        </p:sp>
        <p:grpSp>
          <p:nvGrpSpPr>
            <p:cNvPr id="186" name="rep_c0"/>
            <p:cNvGrpSpPr/>
            <p:nvPr/>
          </p:nvGrpSpPr>
          <p:grpSpPr>
            <a:xfrm>
              <a:off x="237743" y="1737360"/>
              <a:ext cx="1419302" cy="475489"/>
              <a:chOff x="0" y="0"/>
              <a:chExt cx="1419301" cy="475488"/>
            </a:xfrm>
          </p:grpSpPr>
          <p:sp>
            <p:nvSpPr>
              <p:cNvPr id="184" name="Rounded Rectangle"/>
              <p:cNvSpPr/>
              <p:nvPr/>
            </p:nvSpPr>
            <p:spPr>
              <a:xfrm>
                <a:off x="0" y="0"/>
                <a:ext cx="1419302" cy="475489"/>
              </a:xfrm>
              <a:prstGeom prst="roundRect">
                <a:avLst>
                  <a:gd name="adj" fmla="val 15385"/>
                </a:avLst>
              </a:prstGeom>
              <a:solidFill>
                <a:srgbClr val="15395C"/>
              </a:solidFill>
              <a:ln w="9525" cap="flat">
                <a:solidFill>
                  <a:srgbClr val="15395C"/>
                </a:solidFill>
                <a:prstDash val="solid"/>
                <a:round/>
              </a:ln>
              <a:effectLst/>
            </p:spPr>
            <p:txBody>
              <a:bodyPr wrap="square" lIns="45719" tIns="45719" rIns="45719" bIns="45719" numCol="1" anchor="ctr">
                <a:noAutofit/>
              </a:bodyPr>
              <a:lstStyle/>
              <a:p>
                <a:pPr algn="ctr">
                  <a:defRPr sz="1600"/>
                </a:pPr>
              </a:p>
            </p:txBody>
          </p:sp>
          <p:sp>
            <p:nvSpPr>
              <p:cNvPr id="185" name="14 °C"/>
              <p:cNvSpPr txBox="1"/>
              <p:nvPr/>
            </p:nvSpPr>
            <p:spPr>
              <a:xfrm>
                <a:off x="26188" y="126767"/>
                <a:ext cx="1366925"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14 °C</a:t>
                </a:r>
              </a:p>
            </p:txBody>
          </p:sp>
        </p:grpSp>
        <p:grpSp>
          <p:nvGrpSpPr>
            <p:cNvPr id="189" name="rep_c1"/>
            <p:cNvGrpSpPr/>
            <p:nvPr/>
          </p:nvGrpSpPr>
          <p:grpSpPr>
            <a:xfrm>
              <a:off x="1839924" y="1737360"/>
              <a:ext cx="1419302" cy="475489"/>
              <a:chOff x="0" y="0"/>
              <a:chExt cx="1419301" cy="475488"/>
            </a:xfrm>
          </p:grpSpPr>
          <p:sp>
            <p:nvSpPr>
              <p:cNvPr id="187" name="Rounded Rectangle"/>
              <p:cNvSpPr/>
              <p:nvPr/>
            </p:nvSpPr>
            <p:spPr>
              <a:xfrm>
                <a:off x="0" y="0"/>
                <a:ext cx="1419302" cy="475489"/>
              </a:xfrm>
              <a:prstGeom prst="roundRect">
                <a:avLst>
                  <a:gd name="adj" fmla="val 15385"/>
                </a:avLst>
              </a:prstGeom>
              <a:solidFill>
                <a:srgbClr val="15395C"/>
              </a:solidFill>
              <a:ln w="9525" cap="flat">
                <a:solidFill>
                  <a:srgbClr val="15395C"/>
                </a:solidFill>
                <a:prstDash val="solid"/>
                <a:round/>
              </a:ln>
              <a:effectLst/>
            </p:spPr>
            <p:txBody>
              <a:bodyPr wrap="square" lIns="45719" tIns="45719" rIns="45719" bIns="45719" numCol="1" anchor="ctr">
                <a:noAutofit/>
              </a:bodyPr>
              <a:lstStyle/>
              <a:p>
                <a:pPr algn="ctr">
                  <a:defRPr sz="1600"/>
                </a:pPr>
              </a:p>
            </p:txBody>
          </p:sp>
          <p:sp>
            <p:nvSpPr>
              <p:cNvPr id="188" name="15 °C"/>
              <p:cNvSpPr txBox="1"/>
              <p:nvPr/>
            </p:nvSpPr>
            <p:spPr>
              <a:xfrm>
                <a:off x="26188" y="126767"/>
                <a:ext cx="1366925"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15 °C</a:t>
                </a:r>
              </a:p>
            </p:txBody>
          </p:sp>
        </p:grpSp>
        <p:grpSp>
          <p:nvGrpSpPr>
            <p:cNvPr id="192" name="rep_c2"/>
            <p:cNvGrpSpPr/>
            <p:nvPr/>
          </p:nvGrpSpPr>
          <p:grpSpPr>
            <a:xfrm>
              <a:off x="3442105" y="1737360"/>
              <a:ext cx="1419303" cy="475489"/>
              <a:chOff x="0" y="0"/>
              <a:chExt cx="1419301" cy="475488"/>
            </a:xfrm>
          </p:grpSpPr>
          <p:sp>
            <p:nvSpPr>
              <p:cNvPr id="190" name="Rounded Rectangle"/>
              <p:cNvSpPr/>
              <p:nvPr/>
            </p:nvSpPr>
            <p:spPr>
              <a:xfrm>
                <a:off x="0" y="0"/>
                <a:ext cx="1419302" cy="475489"/>
              </a:xfrm>
              <a:prstGeom prst="roundRect">
                <a:avLst>
                  <a:gd name="adj" fmla="val 15385"/>
                </a:avLst>
              </a:prstGeom>
              <a:solidFill>
                <a:srgbClr val="15395C"/>
              </a:solidFill>
              <a:ln w="9525" cap="flat">
                <a:solidFill>
                  <a:srgbClr val="15395C"/>
                </a:solidFill>
                <a:prstDash val="solid"/>
                <a:round/>
              </a:ln>
              <a:effectLst/>
            </p:spPr>
            <p:txBody>
              <a:bodyPr wrap="square" lIns="45719" tIns="45719" rIns="45719" bIns="45719" numCol="1" anchor="ctr">
                <a:noAutofit/>
              </a:bodyPr>
              <a:lstStyle/>
              <a:p>
                <a:pPr algn="ctr">
                  <a:defRPr sz="1600"/>
                </a:pPr>
              </a:p>
            </p:txBody>
          </p:sp>
          <p:sp>
            <p:nvSpPr>
              <p:cNvPr id="191" name="13 °C"/>
              <p:cNvSpPr txBox="1"/>
              <p:nvPr/>
            </p:nvSpPr>
            <p:spPr>
              <a:xfrm>
                <a:off x="26188" y="126767"/>
                <a:ext cx="1366925"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FFFF"/>
                    </a:solidFill>
                    <a:latin typeface="Arial"/>
                    <a:ea typeface="Arial"/>
                    <a:cs typeface="Arial"/>
                    <a:sym typeface="Arial"/>
                  </a:defRPr>
                </a:lvl1pPr>
              </a:lstStyle>
              <a:p>
                <a:pPr/>
                <a:r>
                  <a:t>13 °C</a:t>
                </a:r>
              </a:p>
            </p:txBody>
          </p:sp>
        </p:grpSp>
        <p:grpSp>
          <p:nvGrpSpPr>
            <p:cNvPr id="195" name="rep_avg"/>
            <p:cNvGrpSpPr/>
            <p:nvPr/>
          </p:nvGrpSpPr>
          <p:grpSpPr>
            <a:xfrm>
              <a:off x="237744" y="2395728"/>
              <a:ext cx="4623664" cy="530353"/>
              <a:chOff x="0" y="0"/>
              <a:chExt cx="4623663" cy="530352"/>
            </a:xfrm>
          </p:grpSpPr>
          <p:sp>
            <p:nvSpPr>
              <p:cNvPr id="193" name="Rounded Rectangle"/>
              <p:cNvSpPr/>
              <p:nvPr/>
            </p:nvSpPr>
            <p:spPr>
              <a:xfrm>
                <a:off x="0" y="0"/>
                <a:ext cx="4623664" cy="530353"/>
              </a:xfrm>
              <a:prstGeom prst="roundRect">
                <a:avLst>
                  <a:gd name="adj" fmla="val 17241"/>
                </a:avLst>
              </a:prstGeom>
              <a:solidFill>
                <a:srgbClr val="FFF6CC"/>
              </a:solidFill>
              <a:ln w="17780" cap="flat">
                <a:solidFill>
                  <a:srgbClr val="957D11"/>
                </a:solidFill>
                <a:prstDash val="solid"/>
                <a:round/>
              </a:ln>
              <a:effectLst/>
            </p:spPr>
            <p:txBody>
              <a:bodyPr wrap="square" lIns="45719" tIns="45719" rIns="45719" bIns="45719" numCol="1" anchor="ctr">
                <a:noAutofit/>
              </a:bodyPr>
              <a:lstStyle/>
              <a:p>
                <a:pPr algn="ctr">
                  <a:defRPr sz="1700"/>
                </a:pPr>
              </a:p>
            </p:txBody>
          </p:sp>
          <p:sp>
            <p:nvSpPr>
              <p:cNvPr id="194" name="(14 + 15 + 13) ÷ 3 = 14 °C"/>
              <p:cNvSpPr txBox="1"/>
              <p:nvPr/>
            </p:nvSpPr>
            <p:spPr>
              <a:xfrm>
                <a:off x="35670" y="141707"/>
                <a:ext cx="4552324"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700">
                    <a:solidFill>
                      <a:srgbClr val="15395C"/>
                    </a:solidFill>
                    <a:latin typeface="Arial"/>
                    <a:ea typeface="Arial"/>
                    <a:cs typeface="Arial"/>
                    <a:sym typeface="Arial"/>
                  </a:defRPr>
                </a:lvl1pPr>
              </a:lstStyle>
              <a:p>
                <a:pPr/>
                <a:r>
                  <a:t>(14 + 15 + 13) ÷ 3 = 14 °C</a:t>
                </a:r>
              </a:p>
            </p:txBody>
          </p:sp>
        </p:grpSp>
        <p:sp>
          <p:nvSpPr>
            <p:cNvPr id="196" name="rep_odd"/>
            <p:cNvSpPr txBox="1"/>
            <p:nvPr/>
          </p:nvSpPr>
          <p:spPr>
            <a:xfrm>
              <a:off x="237744" y="3127248"/>
              <a:ext cx="4623664" cy="4720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400">
                  <a:solidFill>
                    <a:srgbClr val="0E2A40"/>
                  </a:solidFill>
                  <a:latin typeface="Arial"/>
                  <a:ea typeface="Arial"/>
                  <a:cs typeface="Arial"/>
                  <a:sym typeface="Arial"/>
                </a:defRPr>
              </a:lvl1pPr>
            </a:lstStyle>
            <a:p>
              <a:pPr/>
              <a:r>
                <a:t>One odd result, such as 25 °C, stands out. Do that one again.</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6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78"/>
                                        </p:tgtEl>
                                        <p:attrNameLst>
                                          <p:attrName>style.visibility</p:attrName>
                                        </p:attrNameLst>
                                      </p:cBhvr>
                                      <p:to>
                                        <p:strVal val="visible"/>
                                      </p:to>
                                    </p:set>
                                    <p:animEffect filter="fade" transition="in">
                                      <p:cBhvr>
                                        <p:cTn id="11" dur="400"/>
                                        <p:tgtEl>
                                          <p:spTgt spid="17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97"/>
                                        </p:tgtEl>
                                        <p:attrNameLst>
                                          <p:attrName>style.visibility</p:attrName>
                                        </p:attrNameLst>
                                      </p:cBhvr>
                                      <p:to>
                                        <p:strVal val="visible"/>
                                      </p:to>
                                    </p:set>
                                    <p:animEffect filter="fade" transition="in">
                                      <p:cBhvr>
                                        <p:cTn id="16" dur="400"/>
                                        <p:tgtEl>
                                          <p:spTgt spid="19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7" fill="hold" display="0">
                  <p:stCondLst>
                    <p:cond delay="indefinite"/>
                  </p:stCondLst>
                </p:cTn>
                <p:tgtEl>
                  <p:spTgt spid="167"/>
                </p:tgtEl>
              </p:cMediaNode>
            </p:video>
            <p:seq concurrent="1" prevAc="none" nextAc="seek">
              <p:cTn id="18" evtFilter="cancelBubble" nodeType="interactiveSeq" restart="whenNotActive" fill="hold">
                <p:stCondLst>
                  <p:cond delay="0" evt="onClick">
                    <p:tgtEl>
                      <p:spTgt spid="167"/>
                    </p:tgtEl>
                  </p:cond>
                </p:stCondLst>
                <p:endSync delay="0" evt="end">
                  <p:rtn val="all"/>
                </p:endSync>
                <p:childTnLst>
                  <p:par>
                    <p:cTn id="19" fill="hold">
                      <p:stCondLst>
                        <p:cond delay="0"/>
                      </p:stCondLst>
                      <p:childTnLst>
                        <p:par>
                          <p:cTn id="20" fill="hold">
                            <p:stCondLst>
                              <p:cond delay="0"/>
                            </p:stCondLst>
                            <p:childTnLst>
                              <p:par>
                                <p:cTn id="21" presetClass="mediacall" nodeType="clickEffect" presetSubtype="0" presetID="2" fill="hold">
                                  <p:stCondLst>
                                    <p:cond delay="0"/>
                                  </p:stCondLst>
                                  <p:childTnLst>
                                    <p:cmd type="call" cmd="togglePause">
                                      <p:cBhvr>
                                        <p:cTn id="22" dur="1" fill="hold"/>
                                        <p:tgtEl>
                                          <p:spTgt spid="167"/>
                                        </p:tgtEl>
                                      </p:cBhvr>
                                    </p:cmd>
                                  </p:childTnLst>
                                </p:cTn>
                              </p:par>
                            </p:childTnLst>
                          </p:cTn>
                        </p:par>
                      </p:childTnLst>
                    </p:cTn>
                  </p:par>
                </p:childTnLst>
              </p:cTn>
              <p:nextCondLst>
                <p:cond delay="0" evt="onClick">
                  <p:tgtEl>
                    <p:spTgt spid="167"/>
                  </p:tgtEl>
                </p:cond>
              </p:nextCondLst>
            </p:seq>
          </p:childTnLst>
        </p:cTn>
      </p:par>
    </p:tnLst>
    <p:bldLst>
      <p:bldP build="whole" bldLvl="1" animBg="1" rev="0" advAuto="0" spid="178" grpId="2"/>
      <p:bldP build="whole" bldLvl="1" animBg="1" rev="0" advAuto="0" spid="197" grpId="3"/>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0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04" name="phase_pill"/>
          <p:cNvGrpSpPr/>
          <p:nvPr/>
        </p:nvGrpSpPr>
        <p:grpSpPr>
          <a:xfrm>
            <a:off x="1170432" y="310895"/>
            <a:ext cx="1713586" cy="329185"/>
            <a:chOff x="0" y="0"/>
            <a:chExt cx="1713585" cy="329184"/>
          </a:xfrm>
        </p:grpSpPr>
        <p:sp>
          <p:nvSpPr>
            <p:cNvPr id="202" name="Rounded Rectangle"/>
            <p:cNvSpPr/>
            <p:nvPr/>
          </p:nvSpPr>
          <p:spPr>
            <a:xfrm>
              <a:off x="0" y="0"/>
              <a:ext cx="1713586"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203" name="WE DO · 4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4 MIN</a:t>
              </a:r>
            </a:p>
          </p:txBody>
        </p:sp>
      </p:grpSp>
      <p:sp>
        <p:nvSpPr>
          <p:cNvPr id="205"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What should be the correct answer?</a:t>
            </a:r>
          </a:p>
        </p:txBody>
      </p:sp>
      <p:sp>
        <p:nvSpPr>
          <p:cNvPr id="206"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5708A"/>
                </a:solidFill>
                <a:latin typeface="Arial"/>
                <a:ea typeface="Arial"/>
                <a:cs typeface="Arial"/>
                <a:sym typeface="Arial"/>
              </a:defRPr>
            </a:lvl1pPr>
          </a:lstStyle>
          <a:p>
            <a:pPr/>
            <a:r>
              <a:t>Spot the mistake.</a:t>
            </a:r>
          </a:p>
        </p:txBody>
      </p:sp>
      <p:sp>
        <p:nvSpPr>
          <p:cNvPr id="207" name="wd0_bg"/>
          <p:cNvSpPr/>
          <p:nvPr/>
        </p:nvSpPr>
        <p:spPr>
          <a:xfrm>
            <a:off x="1170432" y="2322576"/>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08" name="wd0_q"/>
          <p:cNvSpPr txBox="1"/>
          <p:nvPr/>
        </p:nvSpPr>
        <p:spPr>
          <a:xfrm>
            <a:off x="1426463" y="2505845"/>
            <a:ext cx="4846322"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"In the food test, the independent variable is the rise in water temperature."</a:t>
            </a:r>
          </a:p>
        </p:txBody>
      </p:sp>
      <p:grpSp>
        <p:nvGrpSpPr>
          <p:cNvPr id="211" name="wd0_a"/>
          <p:cNvGrpSpPr/>
          <p:nvPr/>
        </p:nvGrpSpPr>
        <p:grpSpPr>
          <a:xfrm>
            <a:off x="6473952" y="2404872"/>
            <a:ext cx="5077664" cy="676656"/>
            <a:chOff x="0" y="0"/>
            <a:chExt cx="5077662" cy="676655"/>
          </a:xfrm>
        </p:grpSpPr>
        <p:sp>
          <p:nvSpPr>
            <p:cNvPr id="209" name="Rounded Rectangle"/>
            <p:cNvSpPr/>
            <p:nvPr/>
          </p:nvSpPr>
          <p:spPr>
            <a:xfrm>
              <a:off x="0" y="0"/>
              <a:ext cx="5077663" cy="676656"/>
            </a:xfrm>
            <a:prstGeom prst="roundRect">
              <a:avLst>
                <a:gd name="adj" fmla="val 13514"/>
              </a:avLst>
            </a:prstGeom>
            <a:solidFill>
              <a:srgbClr val="FFF6CC"/>
            </a:solidFill>
            <a:ln w="19050" cap="flat">
              <a:solidFill>
                <a:srgbClr val="CD312F"/>
              </a:solidFill>
              <a:prstDash val="solid"/>
              <a:round/>
            </a:ln>
            <a:effectLst/>
          </p:spPr>
          <p:txBody>
            <a:bodyPr wrap="square" lIns="45719" tIns="45719" rIns="45719" bIns="45719" numCol="1" anchor="ctr">
              <a:noAutofit/>
            </a:bodyPr>
            <a:lstStyle/>
            <a:p>
              <a:pPr algn="ctr">
                <a:defRPr sz="1200"/>
              </a:pPr>
            </a:p>
          </p:txBody>
        </p:sp>
        <p:sp>
          <p:nvSpPr>
            <p:cNvPr id="210" name="The independent variable is the type of food. The temperature rise depends on it, so it is the dependent variable."/>
            <p:cNvSpPr txBox="1"/>
            <p:nvPr/>
          </p:nvSpPr>
          <p:spPr>
            <a:xfrm>
              <a:off x="36307" y="162258"/>
              <a:ext cx="5005049"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The independent variable is the type of food. The temperature rise depends on it, so it is the dependent variable.</a:t>
              </a:r>
            </a:p>
          </p:txBody>
        </p:sp>
      </p:grpSp>
      <p:sp>
        <p:nvSpPr>
          <p:cNvPr id="212" name="wd1_bg"/>
          <p:cNvSpPr/>
          <p:nvPr/>
        </p:nvSpPr>
        <p:spPr>
          <a:xfrm>
            <a:off x="1170432" y="3346703"/>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13" name="wd1_q"/>
          <p:cNvSpPr txBox="1"/>
          <p:nvPr/>
        </p:nvSpPr>
        <p:spPr>
          <a:xfrm>
            <a:off x="1426463" y="3529973"/>
            <a:ext cx="4846322"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"In the ramp test, the dependent variable is the height of the ramp."</a:t>
            </a:r>
          </a:p>
        </p:txBody>
      </p:sp>
      <p:grpSp>
        <p:nvGrpSpPr>
          <p:cNvPr id="216" name="wd1_a"/>
          <p:cNvGrpSpPr/>
          <p:nvPr/>
        </p:nvGrpSpPr>
        <p:grpSpPr>
          <a:xfrm>
            <a:off x="6473952" y="3429000"/>
            <a:ext cx="5077664" cy="676656"/>
            <a:chOff x="0" y="0"/>
            <a:chExt cx="5077662" cy="676655"/>
          </a:xfrm>
        </p:grpSpPr>
        <p:sp>
          <p:nvSpPr>
            <p:cNvPr id="214" name="Rounded Rectangle"/>
            <p:cNvSpPr/>
            <p:nvPr/>
          </p:nvSpPr>
          <p:spPr>
            <a:xfrm>
              <a:off x="0" y="0"/>
              <a:ext cx="5077663" cy="676656"/>
            </a:xfrm>
            <a:prstGeom prst="roundRect">
              <a:avLst>
                <a:gd name="adj" fmla="val 13514"/>
              </a:avLst>
            </a:prstGeom>
            <a:solidFill>
              <a:srgbClr val="FFF6CC"/>
            </a:solidFill>
            <a:ln w="19050" cap="flat">
              <a:solidFill>
                <a:srgbClr val="CD312F"/>
              </a:solidFill>
              <a:prstDash val="solid"/>
              <a:round/>
            </a:ln>
            <a:effectLst/>
          </p:spPr>
          <p:txBody>
            <a:bodyPr wrap="square" lIns="45719" tIns="45719" rIns="45719" bIns="45719" numCol="1" anchor="ctr">
              <a:noAutofit/>
            </a:bodyPr>
            <a:lstStyle/>
            <a:p>
              <a:pPr algn="ctr">
                <a:defRPr sz="1200"/>
              </a:pPr>
            </a:p>
          </p:txBody>
        </p:sp>
        <p:sp>
          <p:nvSpPr>
            <p:cNvPr id="215" name="The ramp height is the one you change, so it is independent. The distance the car rolls is dependent."/>
            <p:cNvSpPr txBox="1"/>
            <p:nvPr/>
          </p:nvSpPr>
          <p:spPr>
            <a:xfrm>
              <a:off x="36307" y="162258"/>
              <a:ext cx="5005049"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The ramp height is the one you change, so it is independent. The distance the car rolls is dependent.</a:t>
              </a:r>
            </a:p>
          </p:txBody>
        </p:sp>
      </p:grpSp>
      <p:sp>
        <p:nvSpPr>
          <p:cNvPr id="217" name="wd2_bg"/>
          <p:cNvSpPr/>
          <p:nvPr/>
        </p:nvSpPr>
        <p:spPr>
          <a:xfrm>
            <a:off x="1170432" y="4370832"/>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18" name="wd2_q"/>
          <p:cNvSpPr txBox="1"/>
          <p:nvPr/>
        </p:nvSpPr>
        <p:spPr>
          <a:xfrm>
            <a:off x="1426463" y="4674751"/>
            <a:ext cx="484632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"I will use 5 g of crisps and 1 g of bread."</a:t>
            </a:r>
          </a:p>
        </p:txBody>
      </p:sp>
      <p:grpSp>
        <p:nvGrpSpPr>
          <p:cNvPr id="221" name="wd2_a"/>
          <p:cNvGrpSpPr/>
          <p:nvPr/>
        </p:nvGrpSpPr>
        <p:grpSpPr>
          <a:xfrm>
            <a:off x="6473952" y="4453128"/>
            <a:ext cx="5077664" cy="676657"/>
            <a:chOff x="0" y="0"/>
            <a:chExt cx="5077662" cy="676655"/>
          </a:xfrm>
        </p:grpSpPr>
        <p:sp>
          <p:nvSpPr>
            <p:cNvPr id="219" name="Rounded Rectangle"/>
            <p:cNvSpPr/>
            <p:nvPr/>
          </p:nvSpPr>
          <p:spPr>
            <a:xfrm>
              <a:off x="0" y="0"/>
              <a:ext cx="5077663" cy="676656"/>
            </a:xfrm>
            <a:prstGeom prst="roundRect">
              <a:avLst>
                <a:gd name="adj" fmla="val 13514"/>
              </a:avLst>
            </a:prstGeom>
            <a:solidFill>
              <a:srgbClr val="FFF6CC"/>
            </a:solidFill>
            <a:ln w="19050" cap="flat">
              <a:solidFill>
                <a:srgbClr val="CD312F"/>
              </a:solidFill>
              <a:prstDash val="solid"/>
              <a:round/>
            </a:ln>
            <a:effectLst/>
          </p:spPr>
          <p:txBody>
            <a:bodyPr wrap="square" lIns="45719" tIns="45719" rIns="45719" bIns="45719" numCol="1" anchor="ctr">
              <a:noAutofit/>
            </a:bodyPr>
            <a:lstStyle/>
            <a:p>
              <a:pPr algn="ctr">
                <a:defRPr sz="1200"/>
              </a:pPr>
            </a:p>
          </p:txBody>
        </p:sp>
        <p:sp>
          <p:nvSpPr>
            <p:cNvPr id="220" name="The mass of food is a control variable. Use about 1 g of every food."/>
            <p:cNvSpPr txBox="1"/>
            <p:nvPr/>
          </p:nvSpPr>
          <p:spPr>
            <a:xfrm>
              <a:off x="36307" y="251158"/>
              <a:ext cx="5005049" cy="174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The mass of food is a control variable. Use about 1 g of every food.</a:t>
              </a:r>
            </a:p>
          </p:txBody>
        </p:sp>
      </p:grpSp>
      <p:sp>
        <p:nvSpPr>
          <p:cNvPr id="222" name="wd3_bg"/>
          <p:cNvSpPr/>
          <p:nvPr/>
        </p:nvSpPr>
        <p:spPr>
          <a:xfrm>
            <a:off x="1170432" y="5394959"/>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23" name="wd3_q"/>
          <p:cNvSpPr txBox="1"/>
          <p:nvPr/>
        </p:nvSpPr>
        <p:spPr>
          <a:xfrm>
            <a:off x="1426463" y="5698879"/>
            <a:ext cx="484632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"I will burn each food once. That is enough."</a:t>
            </a:r>
          </a:p>
        </p:txBody>
      </p:sp>
      <p:grpSp>
        <p:nvGrpSpPr>
          <p:cNvPr id="226" name="wd3_a"/>
          <p:cNvGrpSpPr/>
          <p:nvPr/>
        </p:nvGrpSpPr>
        <p:grpSpPr>
          <a:xfrm>
            <a:off x="6473952" y="5477255"/>
            <a:ext cx="5077664" cy="676657"/>
            <a:chOff x="0" y="0"/>
            <a:chExt cx="5077662" cy="676655"/>
          </a:xfrm>
        </p:grpSpPr>
        <p:sp>
          <p:nvSpPr>
            <p:cNvPr id="224" name="Rounded Rectangle"/>
            <p:cNvSpPr/>
            <p:nvPr/>
          </p:nvSpPr>
          <p:spPr>
            <a:xfrm>
              <a:off x="0" y="0"/>
              <a:ext cx="5077663" cy="676656"/>
            </a:xfrm>
            <a:prstGeom prst="roundRect">
              <a:avLst>
                <a:gd name="adj" fmla="val 13514"/>
              </a:avLst>
            </a:prstGeom>
            <a:solidFill>
              <a:srgbClr val="FFF6CC"/>
            </a:solidFill>
            <a:ln w="19050" cap="flat">
              <a:solidFill>
                <a:srgbClr val="CD312F"/>
              </a:solidFill>
              <a:prstDash val="solid"/>
              <a:round/>
            </a:ln>
            <a:effectLst/>
          </p:spPr>
          <p:txBody>
            <a:bodyPr wrap="square" lIns="45719" tIns="45719" rIns="45719" bIns="45719" numCol="1" anchor="ctr">
              <a:noAutofit/>
            </a:bodyPr>
            <a:lstStyle/>
            <a:p>
              <a:pPr algn="ctr">
                <a:defRPr sz="1200"/>
              </a:pPr>
            </a:p>
          </p:txBody>
        </p:sp>
        <p:sp>
          <p:nvSpPr>
            <p:cNvPr id="225" name="Repeat each food at least twice, then take an average."/>
            <p:cNvSpPr txBox="1"/>
            <p:nvPr/>
          </p:nvSpPr>
          <p:spPr>
            <a:xfrm>
              <a:off x="36307" y="251158"/>
              <a:ext cx="5005049" cy="174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Repeat each food at least twice, then take an average.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240000" fill="hold"/>
                                        <p:tgtEl>
                                          <p:spTgt spid="20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211"/>
                                        </p:tgtEl>
                                        <p:attrNameLst>
                                          <p:attrName>style.visibility</p:attrName>
                                        </p:attrNameLst>
                                      </p:cBhvr>
                                      <p:to>
                                        <p:strVal val="visible"/>
                                      </p:to>
                                    </p:set>
                                    <p:anim calcmode="lin" valueType="num">
                                      <p:cBhvr>
                                        <p:cTn id="11" dur="400" fill="hold"/>
                                        <p:tgtEl>
                                          <p:spTgt spid="211"/>
                                        </p:tgtEl>
                                        <p:attrNameLst>
                                          <p:attrName>ppt_w</p:attrName>
                                        </p:attrNameLst>
                                      </p:cBhvr>
                                      <p:tavLst>
                                        <p:tav tm="0">
                                          <p:val>
                                            <p:fltVal val="0"/>
                                          </p:val>
                                        </p:tav>
                                        <p:tav tm="100000">
                                          <p:val>
                                            <p:strVal val="#ppt_w"/>
                                          </p:val>
                                        </p:tav>
                                      </p:tavLst>
                                    </p:anim>
                                    <p:anim calcmode="lin" valueType="num">
                                      <p:cBhvr>
                                        <p:cTn id="12" dur="400" fill="hold"/>
                                        <p:tgtEl>
                                          <p:spTgt spid="211"/>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216"/>
                                        </p:tgtEl>
                                        <p:attrNameLst>
                                          <p:attrName>style.visibility</p:attrName>
                                        </p:attrNameLst>
                                      </p:cBhvr>
                                      <p:to>
                                        <p:strVal val="visible"/>
                                      </p:to>
                                    </p:set>
                                    <p:anim calcmode="lin" valueType="num">
                                      <p:cBhvr>
                                        <p:cTn id="17" dur="400" fill="hold"/>
                                        <p:tgtEl>
                                          <p:spTgt spid="216"/>
                                        </p:tgtEl>
                                        <p:attrNameLst>
                                          <p:attrName>ppt_w</p:attrName>
                                        </p:attrNameLst>
                                      </p:cBhvr>
                                      <p:tavLst>
                                        <p:tav tm="0">
                                          <p:val>
                                            <p:fltVal val="0"/>
                                          </p:val>
                                        </p:tav>
                                        <p:tav tm="100000">
                                          <p:val>
                                            <p:strVal val="#ppt_w"/>
                                          </p:val>
                                        </p:tav>
                                      </p:tavLst>
                                    </p:anim>
                                    <p:anim calcmode="lin" valueType="num">
                                      <p:cBhvr>
                                        <p:cTn id="18" dur="400" fill="hold"/>
                                        <p:tgtEl>
                                          <p:spTgt spid="216"/>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221"/>
                                        </p:tgtEl>
                                        <p:attrNameLst>
                                          <p:attrName>style.visibility</p:attrName>
                                        </p:attrNameLst>
                                      </p:cBhvr>
                                      <p:to>
                                        <p:strVal val="visible"/>
                                      </p:to>
                                    </p:set>
                                    <p:anim calcmode="lin" valueType="num">
                                      <p:cBhvr>
                                        <p:cTn id="23" dur="400" fill="hold"/>
                                        <p:tgtEl>
                                          <p:spTgt spid="221"/>
                                        </p:tgtEl>
                                        <p:attrNameLst>
                                          <p:attrName>ppt_w</p:attrName>
                                        </p:attrNameLst>
                                      </p:cBhvr>
                                      <p:tavLst>
                                        <p:tav tm="0">
                                          <p:val>
                                            <p:fltVal val="0"/>
                                          </p:val>
                                        </p:tav>
                                        <p:tav tm="100000">
                                          <p:val>
                                            <p:strVal val="#ppt_w"/>
                                          </p:val>
                                        </p:tav>
                                      </p:tavLst>
                                    </p:anim>
                                    <p:anim calcmode="lin" valueType="num">
                                      <p:cBhvr>
                                        <p:cTn id="24" dur="400" fill="hold"/>
                                        <p:tgtEl>
                                          <p:spTgt spid="221"/>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226"/>
                                        </p:tgtEl>
                                        <p:attrNameLst>
                                          <p:attrName>style.visibility</p:attrName>
                                        </p:attrNameLst>
                                      </p:cBhvr>
                                      <p:to>
                                        <p:strVal val="visible"/>
                                      </p:to>
                                    </p:set>
                                    <p:anim calcmode="lin" valueType="num">
                                      <p:cBhvr>
                                        <p:cTn id="29" dur="400" fill="hold"/>
                                        <p:tgtEl>
                                          <p:spTgt spid="226"/>
                                        </p:tgtEl>
                                        <p:attrNameLst>
                                          <p:attrName>ppt_w</p:attrName>
                                        </p:attrNameLst>
                                      </p:cBhvr>
                                      <p:tavLst>
                                        <p:tav tm="0">
                                          <p:val>
                                            <p:fltVal val="0"/>
                                          </p:val>
                                        </p:tav>
                                        <p:tav tm="100000">
                                          <p:val>
                                            <p:strVal val="#ppt_w"/>
                                          </p:val>
                                        </p:tav>
                                      </p:tavLst>
                                    </p:anim>
                                    <p:anim calcmode="lin" valueType="num">
                                      <p:cBhvr>
                                        <p:cTn id="30" dur="400" fill="hold"/>
                                        <p:tgtEl>
                                          <p:spTgt spid="2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201"/>
                </p:tgtEl>
              </p:cMediaNode>
            </p:video>
            <p:seq concurrent="1" prevAc="none" nextAc="seek">
              <p:cTn id="32" evtFilter="cancelBubble" nodeType="interactiveSeq" restart="whenNotActive" fill="hold">
                <p:stCondLst>
                  <p:cond delay="0" evt="onClick">
                    <p:tgtEl>
                      <p:spTgt spid="201"/>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201"/>
                                        </p:tgtEl>
                                      </p:cBhvr>
                                    </p:cmd>
                                  </p:childTnLst>
                                </p:cTn>
                              </p:par>
                            </p:childTnLst>
                          </p:cTn>
                        </p:par>
                      </p:childTnLst>
                    </p:cTn>
                  </p:par>
                </p:childTnLst>
              </p:cTn>
              <p:nextCondLst>
                <p:cond delay="0" evt="onClick">
                  <p:tgtEl>
                    <p:spTgt spid="201"/>
                  </p:tgtEl>
                </p:cond>
              </p:nextCondLst>
            </p:seq>
          </p:childTnLst>
        </p:cTn>
      </p:par>
    </p:tnLst>
    <p:bldLst>
      <p:bldP build="whole" bldLvl="1" animBg="1" rev="0" advAuto="0" spid="216" grpId="3"/>
      <p:bldP build="whole" bldLvl="1" animBg="1" rev="0" advAuto="0" spid="226" grpId="5"/>
      <p:bldP build="whole" bldLvl="1" animBg="1" rev="0" advAuto="0" spid="211" grpId="2"/>
      <p:bldP build="whole" bldLvl="1" animBg="1" rev="0" advAuto="0" spid="221" grpId="4"/>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3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3" name="phase_pill"/>
          <p:cNvGrpSpPr/>
          <p:nvPr/>
        </p:nvGrpSpPr>
        <p:grpSpPr>
          <a:xfrm>
            <a:off x="1170432" y="310895"/>
            <a:ext cx="1892808" cy="329185"/>
            <a:chOff x="0" y="0"/>
            <a:chExt cx="1892807" cy="329184"/>
          </a:xfrm>
        </p:grpSpPr>
        <p:sp>
          <p:nvSpPr>
            <p:cNvPr id="231" name="Rounded Rectangle"/>
            <p:cNvSpPr/>
            <p:nvPr/>
          </p:nvSpPr>
          <p:spPr>
            <a:xfrm>
              <a:off x="0" y="0"/>
              <a:ext cx="1892808"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232" name="PLAN IT · 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PLAN IT · 4 MIN</a:t>
              </a:r>
            </a:p>
          </p:txBody>
        </p:sp>
      </p:grpSp>
      <p:sp>
        <p:nvSpPr>
          <p:cNvPr id="234"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Plan your investigation</a:t>
            </a:r>
          </a:p>
        </p:txBody>
      </p:sp>
      <p:grpSp>
        <p:nvGrpSpPr>
          <p:cNvPr id="243" name="pq"/>
          <p:cNvGrpSpPr/>
          <p:nvPr/>
        </p:nvGrpSpPr>
        <p:grpSpPr>
          <a:xfrm>
            <a:off x="1170432" y="1700783"/>
            <a:ext cx="10472623" cy="841249"/>
            <a:chOff x="0" y="0"/>
            <a:chExt cx="10472622" cy="841247"/>
          </a:xfrm>
        </p:grpSpPr>
        <p:sp>
          <p:nvSpPr>
            <p:cNvPr id="235" name="pq_bg"/>
            <p:cNvSpPr/>
            <p:nvPr/>
          </p:nvSpPr>
          <p:spPr>
            <a:xfrm>
              <a:off x="0" y="0"/>
              <a:ext cx="10472623" cy="841248"/>
            </a:xfrm>
            <a:prstGeom prst="roundRect">
              <a:avLst>
                <a:gd name="adj" fmla="val 10870"/>
              </a:avLst>
            </a:prstGeom>
            <a:solidFill>
              <a:srgbClr val="FFF6CC"/>
            </a:solidFill>
            <a:ln w="16510" cap="flat">
              <a:solidFill>
                <a:srgbClr val="957D11"/>
              </a:solidFill>
              <a:prstDash val="solid"/>
              <a:round/>
            </a:ln>
            <a:effectLst/>
          </p:spPr>
          <p:txBody>
            <a:bodyPr wrap="square" lIns="45719" tIns="45719" rIns="45719" bIns="45719" numCol="1" anchor="t">
              <a:noAutofit/>
            </a:bodyPr>
            <a:lstStyle/>
            <a:p>
              <a:pPr/>
            </a:p>
          </p:txBody>
        </p:sp>
        <p:sp>
          <p:nvSpPr>
            <p:cNvPr id="236" name="pq_badge"/>
            <p:cNvSpPr/>
            <p:nvPr/>
          </p:nvSpPr>
          <p:spPr>
            <a:xfrm>
              <a:off x="182879" y="228600"/>
              <a:ext cx="384049" cy="384048"/>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237" name="pq_num"/>
            <p:cNvSpPr txBox="1"/>
            <p:nvPr/>
          </p:nvSpPr>
          <p:spPr>
            <a:xfrm>
              <a:off x="182879" y="31902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238" name="pq_t"/>
            <p:cNvSpPr txBox="1"/>
            <p:nvPr/>
          </p:nvSpPr>
          <p:spPr>
            <a:xfrm>
              <a:off x="731519" y="290277"/>
              <a:ext cx="7089344" cy="2606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700">
                  <a:solidFill>
                    <a:srgbClr val="15395C"/>
                  </a:solidFill>
                  <a:latin typeface="Georgia"/>
                  <a:ea typeface="Georgia"/>
                  <a:cs typeface="Georgia"/>
                  <a:sym typeface="Georgia"/>
                </a:defRPr>
              </a:lvl1pPr>
            </a:lstStyle>
            <a:p>
              <a:pPr/>
              <a:r>
                <a:t>Question: Which food heats the water the most when it burns?</a:t>
              </a:r>
            </a:p>
          </p:txBody>
        </p:sp>
        <p:pic>
          <p:nvPicPr>
            <p:cNvPr id="239" name="pq_f0" descr="pq_f0"/>
            <p:cNvPicPr>
              <a:picLocks noChangeAspect="1"/>
            </p:cNvPicPr>
            <p:nvPr/>
          </p:nvPicPr>
          <p:blipFill>
            <a:blip r:embed="rId6">
              <a:extLst/>
            </a:blip>
            <a:stretch>
              <a:fillRect/>
            </a:stretch>
          </p:blipFill>
          <p:spPr>
            <a:xfrm>
              <a:off x="7912302" y="219455"/>
              <a:ext cx="402337" cy="402337"/>
            </a:xfrm>
            <a:prstGeom prst="rect">
              <a:avLst/>
            </a:prstGeom>
            <a:ln w="12700" cap="flat">
              <a:noFill/>
              <a:miter lim="400000"/>
            </a:ln>
            <a:effectLst/>
          </p:spPr>
        </p:pic>
        <p:pic>
          <p:nvPicPr>
            <p:cNvPr id="240" name="pq_f1" descr="pq_f1"/>
            <p:cNvPicPr>
              <a:picLocks noChangeAspect="1"/>
            </p:cNvPicPr>
            <p:nvPr/>
          </p:nvPicPr>
          <p:blipFill>
            <a:blip r:embed="rId7">
              <a:extLst/>
            </a:blip>
            <a:stretch>
              <a:fillRect/>
            </a:stretch>
          </p:blipFill>
          <p:spPr>
            <a:xfrm>
              <a:off x="8534094" y="219455"/>
              <a:ext cx="402337" cy="402337"/>
            </a:xfrm>
            <a:prstGeom prst="rect">
              <a:avLst/>
            </a:prstGeom>
            <a:ln w="12700" cap="flat">
              <a:noFill/>
              <a:miter lim="400000"/>
            </a:ln>
            <a:effectLst/>
          </p:spPr>
        </p:pic>
        <p:pic>
          <p:nvPicPr>
            <p:cNvPr id="241" name="pq_f2" descr="pq_f2"/>
            <p:cNvPicPr>
              <a:picLocks noChangeAspect="1"/>
            </p:cNvPicPr>
            <p:nvPr/>
          </p:nvPicPr>
          <p:blipFill>
            <a:blip r:embed="rId8">
              <a:extLst/>
            </a:blip>
            <a:stretch>
              <a:fillRect/>
            </a:stretch>
          </p:blipFill>
          <p:spPr>
            <a:xfrm>
              <a:off x="9155886" y="219455"/>
              <a:ext cx="402337" cy="402337"/>
            </a:xfrm>
            <a:prstGeom prst="rect">
              <a:avLst/>
            </a:prstGeom>
            <a:ln w="12700" cap="flat">
              <a:noFill/>
              <a:miter lim="400000"/>
            </a:ln>
            <a:effectLst/>
          </p:spPr>
        </p:pic>
        <p:pic>
          <p:nvPicPr>
            <p:cNvPr id="242" name="pq_f3" descr="pq_f3"/>
            <p:cNvPicPr>
              <a:picLocks noChangeAspect="1"/>
            </p:cNvPicPr>
            <p:nvPr/>
          </p:nvPicPr>
          <p:blipFill>
            <a:blip r:embed="rId9">
              <a:extLst/>
            </a:blip>
            <a:stretch>
              <a:fillRect/>
            </a:stretch>
          </p:blipFill>
          <p:spPr>
            <a:xfrm>
              <a:off x="9777678" y="219455"/>
              <a:ext cx="402337" cy="402337"/>
            </a:xfrm>
            <a:prstGeom prst="rect">
              <a:avLst/>
            </a:prstGeom>
            <a:ln w="12700" cap="flat">
              <a:noFill/>
              <a:miter lim="400000"/>
            </a:ln>
            <a:effectLst/>
          </p:spPr>
        </p:pic>
      </p:grpSp>
      <p:grpSp>
        <p:nvGrpSpPr>
          <p:cNvPr id="249" name="pl0"/>
          <p:cNvGrpSpPr/>
          <p:nvPr/>
        </p:nvGrpSpPr>
        <p:grpSpPr>
          <a:xfrm>
            <a:off x="1170432" y="2724911"/>
            <a:ext cx="5144873" cy="1481329"/>
            <a:chOff x="0" y="0"/>
            <a:chExt cx="5144872" cy="1481327"/>
          </a:xfrm>
        </p:grpSpPr>
        <p:sp>
          <p:nvSpPr>
            <p:cNvPr id="244" name="pl0_bg"/>
            <p:cNvSpPr/>
            <p:nvPr/>
          </p:nvSpPr>
          <p:spPr>
            <a:xfrm>
              <a:off x="0" y="0"/>
              <a:ext cx="5144873" cy="1481328"/>
            </a:xfrm>
            <a:prstGeom prst="roundRect">
              <a:avLst>
                <a:gd name="adj" fmla="val 6173"/>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45" name="pl0_badge"/>
            <p:cNvSpPr/>
            <p:nvPr/>
          </p:nvSpPr>
          <p:spPr>
            <a:xfrm>
              <a:off x="201167" y="182879"/>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246" name="pl0_num"/>
            <p:cNvSpPr txBox="1"/>
            <p:nvPr/>
          </p:nvSpPr>
          <p:spPr>
            <a:xfrm>
              <a:off x="201167"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247" name="pl0_h"/>
            <p:cNvSpPr txBox="1"/>
            <p:nvPr/>
          </p:nvSpPr>
          <p:spPr>
            <a:xfrm>
              <a:off x="749808" y="266953"/>
              <a:ext cx="4184753"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80" sz="1500">
                  <a:solidFill>
                    <a:srgbClr val="15395C"/>
                  </a:solidFill>
                  <a:latin typeface="Georgia"/>
                  <a:ea typeface="Georgia"/>
                  <a:cs typeface="Georgia"/>
                  <a:sym typeface="Georgia"/>
                </a:defRPr>
              </a:lvl1pPr>
            </a:lstStyle>
            <a:p>
              <a:pPr/>
              <a:r>
                <a:t>INDEPENDENT VARIABLE</a:t>
              </a:r>
            </a:p>
          </p:txBody>
        </p:sp>
        <p:sp>
          <p:nvSpPr>
            <p:cNvPr id="248" name="pl0_t"/>
            <p:cNvSpPr txBox="1"/>
            <p:nvPr/>
          </p:nvSpPr>
          <p:spPr>
            <a:xfrm>
              <a:off x="256032" y="731519"/>
              <a:ext cx="4632809" cy="2334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0E2A40"/>
                  </a:solidFill>
                  <a:latin typeface="Arial"/>
                  <a:ea typeface="Arial"/>
                  <a:cs typeface="Arial"/>
                  <a:sym typeface="Arial"/>
                </a:defRPr>
              </a:lvl1pPr>
            </a:lstStyle>
            <a:p>
              <a:pPr/>
              <a:r>
                <a:t>What will you change?</a:t>
              </a:r>
            </a:p>
          </p:txBody>
        </p:sp>
      </p:grpSp>
      <p:grpSp>
        <p:nvGrpSpPr>
          <p:cNvPr id="255" name="pl1"/>
          <p:cNvGrpSpPr/>
          <p:nvPr/>
        </p:nvGrpSpPr>
        <p:grpSpPr>
          <a:xfrm>
            <a:off x="6498183" y="2724911"/>
            <a:ext cx="5144873" cy="1481329"/>
            <a:chOff x="0" y="0"/>
            <a:chExt cx="5144872" cy="1481327"/>
          </a:xfrm>
        </p:grpSpPr>
        <p:sp>
          <p:nvSpPr>
            <p:cNvPr id="250" name="pl1_bg"/>
            <p:cNvSpPr/>
            <p:nvPr/>
          </p:nvSpPr>
          <p:spPr>
            <a:xfrm>
              <a:off x="0" y="0"/>
              <a:ext cx="5144873" cy="1481328"/>
            </a:xfrm>
            <a:prstGeom prst="roundRect">
              <a:avLst>
                <a:gd name="adj" fmla="val 6173"/>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51" name="pl1_badge"/>
            <p:cNvSpPr/>
            <p:nvPr/>
          </p:nvSpPr>
          <p:spPr>
            <a:xfrm>
              <a:off x="201167" y="182879"/>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252" name="pl1_num"/>
            <p:cNvSpPr txBox="1"/>
            <p:nvPr/>
          </p:nvSpPr>
          <p:spPr>
            <a:xfrm>
              <a:off x="201167"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253" name="pl1_h"/>
            <p:cNvSpPr txBox="1"/>
            <p:nvPr/>
          </p:nvSpPr>
          <p:spPr>
            <a:xfrm>
              <a:off x="749808" y="266953"/>
              <a:ext cx="4184753"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80" sz="1500">
                  <a:solidFill>
                    <a:srgbClr val="15395C"/>
                  </a:solidFill>
                  <a:latin typeface="Georgia"/>
                  <a:ea typeface="Georgia"/>
                  <a:cs typeface="Georgia"/>
                  <a:sym typeface="Georgia"/>
                </a:defRPr>
              </a:lvl1pPr>
            </a:lstStyle>
            <a:p>
              <a:pPr/>
              <a:r>
                <a:t>DEPENDENT VARIABLE</a:t>
              </a:r>
            </a:p>
          </p:txBody>
        </p:sp>
        <p:sp>
          <p:nvSpPr>
            <p:cNvPr id="254" name="pl1_t"/>
            <p:cNvSpPr txBox="1"/>
            <p:nvPr/>
          </p:nvSpPr>
          <p:spPr>
            <a:xfrm>
              <a:off x="256032" y="731519"/>
              <a:ext cx="4632809" cy="4747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0E2A40"/>
                  </a:solidFill>
                  <a:latin typeface="Arial"/>
                  <a:ea typeface="Arial"/>
                  <a:cs typeface="Arial"/>
                  <a:sym typeface="Arial"/>
                </a:defRPr>
              </a:lvl1pPr>
            </a:lstStyle>
            <a:p>
              <a:pPr/>
              <a:r>
                <a:t>What will you measure? It depends on the independent variable.</a:t>
              </a:r>
            </a:p>
          </p:txBody>
        </p:sp>
      </p:grpSp>
      <p:grpSp>
        <p:nvGrpSpPr>
          <p:cNvPr id="261" name="pl2"/>
          <p:cNvGrpSpPr/>
          <p:nvPr/>
        </p:nvGrpSpPr>
        <p:grpSpPr>
          <a:xfrm>
            <a:off x="1170432" y="4389120"/>
            <a:ext cx="5144873" cy="1481329"/>
            <a:chOff x="0" y="0"/>
            <a:chExt cx="5144872" cy="1481327"/>
          </a:xfrm>
        </p:grpSpPr>
        <p:sp>
          <p:nvSpPr>
            <p:cNvPr id="256" name="pl2_bg"/>
            <p:cNvSpPr/>
            <p:nvPr/>
          </p:nvSpPr>
          <p:spPr>
            <a:xfrm>
              <a:off x="0" y="0"/>
              <a:ext cx="5144873" cy="1481328"/>
            </a:xfrm>
            <a:prstGeom prst="roundRect">
              <a:avLst>
                <a:gd name="adj" fmla="val 6173"/>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57" name="pl2_badge"/>
            <p:cNvSpPr/>
            <p:nvPr/>
          </p:nvSpPr>
          <p:spPr>
            <a:xfrm>
              <a:off x="201167" y="182879"/>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258" name="pl2_num"/>
            <p:cNvSpPr txBox="1"/>
            <p:nvPr/>
          </p:nvSpPr>
          <p:spPr>
            <a:xfrm>
              <a:off x="201167"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4</a:t>
              </a:r>
            </a:p>
          </p:txBody>
        </p:sp>
        <p:sp>
          <p:nvSpPr>
            <p:cNvPr id="259" name="pl2_h"/>
            <p:cNvSpPr txBox="1"/>
            <p:nvPr/>
          </p:nvSpPr>
          <p:spPr>
            <a:xfrm>
              <a:off x="749808" y="266953"/>
              <a:ext cx="4184753"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80" sz="1500">
                  <a:solidFill>
                    <a:srgbClr val="15395C"/>
                  </a:solidFill>
                  <a:latin typeface="Georgia"/>
                  <a:ea typeface="Georgia"/>
                  <a:cs typeface="Georgia"/>
                  <a:sym typeface="Georgia"/>
                </a:defRPr>
              </a:lvl1pPr>
            </a:lstStyle>
            <a:p>
              <a:pPr/>
              <a:r>
                <a:t>CONTROL VARIABLES</a:t>
              </a:r>
            </a:p>
          </p:txBody>
        </p:sp>
        <p:sp>
          <p:nvSpPr>
            <p:cNvPr id="260" name="pl2_t"/>
            <p:cNvSpPr txBox="1"/>
            <p:nvPr/>
          </p:nvSpPr>
          <p:spPr>
            <a:xfrm>
              <a:off x="256032" y="731519"/>
              <a:ext cx="4632809" cy="2334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0E2A40"/>
                  </a:solidFill>
                  <a:latin typeface="Arial"/>
                  <a:ea typeface="Arial"/>
                  <a:cs typeface="Arial"/>
                  <a:sym typeface="Arial"/>
                </a:defRPr>
              </a:lvl1pPr>
            </a:lstStyle>
            <a:p>
              <a:pPr/>
              <a:r>
                <a:t>What will you keep the same? Name three.</a:t>
              </a:r>
            </a:p>
          </p:txBody>
        </p:sp>
      </p:grpSp>
      <p:grpSp>
        <p:nvGrpSpPr>
          <p:cNvPr id="267" name="pl3"/>
          <p:cNvGrpSpPr/>
          <p:nvPr/>
        </p:nvGrpSpPr>
        <p:grpSpPr>
          <a:xfrm>
            <a:off x="6498183" y="4389120"/>
            <a:ext cx="5144873" cy="1481329"/>
            <a:chOff x="0" y="0"/>
            <a:chExt cx="5144872" cy="1481327"/>
          </a:xfrm>
        </p:grpSpPr>
        <p:sp>
          <p:nvSpPr>
            <p:cNvPr id="262" name="pl3_bg"/>
            <p:cNvSpPr/>
            <p:nvPr/>
          </p:nvSpPr>
          <p:spPr>
            <a:xfrm>
              <a:off x="0" y="0"/>
              <a:ext cx="5144873" cy="1481328"/>
            </a:xfrm>
            <a:prstGeom prst="roundRect">
              <a:avLst>
                <a:gd name="adj" fmla="val 6173"/>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63" name="pl3_badge"/>
            <p:cNvSpPr/>
            <p:nvPr/>
          </p:nvSpPr>
          <p:spPr>
            <a:xfrm>
              <a:off x="201167" y="182879"/>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264" name="pl3_num"/>
            <p:cNvSpPr txBox="1"/>
            <p:nvPr/>
          </p:nvSpPr>
          <p:spPr>
            <a:xfrm>
              <a:off x="201167"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5</a:t>
              </a:r>
            </a:p>
          </p:txBody>
        </p:sp>
        <p:sp>
          <p:nvSpPr>
            <p:cNvPr id="265" name="pl3_h"/>
            <p:cNvSpPr txBox="1"/>
            <p:nvPr/>
          </p:nvSpPr>
          <p:spPr>
            <a:xfrm>
              <a:off x="749808" y="266953"/>
              <a:ext cx="4184753"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80" sz="1500">
                  <a:solidFill>
                    <a:srgbClr val="15395C"/>
                  </a:solidFill>
                  <a:latin typeface="Georgia"/>
                  <a:ea typeface="Georgia"/>
                  <a:cs typeface="Georgia"/>
                  <a:sym typeface="Georgia"/>
                </a:defRPr>
              </a:lvl1pPr>
            </a:lstStyle>
            <a:p>
              <a:pPr/>
              <a:r>
                <a:t>HYPOTHESIS</a:t>
              </a:r>
            </a:p>
          </p:txBody>
        </p:sp>
        <p:sp>
          <p:nvSpPr>
            <p:cNvPr id="266" name="pl3_t"/>
            <p:cNvSpPr txBox="1"/>
            <p:nvPr/>
          </p:nvSpPr>
          <p:spPr>
            <a:xfrm>
              <a:off x="256032" y="731519"/>
              <a:ext cx="4632809" cy="2334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0E2A40"/>
                  </a:solidFill>
                  <a:latin typeface="Arial"/>
                  <a:ea typeface="Arial"/>
                  <a:cs typeface="Arial"/>
                  <a:sym typeface="Arial"/>
                </a:defRPr>
              </a:lvl1pPr>
            </a:lstStyle>
            <a:p>
              <a:pPr/>
              <a:r>
                <a:t>If I burn ___, then the water ___, because ___.</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240000" fill="hold"/>
                                        <p:tgtEl>
                                          <p:spTgt spid="23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43"/>
                                        </p:tgtEl>
                                        <p:attrNameLst>
                                          <p:attrName>style.visibility</p:attrName>
                                        </p:attrNameLst>
                                      </p:cBhvr>
                                      <p:to>
                                        <p:strVal val="visible"/>
                                      </p:to>
                                    </p:set>
                                    <p:animEffect filter="fade" transition="in">
                                      <p:cBhvr>
                                        <p:cTn id="11" dur="400"/>
                                        <p:tgtEl>
                                          <p:spTgt spid="24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49"/>
                                        </p:tgtEl>
                                        <p:attrNameLst>
                                          <p:attrName>style.visibility</p:attrName>
                                        </p:attrNameLst>
                                      </p:cBhvr>
                                      <p:to>
                                        <p:strVal val="visible"/>
                                      </p:to>
                                    </p:set>
                                    <p:animEffect filter="fade" transition="in">
                                      <p:cBhvr>
                                        <p:cTn id="16" dur="400"/>
                                        <p:tgtEl>
                                          <p:spTgt spid="249"/>
                                        </p:tgtEl>
                                      </p:cBhvr>
                                    </p:animEffect>
                                  </p:childTnLst>
                                </p:cTn>
                              </p:par>
                            </p:childTnLst>
                          </p:cTn>
                        </p:par>
                        <p:par>
                          <p:cTn id="17" fill="hold">
                            <p:stCondLst>
                              <p:cond delay="400"/>
                            </p:stCondLst>
                            <p:childTnLst>
                              <p:par>
                                <p:cTn id="18" presetClass="entr" nodeType="afterEffect" presetID="10" grpId="4" fill="hold">
                                  <p:stCondLst>
                                    <p:cond delay="150"/>
                                  </p:stCondLst>
                                  <p:iterate type="el" backwards="0">
                                    <p:tmAbs val="0"/>
                                  </p:iterate>
                                  <p:childTnLst>
                                    <p:set>
                                      <p:cBhvr>
                                        <p:cTn id="19" fill="hold"/>
                                        <p:tgtEl>
                                          <p:spTgt spid="255"/>
                                        </p:tgtEl>
                                        <p:attrNameLst>
                                          <p:attrName>style.visibility</p:attrName>
                                        </p:attrNameLst>
                                      </p:cBhvr>
                                      <p:to>
                                        <p:strVal val="visible"/>
                                      </p:to>
                                    </p:set>
                                    <p:animEffect filter="fade" transition="in">
                                      <p:cBhvr>
                                        <p:cTn id="20" dur="400"/>
                                        <p:tgtEl>
                                          <p:spTgt spid="255"/>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5" fill="hold">
                                  <p:stCondLst>
                                    <p:cond delay="0"/>
                                  </p:stCondLst>
                                  <p:iterate type="el" backwards="0">
                                    <p:tmAbs val="0"/>
                                  </p:iterate>
                                  <p:childTnLst>
                                    <p:set>
                                      <p:cBhvr>
                                        <p:cTn id="24" fill="hold"/>
                                        <p:tgtEl>
                                          <p:spTgt spid="261"/>
                                        </p:tgtEl>
                                        <p:attrNameLst>
                                          <p:attrName>style.visibility</p:attrName>
                                        </p:attrNameLst>
                                      </p:cBhvr>
                                      <p:to>
                                        <p:strVal val="visible"/>
                                      </p:to>
                                    </p:set>
                                    <p:animEffect filter="fade" transition="in">
                                      <p:cBhvr>
                                        <p:cTn id="25" dur="400"/>
                                        <p:tgtEl>
                                          <p:spTgt spid="261"/>
                                        </p:tgtEl>
                                      </p:cBhvr>
                                    </p:animEffect>
                                  </p:childTnLst>
                                </p:cTn>
                              </p:par>
                            </p:childTnLst>
                          </p:cTn>
                        </p:par>
                        <p:par>
                          <p:cTn id="26" fill="hold">
                            <p:stCondLst>
                              <p:cond delay="400"/>
                            </p:stCondLst>
                            <p:childTnLst>
                              <p:par>
                                <p:cTn id="27" presetClass="entr" nodeType="afterEffect" presetID="10" grpId="6" fill="hold">
                                  <p:stCondLst>
                                    <p:cond delay="150"/>
                                  </p:stCondLst>
                                  <p:iterate type="el" backwards="0">
                                    <p:tmAbs val="0"/>
                                  </p:iterate>
                                  <p:childTnLst>
                                    <p:set>
                                      <p:cBhvr>
                                        <p:cTn id="28" fill="hold"/>
                                        <p:tgtEl>
                                          <p:spTgt spid="267"/>
                                        </p:tgtEl>
                                        <p:attrNameLst>
                                          <p:attrName>style.visibility</p:attrName>
                                        </p:attrNameLst>
                                      </p:cBhvr>
                                      <p:to>
                                        <p:strVal val="visible"/>
                                      </p:to>
                                    </p:set>
                                    <p:animEffect filter="fade" transition="in">
                                      <p:cBhvr>
                                        <p:cTn id="29" dur="4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0" fill="hold" display="0">
                  <p:stCondLst>
                    <p:cond delay="indefinite"/>
                  </p:stCondLst>
                </p:cTn>
                <p:tgtEl>
                  <p:spTgt spid="230"/>
                </p:tgtEl>
              </p:cMediaNode>
            </p:video>
            <p:seq concurrent="1" prevAc="none" nextAc="seek">
              <p:cTn id="31" evtFilter="cancelBubble" nodeType="interactiveSeq" restart="whenNotActive" fill="hold">
                <p:stCondLst>
                  <p:cond delay="0" evt="onClick">
                    <p:tgtEl>
                      <p:spTgt spid="230"/>
                    </p:tgtEl>
                  </p:cond>
                </p:stCondLst>
                <p:endSync delay="0" evt="end">
                  <p:rtn val="all"/>
                </p:endSync>
                <p:childTnLst>
                  <p:par>
                    <p:cTn id="32" fill="hold">
                      <p:stCondLst>
                        <p:cond delay="0"/>
                      </p:stCondLst>
                      <p:childTnLst>
                        <p:par>
                          <p:cTn id="33" fill="hold">
                            <p:stCondLst>
                              <p:cond delay="0"/>
                            </p:stCondLst>
                            <p:childTnLst>
                              <p:par>
                                <p:cTn id="34" presetClass="mediacall" nodeType="clickEffect" presetSubtype="0" presetID="2" fill="hold">
                                  <p:stCondLst>
                                    <p:cond delay="0"/>
                                  </p:stCondLst>
                                  <p:childTnLst>
                                    <p:cmd type="call" cmd="togglePause">
                                      <p:cBhvr>
                                        <p:cTn id="35" dur="1" fill="hold"/>
                                        <p:tgtEl>
                                          <p:spTgt spid="230"/>
                                        </p:tgtEl>
                                      </p:cBhvr>
                                    </p:cmd>
                                  </p:childTnLst>
                                </p:cTn>
                              </p:par>
                            </p:childTnLst>
                          </p:cTn>
                        </p:par>
                      </p:childTnLst>
                    </p:cTn>
                  </p:par>
                </p:childTnLst>
              </p:cTn>
              <p:nextCondLst>
                <p:cond delay="0" evt="onClick">
                  <p:tgtEl>
                    <p:spTgt spid="230"/>
                  </p:tgtEl>
                </p:cond>
              </p:nextCondLst>
            </p:seq>
          </p:childTnLst>
        </p:cTn>
      </p:par>
    </p:tnLst>
    <p:bldLst>
      <p:bldP build="whole" bldLvl="1" animBg="1" rev="0" advAuto="0" spid="243" grpId="2"/>
      <p:bldP build="whole" bldLvl="1" animBg="1" rev="0" advAuto="0" spid="267" grpId="6"/>
      <p:bldP build="whole" bldLvl="1" animBg="1" rev="0" advAuto="0" spid="249" grpId="3"/>
      <p:bldP build="whole" bldLvl="1" animBg="1" rev="0" advAuto="0" spid="255" grpId="4"/>
      <p:bldP build="whole" bldLvl="1" animBg="1" rev="0" advAuto="0" spid="261" grpId="5"/>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7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74" name="phase_pill"/>
          <p:cNvGrpSpPr/>
          <p:nvPr/>
        </p:nvGrpSpPr>
        <p:grpSpPr>
          <a:xfrm>
            <a:off x="1170432" y="310895"/>
            <a:ext cx="2161643" cy="329185"/>
            <a:chOff x="0" y="0"/>
            <a:chExt cx="2161642" cy="329184"/>
          </a:xfrm>
        </p:grpSpPr>
        <p:sp>
          <p:nvSpPr>
            <p:cNvPr id="272" name="Rounded Rectangle"/>
            <p:cNvSpPr/>
            <p:nvPr/>
          </p:nvSpPr>
          <p:spPr>
            <a:xfrm>
              <a:off x="0" y="0"/>
              <a:ext cx="2161643"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273" name="PRACTICAL · 14 MIN"/>
            <p:cNvSpPr txBox="1"/>
            <p:nvPr/>
          </p:nvSpPr>
          <p:spPr>
            <a:xfrm>
              <a:off x="42851" y="90677"/>
              <a:ext cx="207594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PRACTICAL · 14 MIN</a:t>
              </a:r>
            </a:p>
          </p:txBody>
        </p:sp>
      </p:grpSp>
      <p:sp>
        <p:nvSpPr>
          <p:cNvPr id="275"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Burn the food, heat the water</a:t>
            </a:r>
          </a:p>
        </p:txBody>
      </p:sp>
      <p:grpSp>
        <p:nvGrpSpPr>
          <p:cNvPr id="291" name="rig"/>
          <p:cNvGrpSpPr/>
          <p:nvPr/>
        </p:nvGrpSpPr>
        <p:grpSpPr>
          <a:xfrm>
            <a:off x="1170432" y="1700783"/>
            <a:ext cx="4480560" cy="3474722"/>
            <a:chOff x="0" y="0"/>
            <a:chExt cx="4480559" cy="3474720"/>
          </a:xfrm>
        </p:grpSpPr>
        <p:sp>
          <p:nvSpPr>
            <p:cNvPr id="276" name="dg_bg"/>
            <p:cNvSpPr/>
            <p:nvPr/>
          </p:nvSpPr>
          <p:spPr>
            <a:xfrm>
              <a:off x="0" y="0"/>
              <a:ext cx="4480560" cy="3474721"/>
            </a:xfrm>
            <a:prstGeom prst="roundRect">
              <a:avLst>
                <a:gd name="adj" fmla="val 263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77" name="dg_mat"/>
            <p:cNvSpPr/>
            <p:nvPr/>
          </p:nvSpPr>
          <p:spPr>
            <a:xfrm>
              <a:off x="457200" y="2926080"/>
              <a:ext cx="2834640" cy="182881"/>
            </a:xfrm>
            <a:prstGeom prst="roundRect">
              <a:avLst>
                <a:gd name="adj" fmla="val 20000"/>
              </a:avLst>
            </a:prstGeom>
            <a:solidFill>
              <a:srgbClr val="6B7785"/>
            </a:solidFill>
            <a:ln w="12700" cap="flat">
              <a:solidFill>
                <a:srgbClr val="6B7785"/>
              </a:solidFill>
              <a:prstDash val="solid"/>
              <a:round/>
            </a:ln>
            <a:effectLst/>
          </p:spPr>
          <p:txBody>
            <a:bodyPr wrap="square" lIns="45719" tIns="45719" rIns="45719" bIns="45719" numCol="1" anchor="t">
              <a:noAutofit/>
            </a:bodyPr>
            <a:lstStyle/>
            <a:p>
              <a:pPr/>
            </a:p>
          </p:txBody>
        </p:sp>
        <p:sp>
          <p:nvSpPr>
            <p:cNvPr id="278" name="dg_can"/>
            <p:cNvSpPr/>
            <p:nvPr/>
          </p:nvSpPr>
          <p:spPr>
            <a:xfrm>
              <a:off x="1143000" y="685800"/>
              <a:ext cx="1463040" cy="1143001"/>
            </a:xfrm>
            <a:prstGeom prst="rect">
              <a:avLst/>
            </a:prstGeom>
            <a:solidFill>
              <a:srgbClr val="C5CED6"/>
            </a:solidFill>
            <a:ln w="19050" cap="flat">
              <a:solidFill>
                <a:srgbClr val="15395C"/>
              </a:solidFill>
              <a:prstDash val="solid"/>
              <a:round/>
            </a:ln>
            <a:effectLst/>
          </p:spPr>
          <p:txBody>
            <a:bodyPr wrap="square" lIns="45719" tIns="45719" rIns="45719" bIns="45719" numCol="1" anchor="t">
              <a:noAutofit/>
            </a:bodyPr>
            <a:lstStyle/>
            <a:p>
              <a:pPr/>
            </a:p>
          </p:txBody>
        </p:sp>
        <p:sp>
          <p:nvSpPr>
            <p:cNvPr id="279" name="dg_water"/>
            <p:cNvSpPr/>
            <p:nvPr/>
          </p:nvSpPr>
          <p:spPr>
            <a:xfrm>
              <a:off x="1197864" y="1097280"/>
              <a:ext cx="1353312" cy="676656"/>
            </a:xfrm>
            <a:prstGeom prst="rect">
              <a:avLst/>
            </a:prstGeom>
            <a:solidFill>
              <a:srgbClr val="8CC8F0"/>
            </a:solidFill>
            <a:ln w="12700" cap="flat">
              <a:solidFill>
                <a:srgbClr val="8CC8F0"/>
              </a:solidFill>
              <a:prstDash val="solid"/>
              <a:round/>
            </a:ln>
            <a:effectLst/>
          </p:spPr>
          <p:txBody>
            <a:bodyPr wrap="square" lIns="45719" tIns="45719" rIns="45719" bIns="45719" numCol="1" anchor="t">
              <a:noAutofit/>
            </a:bodyPr>
            <a:lstStyle/>
            <a:p>
              <a:pPr/>
            </a:p>
          </p:txBody>
        </p:sp>
        <p:sp>
          <p:nvSpPr>
            <p:cNvPr id="280" name="dg_thm"/>
            <p:cNvSpPr/>
            <p:nvPr/>
          </p:nvSpPr>
          <p:spPr>
            <a:xfrm>
              <a:off x="2148839" y="274319"/>
              <a:ext cx="100585" cy="1234442"/>
            </a:xfrm>
            <a:prstGeom prst="roundRect">
              <a:avLst>
                <a:gd name="adj" fmla="val 45455"/>
              </a:avLst>
            </a:prstGeom>
            <a:solidFill>
              <a:srgbClr val="FFFFFF"/>
            </a:solidFill>
            <a:ln w="19050" cap="flat">
              <a:solidFill>
                <a:srgbClr val="CD312F"/>
              </a:solidFill>
              <a:prstDash val="solid"/>
              <a:round/>
            </a:ln>
            <a:effectLst/>
          </p:spPr>
          <p:txBody>
            <a:bodyPr wrap="square" lIns="45719" tIns="45719" rIns="45719" bIns="45719" numCol="1" anchor="t">
              <a:noAutofit/>
            </a:bodyPr>
            <a:lstStyle/>
            <a:p>
              <a:pPr/>
            </a:p>
          </p:txBody>
        </p:sp>
        <p:sp>
          <p:nvSpPr>
            <p:cNvPr id="281" name="dg_thm_bulb"/>
            <p:cNvSpPr/>
            <p:nvPr/>
          </p:nvSpPr>
          <p:spPr>
            <a:xfrm>
              <a:off x="2121407" y="1426464"/>
              <a:ext cx="155449" cy="155449"/>
            </a:xfrm>
            <a:prstGeom prst="ellipse">
              <a:avLst/>
            </a:prstGeom>
            <a:solidFill>
              <a:srgbClr val="CD312F"/>
            </a:solidFill>
            <a:ln w="12700" cap="flat">
              <a:solidFill>
                <a:srgbClr val="CD312F"/>
              </a:solidFill>
              <a:prstDash val="solid"/>
              <a:round/>
            </a:ln>
            <a:effectLst/>
          </p:spPr>
          <p:txBody>
            <a:bodyPr wrap="square" lIns="45719" tIns="45719" rIns="45719" bIns="45719" numCol="1" anchor="t">
              <a:noAutofit/>
            </a:bodyPr>
            <a:lstStyle/>
            <a:p>
              <a:pPr/>
            </a:p>
          </p:txBody>
        </p:sp>
        <p:sp>
          <p:nvSpPr>
            <p:cNvPr id="282" name="dg_holder"/>
            <p:cNvSpPr/>
            <p:nvPr/>
          </p:nvSpPr>
          <p:spPr>
            <a:xfrm>
              <a:off x="1856231" y="2743200"/>
              <a:ext cx="45720" cy="182881"/>
            </a:xfrm>
            <a:prstGeom prst="rect">
              <a:avLst/>
            </a:prstGeom>
            <a:solidFill>
              <a:srgbClr val="4A5563"/>
            </a:solidFill>
            <a:ln w="12700" cap="flat">
              <a:solidFill>
                <a:srgbClr val="4A5563"/>
              </a:solidFill>
              <a:prstDash val="solid"/>
              <a:round/>
            </a:ln>
            <a:effectLst/>
          </p:spPr>
          <p:txBody>
            <a:bodyPr wrap="square" lIns="45719" tIns="45719" rIns="45719" bIns="45719" numCol="1" anchor="t">
              <a:noAutofit/>
            </a:bodyPr>
            <a:lstStyle/>
            <a:p>
              <a:pPr/>
            </a:p>
          </p:txBody>
        </p:sp>
        <p:sp>
          <p:nvSpPr>
            <p:cNvPr id="283" name="dg_food"/>
            <p:cNvSpPr/>
            <p:nvPr/>
          </p:nvSpPr>
          <p:spPr>
            <a:xfrm>
              <a:off x="1655063" y="2542032"/>
              <a:ext cx="457201" cy="237745"/>
            </a:xfrm>
            <a:prstGeom prst="ellipse">
              <a:avLst/>
            </a:prstGeom>
            <a:solidFill>
              <a:srgbClr val="8A5A2B"/>
            </a:solidFill>
            <a:ln w="12700" cap="flat">
              <a:solidFill>
                <a:srgbClr val="5A3A1B"/>
              </a:solidFill>
              <a:prstDash val="solid"/>
              <a:round/>
            </a:ln>
            <a:effectLst/>
          </p:spPr>
          <p:txBody>
            <a:bodyPr wrap="square" lIns="45719" tIns="45719" rIns="45719" bIns="45719" numCol="1" anchor="t">
              <a:noAutofit/>
            </a:bodyPr>
            <a:lstStyle/>
            <a:p>
              <a:pPr/>
            </a:p>
          </p:txBody>
        </p:sp>
        <p:pic>
          <p:nvPicPr>
            <p:cNvPr id="284" name="dg_flame" descr="dg_flame"/>
            <p:cNvPicPr>
              <a:picLocks noChangeAspect="1"/>
            </p:cNvPicPr>
            <p:nvPr/>
          </p:nvPicPr>
          <p:blipFill>
            <a:blip r:embed="rId6">
              <a:extLst/>
            </a:blip>
            <a:stretch>
              <a:fillRect/>
            </a:stretch>
          </p:blipFill>
          <p:spPr>
            <a:xfrm>
              <a:off x="1673351" y="2176272"/>
              <a:ext cx="402337" cy="402337"/>
            </a:xfrm>
            <a:prstGeom prst="rect">
              <a:avLst/>
            </a:prstGeom>
            <a:ln w="12700" cap="flat">
              <a:noFill/>
              <a:miter lim="400000"/>
            </a:ln>
            <a:effectLst/>
          </p:spPr>
        </p:pic>
        <p:sp>
          <p:nvSpPr>
            <p:cNvPr id="285" name="dg_gap"/>
            <p:cNvSpPr/>
            <p:nvPr/>
          </p:nvSpPr>
          <p:spPr>
            <a:xfrm>
              <a:off x="2350007" y="1847088"/>
              <a:ext cx="27432" cy="310897"/>
            </a:xfrm>
            <a:prstGeom prst="rect">
              <a:avLst/>
            </a:prstGeom>
            <a:solidFill>
              <a:srgbClr val="55708A"/>
            </a:solidFill>
            <a:ln w="12700" cap="flat">
              <a:solidFill>
                <a:srgbClr val="55708A"/>
              </a:solidFill>
              <a:prstDash val="solid"/>
              <a:round/>
            </a:ln>
            <a:effectLst/>
          </p:spPr>
          <p:txBody>
            <a:bodyPr wrap="square" lIns="45719" tIns="45719" rIns="45719" bIns="45719" numCol="1" anchor="t">
              <a:noAutofit/>
            </a:bodyPr>
            <a:lstStyle/>
            <a:p>
              <a:pPr/>
            </a:p>
          </p:txBody>
        </p:sp>
        <p:sp>
          <p:nvSpPr>
            <p:cNvPr id="286" name="dg_l1"/>
            <p:cNvSpPr txBox="1"/>
            <p:nvPr/>
          </p:nvSpPr>
          <p:spPr>
            <a:xfrm>
              <a:off x="73152" y="953261"/>
              <a:ext cx="969264" cy="452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r">
                <a:defRPr sz="1100">
                  <a:solidFill>
                    <a:srgbClr val="55708A"/>
                  </a:solidFill>
                  <a:latin typeface="Arial"/>
                  <a:ea typeface="Arial"/>
                  <a:cs typeface="Arial"/>
                  <a:sym typeface="Arial"/>
                </a:defRPr>
              </a:pPr>
              <a:r>
                <a:t>metal</a:t>
              </a:r>
            </a:p>
            <a:p>
              <a:pPr algn="r">
                <a:defRPr sz="1100">
                  <a:solidFill>
                    <a:srgbClr val="55708A"/>
                  </a:solidFill>
                  <a:latin typeface="Arial"/>
                  <a:ea typeface="Arial"/>
                  <a:cs typeface="Arial"/>
                  <a:sym typeface="Arial"/>
                </a:defRPr>
              </a:pPr>
              <a:r>
                <a:t>container</a:t>
              </a:r>
            </a:p>
            <a:p>
              <a:pPr algn="r">
                <a:defRPr sz="1100">
                  <a:solidFill>
                    <a:srgbClr val="55708A"/>
                  </a:solidFill>
                  <a:latin typeface="Arial"/>
                  <a:ea typeface="Arial"/>
                  <a:cs typeface="Arial"/>
                  <a:sym typeface="Arial"/>
                </a:defRPr>
              </a:pPr>
              <a:r>
                <a:t>with water</a:t>
              </a:r>
            </a:p>
          </p:txBody>
        </p:sp>
        <p:sp>
          <p:nvSpPr>
            <p:cNvPr id="287" name="dg_l2"/>
            <p:cNvSpPr txBox="1"/>
            <p:nvPr/>
          </p:nvSpPr>
          <p:spPr>
            <a:xfrm>
              <a:off x="2377439" y="429005"/>
              <a:ext cx="118872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100">
                  <a:solidFill>
                    <a:srgbClr val="55708A"/>
                  </a:solidFill>
                  <a:latin typeface="Arial"/>
                  <a:ea typeface="Arial"/>
                  <a:cs typeface="Arial"/>
                  <a:sym typeface="Arial"/>
                </a:defRPr>
              </a:lvl1pPr>
            </a:lstStyle>
            <a:p>
              <a:pPr/>
              <a:r>
                <a:t>thermometer</a:t>
              </a:r>
            </a:p>
          </p:txBody>
        </p:sp>
        <p:sp>
          <p:nvSpPr>
            <p:cNvPr id="288" name="dg_l3"/>
            <p:cNvSpPr txBox="1"/>
            <p:nvPr/>
          </p:nvSpPr>
          <p:spPr>
            <a:xfrm>
              <a:off x="2441447" y="1937765"/>
              <a:ext cx="100584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100">
                  <a:solidFill>
                    <a:srgbClr val="55708A"/>
                  </a:solidFill>
                  <a:latin typeface="Arial"/>
                  <a:ea typeface="Arial"/>
                  <a:cs typeface="Arial"/>
                  <a:sym typeface="Arial"/>
                </a:defRPr>
              </a:lvl1pPr>
            </a:lstStyle>
            <a:p>
              <a:pPr/>
              <a:r>
                <a:t>small gap</a:t>
              </a:r>
            </a:p>
          </p:txBody>
        </p:sp>
        <p:sp>
          <p:nvSpPr>
            <p:cNvPr id="289" name="dg_l4"/>
            <p:cNvSpPr txBox="1"/>
            <p:nvPr/>
          </p:nvSpPr>
          <p:spPr>
            <a:xfrm>
              <a:off x="2377439" y="2437637"/>
              <a:ext cx="1188720" cy="3002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sz="1100">
                  <a:solidFill>
                    <a:srgbClr val="55708A"/>
                  </a:solidFill>
                  <a:latin typeface="Arial"/>
                  <a:ea typeface="Arial"/>
                  <a:cs typeface="Arial"/>
                  <a:sym typeface="Arial"/>
                </a:defRPr>
              </a:pPr>
              <a:r>
                <a:t>burning food</a:t>
              </a:r>
            </a:p>
            <a:p>
              <a:pPr>
                <a:defRPr sz="1100">
                  <a:solidFill>
                    <a:srgbClr val="55708A"/>
                  </a:solidFill>
                  <a:latin typeface="Arial"/>
                  <a:ea typeface="Arial"/>
                  <a:cs typeface="Arial"/>
                  <a:sym typeface="Arial"/>
                </a:defRPr>
              </a:pPr>
              <a:r>
                <a:t>on a holder</a:t>
              </a:r>
            </a:p>
          </p:txBody>
        </p:sp>
        <p:sp>
          <p:nvSpPr>
            <p:cNvPr id="290" name="dg_l5"/>
            <p:cNvSpPr txBox="1"/>
            <p:nvPr/>
          </p:nvSpPr>
          <p:spPr>
            <a:xfrm>
              <a:off x="457200" y="3199637"/>
              <a:ext cx="283464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100">
                  <a:solidFill>
                    <a:srgbClr val="55708A"/>
                  </a:solidFill>
                  <a:latin typeface="Arial"/>
                  <a:ea typeface="Arial"/>
                  <a:cs typeface="Arial"/>
                  <a:sym typeface="Arial"/>
                </a:defRPr>
              </a:lvl1pPr>
            </a:lstStyle>
            <a:p>
              <a:pPr/>
              <a:r>
                <a:t>heatproof mat</a:t>
              </a:r>
            </a:p>
          </p:txBody>
        </p:sp>
      </p:grpSp>
      <p:grpSp>
        <p:nvGrpSpPr>
          <p:cNvPr id="296" name="ps0"/>
          <p:cNvGrpSpPr/>
          <p:nvPr/>
        </p:nvGrpSpPr>
        <p:grpSpPr>
          <a:xfrm>
            <a:off x="5907023" y="1700783"/>
            <a:ext cx="5736033" cy="512065"/>
            <a:chOff x="0" y="0"/>
            <a:chExt cx="5736031" cy="512063"/>
          </a:xfrm>
        </p:grpSpPr>
        <p:sp>
          <p:nvSpPr>
            <p:cNvPr id="292" name="ps0_bg"/>
            <p:cNvSpPr/>
            <p:nvPr/>
          </p:nvSpPr>
          <p:spPr>
            <a:xfrm>
              <a:off x="-1" y="0"/>
              <a:ext cx="5736033" cy="512064"/>
            </a:xfrm>
            <a:prstGeom prst="roundRect">
              <a:avLst>
                <a:gd name="adj" fmla="val 17857"/>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93" name="ps0_badge"/>
            <p:cNvSpPr/>
            <p:nvPr/>
          </p:nvSpPr>
          <p:spPr>
            <a:xfrm>
              <a:off x="128015" y="64008"/>
              <a:ext cx="384049" cy="384048"/>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294" name="ps0_num"/>
            <p:cNvSpPr txBox="1"/>
            <p:nvPr/>
          </p:nvSpPr>
          <p:spPr>
            <a:xfrm>
              <a:off x="128015" y="15443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295" name="ps0_t"/>
            <p:cNvSpPr txBox="1"/>
            <p:nvPr/>
          </p:nvSpPr>
          <p:spPr>
            <a:xfrm>
              <a:off x="621791" y="157258"/>
              <a:ext cx="49862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b="1" sz="1300">
                  <a:solidFill>
                    <a:srgbClr val="0E2A40"/>
                  </a:solidFill>
                  <a:latin typeface="Arial"/>
                  <a:ea typeface="Arial"/>
                  <a:cs typeface="Arial"/>
                  <a:sym typeface="Arial"/>
                </a:defRPr>
              </a:lvl1pPr>
            </a:lstStyle>
            <a:p>
              <a:pPr/>
              <a:r>
                <a:t>Weigh about 1 g of your food. Record the mass.</a:t>
              </a:r>
            </a:p>
          </p:txBody>
        </p:sp>
      </p:grpSp>
      <p:grpSp>
        <p:nvGrpSpPr>
          <p:cNvPr id="301" name="ps1"/>
          <p:cNvGrpSpPr/>
          <p:nvPr/>
        </p:nvGrpSpPr>
        <p:grpSpPr>
          <a:xfrm>
            <a:off x="5907023" y="2293315"/>
            <a:ext cx="5736033" cy="512065"/>
            <a:chOff x="0" y="0"/>
            <a:chExt cx="5736031" cy="512063"/>
          </a:xfrm>
        </p:grpSpPr>
        <p:sp>
          <p:nvSpPr>
            <p:cNvPr id="297" name="ps1_bg"/>
            <p:cNvSpPr/>
            <p:nvPr/>
          </p:nvSpPr>
          <p:spPr>
            <a:xfrm>
              <a:off x="-1" y="0"/>
              <a:ext cx="5736033" cy="512064"/>
            </a:xfrm>
            <a:prstGeom prst="roundRect">
              <a:avLst>
                <a:gd name="adj" fmla="val 17857"/>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98" name="ps1_badge"/>
            <p:cNvSpPr/>
            <p:nvPr/>
          </p:nvSpPr>
          <p:spPr>
            <a:xfrm>
              <a:off x="128015" y="64008"/>
              <a:ext cx="384049" cy="384048"/>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299" name="ps1_num"/>
            <p:cNvSpPr txBox="1"/>
            <p:nvPr/>
          </p:nvSpPr>
          <p:spPr>
            <a:xfrm>
              <a:off x="128015" y="15443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300" name="ps1_t"/>
            <p:cNvSpPr txBox="1"/>
            <p:nvPr/>
          </p:nvSpPr>
          <p:spPr>
            <a:xfrm>
              <a:off x="621791" y="55658"/>
              <a:ext cx="4986224" cy="4007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b="1" sz="1300">
                  <a:solidFill>
                    <a:srgbClr val="0E2A40"/>
                  </a:solidFill>
                  <a:latin typeface="Arial"/>
                  <a:ea typeface="Arial"/>
                  <a:cs typeface="Arial"/>
                  <a:sym typeface="Arial"/>
                </a:defRPr>
              </a:lvl1pPr>
            </a:lstStyle>
            <a:p>
              <a:pPr/>
              <a:r>
                <a:t>Pour the same volume of water into the metal container (20 to 50 mL).</a:t>
              </a:r>
            </a:p>
          </p:txBody>
        </p:sp>
      </p:grpSp>
      <p:grpSp>
        <p:nvGrpSpPr>
          <p:cNvPr id="306" name="ps2"/>
          <p:cNvGrpSpPr/>
          <p:nvPr/>
        </p:nvGrpSpPr>
        <p:grpSpPr>
          <a:xfrm>
            <a:off x="5907023" y="2885845"/>
            <a:ext cx="5736033" cy="512065"/>
            <a:chOff x="0" y="0"/>
            <a:chExt cx="5736031" cy="512063"/>
          </a:xfrm>
        </p:grpSpPr>
        <p:sp>
          <p:nvSpPr>
            <p:cNvPr id="302" name="ps2_bg"/>
            <p:cNvSpPr/>
            <p:nvPr/>
          </p:nvSpPr>
          <p:spPr>
            <a:xfrm>
              <a:off x="-1" y="0"/>
              <a:ext cx="5736033" cy="512064"/>
            </a:xfrm>
            <a:prstGeom prst="roundRect">
              <a:avLst>
                <a:gd name="adj" fmla="val 17857"/>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3" name="ps2_badge"/>
            <p:cNvSpPr/>
            <p:nvPr/>
          </p:nvSpPr>
          <p:spPr>
            <a:xfrm>
              <a:off x="128015" y="64008"/>
              <a:ext cx="384049" cy="384048"/>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304" name="ps2_num"/>
            <p:cNvSpPr txBox="1"/>
            <p:nvPr/>
          </p:nvSpPr>
          <p:spPr>
            <a:xfrm>
              <a:off x="128015" y="15443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305" name="ps2_t"/>
            <p:cNvSpPr txBox="1"/>
            <p:nvPr/>
          </p:nvSpPr>
          <p:spPr>
            <a:xfrm>
              <a:off x="621791" y="157258"/>
              <a:ext cx="49862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b="1" sz="1300">
                  <a:solidFill>
                    <a:srgbClr val="0E2A40"/>
                  </a:solidFill>
                  <a:latin typeface="Arial"/>
                  <a:ea typeface="Arial"/>
                  <a:cs typeface="Arial"/>
                  <a:sym typeface="Arial"/>
                </a:defRPr>
              </a:lvl1pPr>
            </a:lstStyle>
            <a:p>
              <a:pPr/>
              <a:r>
                <a:t>Record the starting temperature of the water.</a:t>
              </a:r>
            </a:p>
          </p:txBody>
        </p:sp>
      </p:grpSp>
      <p:grpSp>
        <p:nvGrpSpPr>
          <p:cNvPr id="311" name="ps3"/>
          <p:cNvGrpSpPr/>
          <p:nvPr/>
        </p:nvGrpSpPr>
        <p:grpSpPr>
          <a:xfrm>
            <a:off x="5907023" y="3478377"/>
            <a:ext cx="5736033" cy="512065"/>
            <a:chOff x="0" y="0"/>
            <a:chExt cx="5736031" cy="512063"/>
          </a:xfrm>
        </p:grpSpPr>
        <p:sp>
          <p:nvSpPr>
            <p:cNvPr id="307" name="ps3_bg"/>
            <p:cNvSpPr/>
            <p:nvPr/>
          </p:nvSpPr>
          <p:spPr>
            <a:xfrm>
              <a:off x="-1" y="0"/>
              <a:ext cx="5736033" cy="512064"/>
            </a:xfrm>
            <a:prstGeom prst="roundRect">
              <a:avLst>
                <a:gd name="adj" fmla="val 17857"/>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8" name="ps3_badge"/>
            <p:cNvSpPr/>
            <p:nvPr/>
          </p:nvSpPr>
          <p:spPr>
            <a:xfrm>
              <a:off x="128015" y="64008"/>
              <a:ext cx="384049" cy="384048"/>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309" name="ps3_num"/>
            <p:cNvSpPr txBox="1"/>
            <p:nvPr/>
          </p:nvSpPr>
          <p:spPr>
            <a:xfrm>
              <a:off x="128015" y="15443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4</a:t>
              </a:r>
            </a:p>
          </p:txBody>
        </p:sp>
        <p:sp>
          <p:nvSpPr>
            <p:cNvPr id="310" name="ps3_t"/>
            <p:cNvSpPr txBox="1"/>
            <p:nvPr/>
          </p:nvSpPr>
          <p:spPr>
            <a:xfrm>
              <a:off x="621791" y="157258"/>
              <a:ext cx="49862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b="1" sz="1300">
                  <a:solidFill>
                    <a:srgbClr val="0E2A40"/>
                  </a:solidFill>
                  <a:latin typeface="Arial"/>
                  <a:ea typeface="Arial"/>
                  <a:cs typeface="Arial"/>
                  <a:sym typeface="Arial"/>
                </a:defRPr>
              </a:lvl1pPr>
            </a:lstStyle>
            <a:p>
              <a:pPr/>
              <a:r>
                <a:t>Light the food. Hold it under the container, leaving a small gap.</a:t>
              </a:r>
            </a:p>
          </p:txBody>
        </p:sp>
      </p:grpSp>
      <p:grpSp>
        <p:nvGrpSpPr>
          <p:cNvPr id="316" name="ps4"/>
          <p:cNvGrpSpPr/>
          <p:nvPr/>
        </p:nvGrpSpPr>
        <p:grpSpPr>
          <a:xfrm>
            <a:off x="5907023" y="4070908"/>
            <a:ext cx="5736033" cy="512065"/>
            <a:chOff x="0" y="0"/>
            <a:chExt cx="5736031" cy="512063"/>
          </a:xfrm>
        </p:grpSpPr>
        <p:sp>
          <p:nvSpPr>
            <p:cNvPr id="312" name="ps4_bg"/>
            <p:cNvSpPr/>
            <p:nvPr/>
          </p:nvSpPr>
          <p:spPr>
            <a:xfrm>
              <a:off x="-1" y="0"/>
              <a:ext cx="5736033" cy="512064"/>
            </a:xfrm>
            <a:prstGeom prst="roundRect">
              <a:avLst>
                <a:gd name="adj" fmla="val 17857"/>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13" name="ps4_badge"/>
            <p:cNvSpPr/>
            <p:nvPr/>
          </p:nvSpPr>
          <p:spPr>
            <a:xfrm>
              <a:off x="128015" y="64008"/>
              <a:ext cx="384049" cy="384048"/>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314" name="ps4_num"/>
            <p:cNvSpPr txBox="1"/>
            <p:nvPr/>
          </p:nvSpPr>
          <p:spPr>
            <a:xfrm>
              <a:off x="128015" y="15443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5</a:t>
              </a:r>
            </a:p>
          </p:txBody>
        </p:sp>
        <p:sp>
          <p:nvSpPr>
            <p:cNvPr id="315" name="ps4_t"/>
            <p:cNvSpPr txBox="1"/>
            <p:nvPr/>
          </p:nvSpPr>
          <p:spPr>
            <a:xfrm>
              <a:off x="621791" y="157258"/>
              <a:ext cx="49862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b="1" sz="1300">
                  <a:solidFill>
                    <a:srgbClr val="0E2A40"/>
                  </a:solidFill>
                  <a:latin typeface="Arial"/>
                  <a:ea typeface="Arial"/>
                  <a:cs typeface="Arial"/>
                  <a:sym typeface="Arial"/>
                </a:defRPr>
              </a:lvl1pPr>
            </a:lstStyle>
            <a:p>
              <a:pPr/>
              <a:r>
                <a:t>Stir gently. Record the highest temperature.</a:t>
              </a:r>
            </a:p>
          </p:txBody>
        </p:sp>
      </p:grpSp>
      <p:grpSp>
        <p:nvGrpSpPr>
          <p:cNvPr id="321" name="ps5"/>
          <p:cNvGrpSpPr/>
          <p:nvPr/>
        </p:nvGrpSpPr>
        <p:grpSpPr>
          <a:xfrm>
            <a:off x="5907023" y="4663440"/>
            <a:ext cx="5736033" cy="512065"/>
            <a:chOff x="0" y="0"/>
            <a:chExt cx="5736031" cy="512063"/>
          </a:xfrm>
        </p:grpSpPr>
        <p:sp>
          <p:nvSpPr>
            <p:cNvPr id="317" name="ps5_bg"/>
            <p:cNvSpPr/>
            <p:nvPr/>
          </p:nvSpPr>
          <p:spPr>
            <a:xfrm>
              <a:off x="-1" y="0"/>
              <a:ext cx="5736033" cy="512064"/>
            </a:xfrm>
            <a:prstGeom prst="roundRect">
              <a:avLst>
                <a:gd name="adj" fmla="val 17857"/>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18" name="ps5_badge"/>
            <p:cNvSpPr/>
            <p:nvPr/>
          </p:nvSpPr>
          <p:spPr>
            <a:xfrm>
              <a:off x="128015" y="64008"/>
              <a:ext cx="384049" cy="384048"/>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319" name="ps5_num"/>
            <p:cNvSpPr txBox="1"/>
            <p:nvPr/>
          </p:nvSpPr>
          <p:spPr>
            <a:xfrm>
              <a:off x="128015" y="15443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6</a:t>
              </a:r>
            </a:p>
          </p:txBody>
        </p:sp>
        <p:sp>
          <p:nvSpPr>
            <p:cNvPr id="320" name="ps5_t"/>
            <p:cNvSpPr txBox="1"/>
            <p:nvPr/>
          </p:nvSpPr>
          <p:spPr>
            <a:xfrm>
              <a:off x="621791" y="55658"/>
              <a:ext cx="4986224" cy="4007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b="1" sz="1300">
                  <a:solidFill>
                    <a:srgbClr val="0E2A40"/>
                  </a:solidFill>
                  <a:latin typeface="Arial"/>
                  <a:ea typeface="Arial"/>
                  <a:cs typeface="Arial"/>
                  <a:sym typeface="Arial"/>
                </a:defRPr>
              </a:lvl1pPr>
            </a:lstStyle>
            <a:p>
              <a:pPr/>
              <a:r>
                <a:t>Let everything cool. Repeat twice more with the same food. Then find the average.</a:t>
              </a:r>
            </a:p>
          </p:txBody>
        </p:sp>
      </p:grpSp>
      <p:grpSp>
        <p:nvGrpSpPr>
          <p:cNvPr id="324" name="safe_banner"/>
          <p:cNvGrpSpPr/>
          <p:nvPr/>
        </p:nvGrpSpPr>
        <p:grpSpPr>
          <a:xfrm>
            <a:off x="1170432" y="5321808"/>
            <a:ext cx="10472623" cy="530353"/>
            <a:chOff x="0" y="0"/>
            <a:chExt cx="10472622" cy="530351"/>
          </a:xfrm>
        </p:grpSpPr>
        <p:sp>
          <p:nvSpPr>
            <p:cNvPr id="322" name="Rounded Rectangle"/>
            <p:cNvSpPr/>
            <p:nvPr/>
          </p:nvSpPr>
          <p:spPr>
            <a:xfrm>
              <a:off x="0" y="0"/>
              <a:ext cx="10472623" cy="530352"/>
            </a:xfrm>
            <a:prstGeom prst="roundRect">
              <a:avLst>
                <a:gd name="adj" fmla="val 20690"/>
              </a:avLst>
            </a:prstGeom>
            <a:solidFill>
              <a:srgbClr val="15395C"/>
            </a:solidFill>
            <a:ln w="9525" cap="flat">
              <a:solidFill>
                <a:srgbClr val="15395C"/>
              </a:solidFill>
              <a:prstDash val="solid"/>
              <a:round/>
            </a:ln>
            <a:effectLst/>
          </p:spPr>
          <p:txBody>
            <a:bodyPr wrap="square" lIns="45719" tIns="45719" rIns="45719" bIns="45719" numCol="1" anchor="ctr">
              <a:noAutofit/>
            </a:bodyPr>
            <a:lstStyle/>
            <a:p>
              <a:pPr algn="ctr">
                <a:defRPr sz="1600"/>
              </a:pPr>
            </a:p>
          </p:txBody>
        </p:sp>
        <p:sp>
          <p:nvSpPr>
            <p:cNvPr id="323" name="Goggles on. Lab coats ready. DO NOT eat anything."/>
            <p:cNvSpPr txBox="1"/>
            <p:nvPr/>
          </p:nvSpPr>
          <p:spPr>
            <a:xfrm>
              <a:off x="36901" y="152929"/>
              <a:ext cx="10398821" cy="2244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600">
                  <a:solidFill>
                    <a:srgbClr val="FFD921"/>
                  </a:solidFill>
                  <a:latin typeface="Arial"/>
                  <a:ea typeface="Arial"/>
                  <a:cs typeface="Arial"/>
                  <a:sym typeface="Arial"/>
                </a:defRPr>
              </a:lvl1pPr>
            </a:lstStyle>
            <a:p>
              <a:pPr/>
              <a:r>
                <a:t>Goggles on. Lab coats ready. DO NOT eat anything.</a:t>
              </a:r>
            </a:p>
          </p:txBody>
        </p:sp>
      </p:grpSp>
      <p:grpSp>
        <p:nvGrpSpPr>
          <p:cNvPr id="327" name="rec_banner"/>
          <p:cNvGrpSpPr/>
          <p:nvPr/>
        </p:nvGrpSpPr>
        <p:grpSpPr>
          <a:xfrm>
            <a:off x="1170432" y="5943600"/>
            <a:ext cx="10472623" cy="475488"/>
            <a:chOff x="0" y="0"/>
            <a:chExt cx="10472622" cy="475487"/>
          </a:xfrm>
        </p:grpSpPr>
        <p:sp>
          <p:nvSpPr>
            <p:cNvPr id="325" name="Rounded Rectangle"/>
            <p:cNvSpPr/>
            <p:nvPr/>
          </p:nvSpPr>
          <p:spPr>
            <a:xfrm>
              <a:off x="0" y="0"/>
              <a:ext cx="10472623" cy="475488"/>
            </a:xfrm>
            <a:prstGeom prst="roundRect">
              <a:avLst>
                <a:gd name="adj" fmla="val 23077"/>
              </a:avLst>
            </a:prstGeom>
            <a:solidFill>
              <a:srgbClr val="FFF6CC"/>
            </a:solidFill>
            <a:ln w="19050" cap="flat">
              <a:solidFill>
                <a:srgbClr val="FFD921"/>
              </a:solidFill>
              <a:prstDash val="solid"/>
              <a:round/>
            </a:ln>
            <a:effectLst/>
          </p:spPr>
          <p:txBody>
            <a:bodyPr wrap="square" lIns="45719" tIns="45719" rIns="45719" bIns="45719" numCol="1" anchor="ctr">
              <a:noAutofit/>
            </a:bodyPr>
            <a:lstStyle/>
            <a:p>
              <a:pPr algn="ctr">
                <a:defRPr sz="1500"/>
              </a:pPr>
            </a:p>
          </p:txBody>
        </p:sp>
        <p:sp>
          <p:nvSpPr>
            <p:cNvPr id="326" name="Record every trial on your sheet. Each food is burnt three times."/>
            <p:cNvSpPr txBox="1"/>
            <p:nvPr/>
          </p:nvSpPr>
          <p:spPr>
            <a:xfrm>
              <a:off x="41663" y="131639"/>
              <a:ext cx="10389297" cy="2122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500">
                  <a:solidFill>
                    <a:srgbClr val="15395C"/>
                  </a:solidFill>
                  <a:latin typeface="Arial"/>
                  <a:ea typeface="Arial"/>
                  <a:cs typeface="Arial"/>
                  <a:sym typeface="Arial"/>
                </a:defRPr>
              </a:lvl1pPr>
            </a:lstStyle>
            <a:p>
              <a:pPr/>
              <a:r>
                <a:t>Record every trial on your sheet. Each food is burnt three times.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7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91"/>
                                        </p:tgtEl>
                                        <p:attrNameLst>
                                          <p:attrName>style.visibility</p:attrName>
                                        </p:attrNameLst>
                                      </p:cBhvr>
                                      <p:to>
                                        <p:strVal val="visible"/>
                                      </p:to>
                                    </p:set>
                                    <p:animEffect filter="fade" transition="in">
                                      <p:cBhvr>
                                        <p:cTn id="11" dur="400"/>
                                        <p:tgtEl>
                                          <p:spTgt spid="29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96"/>
                                        </p:tgtEl>
                                        <p:attrNameLst>
                                          <p:attrName>style.visibility</p:attrName>
                                        </p:attrNameLst>
                                      </p:cBhvr>
                                      <p:to>
                                        <p:strVal val="visible"/>
                                      </p:to>
                                    </p:set>
                                    <p:animEffect filter="fade" transition="in">
                                      <p:cBhvr>
                                        <p:cTn id="16" dur="400"/>
                                        <p:tgtEl>
                                          <p:spTgt spid="296"/>
                                        </p:tgtEl>
                                      </p:cBhvr>
                                    </p:animEffect>
                                  </p:childTnLst>
                                </p:cTn>
                              </p:par>
                            </p:childTnLst>
                          </p:cTn>
                        </p:par>
                        <p:par>
                          <p:cTn id="17" fill="hold">
                            <p:stCondLst>
                              <p:cond delay="400"/>
                            </p:stCondLst>
                            <p:childTnLst>
                              <p:par>
                                <p:cTn id="18" presetClass="entr" nodeType="afterEffect" presetID="10" grpId="4" fill="hold">
                                  <p:stCondLst>
                                    <p:cond delay="150"/>
                                  </p:stCondLst>
                                  <p:iterate type="el" backwards="0">
                                    <p:tmAbs val="0"/>
                                  </p:iterate>
                                  <p:childTnLst>
                                    <p:set>
                                      <p:cBhvr>
                                        <p:cTn id="19" fill="hold"/>
                                        <p:tgtEl>
                                          <p:spTgt spid="301"/>
                                        </p:tgtEl>
                                        <p:attrNameLst>
                                          <p:attrName>style.visibility</p:attrName>
                                        </p:attrNameLst>
                                      </p:cBhvr>
                                      <p:to>
                                        <p:strVal val="visible"/>
                                      </p:to>
                                    </p:set>
                                    <p:animEffect filter="fade" transition="in">
                                      <p:cBhvr>
                                        <p:cTn id="20" dur="400"/>
                                        <p:tgtEl>
                                          <p:spTgt spid="301"/>
                                        </p:tgtEl>
                                      </p:cBhvr>
                                    </p:animEffect>
                                  </p:childTnLst>
                                </p:cTn>
                              </p:par>
                            </p:childTnLst>
                          </p:cTn>
                        </p:par>
                        <p:par>
                          <p:cTn id="21" fill="hold">
                            <p:stCondLst>
                              <p:cond delay="950"/>
                            </p:stCondLst>
                            <p:childTnLst>
                              <p:par>
                                <p:cTn id="22" presetClass="entr" nodeType="afterEffect" presetID="10" grpId="5" fill="hold">
                                  <p:stCondLst>
                                    <p:cond delay="300"/>
                                  </p:stCondLst>
                                  <p:iterate type="el" backwards="0">
                                    <p:tmAbs val="0"/>
                                  </p:iterate>
                                  <p:childTnLst>
                                    <p:set>
                                      <p:cBhvr>
                                        <p:cTn id="23" fill="hold"/>
                                        <p:tgtEl>
                                          <p:spTgt spid="306"/>
                                        </p:tgtEl>
                                        <p:attrNameLst>
                                          <p:attrName>style.visibility</p:attrName>
                                        </p:attrNameLst>
                                      </p:cBhvr>
                                      <p:to>
                                        <p:strVal val="visible"/>
                                      </p:to>
                                    </p:set>
                                    <p:animEffect filter="fade" transition="in">
                                      <p:cBhvr>
                                        <p:cTn id="24" dur="400"/>
                                        <p:tgtEl>
                                          <p:spTgt spid="306"/>
                                        </p:tgtEl>
                                      </p:cBhvr>
                                    </p:animEffect>
                                  </p:childTnLst>
                                </p:cTn>
                              </p:par>
                            </p:childTnLst>
                          </p:cTn>
                        </p:par>
                        <p:par>
                          <p:cTn id="25" fill="hold">
                            <p:stCondLst>
                              <p:cond delay="1650"/>
                            </p:stCondLst>
                            <p:childTnLst>
                              <p:par>
                                <p:cTn id="26" presetClass="entr" nodeType="afterEffect" presetID="10" grpId="6" fill="hold">
                                  <p:stCondLst>
                                    <p:cond delay="450"/>
                                  </p:stCondLst>
                                  <p:iterate type="el" backwards="0">
                                    <p:tmAbs val="0"/>
                                  </p:iterate>
                                  <p:childTnLst>
                                    <p:set>
                                      <p:cBhvr>
                                        <p:cTn id="27" fill="hold"/>
                                        <p:tgtEl>
                                          <p:spTgt spid="311"/>
                                        </p:tgtEl>
                                        <p:attrNameLst>
                                          <p:attrName>style.visibility</p:attrName>
                                        </p:attrNameLst>
                                      </p:cBhvr>
                                      <p:to>
                                        <p:strVal val="visible"/>
                                      </p:to>
                                    </p:set>
                                    <p:animEffect filter="fade" transition="in">
                                      <p:cBhvr>
                                        <p:cTn id="28" dur="400"/>
                                        <p:tgtEl>
                                          <p:spTgt spid="311"/>
                                        </p:tgtEl>
                                      </p:cBhvr>
                                    </p:animEffect>
                                  </p:childTnLst>
                                </p:cTn>
                              </p:par>
                            </p:childTnLst>
                          </p:cTn>
                        </p:par>
                        <p:par>
                          <p:cTn id="29" fill="hold">
                            <p:stCondLst>
                              <p:cond delay="2500"/>
                            </p:stCondLst>
                            <p:childTnLst>
                              <p:par>
                                <p:cTn id="30" presetClass="entr" nodeType="afterEffect" presetID="10" grpId="7" fill="hold">
                                  <p:stCondLst>
                                    <p:cond delay="600"/>
                                  </p:stCondLst>
                                  <p:iterate type="el" backwards="0">
                                    <p:tmAbs val="0"/>
                                  </p:iterate>
                                  <p:childTnLst>
                                    <p:set>
                                      <p:cBhvr>
                                        <p:cTn id="31" fill="hold"/>
                                        <p:tgtEl>
                                          <p:spTgt spid="316"/>
                                        </p:tgtEl>
                                        <p:attrNameLst>
                                          <p:attrName>style.visibility</p:attrName>
                                        </p:attrNameLst>
                                      </p:cBhvr>
                                      <p:to>
                                        <p:strVal val="visible"/>
                                      </p:to>
                                    </p:set>
                                    <p:animEffect filter="fade" transition="in">
                                      <p:cBhvr>
                                        <p:cTn id="32" dur="400"/>
                                        <p:tgtEl>
                                          <p:spTgt spid="316"/>
                                        </p:tgtEl>
                                      </p:cBhvr>
                                    </p:animEffect>
                                  </p:childTnLst>
                                </p:cTn>
                              </p:par>
                            </p:childTnLst>
                          </p:cTn>
                        </p:par>
                        <p:par>
                          <p:cTn id="33" fill="hold">
                            <p:stCondLst>
                              <p:cond delay="3500"/>
                            </p:stCondLst>
                            <p:childTnLst>
                              <p:par>
                                <p:cTn id="34" presetClass="entr" nodeType="afterEffect" presetID="10" grpId="8" fill="hold">
                                  <p:stCondLst>
                                    <p:cond delay="750"/>
                                  </p:stCondLst>
                                  <p:iterate type="el" backwards="0">
                                    <p:tmAbs val="0"/>
                                  </p:iterate>
                                  <p:childTnLst>
                                    <p:set>
                                      <p:cBhvr>
                                        <p:cTn id="35" fill="hold"/>
                                        <p:tgtEl>
                                          <p:spTgt spid="321"/>
                                        </p:tgtEl>
                                        <p:attrNameLst>
                                          <p:attrName>style.visibility</p:attrName>
                                        </p:attrNameLst>
                                      </p:cBhvr>
                                      <p:to>
                                        <p:strVal val="visible"/>
                                      </p:to>
                                    </p:set>
                                    <p:animEffect filter="fade" transition="in">
                                      <p:cBhvr>
                                        <p:cTn id="36" dur="400"/>
                                        <p:tgtEl>
                                          <p:spTgt spid="321"/>
                                        </p:tgtEl>
                                      </p:cBhvr>
                                    </p:animEffect>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16" presetID="23" grpId="9" fill="hold">
                                  <p:stCondLst>
                                    <p:cond delay="0"/>
                                  </p:stCondLst>
                                  <p:iterate type="el" backwards="0">
                                    <p:tmAbs val="0"/>
                                  </p:iterate>
                                  <p:childTnLst>
                                    <p:set>
                                      <p:cBhvr>
                                        <p:cTn id="40" fill="hold"/>
                                        <p:tgtEl>
                                          <p:spTgt spid="324"/>
                                        </p:tgtEl>
                                        <p:attrNameLst>
                                          <p:attrName>style.visibility</p:attrName>
                                        </p:attrNameLst>
                                      </p:cBhvr>
                                      <p:to>
                                        <p:strVal val="visible"/>
                                      </p:to>
                                    </p:set>
                                    <p:anim calcmode="lin" valueType="num">
                                      <p:cBhvr>
                                        <p:cTn id="41" dur="400" fill="hold"/>
                                        <p:tgtEl>
                                          <p:spTgt spid="324"/>
                                        </p:tgtEl>
                                        <p:attrNameLst>
                                          <p:attrName>ppt_w</p:attrName>
                                        </p:attrNameLst>
                                      </p:cBhvr>
                                      <p:tavLst>
                                        <p:tav tm="0">
                                          <p:val>
                                            <p:fltVal val="0"/>
                                          </p:val>
                                        </p:tav>
                                        <p:tav tm="100000">
                                          <p:val>
                                            <p:strVal val="#ppt_w"/>
                                          </p:val>
                                        </p:tav>
                                      </p:tavLst>
                                    </p:anim>
                                    <p:anim calcmode="lin" valueType="num">
                                      <p:cBhvr>
                                        <p:cTn id="42" dur="400" fill="hold"/>
                                        <p:tgtEl>
                                          <p:spTgt spid="324"/>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Class="entr" nodeType="clickEffect" presetSubtype="16" presetID="23" grpId="10" fill="hold">
                                  <p:stCondLst>
                                    <p:cond delay="0"/>
                                  </p:stCondLst>
                                  <p:iterate type="el" backwards="0">
                                    <p:tmAbs val="0"/>
                                  </p:iterate>
                                  <p:childTnLst>
                                    <p:set>
                                      <p:cBhvr>
                                        <p:cTn id="46" fill="hold"/>
                                        <p:tgtEl>
                                          <p:spTgt spid="327"/>
                                        </p:tgtEl>
                                        <p:attrNameLst>
                                          <p:attrName>style.visibility</p:attrName>
                                        </p:attrNameLst>
                                      </p:cBhvr>
                                      <p:to>
                                        <p:strVal val="visible"/>
                                      </p:to>
                                    </p:set>
                                    <p:anim calcmode="lin" valueType="num">
                                      <p:cBhvr>
                                        <p:cTn id="47" dur="400" fill="hold"/>
                                        <p:tgtEl>
                                          <p:spTgt spid="327"/>
                                        </p:tgtEl>
                                        <p:attrNameLst>
                                          <p:attrName>ppt_w</p:attrName>
                                        </p:attrNameLst>
                                      </p:cBhvr>
                                      <p:tavLst>
                                        <p:tav tm="0">
                                          <p:val>
                                            <p:fltVal val="0"/>
                                          </p:val>
                                        </p:tav>
                                        <p:tav tm="100000">
                                          <p:val>
                                            <p:strVal val="#ppt_w"/>
                                          </p:val>
                                        </p:tav>
                                      </p:tavLst>
                                    </p:anim>
                                    <p:anim calcmode="lin" valueType="num">
                                      <p:cBhvr>
                                        <p:cTn id="48" dur="400" fill="hold"/>
                                        <p:tgtEl>
                                          <p:spTgt spid="3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9" fill="hold" display="0">
                  <p:stCondLst>
                    <p:cond delay="indefinite"/>
                  </p:stCondLst>
                </p:cTn>
                <p:tgtEl>
                  <p:spTgt spid="271"/>
                </p:tgtEl>
              </p:cMediaNode>
            </p:video>
            <p:seq concurrent="1" prevAc="none" nextAc="seek">
              <p:cTn id="50" evtFilter="cancelBubble" nodeType="interactiveSeq" restart="whenNotActive" fill="hold">
                <p:stCondLst>
                  <p:cond delay="0" evt="onClick">
                    <p:tgtEl>
                      <p:spTgt spid="271"/>
                    </p:tgtEl>
                  </p:cond>
                </p:stCondLst>
                <p:endSync delay="0" evt="end">
                  <p:rtn val="all"/>
                </p:endSync>
                <p:childTnLst>
                  <p:par>
                    <p:cTn id="51" fill="hold">
                      <p:stCondLst>
                        <p:cond delay="0"/>
                      </p:stCondLst>
                      <p:childTnLst>
                        <p:par>
                          <p:cTn id="52" fill="hold">
                            <p:stCondLst>
                              <p:cond delay="0"/>
                            </p:stCondLst>
                            <p:childTnLst>
                              <p:par>
                                <p:cTn id="53" presetClass="mediacall" nodeType="clickEffect" presetSubtype="0" presetID="2" fill="hold">
                                  <p:stCondLst>
                                    <p:cond delay="0"/>
                                  </p:stCondLst>
                                  <p:childTnLst>
                                    <p:cmd type="call" cmd="togglePause">
                                      <p:cBhvr>
                                        <p:cTn id="54" dur="1" fill="hold"/>
                                        <p:tgtEl>
                                          <p:spTgt spid="271"/>
                                        </p:tgtEl>
                                      </p:cBhvr>
                                    </p:cmd>
                                  </p:childTnLst>
                                </p:cTn>
                              </p:par>
                            </p:childTnLst>
                          </p:cTn>
                        </p:par>
                      </p:childTnLst>
                    </p:cTn>
                  </p:par>
                </p:childTnLst>
              </p:cTn>
              <p:nextCondLst>
                <p:cond delay="0" evt="onClick">
                  <p:tgtEl>
                    <p:spTgt spid="271"/>
                  </p:tgtEl>
                </p:cond>
              </p:nextCondLst>
            </p:seq>
          </p:childTnLst>
        </p:cTn>
      </p:par>
    </p:tnLst>
    <p:bldLst>
      <p:bldP build="whole" bldLvl="1" animBg="1" rev="0" advAuto="0" spid="291" grpId="2"/>
      <p:bldP build="whole" bldLvl="1" animBg="1" rev="0" advAuto="0" spid="301" grpId="4"/>
      <p:bldP build="whole" bldLvl="1" animBg="1" rev="0" advAuto="0" spid="311" grpId="6"/>
      <p:bldP build="whole" bldLvl="1" animBg="1" rev="0" advAuto="0" spid="321" grpId="8"/>
      <p:bldP build="whole" bldLvl="1" animBg="1" rev="0" advAuto="0" spid="324" grpId="9"/>
      <p:bldP build="whole" bldLvl="1" animBg="1" rev="0" advAuto="0" spid="327" grpId="10"/>
      <p:bldP build="whole" bldLvl="1" animBg="1" rev="0" advAuto="0" spid="296" grpId="3"/>
      <p:bldP build="whole" bldLvl="1" animBg="1" rev="0" advAuto="0" spid="306" grpId="5"/>
      <p:bldP build="whole" bldLvl="1" animBg="1" rev="0" advAuto="0" spid="316" grpId="7"/>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33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34" name="phase_pill"/>
          <p:cNvGrpSpPr/>
          <p:nvPr/>
        </p:nvGrpSpPr>
        <p:grpSpPr>
          <a:xfrm>
            <a:off x="1170432" y="310895"/>
            <a:ext cx="1803197" cy="329185"/>
            <a:chOff x="0" y="0"/>
            <a:chExt cx="1803196" cy="329184"/>
          </a:xfrm>
        </p:grpSpPr>
        <p:sp>
          <p:nvSpPr>
            <p:cNvPr id="332" name="Rounded Rectangle"/>
            <p:cNvSpPr/>
            <p:nvPr/>
          </p:nvSpPr>
          <p:spPr>
            <a:xfrm>
              <a:off x="0" y="0"/>
              <a:ext cx="1803197"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333" name="YOU DO · 7 MIN"/>
            <p:cNvSpPr txBox="1"/>
            <p:nvPr/>
          </p:nvSpPr>
          <p:spPr>
            <a:xfrm>
              <a:off x="42850" y="90677"/>
              <a:ext cx="171749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7 MIN</a:t>
              </a:r>
            </a:p>
          </p:txBody>
        </p:sp>
      </p:grpSp>
      <p:sp>
        <p:nvSpPr>
          <p:cNvPr id="335"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Class results, then finish your sheet</a:t>
            </a:r>
          </a:p>
        </p:txBody>
      </p:sp>
      <p:grpSp>
        <p:nvGrpSpPr>
          <p:cNvPr id="354" name="cr"/>
          <p:cNvGrpSpPr/>
          <p:nvPr/>
        </p:nvGrpSpPr>
        <p:grpSpPr>
          <a:xfrm>
            <a:off x="1170432" y="1700783"/>
            <a:ext cx="4754880" cy="4160522"/>
            <a:chOff x="0" y="0"/>
            <a:chExt cx="4754879" cy="4160520"/>
          </a:xfrm>
        </p:grpSpPr>
        <p:sp>
          <p:nvSpPr>
            <p:cNvPr id="336" name="cr_bg"/>
            <p:cNvSpPr/>
            <p:nvPr/>
          </p:nvSpPr>
          <p:spPr>
            <a:xfrm>
              <a:off x="0" y="0"/>
              <a:ext cx="4754880" cy="4160521"/>
            </a:xfrm>
            <a:prstGeom prst="roundRect">
              <a:avLst>
                <a:gd name="adj" fmla="val 219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37" name="cr_h"/>
            <p:cNvSpPr txBox="1"/>
            <p:nvPr/>
          </p:nvSpPr>
          <p:spPr>
            <a:xfrm>
              <a:off x="237744" y="230378"/>
              <a:ext cx="4279392"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5395C"/>
                  </a:solidFill>
                  <a:latin typeface="Georgia"/>
                  <a:ea typeface="Georgia"/>
                  <a:cs typeface="Georgia"/>
                  <a:sym typeface="Georgia"/>
                </a:defRPr>
              </a:lvl1pPr>
            </a:lstStyle>
            <a:p>
              <a:pPr/>
              <a:r>
                <a:t>CLASS RESULTS: average rise (°C)</a:t>
              </a:r>
            </a:p>
          </p:txBody>
        </p:sp>
        <p:sp>
          <p:nvSpPr>
            <p:cNvPr id="338" name="cr0_bg"/>
            <p:cNvSpPr/>
            <p:nvPr/>
          </p:nvSpPr>
          <p:spPr>
            <a:xfrm>
              <a:off x="219455" y="731520"/>
              <a:ext cx="4315969" cy="676657"/>
            </a:xfrm>
            <a:prstGeom prst="roundRect">
              <a:avLst>
                <a:gd name="adj" fmla="val 10811"/>
              </a:avLst>
            </a:prstGeom>
            <a:solidFill>
              <a:srgbClr val="F2F6FB"/>
            </a:solidFill>
            <a:ln w="12700" cap="flat">
              <a:solidFill>
                <a:srgbClr val="D8DEEC"/>
              </a:solidFill>
              <a:prstDash val="solid"/>
              <a:round/>
            </a:ln>
            <a:effectLst/>
          </p:spPr>
          <p:txBody>
            <a:bodyPr wrap="square" lIns="45719" tIns="45719" rIns="45719" bIns="45719" numCol="1" anchor="t">
              <a:noAutofit/>
            </a:bodyPr>
            <a:lstStyle/>
            <a:p>
              <a:pPr/>
            </a:p>
          </p:txBody>
        </p:sp>
        <p:pic>
          <p:nvPicPr>
            <p:cNvPr id="339" name="cr0_icon" descr="cr0_icon"/>
            <p:cNvPicPr>
              <a:picLocks noChangeAspect="1"/>
            </p:cNvPicPr>
            <p:nvPr/>
          </p:nvPicPr>
          <p:blipFill>
            <a:blip r:embed="rId6">
              <a:extLst/>
            </a:blip>
            <a:stretch>
              <a:fillRect/>
            </a:stretch>
          </p:blipFill>
          <p:spPr>
            <a:xfrm>
              <a:off x="365759" y="850392"/>
              <a:ext cx="438913" cy="438913"/>
            </a:xfrm>
            <a:prstGeom prst="rect">
              <a:avLst/>
            </a:prstGeom>
            <a:ln w="12700" cap="flat">
              <a:noFill/>
              <a:miter lim="400000"/>
            </a:ln>
            <a:effectLst/>
          </p:spPr>
        </p:pic>
        <p:sp>
          <p:nvSpPr>
            <p:cNvPr id="340" name="cr0_n"/>
            <p:cNvSpPr txBox="1"/>
            <p:nvPr/>
          </p:nvSpPr>
          <p:spPr>
            <a:xfrm>
              <a:off x="960119" y="958871"/>
              <a:ext cx="1920241"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15395C"/>
                  </a:solidFill>
                  <a:latin typeface="Arial"/>
                  <a:ea typeface="Arial"/>
                  <a:cs typeface="Arial"/>
                  <a:sym typeface="Arial"/>
                </a:defRPr>
              </a:lvl1pPr>
            </a:lstStyle>
            <a:p>
              <a:pPr/>
              <a:r>
                <a:t>Bread</a:t>
              </a:r>
            </a:p>
          </p:txBody>
        </p:sp>
        <p:sp>
          <p:nvSpPr>
            <p:cNvPr id="341" name="cr0_v"/>
            <p:cNvSpPr txBox="1"/>
            <p:nvPr/>
          </p:nvSpPr>
          <p:spPr>
            <a:xfrm>
              <a:off x="2926079" y="958871"/>
              <a:ext cx="1645921"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55708A"/>
                  </a:solidFill>
                  <a:latin typeface="Arial"/>
                  <a:ea typeface="Arial"/>
                  <a:cs typeface="Arial"/>
                  <a:sym typeface="Arial"/>
                </a:defRPr>
              </a:lvl1pPr>
            </a:lstStyle>
            <a:p>
              <a:pPr/>
              <a:r>
                <a:t>______ °C</a:t>
              </a:r>
            </a:p>
          </p:txBody>
        </p:sp>
        <p:sp>
          <p:nvSpPr>
            <p:cNvPr id="342" name="cr1_bg"/>
            <p:cNvSpPr/>
            <p:nvPr/>
          </p:nvSpPr>
          <p:spPr>
            <a:xfrm>
              <a:off x="219455" y="1554480"/>
              <a:ext cx="4315969" cy="676657"/>
            </a:xfrm>
            <a:prstGeom prst="roundRect">
              <a:avLst>
                <a:gd name="adj" fmla="val 10811"/>
              </a:avLst>
            </a:prstGeom>
            <a:solidFill>
              <a:srgbClr val="F2F6FB"/>
            </a:solidFill>
            <a:ln w="12700" cap="flat">
              <a:solidFill>
                <a:srgbClr val="D8DEEC"/>
              </a:solidFill>
              <a:prstDash val="solid"/>
              <a:round/>
            </a:ln>
            <a:effectLst/>
          </p:spPr>
          <p:txBody>
            <a:bodyPr wrap="square" lIns="45719" tIns="45719" rIns="45719" bIns="45719" numCol="1" anchor="t">
              <a:noAutofit/>
            </a:bodyPr>
            <a:lstStyle/>
            <a:p>
              <a:pPr/>
            </a:p>
          </p:txBody>
        </p:sp>
        <p:pic>
          <p:nvPicPr>
            <p:cNvPr id="343" name="cr1_icon" descr="cr1_icon"/>
            <p:cNvPicPr>
              <a:picLocks noChangeAspect="1"/>
            </p:cNvPicPr>
            <p:nvPr/>
          </p:nvPicPr>
          <p:blipFill>
            <a:blip r:embed="rId7">
              <a:extLst/>
            </a:blip>
            <a:stretch>
              <a:fillRect/>
            </a:stretch>
          </p:blipFill>
          <p:spPr>
            <a:xfrm>
              <a:off x="365759" y="1673352"/>
              <a:ext cx="438913" cy="438913"/>
            </a:xfrm>
            <a:prstGeom prst="rect">
              <a:avLst/>
            </a:prstGeom>
            <a:ln w="12700" cap="flat">
              <a:noFill/>
              <a:miter lim="400000"/>
            </a:ln>
            <a:effectLst/>
          </p:spPr>
        </p:pic>
        <p:sp>
          <p:nvSpPr>
            <p:cNvPr id="344" name="cr1_n"/>
            <p:cNvSpPr txBox="1"/>
            <p:nvPr/>
          </p:nvSpPr>
          <p:spPr>
            <a:xfrm>
              <a:off x="960119" y="1781831"/>
              <a:ext cx="1920241"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15395C"/>
                  </a:solidFill>
                  <a:latin typeface="Arial"/>
                  <a:ea typeface="Arial"/>
                  <a:cs typeface="Arial"/>
                  <a:sym typeface="Arial"/>
                </a:defRPr>
              </a:lvl1pPr>
            </a:lstStyle>
            <a:p>
              <a:pPr/>
              <a:r>
                <a:t>Corn flakes</a:t>
              </a:r>
            </a:p>
          </p:txBody>
        </p:sp>
        <p:sp>
          <p:nvSpPr>
            <p:cNvPr id="345" name="cr1_v"/>
            <p:cNvSpPr txBox="1"/>
            <p:nvPr/>
          </p:nvSpPr>
          <p:spPr>
            <a:xfrm>
              <a:off x="2926079" y="1781831"/>
              <a:ext cx="1645921"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55708A"/>
                  </a:solidFill>
                  <a:latin typeface="Arial"/>
                  <a:ea typeface="Arial"/>
                  <a:cs typeface="Arial"/>
                  <a:sym typeface="Arial"/>
                </a:defRPr>
              </a:lvl1pPr>
            </a:lstStyle>
            <a:p>
              <a:pPr/>
              <a:r>
                <a:t>______ °C</a:t>
              </a:r>
            </a:p>
          </p:txBody>
        </p:sp>
        <p:sp>
          <p:nvSpPr>
            <p:cNvPr id="346" name="cr2_bg"/>
            <p:cNvSpPr/>
            <p:nvPr/>
          </p:nvSpPr>
          <p:spPr>
            <a:xfrm>
              <a:off x="219455" y="2377440"/>
              <a:ext cx="4315969" cy="676657"/>
            </a:xfrm>
            <a:prstGeom prst="roundRect">
              <a:avLst>
                <a:gd name="adj" fmla="val 10811"/>
              </a:avLst>
            </a:prstGeom>
            <a:solidFill>
              <a:srgbClr val="F2F6FB"/>
            </a:solidFill>
            <a:ln w="12700" cap="flat">
              <a:solidFill>
                <a:srgbClr val="D8DEEC"/>
              </a:solidFill>
              <a:prstDash val="solid"/>
              <a:round/>
            </a:ln>
            <a:effectLst/>
          </p:spPr>
          <p:txBody>
            <a:bodyPr wrap="square" lIns="45719" tIns="45719" rIns="45719" bIns="45719" numCol="1" anchor="t">
              <a:noAutofit/>
            </a:bodyPr>
            <a:lstStyle/>
            <a:p>
              <a:pPr/>
            </a:p>
          </p:txBody>
        </p:sp>
        <p:pic>
          <p:nvPicPr>
            <p:cNvPr id="347" name="cr2_icon" descr="cr2_icon"/>
            <p:cNvPicPr>
              <a:picLocks noChangeAspect="1"/>
            </p:cNvPicPr>
            <p:nvPr/>
          </p:nvPicPr>
          <p:blipFill>
            <a:blip r:embed="rId8">
              <a:extLst/>
            </a:blip>
            <a:stretch>
              <a:fillRect/>
            </a:stretch>
          </p:blipFill>
          <p:spPr>
            <a:xfrm>
              <a:off x="365759" y="2496312"/>
              <a:ext cx="438913" cy="438913"/>
            </a:xfrm>
            <a:prstGeom prst="rect">
              <a:avLst/>
            </a:prstGeom>
            <a:ln w="12700" cap="flat">
              <a:noFill/>
              <a:miter lim="400000"/>
            </a:ln>
            <a:effectLst/>
          </p:spPr>
        </p:pic>
        <p:sp>
          <p:nvSpPr>
            <p:cNvPr id="348" name="cr2_n"/>
            <p:cNvSpPr txBox="1"/>
            <p:nvPr/>
          </p:nvSpPr>
          <p:spPr>
            <a:xfrm>
              <a:off x="960119" y="2604791"/>
              <a:ext cx="1920241"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15395C"/>
                  </a:solidFill>
                  <a:latin typeface="Arial"/>
                  <a:ea typeface="Arial"/>
                  <a:cs typeface="Arial"/>
                  <a:sym typeface="Arial"/>
                </a:defRPr>
              </a:lvl1pPr>
            </a:lstStyle>
            <a:p>
              <a:pPr/>
              <a:r>
                <a:t>Crisps</a:t>
              </a:r>
            </a:p>
          </p:txBody>
        </p:sp>
        <p:sp>
          <p:nvSpPr>
            <p:cNvPr id="349" name="cr2_v"/>
            <p:cNvSpPr txBox="1"/>
            <p:nvPr/>
          </p:nvSpPr>
          <p:spPr>
            <a:xfrm>
              <a:off x="2926079" y="2604791"/>
              <a:ext cx="1645921"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55708A"/>
                  </a:solidFill>
                  <a:latin typeface="Arial"/>
                  <a:ea typeface="Arial"/>
                  <a:cs typeface="Arial"/>
                  <a:sym typeface="Arial"/>
                </a:defRPr>
              </a:lvl1pPr>
            </a:lstStyle>
            <a:p>
              <a:pPr/>
              <a:r>
                <a:t>______ °C</a:t>
              </a:r>
            </a:p>
          </p:txBody>
        </p:sp>
        <p:sp>
          <p:nvSpPr>
            <p:cNvPr id="350" name="cr3_bg"/>
            <p:cNvSpPr/>
            <p:nvPr/>
          </p:nvSpPr>
          <p:spPr>
            <a:xfrm>
              <a:off x="219455" y="3200400"/>
              <a:ext cx="4315969" cy="676657"/>
            </a:xfrm>
            <a:prstGeom prst="roundRect">
              <a:avLst>
                <a:gd name="adj" fmla="val 10811"/>
              </a:avLst>
            </a:prstGeom>
            <a:solidFill>
              <a:srgbClr val="F2F6FB"/>
            </a:solidFill>
            <a:ln w="12700" cap="flat">
              <a:solidFill>
                <a:srgbClr val="D8DEEC"/>
              </a:solidFill>
              <a:prstDash val="solid"/>
              <a:round/>
            </a:ln>
            <a:effectLst/>
          </p:spPr>
          <p:txBody>
            <a:bodyPr wrap="square" lIns="45719" tIns="45719" rIns="45719" bIns="45719" numCol="1" anchor="t">
              <a:noAutofit/>
            </a:bodyPr>
            <a:lstStyle/>
            <a:p>
              <a:pPr/>
            </a:p>
          </p:txBody>
        </p:sp>
        <p:pic>
          <p:nvPicPr>
            <p:cNvPr id="351" name="cr3_icon" descr="cr3_icon"/>
            <p:cNvPicPr>
              <a:picLocks noChangeAspect="1"/>
            </p:cNvPicPr>
            <p:nvPr/>
          </p:nvPicPr>
          <p:blipFill>
            <a:blip r:embed="rId9">
              <a:extLst/>
            </a:blip>
            <a:stretch>
              <a:fillRect/>
            </a:stretch>
          </p:blipFill>
          <p:spPr>
            <a:xfrm>
              <a:off x="365759" y="3319272"/>
              <a:ext cx="438913" cy="438913"/>
            </a:xfrm>
            <a:prstGeom prst="rect">
              <a:avLst/>
            </a:prstGeom>
            <a:ln w="12700" cap="flat">
              <a:noFill/>
              <a:miter lim="400000"/>
            </a:ln>
            <a:effectLst/>
          </p:spPr>
        </p:pic>
        <p:sp>
          <p:nvSpPr>
            <p:cNvPr id="352" name="cr3_n"/>
            <p:cNvSpPr txBox="1"/>
            <p:nvPr/>
          </p:nvSpPr>
          <p:spPr>
            <a:xfrm>
              <a:off x="960119" y="3427751"/>
              <a:ext cx="1920241"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15395C"/>
                  </a:solidFill>
                  <a:latin typeface="Arial"/>
                  <a:ea typeface="Arial"/>
                  <a:cs typeface="Arial"/>
                  <a:sym typeface="Arial"/>
                </a:defRPr>
              </a:lvl1pPr>
            </a:lstStyle>
            <a:p>
              <a:pPr/>
              <a:r>
                <a:t>Crackers</a:t>
              </a:r>
            </a:p>
          </p:txBody>
        </p:sp>
        <p:sp>
          <p:nvSpPr>
            <p:cNvPr id="353" name="cr3_v"/>
            <p:cNvSpPr txBox="1"/>
            <p:nvPr/>
          </p:nvSpPr>
          <p:spPr>
            <a:xfrm>
              <a:off x="2926079" y="3427751"/>
              <a:ext cx="1645921"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55708A"/>
                  </a:solidFill>
                  <a:latin typeface="Arial"/>
                  <a:ea typeface="Arial"/>
                  <a:cs typeface="Arial"/>
                  <a:sym typeface="Arial"/>
                </a:defRPr>
              </a:lvl1pPr>
            </a:lstStyle>
            <a:p>
              <a:pPr/>
              <a:r>
                <a:t>______ °C</a:t>
              </a:r>
            </a:p>
          </p:txBody>
        </p:sp>
      </p:grpSp>
      <p:grpSp>
        <p:nvGrpSpPr>
          <p:cNvPr id="360" name="yd0"/>
          <p:cNvGrpSpPr/>
          <p:nvPr/>
        </p:nvGrpSpPr>
        <p:grpSpPr>
          <a:xfrm>
            <a:off x="6199632" y="1700783"/>
            <a:ext cx="5443424" cy="932690"/>
            <a:chOff x="0" y="0"/>
            <a:chExt cx="5443423" cy="932688"/>
          </a:xfrm>
        </p:grpSpPr>
        <p:sp>
          <p:nvSpPr>
            <p:cNvPr id="355" name="yd0_bg"/>
            <p:cNvSpPr/>
            <p:nvPr/>
          </p:nvSpPr>
          <p:spPr>
            <a:xfrm>
              <a:off x="0" y="0"/>
              <a:ext cx="5443424" cy="932689"/>
            </a:xfrm>
            <a:prstGeom prst="roundRect">
              <a:avLst>
                <a:gd name="adj" fmla="val 980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56" name="yd0_badge"/>
            <p:cNvSpPr/>
            <p:nvPr/>
          </p:nvSpPr>
          <p:spPr>
            <a:xfrm>
              <a:off x="146304" y="91440"/>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357" name="yd0_num"/>
            <p:cNvSpPr txBox="1"/>
            <p:nvPr/>
          </p:nvSpPr>
          <p:spPr>
            <a:xfrm>
              <a:off x="146304" y="181864"/>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7</a:t>
              </a:r>
            </a:p>
          </p:txBody>
        </p:sp>
        <p:sp>
          <p:nvSpPr>
            <p:cNvPr id="358" name="yd0_t"/>
            <p:cNvSpPr txBox="1"/>
            <p:nvPr/>
          </p:nvSpPr>
          <p:spPr>
            <a:xfrm>
              <a:off x="676656" y="234474"/>
              <a:ext cx="462046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0E2A40"/>
                  </a:solidFill>
                  <a:latin typeface="Arial"/>
                  <a:ea typeface="Arial"/>
                  <a:cs typeface="Arial"/>
                  <a:sym typeface="Arial"/>
                </a:defRPr>
              </a:lvl1pPr>
            </a:lstStyle>
            <a:p>
              <a:pPr/>
              <a:r>
                <a:t>Work out the average rise for your food.</a:t>
              </a:r>
            </a:p>
          </p:txBody>
        </p:sp>
        <p:sp>
          <p:nvSpPr>
            <p:cNvPr id="359" name="yd0_h"/>
            <p:cNvSpPr txBox="1"/>
            <p:nvPr/>
          </p:nvSpPr>
          <p:spPr>
            <a:xfrm>
              <a:off x="676656" y="654256"/>
              <a:ext cx="462046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i="1" sz="1200">
                  <a:solidFill>
                    <a:srgbClr val="55708A"/>
                  </a:solidFill>
                  <a:latin typeface="Arial"/>
                  <a:ea typeface="Arial"/>
                  <a:cs typeface="Arial"/>
                  <a:sym typeface="Arial"/>
                </a:defRPr>
              </a:lvl1pPr>
            </a:lstStyle>
            <a:p>
              <a:pPr/>
              <a:r>
                <a:t>Add your three rises. Divide by 3.</a:t>
              </a:r>
            </a:p>
          </p:txBody>
        </p:sp>
      </p:grpSp>
      <p:grpSp>
        <p:nvGrpSpPr>
          <p:cNvPr id="366" name="yd1"/>
          <p:cNvGrpSpPr/>
          <p:nvPr/>
        </p:nvGrpSpPr>
        <p:grpSpPr>
          <a:xfrm>
            <a:off x="6199632" y="2775204"/>
            <a:ext cx="5443424" cy="932689"/>
            <a:chOff x="0" y="0"/>
            <a:chExt cx="5443423" cy="932688"/>
          </a:xfrm>
        </p:grpSpPr>
        <p:sp>
          <p:nvSpPr>
            <p:cNvPr id="361" name="yd1_bg"/>
            <p:cNvSpPr/>
            <p:nvPr/>
          </p:nvSpPr>
          <p:spPr>
            <a:xfrm>
              <a:off x="0" y="0"/>
              <a:ext cx="5443424" cy="932689"/>
            </a:xfrm>
            <a:prstGeom prst="roundRect">
              <a:avLst>
                <a:gd name="adj" fmla="val 980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62" name="yd1_badge"/>
            <p:cNvSpPr/>
            <p:nvPr/>
          </p:nvSpPr>
          <p:spPr>
            <a:xfrm>
              <a:off x="146304" y="91440"/>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363" name="yd1_num"/>
            <p:cNvSpPr txBox="1"/>
            <p:nvPr/>
          </p:nvSpPr>
          <p:spPr>
            <a:xfrm>
              <a:off x="146304" y="181864"/>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8</a:t>
              </a:r>
            </a:p>
          </p:txBody>
        </p:sp>
        <p:sp>
          <p:nvSpPr>
            <p:cNvPr id="364" name="yd1_t"/>
            <p:cNvSpPr txBox="1"/>
            <p:nvPr/>
          </p:nvSpPr>
          <p:spPr>
            <a:xfrm>
              <a:off x="676656" y="126524"/>
              <a:ext cx="4620464"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0E2A40"/>
                  </a:solidFill>
                  <a:latin typeface="Arial"/>
                  <a:ea typeface="Arial"/>
                  <a:cs typeface="Arial"/>
                  <a:sym typeface="Arial"/>
                </a:defRPr>
              </a:lvl1pPr>
            </a:lstStyle>
            <a:p>
              <a:pPr/>
              <a:r>
                <a:t>Copy the class averages. Say which food heated the water most.</a:t>
              </a:r>
            </a:p>
          </p:txBody>
        </p:sp>
        <p:sp>
          <p:nvSpPr>
            <p:cNvPr id="365" name="yd1_h"/>
            <p:cNvSpPr txBox="1"/>
            <p:nvPr/>
          </p:nvSpPr>
          <p:spPr>
            <a:xfrm>
              <a:off x="676656" y="654256"/>
              <a:ext cx="462046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i="1" sz="1200">
                  <a:solidFill>
                    <a:srgbClr val="55708A"/>
                  </a:solidFill>
                  <a:latin typeface="Arial"/>
                  <a:ea typeface="Arial"/>
                  <a:cs typeface="Arial"/>
                  <a:sym typeface="Arial"/>
                </a:defRPr>
              </a:lvl1pPr>
            </a:lstStyle>
            <a:p>
              <a:pPr/>
              <a:r>
                <a:t>Use the numbers.</a:t>
              </a:r>
            </a:p>
          </p:txBody>
        </p:sp>
      </p:grpSp>
      <p:grpSp>
        <p:nvGrpSpPr>
          <p:cNvPr id="372" name="yd2"/>
          <p:cNvGrpSpPr/>
          <p:nvPr/>
        </p:nvGrpSpPr>
        <p:grpSpPr>
          <a:xfrm>
            <a:off x="6199632" y="3849623"/>
            <a:ext cx="5443424" cy="932689"/>
            <a:chOff x="0" y="0"/>
            <a:chExt cx="5443423" cy="932688"/>
          </a:xfrm>
        </p:grpSpPr>
        <p:sp>
          <p:nvSpPr>
            <p:cNvPr id="367" name="yd2_bg"/>
            <p:cNvSpPr/>
            <p:nvPr/>
          </p:nvSpPr>
          <p:spPr>
            <a:xfrm>
              <a:off x="0" y="0"/>
              <a:ext cx="5443424" cy="932689"/>
            </a:xfrm>
            <a:prstGeom prst="roundRect">
              <a:avLst>
                <a:gd name="adj" fmla="val 980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68" name="yd2_badge"/>
            <p:cNvSpPr/>
            <p:nvPr/>
          </p:nvSpPr>
          <p:spPr>
            <a:xfrm>
              <a:off x="146304" y="91440"/>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369" name="yd2_num"/>
            <p:cNvSpPr txBox="1"/>
            <p:nvPr/>
          </p:nvSpPr>
          <p:spPr>
            <a:xfrm>
              <a:off x="146304" y="181864"/>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9</a:t>
              </a:r>
            </a:p>
          </p:txBody>
        </p:sp>
        <p:sp>
          <p:nvSpPr>
            <p:cNvPr id="370" name="yd2_t"/>
            <p:cNvSpPr txBox="1"/>
            <p:nvPr/>
          </p:nvSpPr>
          <p:spPr>
            <a:xfrm>
              <a:off x="676656" y="234474"/>
              <a:ext cx="462046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0E2A40"/>
                  </a:solidFill>
                  <a:latin typeface="Arial"/>
                  <a:ea typeface="Arial"/>
                  <a:cs typeface="Arial"/>
                  <a:sym typeface="Arial"/>
                </a:defRPr>
              </a:lvl1pPr>
            </a:lstStyle>
            <a:p>
              <a:pPr/>
              <a:r>
                <a:t>Explain why we repeated each burn.</a:t>
              </a:r>
            </a:p>
          </p:txBody>
        </p:sp>
        <p:sp>
          <p:nvSpPr>
            <p:cNvPr id="371" name="yd2_h"/>
            <p:cNvSpPr txBox="1"/>
            <p:nvPr/>
          </p:nvSpPr>
          <p:spPr>
            <a:xfrm>
              <a:off x="676656" y="654256"/>
              <a:ext cx="462046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i="1" sz="1200">
                  <a:solidFill>
                    <a:srgbClr val="55708A"/>
                  </a:solidFill>
                  <a:latin typeface="Arial"/>
                  <a:ea typeface="Arial"/>
                  <a:cs typeface="Arial"/>
                  <a:sym typeface="Arial"/>
                </a:defRPr>
              </a:lvl1pPr>
            </a:lstStyle>
            <a:p>
              <a:pPr/>
              <a:r>
                <a:t>Think: one odd result.</a:t>
              </a:r>
            </a:p>
          </p:txBody>
        </p:sp>
      </p:grpSp>
      <p:grpSp>
        <p:nvGrpSpPr>
          <p:cNvPr id="378" name="yd3"/>
          <p:cNvGrpSpPr/>
          <p:nvPr/>
        </p:nvGrpSpPr>
        <p:grpSpPr>
          <a:xfrm>
            <a:off x="6199632" y="4924044"/>
            <a:ext cx="5443424" cy="932689"/>
            <a:chOff x="0" y="0"/>
            <a:chExt cx="5443423" cy="932688"/>
          </a:xfrm>
        </p:grpSpPr>
        <p:sp>
          <p:nvSpPr>
            <p:cNvPr id="373" name="yd3_bg"/>
            <p:cNvSpPr/>
            <p:nvPr/>
          </p:nvSpPr>
          <p:spPr>
            <a:xfrm>
              <a:off x="0" y="0"/>
              <a:ext cx="5443424" cy="932689"/>
            </a:xfrm>
            <a:prstGeom prst="roundRect">
              <a:avLst>
                <a:gd name="adj" fmla="val 980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74" name="yd3_badge"/>
            <p:cNvSpPr/>
            <p:nvPr/>
          </p:nvSpPr>
          <p:spPr>
            <a:xfrm>
              <a:off x="146304" y="91440"/>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375" name="yd3_num"/>
            <p:cNvSpPr txBox="1"/>
            <p:nvPr/>
          </p:nvSpPr>
          <p:spPr>
            <a:xfrm>
              <a:off x="146304" y="181864"/>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10</a:t>
              </a:r>
            </a:p>
          </p:txBody>
        </p:sp>
        <p:sp>
          <p:nvSpPr>
            <p:cNvPr id="376" name="yd3_t"/>
            <p:cNvSpPr txBox="1"/>
            <p:nvPr/>
          </p:nvSpPr>
          <p:spPr>
            <a:xfrm>
              <a:off x="676656" y="126524"/>
              <a:ext cx="4620464"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0E2A40"/>
                  </a:solidFill>
                  <a:latin typeface="Arial"/>
                  <a:ea typeface="Arial"/>
                  <a:cs typeface="Arial"/>
                  <a:sym typeface="Arial"/>
                </a:defRPr>
              </a:lvl1pPr>
            </a:lstStyle>
            <a:p>
              <a:pPr/>
              <a:r>
                <a:t>State one thing that made the test less fair. Say how to improve it.</a:t>
              </a:r>
            </a:p>
          </p:txBody>
        </p:sp>
        <p:sp>
          <p:nvSpPr>
            <p:cNvPr id="377" name="yd3_h"/>
            <p:cNvSpPr txBox="1"/>
            <p:nvPr/>
          </p:nvSpPr>
          <p:spPr>
            <a:xfrm>
              <a:off x="676656" y="654256"/>
              <a:ext cx="462046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i="1" sz="1200">
                  <a:solidFill>
                    <a:srgbClr val="55708A"/>
                  </a:solidFill>
                  <a:latin typeface="Arial"/>
                  <a:ea typeface="Arial"/>
                  <a:cs typeface="Arial"/>
                  <a:sym typeface="Arial"/>
                </a:defRPr>
              </a:lvl1pPr>
            </a:lstStyle>
            <a:p>
              <a:pPr/>
              <a:r>
                <a:t>Think: mass, heat lost, flame.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420000" fill="hold"/>
                                        <p:tgtEl>
                                          <p:spTgt spid="33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54"/>
                                        </p:tgtEl>
                                        <p:attrNameLst>
                                          <p:attrName>style.visibility</p:attrName>
                                        </p:attrNameLst>
                                      </p:cBhvr>
                                      <p:to>
                                        <p:strVal val="visible"/>
                                      </p:to>
                                    </p:set>
                                    <p:animEffect filter="fade" transition="in">
                                      <p:cBhvr>
                                        <p:cTn id="11" dur="400"/>
                                        <p:tgtEl>
                                          <p:spTgt spid="354"/>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360"/>
                                        </p:tgtEl>
                                        <p:attrNameLst>
                                          <p:attrName>style.visibility</p:attrName>
                                        </p:attrNameLst>
                                      </p:cBhvr>
                                      <p:to>
                                        <p:strVal val="visible"/>
                                      </p:to>
                                    </p:set>
                                    <p:animEffect filter="fade" transition="in">
                                      <p:cBhvr>
                                        <p:cTn id="16" dur="400"/>
                                        <p:tgtEl>
                                          <p:spTgt spid="36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366"/>
                                        </p:tgtEl>
                                        <p:attrNameLst>
                                          <p:attrName>style.visibility</p:attrName>
                                        </p:attrNameLst>
                                      </p:cBhvr>
                                      <p:to>
                                        <p:strVal val="visible"/>
                                      </p:to>
                                    </p:set>
                                    <p:animEffect filter="fade" transition="in">
                                      <p:cBhvr>
                                        <p:cTn id="21" dur="400"/>
                                        <p:tgtEl>
                                          <p:spTgt spid="366"/>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372"/>
                                        </p:tgtEl>
                                        <p:attrNameLst>
                                          <p:attrName>style.visibility</p:attrName>
                                        </p:attrNameLst>
                                      </p:cBhvr>
                                      <p:to>
                                        <p:strVal val="visible"/>
                                      </p:to>
                                    </p:set>
                                    <p:animEffect filter="fade" transition="in">
                                      <p:cBhvr>
                                        <p:cTn id="26" dur="400"/>
                                        <p:tgtEl>
                                          <p:spTgt spid="372"/>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378"/>
                                        </p:tgtEl>
                                        <p:attrNameLst>
                                          <p:attrName>style.visibility</p:attrName>
                                        </p:attrNameLst>
                                      </p:cBhvr>
                                      <p:to>
                                        <p:strVal val="visible"/>
                                      </p:to>
                                    </p:set>
                                    <p:animEffect filter="fade" transition="in">
                                      <p:cBhvr>
                                        <p:cTn id="31" dur="400"/>
                                        <p:tgtEl>
                                          <p:spTgt spid="37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2" fill="hold" display="0">
                  <p:stCondLst>
                    <p:cond delay="indefinite"/>
                  </p:stCondLst>
                </p:cTn>
                <p:tgtEl>
                  <p:spTgt spid="331"/>
                </p:tgtEl>
              </p:cMediaNode>
            </p:video>
            <p:seq concurrent="1" prevAc="none" nextAc="seek">
              <p:cTn id="33" evtFilter="cancelBubble" nodeType="interactiveSeq" restart="whenNotActive" fill="hold">
                <p:stCondLst>
                  <p:cond delay="0" evt="onClick">
                    <p:tgtEl>
                      <p:spTgt spid="331"/>
                    </p:tgtEl>
                  </p:cond>
                </p:stCondLst>
                <p:endSync delay="0" evt="end">
                  <p:rtn val="all"/>
                </p:endSync>
                <p:childTnLst>
                  <p:par>
                    <p:cTn id="34" fill="hold">
                      <p:stCondLst>
                        <p:cond delay="0"/>
                      </p:stCondLst>
                      <p:childTnLst>
                        <p:par>
                          <p:cTn id="35" fill="hold">
                            <p:stCondLst>
                              <p:cond delay="0"/>
                            </p:stCondLst>
                            <p:childTnLst>
                              <p:par>
                                <p:cTn id="36" presetClass="mediacall" nodeType="clickEffect" presetSubtype="0" presetID="2" fill="hold">
                                  <p:stCondLst>
                                    <p:cond delay="0"/>
                                  </p:stCondLst>
                                  <p:childTnLst>
                                    <p:cmd type="call" cmd="togglePause">
                                      <p:cBhvr>
                                        <p:cTn id="37" dur="1" fill="hold"/>
                                        <p:tgtEl>
                                          <p:spTgt spid="331"/>
                                        </p:tgtEl>
                                      </p:cBhvr>
                                    </p:cmd>
                                  </p:childTnLst>
                                </p:cTn>
                              </p:par>
                            </p:childTnLst>
                          </p:cTn>
                        </p:par>
                      </p:childTnLst>
                    </p:cTn>
                  </p:par>
                </p:childTnLst>
              </p:cTn>
              <p:nextCondLst>
                <p:cond delay="0" evt="onClick">
                  <p:tgtEl>
                    <p:spTgt spid="331"/>
                  </p:tgtEl>
                </p:cond>
              </p:nextCondLst>
            </p:seq>
          </p:childTnLst>
        </p:cTn>
      </p:par>
    </p:tnLst>
    <p:bldLst>
      <p:bldP build="whole" bldLvl="1" animBg="1" rev="0" advAuto="0" spid="360" grpId="3"/>
      <p:bldP build="whole" bldLvl="1" animBg="1" rev="0" advAuto="0" spid="366" grpId="4"/>
      <p:bldP build="whole" bldLvl="1" animBg="1" rev="0" advAuto="0" spid="354" grpId="2"/>
      <p:bldP build="whole" bldLvl="1" animBg="1" rev="0" advAuto="0" spid="372" grpId="5"/>
      <p:bldP build="whole" bldLvl="1" animBg="1" rev="0" advAuto="0" spid="378" grpId="6"/>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38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85" name="phase_pill"/>
          <p:cNvGrpSpPr/>
          <p:nvPr/>
        </p:nvGrpSpPr>
        <p:grpSpPr>
          <a:xfrm>
            <a:off x="1170432" y="310895"/>
            <a:ext cx="1892808" cy="329185"/>
            <a:chOff x="0" y="0"/>
            <a:chExt cx="1892807" cy="329184"/>
          </a:xfrm>
        </p:grpSpPr>
        <p:sp>
          <p:nvSpPr>
            <p:cNvPr id="383" name="Rounded Rectangle"/>
            <p:cNvSpPr/>
            <p:nvPr/>
          </p:nvSpPr>
          <p:spPr>
            <a:xfrm>
              <a:off x="0" y="0"/>
              <a:ext cx="1892808"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384" name="ANSWERS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ANSWERS · 3 MIN</a:t>
              </a:r>
            </a:p>
          </p:txBody>
        </p:sp>
      </p:grpSp>
      <p:sp>
        <p:nvSpPr>
          <p:cNvPr id="38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Answers</a:t>
            </a:r>
          </a:p>
        </p:txBody>
      </p:sp>
      <p:grpSp>
        <p:nvGrpSpPr>
          <p:cNvPr id="390" name="a0"/>
          <p:cNvGrpSpPr/>
          <p:nvPr/>
        </p:nvGrpSpPr>
        <p:grpSpPr>
          <a:xfrm>
            <a:off x="1170432" y="1828800"/>
            <a:ext cx="5117441" cy="658369"/>
            <a:chOff x="0" y="0"/>
            <a:chExt cx="5117439" cy="658368"/>
          </a:xfrm>
        </p:grpSpPr>
        <p:sp>
          <p:nvSpPr>
            <p:cNvPr id="387" name="a0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88" name="a0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1</a:t>
              </a:r>
            </a:p>
          </p:txBody>
        </p:sp>
        <p:sp>
          <p:nvSpPr>
            <p:cNvPr id="389" name="a0_t"/>
            <p:cNvSpPr txBox="1"/>
            <p:nvPr/>
          </p:nvSpPr>
          <p:spPr>
            <a:xfrm>
              <a:off x="749808" y="241916"/>
              <a:ext cx="4166464" cy="1745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0E2A40"/>
                  </a:solidFill>
                  <a:latin typeface="Arial"/>
                  <a:ea typeface="Arial"/>
                  <a:cs typeface="Arial"/>
                  <a:sym typeface="Arial"/>
                </a:defRPr>
              </a:lvl1pPr>
            </a:lstStyle>
            <a:p>
              <a:pPr/>
              <a:r>
                <a:t>Which food heats the water the most when it burns?</a:t>
              </a:r>
            </a:p>
          </p:txBody>
        </p:sp>
      </p:grpSp>
      <p:grpSp>
        <p:nvGrpSpPr>
          <p:cNvPr id="394" name="a1"/>
          <p:cNvGrpSpPr/>
          <p:nvPr/>
        </p:nvGrpSpPr>
        <p:grpSpPr>
          <a:xfrm>
            <a:off x="6525615" y="1828800"/>
            <a:ext cx="5117441" cy="658369"/>
            <a:chOff x="0" y="0"/>
            <a:chExt cx="5117439" cy="658368"/>
          </a:xfrm>
        </p:grpSpPr>
        <p:sp>
          <p:nvSpPr>
            <p:cNvPr id="391" name="a1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92" name="a1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2</a:t>
              </a:r>
            </a:p>
          </p:txBody>
        </p:sp>
        <p:sp>
          <p:nvSpPr>
            <p:cNvPr id="393" name="a1_t"/>
            <p:cNvSpPr txBox="1"/>
            <p:nvPr/>
          </p:nvSpPr>
          <p:spPr>
            <a:xfrm>
              <a:off x="749808" y="241916"/>
              <a:ext cx="4166464" cy="1745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0E2A40"/>
                  </a:solidFill>
                  <a:latin typeface="Arial"/>
                  <a:ea typeface="Arial"/>
                  <a:cs typeface="Arial"/>
                  <a:sym typeface="Arial"/>
                </a:defRPr>
              </a:lvl1pPr>
            </a:lstStyle>
            <a:p>
              <a:pPr/>
              <a:r>
                <a:t>The type of food.</a:t>
              </a:r>
            </a:p>
          </p:txBody>
        </p:sp>
      </p:grpSp>
      <p:grpSp>
        <p:nvGrpSpPr>
          <p:cNvPr id="398" name="a2"/>
          <p:cNvGrpSpPr/>
          <p:nvPr/>
        </p:nvGrpSpPr>
        <p:grpSpPr>
          <a:xfrm>
            <a:off x="1170432" y="2578607"/>
            <a:ext cx="5117441" cy="658369"/>
            <a:chOff x="0" y="0"/>
            <a:chExt cx="5117439" cy="658368"/>
          </a:xfrm>
        </p:grpSpPr>
        <p:sp>
          <p:nvSpPr>
            <p:cNvPr id="395" name="a2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96" name="a2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3</a:t>
              </a:r>
            </a:p>
          </p:txBody>
        </p:sp>
        <p:sp>
          <p:nvSpPr>
            <p:cNvPr id="397" name="a2_t"/>
            <p:cNvSpPr txBox="1"/>
            <p:nvPr/>
          </p:nvSpPr>
          <p:spPr>
            <a:xfrm>
              <a:off x="749808" y="241916"/>
              <a:ext cx="4166464" cy="1745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0E2A40"/>
                  </a:solidFill>
                  <a:latin typeface="Arial"/>
                  <a:ea typeface="Arial"/>
                  <a:cs typeface="Arial"/>
                  <a:sym typeface="Arial"/>
                </a:defRPr>
              </a:lvl1pPr>
            </a:lstStyle>
            <a:p>
              <a:pPr/>
              <a:r>
                <a:t>The rise in the water temperature (°C).</a:t>
              </a:r>
            </a:p>
          </p:txBody>
        </p:sp>
      </p:grpSp>
      <p:grpSp>
        <p:nvGrpSpPr>
          <p:cNvPr id="402" name="a3"/>
          <p:cNvGrpSpPr/>
          <p:nvPr/>
        </p:nvGrpSpPr>
        <p:grpSpPr>
          <a:xfrm>
            <a:off x="6525615" y="2578607"/>
            <a:ext cx="5117441" cy="658369"/>
            <a:chOff x="0" y="0"/>
            <a:chExt cx="5117439" cy="658368"/>
          </a:xfrm>
        </p:grpSpPr>
        <p:sp>
          <p:nvSpPr>
            <p:cNvPr id="399" name="a3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400" name="a3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4</a:t>
              </a:r>
            </a:p>
          </p:txBody>
        </p:sp>
        <p:sp>
          <p:nvSpPr>
            <p:cNvPr id="401" name="a3_t"/>
            <p:cNvSpPr txBox="1"/>
            <p:nvPr/>
          </p:nvSpPr>
          <p:spPr>
            <a:xfrm>
              <a:off x="749808" y="153016"/>
              <a:ext cx="4166464"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0E2A40"/>
                  </a:solidFill>
                  <a:latin typeface="Arial"/>
                  <a:ea typeface="Arial"/>
                  <a:cs typeface="Arial"/>
                  <a:sym typeface="Arial"/>
                </a:defRPr>
              </a:lvl1pPr>
            </a:lstStyle>
            <a:p>
              <a:pPr/>
              <a:r>
                <a:t>Any three: mass of food, volume of water, starting temperature, same container, same gap, same stirring.</a:t>
              </a:r>
            </a:p>
          </p:txBody>
        </p:sp>
      </p:grpSp>
      <p:grpSp>
        <p:nvGrpSpPr>
          <p:cNvPr id="406" name="a4"/>
          <p:cNvGrpSpPr/>
          <p:nvPr/>
        </p:nvGrpSpPr>
        <p:grpSpPr>
          <a:xfrm>
            <a:off x="1170432" y="3328415"/>
            <a:ext cx="5117441" cy="658369"/>
            <a:chOff x="0" y="0"/>
            <a:chExt cx="5117439" cy="658368"/>
          </a:xfrm>
        </p:grpSpPr>
        <p:sp>
          <p:nvSpPr>
            <p:cNvPr id="403" name="a4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404" name="a4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5</a:t>
              </a:r>
            </a:p>
          </p:txBody>
        </p:sp>
        <p:sp>
          <p:nvSpPr>
            <p:cNvPr id="405" name="a4_t"/>
            <p:cNvSpPr txBox="1"/>
            <p:nvPr/>
          </p:nvSpPr>
          <p:spPr>
            <a:xfrm>
              <a:off x="749808" y="153016"/>
              <a:ext cx="4166464"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0E2A40"/>
                  </a:solidFill>
                  <a:latin typeface="Arial"/>
                  <a:ea typeface="Arial"/>
                  <a:cs typeface="Arial"/>
                  <a:sym typeface="Arial"/>
                </a:defRPr>
              </a:lvl1pPr>
            </a:lstStyle>
            <a:p>
              <a:pPr/>
              <a:r>
                <a:t>Any "if, then, because". For example: if I burn crisps, the water will heat most, because they are oily.</a:t>
              </a:r>
            </a:p>
          </p:txBody>
        </p:sp>
      </p:grpSp>
      <p:grpSp>
        <p:nvGrpSpPr>
          <p:cNvPr id="410" name="a5"/>
          <p:cNvGrpSpPr/>
          <p:nvPr/>
        </p:nvGrpSpPr>
        <p:grpSpPr>
          <a:xfrm>
            <a:off x="6525615" y="3328415"/>
            <a:ext cx="5117441" cy="658369"/>
            <a:chOff x="0" y="0"/>
            <a:chExt cx="5117439" cy="658368"/>
          </a:xfrm>
        </p:grpSpPr>
        <p:sp>
          <p:nvSpPr>
            <p:cNvPr id="407" name="a5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408" name="a5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6</a:t>
              </a:r>
            </a:p>
          </p:txBody>
        </p:sp>
        <p:sp>
          <p:nvSpPr>
            <p:cNvPr id="409" name="a5_t"/>
            <p:cNvSpPr txBox="1"/>
            <p:nvPr/>
          </p:nvSpPr>
          <p:spPr>
            <a:xfrm>
              <a:off x="749808" y="241916"/>
              <a:ext cx="4166464" cy="1745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0E2A40"/>
                  </a:solidFill>
                  <a:latin typeface="Arial"/>
                  <a:ea typeface="Arial"/>
                  <a:cs typeface="Arial"/>
                  <a:sym typeface="Arial"/>
                </a:defRPr>
              </a:lvl1pPr>
            </a:lstStyle>
            <a:p>
              <a:pPr/>
              <a:r>
                <a:t>From your own table. Three trials for your food.</a:t>
              </a:r>
            </a:p>
          </p:txBody>
        </p:sp>
      </p:grpSp>
      <p:grpSp>
        <p:nvGrpSpPr>
          <p:cNvPr id="414" name="a6"/>
          <p:cNvGrpSpPr/>
          <p:nvPr/>
        </p:nvGrpSpPr>
        <p:grpSpPr>
          <a:xfrm>
            <a:off x="1170432" y="4078223"/>
            <a:ext cx="5117441" cy="658369"/>
            <a:chOff x="0" y="0"/>
            <a:chExt cx="5117439" cy="658368"/>
          </a:xfrm>
        </p:grpSpPr>
        <p:sp>
          <p:nvSpPr>
            <p:cNvPr id="411" name="a6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412" name="a6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7</a:t>
              </a:r>
            </a:p>
          </p:txBody>
        </p:sp>
        <p:sp>
          <p:nvSpPr>
            <p:cNvPr id="413" name="a6_t"/>
            <p:cNvSpPr txBox="1"/>
            <p:nvPr/>
          </p:nvSpPr>
          <p:spPr>
            <a:xfrm>
              <a:off x="749808" y="241916"/>
              <a:ext cx="4166464" cy="1745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0E2A40"/>
                  </a:solidFill>
                  <a:latin typeface="Arial"/>
                  <a:ea typeface="Arial"/>
                  <a:cs typeface="Arial"/>
                  <a:sym typeface="Arial"/>
                </a:defRPr>
              </a:lvl1pPr>
            </a:lstStyle>
            <a:p>
              <a:pPr/>
              <a:r>
                <a:t>Add your three rises and divide by 3.</a:t>
              </a:r>
            </a:p>
          </p:txBody>
        </p:sp>
      </p:grpSp>
      <p:grpSp>
        <p:nvGrpSpPr>
          <p:cNvPr id="418" name="a7"/>
          <p:cNvGrpSpPr/>
          <p:nvPr/>
        </p:nvGrpSpPr>
        <p:grpSpPr>
          <a:xfrm>
            <a:off x="6525615" y="4078223"/>
            <a:ext cx="5117441" cy="658369"/>
            <a:chOff x="0" y="0"/>
            <a:chExt cx="5117439" cy="658368"/>
          </a:xfrm>
        </p:grpSpPr>
        <p:sp>
          <p:nvSpPr>
            <p:cNvPr id="415" name="a7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416" name="a7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8</a:t>
              </a:r>
            </a:p>
          </p:txBody>
        </p:sp>
        <p:sp>
          <p:nvSpPr>
            <p:cNvPr id="417" name="a7_t"/>
            <p:cNvSpPr txBox="1"/>
            <p:nvPr/>
          </p:nvSpPr>
          <p:spPr>
            <a:xfrm>
              <a:off x="749808" y="241916"/>
              <a:ext cx="4166464" cy="1745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0E2A40"/>
                  </a:solidFill>
                  <a:latin typeface="Arial"/>
                  <a:ea typeface="Arial"/>
                  <a:cs typeface="Arial"/>
                  <a:sym typeface="Arial"/>
                </a:defRPr>
              </a:lvl1pPr>
            </a:lstStyle>
            <a:p>
              <a:pPr/>
              <a:r>
                <a:t>The food with the biggest class average. Quote the numbers.</a:t>
              </a:r>
            </a:p>
          </p:txBody>
        </p:sp>
      </p:grpSp>
      <p:grpSp>
        <p:nvGrpSpPr>
          <p:cNvPr id="422" name="a8"/>
          <p:cNvGrpSpPr/>
          <p:nvPr/>
        </p:nvGrpSpPr>
        <p:grpSpPr>
          <a:xfrm>
            <a:off x="1170432" y="4828032"/>
            <a:ext cx="5117441" cy="658369"/>
            <a:chOff x="0" y="0"/>
            <a:chExt cx="5117439" cy="658368"/>
          </a:xfrm>
        </p:grpSpPr>
        <p:sp>
          <p:nvSpPr>
            <p:cNvPr id="419" name="a8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420" name="a8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9</a:t>
              </a:r>
            </a:p>
          </p:txBody>
        </p:sp>
        <p:sp>
          <p:nvSpPr>
            <p:cNvPr id="421" name="a8_t"/>
            <p:cNvSpPr txBox="1"/>
            <p:nvPr/>
          </p:nvSpPr>
          <p:spPr>
            <a:xfrm>
              <a:off x="749808" y="153016"/>
              <a:ext cx="4166464"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0E2A40"/>
                  </a:solidFill>
                  <a:latin typeface="Arial"/>
                  <a:ea typeface="Arial"/>
                  <a:cs typeface="Arial"/>
                  <a:sym typeface="Arial"/>
                </a:defRPr>
              </a:lvl1pPr>
            </a:lstStyle>
            <a:p>
              <a:pPr/>
              <a:r>
                <a:t>One result can be odd. Repeating shows the pattern, and the average is more reliable.</a:t>
              </a:r>
            </a:p>
          </p:txBody>
        </p:sp>
      </p:grpSp>
      <p:grpSp>
        <p:nvGrpSpPr>
          <p:cNvPr id="426" name="a9"/>
          <p:cNvGrpSpPr/>
          <p:nvPr/>
        </p:nvGrpSpPr>
        <p:grpSpPr>
          <a:xfrm>
            <a:off x="6525615" y="4828032"/>
            <a:ext cx="5117441" cy="658369"/>
            <a:chOff x="0" y="0"/>
            <a:chExt cx="5117439" cy="658368"/>
          </a:xfrm>
        </p:grpSpPr>
        <p:sp>
          <p:nvSpPr>
            <p:cNvPr id="423" name="a9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424" name="a9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957D11"/>
                  </a:solidFill>
                  <a:latin typeface="Georgia"/>
                  <a:ea typeface="Georgia"/>
                  <a:cs typeface="Georgia"/>
                  <a:sym typeface="Georgia"/>
                </a:defRPr>
              </a:lvl1pPr>
            </a:lstStyle>
            <a:p>
              <a:pPr/>
              <a:r>
                <a:t>10</a:t>
              </a:r>
            </a:p>
          </p:txBody>
        </p:sp>
        <p:sp>
          <p:nvSpPr>
            <p:cNvPr id="425" name="a9_t"/>
            <p:cNvSpPr txBox="1"/>
            <p:nvPr/>
          </p:nvSpPr>
          <p:spPr>
            <a:xfrm>
              <a:off x="749808" y="153016"/>
              <a:ext cx="4166464"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0E2A40"/>
                  </a:solidFill>
                  <a:latin typeface="Arial"/>
                  <a:ea typeface="Arial"/>
                  <a:cs typeface="Arial"/>
                  <a:sym typeface="Arial"/>
                </a:defRPr>
              </a:lvl1pPr>
            </a:lstStyle>
            <a:p>
              <a:pPr/>
              <a:r>
                <a:t>Any one: mass not exactly 1 g, heat lost to the air, food went out. Improve: weigh carefully, shield the flame.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8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90"/>
                                        </p:tgtEl>
                                        <p:attrNameLst>
                                          <p:attrName>style.visibility</p:attrName>
                                        </p:attrNameLst>
                                      </p:cBhvr>
                                      <p:to>
                                        <p:strVal val="visible"/>
                                      </p:to>
                                    </p:set>
                                    <p:animEffect filter="fade" transition="in">
                                      <p:cBhvr>
                                        <p:cTn id="11" dur="400"/>
                                        <p:tgtEl>
                                          <p:spTgt spid="390"/>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394"/>
                                        </p:tgtEl>
                                        <p:attrNameLst>
                                          <p:attrName>style.visibility</p:attrName>
                                        </p:attrNameLst>
                                      </p:cBhvr>
                                      <p:to>
                                        <p:strVal val="visible"/>
                                      </p:to>
                                    </p:set>
                                    <p:animEffect filter="fade" transition="in">
                                      <p:cBhvr>
                                        <p:cTn id="15" dur="400"/>
                                        <p:tgtEl>
                                          <p:spTgt spid="394"/>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398"/>
                                        </p:tgtEl>
                                        <p:attrNameLst>
                                          <p:attrName>style.visibility</p:attrName>
                                        </p:attrNameLst>
                                      </p:cBhvr>
                                      <p:to>
                                        <p:strVal val="visible"/>
                                      </p:to>
                                    </p:set>
                                    <p:animEffect filter="fade" transition="in">
                                      <p:cBhvr>
                                        <p:cTn id="20" dur="400"/>
                                        <p:tgtEl>
                                          <p:spTgt spid="398"/>
                                        </p:tgtEl>
                                      </p:cBhvr>
                                    </p:animEffect>
                                  </p:childTnLst>
                                </p:cTn>
                              </p:par>
                            </p:childTnLst>
                          </p:cTn>
                        </p:par>
                        <p:par>
                          <p:cTn id="21" fill="hold">
                            <p:stCondLst>
                              <p:cond delay="400"/>
                            </p:stCondLst>
                            <p:childTnLst>
                              <p:par>
                                <p:cTn id="22" presetClass="entr" nodeType="afterEffect" presetID="10" grpId="5" fill="hold">
                                  <p:stCondLst>
                                    <p:cond delay="150"/>
                                  </p:stCondLst>
                                  <p:iterate type="el" backwards="0">
                                    <p:tmAbs val="0"/>
                                  </p:iterate>
                                  <p:childTnLst>
                                    <p:set>
                                      <p:cBhvr>
                                        <p:cTn id="23" fill="hold"/>
                                        <p:tgtEl>
                                          <p:spTgt spid="402"/>
                                        </p:tgtEl>
                                        <p:attrNameLst>
                                          <p:attrName>style.visibility</p:attrName>
                                        </p:attrNameLst>
                                      </p:cBhvr>
                                      <p:to>
                                        <p:strVal val="visible"/>
                                      </p:to>
                                    </p:set>
                                    <p:animEffect filter="fade" transition="in">
                                      <p:cBhvr>
                                        <p:cTn id="24" dur="400"/>
                                        <p:tgtEl>
                                          <p:spTgt spid="402"/>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406"/>
                                        </p:tgtEl>
                                        <p:attrNameLst>
                                          <p:attrName>style.visibility</p:attrName>
                                        </p:attrNameLst>
                                      </p:cBhvr>
                                      <p:to>
                                        <p:strVal val="visible"/>
                                      </p:to>
                                    </p:set>
                                    <p:animEffect filter="fade" transition="in">
                                      <p:cBhvr>
                                        <p:cTn id="29" dur="400"/>
                                        <p:tgtEl>
                                          <p:spTgt spid="406"/>
                                        </p:tgtEl>
                                      </p:cBhvr>
                                    </p:animEffect>
                                  </p:childTnLst>
                                </p:cTn>
                              </p:par>
                            </p:childTnLst>
                          </p:cTn>
                        </p:par>
                        <p:par>
                          <p:cTn id="30" fill="hold">
                            <p:stCondLst>
                              <p:cond delay="400"/>
                            </p:stCondLst>
                            <p:childTnLst>
                              <p:par>
                                <p:cTn id="31" presetClass="entr" nodeType="afterEffect" presetID="10" grpId="7" fill="hold">
                                  <p:stCondLst>
                                    <p:cond delay="150"/>
                                  </p:stCondLst>
                                  <p:iterate type="el" backwards="0">
                                    <p:tmAbs val="0"/>
                                  </p:iterate>
                                  <p:childTnLst>
                                    <p:set>
                                      <p:cBhvr>
                                        <p:cTn id="32" fill="hold"/>
                                        <p:tgtEl>
                                          <p:spTgt spid="410"/>
                                        </p:tgtEl>
                                        <p:attrNameLst>
                                          <p:attrName>style.visibility</p:attrName>
                                        </p:attrNameLst>
                                      </p:cBhvr>
                                      <p:to>
                                        <p:strVal val="visible"/>
                                      </p:to>
                                    </p:set>
                                    <p:animEffect filter="fade" transition="in">
                                      <p:cBhvr>
                                        <p:cTn id="33" dur="400"/>
                                        <p:tgtEl>
                                          <p:spTgt spid="410"/>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8" fill="hold">
                                  <p:stCondLst>
                                    <p:cond delay="0"/>
                                  </p:stCondLst>
                                  <p:iterate type="el" backwards="0">
                                    <p:tmAbs val="0"/>
                                  </p:iterate>
                                  <p:childTnLst>
                                    <p:set>
                                      <p:cBhvr>
                                        <p:cTn id="37" fill="hold"/>
                                        <p:tgtEl>
                                          <p:spTgt spid="414"/>
                                        </p:tgtEl>
                                        <p:attrNameLst>
                                          <p:attrName>style.visibility</p:attrName>
                                        </p:attrNameLst>
                                      </p:cBhvr>
                                      <p:to>
                                        <p:strVal val="visible"/>
                                      </p:to>
                                    </p:set>
                                    <p:animEffect filter="fade" transition="in">
                                      <p:cBhvr>
                                        <p:cTn id="38" dur="400"/>
                                        <p:tgtEl>
                                          <p:spTgt spid="414"/>
                                        </p:tgtEl>
                                      </p:cBhvr>
                                    </p:animEffect>
                                  </p:childTnLst>
                                </p:cTn>
                              </p:par>
                            </p:childTnLst>
                          </p:cTn>
                        </p:par>
                        <p:par>
                          <p:cTn id="39" fill="hold">
                            <p:stCondLst>
                              <p:cond delay="400"/>
                            </p:stCondLst>
                            <p:childTnLst>
                              <p:par>
                                <p:cTn id="40" presetClass="entr" nodeType="afterEffect" presetID="10" grpId="9" fill="hold">
                                  <p:stCondLst>
                                    <p:cond delay="150"/>
                                  </p:stCondLst>
                                  <p:iterate type="el" backwards="0">
                                    <p:tmAbs val="0"/>
                                  </p:iterate>
                                  <p:childTnLst>
                                    <p:set>
                                      <p:cBhvr>
                                        <p:cTn id="41" fill="hold"/>
                                        <p:tgtEl>
                                          <p:spTgt spid="418"/>
                                        </p:tgtEl>
                                        <p:attrNameLst>
                                          <p:attrName>style.visibility</p:attrName>
                                        </p:attrNameLst>
                                      </p:cBhvr>
                                      <p:to>
                                        <p:strVal val="visible"/>
                                      </p:to>
                                    </p:set>
                                    <p:animEffect filter="fade" transition="in">
                                      <p:cBhvr>
                                        <p:cTn id="42" dur="400"/>
                                        <p:tgtEl>
                                          <p:spTgt spid="418"/>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10" fill="hold">
                                  <p:stCondLst>
                                    <p:cond delay="0"/>
                                  </p:stCondLst>
                                  <p:iterate type="el" backwards="0">
                                    <p:tmAbs val="0"/>
                                  </p:iterate>
                                  <p:childTnLst>
                                    <p:set>
                                      <p:cBhvr>
                                        <p:cTn id="46" fill="hold"/>
                                        <p:tgtEl>
                                          <p:spTgt spid="422"/>
                                        </p:tgtEl>
                                        <p:attrNameLst>
                                          <p:attrName>style.visibility</p:attrName>
                                        </p:attrNameLst>
                                      </p:cBhvr>
                                      <p:to>
                                        <p:strVal val="visible"/>
                                      </p:to>
                                    </p:set>
                                    <p:animEffect filter="fade" transition="in">
                                      <p:cBhvr>
                                        <p:cTn id="47" dur="400"/>
                                        <p:tgtEl>
                                          <p:spTgt spid="422"/>
                                        </p:tgtEl>
                                      </p:cBhvr>
                                    </p:animEffect>
                                  </p:childTnLst>
                                </p:cTn>
                              </p:par>
                            </p:childTnLst>
                          </p:cTn>
                        </p:par>
                        <p:par>
                          <p:cTn id="48" fill="hold">
                            <p:stCondLst>
                              <p:cond delay="400"/>
                            </p:stCondLst>
                            <p:childTnLst>
                              <p:par>
                                <p:cTn id="49" presetClass="entr" nodeType="afterEffect" presetID="10" grpId="11" fill="hold">
                                  <p:stCondLst>
                                    <p:cond delay="150"/>
                                  </p:stCondLst>
                                  <p:iterate type="el" backwards="0">
                                    <p:tmAbs val="0"/>
                                  </p:iterate>
                                  <p:childTnLst>
                                    <p:set>
                                      <p:cBhvr>
                                        <p:cTn id="50" fill="hold"/>
                                        <p:tgtEl>
                                          <p:spTgt spid="426"/>
                                        </p:tgtEl>
                                        <p:attrNameLst>
                                          <p:attrName>style.visibility</p:attrName>
                                        </p:attrNameLst>
                                      </p:cBhvr>
                                      <p:to>
                                        <p:strVal val="visible"/>
                                      </p:to>
                                    </p:set>
                                    <p:animEffect filter="fade" transition="in">
                                      <p:cBhvr>
                                        <p:cTn id="51" dur="400"/>
                                        <p:tgtEl>
                                          <p:spTgt spid="42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2" fill="hold" display="0">
                  <p:stCondLst>
                    <p:cond delay="indefinite"/>
                  </p:stCondLst>
                </p:cTn>
                <p:tgtEl>
                  <p:spTgt spid="382"/>
                </p:tgtEl>
              </p:cMediaNode>
            </p:video>
            <p:seq concurrent="1" prevAc="none" nextAc="seek">
              <p:cTn id="53" evtFilter="cancelBubble" nodeType="interactiveSeq" restart="whenNotActive" fill="hold">
                <p:stCondLst>
                  <p:cond delay="0" evt="onClick">
                    <p:tgtEl>
                      <p:spTgt spid="382"/>
                    </p:tgtEl>
                  </p:cond>
                </p:stCondLst>
                <p:endSync delay="0" evt="end">
                  <p:rtn val="all"/>
                </p:endSync>
                <p:childTnLst>
                  <p:par>
                    <p:cTn id="54" fill="hold">
                      <p:stCondLst>
                        <p:cond delay="0"/>
                      </p:stCondLst>
                      <p:childTnLst>
                        <p:par>
                          <p:cTn id="55" fill="hold">
                            <p:stCondLst>
                              <p:cond delay="0"/>
                            </p:stCondLst>
                            <p:childTnLst>
                              <p:par>
                                <p:cTn id="56" presetClass="mediacall" nodeType="clickEffect" presetSubtype="0" presetID="2" fill="hold">
                                  <p:stCondLst>
                                    <p:cond delay="0"/>
                                  </p:stCondLst>
                                  <p:childTnLst>
                                    <p:cmd type="call" cmd="togglePause">
                                      <p:cBhvr>
                                        <p:cTn id="57" dur="1" fill="hold"/>
                                        <p:tgtEl>
                                          <p:spTgt spid="382"/>
                                        </p:tgtEl>
                                      </p:cBhvr>
                                    </p:cmd>
                                  </p:childTnLst>
                                </p:cTn>
                              </p:par>
                            </p:childTnLst>
                          </p:cTn>
                        </p:par>
                      </p:childTnLst>
                    </p:cTn>
                  </p:par>
                </p:childTnLst>
              </p:cTn>
              <p:nextCondLst>
                <p:cond delay="0" evt="onClick">
                  <p:tgtEl>
                    <p:spTgt spid="382"/>
                  </p:tgtEl>
                </p:cond>
              </p:nextCondLst>
            </p:seq>
          </p:childTnLst>
        </p:cTn>
      </p:par>
    </p:tnLst>
    <p:bldLst>
      <p:bldP build="whole" bldLvl="1" animBg="1" rev="0" advAuto="0" spid="402" grpId="5"/>
      <p:bldP build="whole" bldLvl="1" animBg="1" rev="0" advAuto="0" spid="418" grpId="9"/>
      <p:bldP build="whole" bldLvl="1" animBg="1" rev="0" advAuto="0" spid="398" grpId="4"/>
      <p:bldP build="whole" bldLvl="1" animBg="1" rev="0" advAuto="0" spid="414" grpId="8"/>
      <p:bldP build="whole" bldLvl="1" animBg="1" rev="0" advAuto="0" spid="394" grpId="3"/>
      <p:bldP build="whole" bldLvl="1" animBg="1" rev="0" advAuto="0" spid="410" grpId="7"/>
      <p:bldP build="whole" bldLvl="1" animBg="1" rev="0" advAuto="0" spid="426" grpId="11"/>
      <p:bldP build="whole" bldLvl="1" animBg="1" rev="0" advAuto="0" spid="390" grpId="2"/>
      <p:bldP build="whole" bldLvl="1" animBg="1" rev="0" advAuto="0" spid="406" grpId="6"/>
      <p:bldP build="whole" bldLvl="1" animBg="1" rev="0" advAuto="0" spid="422" grpId="10"/>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5395C"/>
        </a:solidFill>
      </p:bgPr>
    </p:bg>
    <p:spTree>
      <p:nvGrpSpPr>
        <p:cNvPr id="1" name=""/>
        <p:cNvGrpSpPr/>
        <p:nvPr/>
      </p:nvGrpSpPr>
      <p:grpSpPr>
        <a:xfrm>
          <a:off x="0" y="0"/>
          <a:ext cx="0" cy="0"/>
          <a:chOff x="0" y="0"/>
          <a:chExt cx="0" cy="0"/>
        </a:xfrm>
      </p:grpSpPr>
      <p:pic>
        <p:nvPicPr>
          <p:cNvPr id="43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433" name="phase_pill"/>
          <p:cNvGrpSpPr/>
          <p:nvPr/>
        </p:nvGrpSpPr>
        <p:grpSpPr>
          <a:xfrm>
            <a:off x="1170432" y="310895"/>
            <a:ext cx="1892808" cy="329185"/>
            <a:chOff x="0" y="0"/>
            <a:chExt cx="1892807" cy="329184"/>
          </a:xfrm>
        </p:grpSpPr>
        <p:sp>
          <p:nvSpPr>
            <p:cNvPr id="431" name="Rounded Rectangle"/>
            <p:cNvSpPr/>
            <p:nvPr/>
          </p:nvSpPr>
          <p:spPr>
            <a:xfrm>
              <a:off x="0" y="0"/>
              <a:ext cx="1892808" cy="329185"/>
            </a:xfrm>
            <a:prstGeom prst="roundRect">
              <a:avLst>
                <a:gd name="adj" fmla="val 44444"/>
              </a:avLst>
            </a:prstGeom>
            <a:solidFill>
              <a:srgbClr val="FFD921"/>
            </a:solidFill>
            <a:ln w="12700" cap="flat">
              <a:noFill/>
              <a:miter lim="400000"/>
            </a:ln>
            <a:effectLst/>
          </p:spPr>
          <p:txBody>
            <a:bodyPr wrap="square" lIns="45719" tIns="45719" rIns="45719" bIns="45719" numCol="1" anchor="ctr">
              <a:noAutofit/>
            </a:bodyPr>
            <a:lstStyle/>
            <a:p>
              <a:pPr algn="ctr">
                <a:defRPr sz="1100"/>
              </a:pPr>
            </a:p>
          </p:txBody>
        </p:sp>
        <p:sp>
          <p:nvSpPr>
            <p:cNvPr id="432"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5395C"/>
                  </a:solidFill>
                  <a:latin typeface="Arial"/>
                  <a:ea typeface="Arial"/>
                  <a:cs typeface="Arial"/>
                  <a:sym typeface="Arial"/>
                </a:defRPr>
              </a:lvl1pPr>
            </a:lstStyle>
            <a:p>
              <a:pPr/>
              <a:r>
                <a:t>PLENARY · 3 MIN</a:t>
              </a:r>
            </a:p>
          </p:txBody>
        </p:sp>
      </p:grpSp>
      <p:sp>
        <p:nvSpPr>
          <p:cNvPr id="434"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2F6FB"/>
                </a:solidFill>
                <a:latin typeface="Georgia"/>
                <a:ea typeface="Georgia"/>
                <a:cs typeface="Georgia"/>
                <a:sym typeface="Georgia"/>
              </a:defRPr>
            </a:lvl1pPr>
          </a:lstStyle>
          <a:p>
            <a:pPr/>
            <a:r>
              <a:t>True or false?</a:t>
            </a:r>
          </a:p>
        </p:txBody>
      </p:sp>
      <p:grpSp>
        <p:nvGrpSpPr>
          <p:cNvPr id="437" name="p0_stmt"/>
          <p:cNvGrpSpPr/>
          <p:nvPr/>
        </p:nvGrpSpPr>
        <p:grpSpPr>
          <a:xfrm>
            <a:off x="1170432" y="2194560"/>
            <a:ext cx="8552383" cy="640081"/>
            <a:chOff x="0" y="0"/>
            <a:chExt cx="8552382" cy="640080"/>
          </a:xfrm>
        </p:grpSpPr>
        <p:sp>
          <p:nvSpPr>
            <p:cNvPr id="435" name="p0_bg"/>
            <p:cNvSpPr/>
            <p:nvPr/>
          </p:nvSpPr>
          <p:spPr>
            <a:xfrm>
              <a:off x="0" y="0"/>
              <a:ext cx="8552383" cy="640081"/>
            </a:xfrm>
            <a:prstGeom prst="roundRect">
              <a:avLst>
                <a:gd name="adj" fmla="val 14286"/>
              </a:avLst>
            </a:prstGeom>
            <a:solidFill>
              <a:srgbClr val="2C5C82"/>
            </a:solidFill>
            <a:ln w="12700" cap="flat">
              <a:solidFill>
                <a:srgbClr val="2C5C82"/>
              </a:solidFill>
              <a:prstDash val="solid"/>
              <a:round/>
            </a:ln>
            <a:effectLst/>
          </p:spPr>
          <p:txBody>
            <a:bodyPr wrap="square" lIns="45719" tIns="45719" rIns="45719" bIns="45719" numCol="1" anchor="t">
              <a:noAutofit/>
            </a:bodyPr>
            <a:lstStyle/>
            <a:p>
              <a:pPr/>
            </a:p>
          </p:txBody>
        </p:sp>
        <p:sp>
          <p:nvSpPr>
            <p:cNvPr id="436" name="p0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The dependent variable is the one you change.</a:t>
              </a:r>
            </a:p>
          </p:txBody>
        </p:sp>
      </p:grpSp>
      <p:sp>
        <p:nvSpPr>
          <p:cNvPr id="438" name="p0_v"/>
          <p:cNvSpPr txBox="1"/>
          <p:nvPr/>
        </p:nvSpPr>
        <p:spPr>
          <a:xfrm>
            <a:off x="9905695" y="239113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D921"/>
                </a:solidFill>
                <a:latin typeface="Arial"/>
                <a:ea typeface="Arial"/>
                <a:cs typeface="Arial"/>
                <a:sym typeface="Arial"/>
              </a:defRPr>
            </a:lvl1pPr>
          </a:lstStyle>
          <a:p>
            <a:pPr/>
            <a:r>
              <a:t>FALSE</a:t>
            </a:r>
          </a:p>
        </p:txBody>
      </p:sp>
      <p:grpSp>
        <p:nvGrpSpPr>
          <p:cNvPr id="441" name="p1_stmt"/>
          <p:cNvGrpSpPr/>
          <p:nvPr/>
        </p:nvGrpSpPr>
        <p:grpSpPr>
          <a:xfrm>
            <a:off x="1170432" y="2999232"/>
            <a:ext cx="8552383" cy="640081"/>
            <a:chOff x="0" y="0"/>
            <a:chExt cx="8552382" cy="640080"/>
          </a:xfrm>
        </p:grpSpPr>
        <p:sp>
          <p:nvSpPr>
            <p:cNvPr id="439" name="p1_bg"/>
            <p:cNvSpPr/>
            <p:nvPr/>
          </p:nvSpPr>
          <p:spPr>
            <a:xfrm>
              <a:off x="0" y="0"/>
              <a:ext cx="8552383" cy="640081"/>
            </a:xfrm>
            <a:prstGeom prst="roundRect">
              <a:avLst>
                <a:gd name="adj" fmla="val 14286"/>
              </a:avLst>
            </a:prstGeom>
            <a:solidFill>
              <a:srgbClr val="2C5C82"/>
            </a:solidFill>
            <a:ln w="12700" cap="flat">
              <a:solidFill>
                <a:srgbClr val="2C5C82"/>
              </a:solidFill>
              <a:prstDash val="solid"/>
              <a:round/>
            </a:ln>
            <a:effectLst/>
          </p:spPr>
          <p:txBody>
            <a:bodyPr wrap="square" lIns="45719" tIns="45719" rIns="45719" bIns="45719" numCol="1" anchor="t">
              <a:noAutofit/>
            </a:bodyPr>
            <a:lstStyle/>
            <a:p>
              <a:pPr/>
            </a:p>
          </p:txBody>
        </p:sp>
        <p:sp>
          <p:nvSpPr>
            <p:cNvPr id="440" name="p1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In the food test, the independent variable is the type of food.</a:t>
              </a:r>
            </a:p>
          </p:txBody>
        </p:sp>
      </p:grpSp>
      <p:sp>
        <p:nvSpPr>
          <p:cNvPr id="442" name="p1_v"/>
          <p:cNvSpPr txBox="1"/>
          <p:nvPr/>
        </p:nvSpPr>
        <p:spPr>
          <a:xfrm>
            <a:off x="9905695" y="31958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00A33E"/>
                </a:solidFill>
                <a:latin typeface="Arial"/>
                <a:ea typeface="Arial"/>
                <a:cs typeface="Arial"/>
                <a:sym typeface="Arial"/>
              </a:defRPr>
            </a:lvl1pPr>
          </a:lstStyle>
          <a:p>
            <a:pPr/>
            <a:r>
              <a:t>TRUE</a:t>
            </a:r>
          </a:p>
        </p:txBody>
      </p:sp>
      <p:grpSp>
        <p:nvGrpSpPr>
          <p:cNvPr id="445" name="p2_stmt"/>
          <p:cNvGrpSpPr/>
          <p:nvPr/>
        </p:nvGrpSpPr>
        <p:grpSpPr>
          <a:xfrm>
            <a:off x="1170432" y="3803903"/>
            <a:ext cx="8552383" cy="640081"/>
            <a:chOff x="0" y="0"/>
            <a:chExt cx="8552382" cy="640080"/>
          </a:xfrm>
        </p:grpSpPr>
        <p:sp>
          <p:nvSpPr>
            <p:cNvPr id="443" name="p2_bg"/>
            <p:cNvSpPr/>
            <p:nvPr/>
          </p:nvSpPr>
          <p:spPr>
            <a:xfrm>
              <a:off x="0" y="0"/>
              <a:ext cx="8552383" cy="640081"/>
            </a:xfrm>
            <a:prstGeom prst="roundRect">
              <a:avLst>
                <a:gd name="adj" fmla="val 14286"/>
              </a:avLst>
            </a:prstGeom>
            <a:solidFill>
              <a:srgbClr val="2C5C82"/>
            </a:solidFill>
            <a:ln w="12700" cap="flat">
              <a:solidFill>
                <a:srgbClr val="2C5C82"/>
              </a:solidFill>
              <a:prstDash val="solid"/>
              <a:round/>
            </a:ln>
            <a:effectLst/>
          </p:spPr>
          <p:txBody>
            <a:bodyPr wrap="square" lIns="45719" tIns="45719" rIns="45719" bIns="45719" numCol="1" anchor="t">
              <a:noAutofit/>
            </a:bodyPr>
            <a:lstStyle/>
            <a:p>
              <a:pPr/>
            </a:p>
          </p:txBody>
        </p:sp>
        <p:sp>
          <p:nvSpPr>
            <p:cNvPr id="444" name="p2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The mass of food can be different for each food.</a:t>
              </a:r>
            </a:p>
          </p:txBody>
        </p:sp>
      </p:grpSp>
      <p:sp>
        <p:nvSpPr>
          <p:cNvPr id="446" name="p2_v"/>
          <p:cNvSpPr txBox="1"/>
          <p:nvPr/>
        </p:nvSpPr>
        <p:spPr>
          <a:xfrm>
            <a:off x="9905695" y="400047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D921"/>
                </a:solidFill>
                <a:latin typeface="Arial"/>
                <a:ea typeface="Arial"/>
                <a:cs typeface="Arial"/>
                <a:sym typeface="Arial"/>
              </a:defRPr>
            </a:lvl1pPr>
          </a:lstStyle>
          <a:p>
            <a:pPr/>
            <a:r>
              <a:t>FALSE</a:t>
            </a:r>
          </a:p>
        </p:txBody>
      </p:sp>
      <p:grpSp>
        <p:nvGrpSpPr>
          <p:cNvPr id="449" name="p3_stmt"/>
          <p:cNvGrpSpPr/>
          <p:nvPr/>
        </p:nvGrpSpPr>
        <p:grpSpPr>
          <a:xfrm>
            <a:off x="1170432" y="4608576"/>
            <a:ext cx="8552383" cy="640081"/>
            <a:chOff x="0" y="0"/>
            <a:chExt cx="8552382" cy="640080"/>
          </a:xfrm>
        </p:grpSpPr>
        <p:sp>
          <p:nvSpPr>
            <p:cNvPr id="447" name="p3_bg"/>
            <p:cNvSpPr/>
            <p:nvPr/>
          </p:nvSpPr>
          <p:spPr>
            <a:xfrm>
              <a:off x="0" y="0"/>
              <a:ext cx="8552383" cy="640081"/>
            </a:xfrm>
            <a:prstGeom prst="roundRect">
              <a:avLst>
                <a:gd name="adj" fmla="val 14286"/>
              </a:avLst>
            </a:prstGeom>
            <a:solidFill>
              <a:srgbClr val="2C5C82"/>
            </a:solidFill>
            <a:ln w="12700" cap="flat">
              <a:solidFill>
                <a:srgbClr val="2C5C82"/>
              </a:solidFill>
              <a:prstDash val="solid"/>
              <a:round/>
            </a:ln>
            <a:effectLst/>
          </p:spPr>
          <p:txBody>
            <a:bodyPr wrap="square" lIns="45719" tIns="45719" rIns="45719" bIns="45719" numCol="1" anchor="t">
              <a:noAutofit/>
            </a:bodyPr>
            <a:lstStyle/>
            <a:p>
              <a:pPr/>
            </a:p>
          </p:txBody>
        </p:sp>
        <p:sp>
          <p:nvSpPr>
            <p:cNvPr id="448" name="p3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Repeating each burn and taking an average makes the result more reliable.</a:t>
              </a:r>
            </a:p>
          </p:txBody>
        </p:sp>
      </p:grpSp>
      <p:sp>
        <p:nvSpPr>
          <p:cNvPr id="450" name="p3_v"/>
          <p:cNvSpPr txBox="1"/>
          <p:nvPr/>
        </p:nvSpPr>
        <p:spPr>
          <a:xfrm>
            <a:off x="9905695" y="48051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00A33E"/>
                </a:solidFill>
                <a:latin typeface="Arial"/>
                <a:ea typeface="Arial"/>
                <a:cs typeface="Arial"/>
                <a:sym typeface="Arial"/>
              </a:defRPr>
            </a:lvl1pPr>
          </a:lstStyle>
          <a:p>
            <a:pPr/>
            <a:r>
              <a:t>TRUE</a:t>
            </a:r>
          </a:p>
        </p:txBody>
      </p:sp>
      <p:grpSp>
        <p:nvGrpSpPr>
          <p:cNvPr id="453" name="p4_stmt"/>
          <p:cNvGrpSpPr/>
          <p:nvPr/>
        </p:nvGrpSpPr>
        <p:grpSpPr>
          <a:xfrm>
            <a:off x="1170432" y="5413247"/>
            <a:ext cx="8552383" cy="640081"/>
            <a:chOff x="0" y="0"/>
            <a:chExt cx="8552382" cy="640080"/>
          </a:xfrm>
        </p:grpSpPr>
        <p:sp>
          <p:nvSpPr>
            <p:cNvPr id="451" name="p4_bg"/>
            <p:cNvSpPr/>
            <p:nvPr/>
          </p:nvSpPr>
          <p:spPr>
            <a:xfrm>
              <a:off x="0" y="0"/>
              <a:ext cx="8552383" cy="640081"/>
            </a:xfrm>
            <a:prstGeom prst="roundRect">
              <a:avLst>
                <a:gd name="adj" fmla="val 14286"/>
              </a:avLst>
            </a:prstGeom>
            <a:solidFill>
              <a:srgbClr val="2C5C82"/>
            </a:solidFill>
            <a:ln w="12700" cap="flat">
              <a:solidFill>
                <a:srgbClr val="2C5C82"/>
              </a:solidFill>
              <a:prstDash val="solid"/>
              <a:round/>
            </a:ln>
            <a:effectLst/>
          </p:spPr>
          <p:txBody>
            <a:bodyPr wrap="square" lIns="45719" tIns="45719" rIns="45719" bIns="45719" numCol="1" anchor="t">
              <a:noAutofit/>
            </a:bodyPr>
            <a:lstStyle/>
            <a:p>
              <a:pPr/>
            </a:p>
          </p:txBody>
        </p:sp>
        <p:sp>
          <p:nvSpPr>
            <p:cNvPr id="452" name="p4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The rise in the water temperature depends on the food.</a:t>
              </a:r>
            </a:p>
          </p:txBody>
        </p:sp>
      </p:grpSp>
      <p:sp>
        <p:nvSpPr>
          <p:cNvPr id="454" name="p4_v"/>
          <p:cNvSpPr txBox="1"/>
          <p:nvPr/>
        </p:nvSpPr>
        <p:spPr>
          <a:xfrm>
            <a:off x="9905695" y="5609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00A33E"/>
                </a:solidFill>
                <a:latin typeface="Arial"/>
                <a:ea typeface="Arial"/>
                <a:cs typeface="Arial"/>
                <a:sym typeface="Arial"/>
              </a:defRPr>
            </a:lvl1pPr>
          </a:lstStyle>
          <a:p>
            <a:pPr/>
            <a:r>
              <a:t>TRUE</a:t>
            </a:r>
          </a:p>
        </p:txBody>
      </p:sp>
      <p:sp>
        <p:nvSpPr>
          <p:cNvPr id="455"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FFD921"/>
                </a:solidFill>
                <a:latin typeface="Arial"/>
                <a:ea typeface="Arial"/>
                <a:cs typeface="Arial"/>
                <a:sym typeface="Arial"/>
              </a:defRPr>
            </a:lvl1pPr>
          </a:lstStyle>
          <a:p>
            <a:pPr/>
            <a:r>
              <a:t>Change one thing. Measure one thing. Keep the rest the same. Then do it again.</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43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437"/>
                                        </p:tgtEl>
                                        <p:attrNameLst>
                                          <p:attrName>style.visibility</p:attrName>
                                        </p:attrNameLst>
                                      </p:cBhvr>
                                      <p:to>
                                        <p:strVal val="visible"/>
                                      </p:to>
                                    </p:set>
                                    <p:animEffect filter="fade" transition="in">
                                      <p:cBhvr>
                                        <p:cTn id="11" dur="400"/>
                                        <p:tgtEl>
                                          <p:spTgt spid="43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438"/>
                                        </p:tgtEl>
                                        <p:attrNameLst>
                                          <p:attrName>style.visibility</p:attrName>
                                        </p:attrNameLst>
                                      </p:cBhvr>
                                      <p:to>
                                        <p:strVal val="visible"/>
                                      </p:to>
                                    </p:set>
                                    <p:anim calcmode="lin" valueType="num">
                                      <p:cBhvr>
                                        <p:cTn id="16" dur="400" fill="hold"/>
                                        <p:tgtEl>
                                          <p:spTgt spid="438"/>
                                        </p:tgtEl>
                                        <p:attrNameLst>
                                          <p:attrName>ppt_w</p:attrName>
                                        </p:attrNameLst>
                                      </p:cBhvr>
                                      <p:tavLst>
                                        <p:tav tm="0">
                                          <p:val>
                                            <p:fltVal val="0"/>
                                          </p:val>
                                        </p:tav>
                                        <p:tav tm="100000">
                                          <p:val>
                                            <p:strVal val="#ppt_w"/>
                                          </p:val>
                                        </p:tav>
                                      </p:tavLst>
                                    </p:anim>
                                    <p:anim calcmode="lin" valueType="num">
                                      <p:cBhvr>
                                        <p:cTn id="17" dur="400" fill="hold"/>
                                        <p:tgtEl>
                                          <p:spTgt spid="438"/>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441"/>
                                        </p:tgtEl>
                                        <p:attrNameLst>
                                          <p:attrName>style.visibility</p:attrName>
                                        </p:attrNameLst>
                                      </p:cBhvr>
                                      <p:to>
                                        <p:strVal val="visible"/>
                                      </p:to>
                                    </p:set>
                                    <p:animEffect filter="fade" transition="in">
                                      <p:cBhvr>
                                        <p:cTn id="22" dur="400"/>
                                        <p:tgtEl>
                                          <p:spTgt spid="441"/>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442"/>
                                        </p:tgtEl>
                                        <p:attrNameLst>
                                          <p:attrName>style.visibility</p:attrName>
                                        </p:attrNameLst>
                                      </p:cBhvr>
                                      <p:to>
                                        <p:strVal val="visible"/>
                                      </p:to>
                                    </p:set>
                                    <p:anim calcmode="lin" valueType="num">
                                      <p:cBhvr>
                                        <p:cTn id="27" dur="400" fill="hold"/>
                                        <p:tgtEl>
                                          <p:spTgt spid="442"/>
                                        </p:tgtEl>
                                        <p:attrNameLst>
                                          <p:attrName>ppt_w</p:attrName>
                                        </p:attrNameLst>
                                      </p:cBhvr>
                                      <p:tavLst>
                                        <p:tav tm="0">
                                          <p:val>
                                            <p:fltVal val="0"/>
                                          </p:val>
                                        </p:tav>
                                        <p:tav tm="100000">
                                          <p:val>
                                            <p:strVal val="#ppt_w"/>
                                          </p:val>
                                        </p:tav>
                                      </p:tavLst>
                                    </p:anim>
                                    <p:anim calcmode="lin" valueType="num">
                                      <p:cBhvr>
                                        <p:cTn id="28" dur="400" fill="hold"/>
                                        <p:tgtEl>
                                          <p:spTgt spid="442"/>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445"/>
                                        </p:tgtEl>
                                        <p:attrNameLst>
                                          <p:attrName>style.visibility</p:attrName>
                                        </p:attrNameLst>
                                      </p:cBhvr>
                                      <p:to>
                                        <p:strVal val="visible"/>
                                      </p:to>
                                    </p:set>
                                    <p:animEffect filter="fade" transition="in">
                                      <p:cBhvr>
                                        <p:cTn id="33" dur="400"/>
                                        <p:tgtEl>
                                          <p:spTgt spid="445"/>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446"/>
                                        </p:tgtEl>
                                        <p:attrNameLst>
                                          <p:attrName>style.visibility</p:attrName>
                                        </p:attrNameLst>
                                      </p:cBhvr>
                                      <p:to>
                                        <p:strVal val="visible"/>
                                      </p:to>
                                    </p:set>
                                    <p:anim calcmode="lin" valueType="num">
                                      <p:cBhvr>
                                        <p:cTn id="38" dur="400" fill="hold"/>
                                        <p:tgtEl>
                                          <p:spTgt spid="446"/>
                                        </p:tgtEl>
                                        <p:attrNameLst>
                                          <p:attrName>ppt_w</p:attrName>
                                        </p:attrNameLst>
                                      </p:cBhvr>
                                      <p:tavLst>
                                        <p:tav tm="0">
                                          <p:val>
                                            <p:fltVal val="0"/>
                                          </p:val>
                                        </p:tav>
                                        <p:tav tm="100000">
                                          <p:val>
                                            <p:strVal val="#ppt_w"/>
                                          </p:val>
                                        </p:tav>
                                      </p:tavLst>
                                    </p:anim>
                                    <p:anim calcmode="lin" valueType="num">
                                      <p:cBhvr>
                                        <p:cTn id="39" dur="400" fill="hold"/>
                                        <p:tgtEl>
                                          <p:spTgt spid="446"/>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449"/>
                                        </p:tgtEl>
                                        <p:attrNameLst>
                                          <p:attrName>style.visibility</p:attrName>
                                        </p:attrNameLst>
                                      </p:cBhvr>
                                      <p:to>
                                        <p:strVal val="visible"/>
                                      </p:to>
                                    </p:set>
                                    <p:animEffect filter="fade" transition="in">
                                      <p:cBhvr>
                                        <p:cTn id="44" dur="400"/>
                                        <p:tgtEl>
                                          <p:spTgt spid="449"/>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450"/>
                                        </p:tgtEl>
                                        <p:attrNameLst>
                                          <p:attrName>style.visibility</p:attrName>
                                        </p:attrNameLst>
                                      </p:cBhvr>
                                      <p:to>
                                        <p:strVal val="visible"/>
                                      </p:to>
                                    </p:set>
                                    <p:anim calcmode="lin" valueType="num">
                                      <p:cBhvr>
                                        <p:cTn id="49" dur="400" fill="hold"/>
                                        <p:tgtEl>
                                          <p:spTgt spid="450"/>
                                        </p:tgtEl>
                                        <p:attrNameLst>
                                          <p:attrName>ppt_w</p:attrName>
                                        </p:attrNameLst>
                                      </p:cBhvr>
                                      <p:tavLst>
                                        <p:tav tm="0">
                                          <p:val>
                                            <p:fltVal val="0"/>
                                          </p:val>
                                        </p:tav>
                                        <p:tav tm="100000">
                                          <p:val>
                                            <p:strVal val="#ppt_w"/>
                                          </p:val>
                                        </p:tav>
                                      </p:tavLst>
                                    </p:anim>
                                    <p:anim calcmode="lin" valueType="num">
                                      <p:cBhvr>
                                        <p:cTn id="50" dur="400" fill="hold"/>
                                        <p:tgtEl>
                                          <p:spTgt spid="450"/>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453"/>
                                        </p:tgtEl>
                                        <p:attrNameLst>
                                          <p:attrName>style.visibility</p:attrName>
                                        </p:attrNameLst>
                                      </p:cBhvr>
                                      <p:to>
                                        <p:strVal val="visible"/>
                                      </p:to>
                                    </p:set>
                                    <p:animEffect filter="fade" transition="in">
                                      <p:cBhvr>
                                        <p:cTn id="55" dur="400"/>
                                        <p:tgtEl>
                                          <p:spTgt spid="453"/>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454"/>
                                        </p:tgtEl>
                                        <p:attrNameLst>
                                          <p:attrName>style.visibility</p:attrName>
                                        </p:attrNameLst>
                                      </p:cBhvr>
                                      <p:to>
                                        <p:strVal val="visible"/>
                                      </p:to>
                                    </p:set>
                                    <p:anim calcmode="lin" valueType="num">
                                      <p:cBhvr>
                                        <p:cTn id="60" dur="400" fill="hold"/>
                                        <p:tgtEl>
                                          <p:spTgt spid="454"/>
                                        </p:tgtEl>
                                        <p:attrNameLst>
                                          <p:attrName>ppt_w</p:attrName>
                                        </p:attrNameLst>
                                      </p:cBhvr>
                                      <p:tavLst>
                                        <p:tav tm="0">
                                          <p:val>
                                            <p:fltVal val="0"/>
                                          </p:val>
                                        </p:tav>
                                        <p:tav tm="100000">
                                          <p:val>
                                            <p:strVal val="#ppt_w"/>
                                          </p:val>
                                        </p:tav>
                                      </p:tavLst>
                                    </p:anim>
                                    <p:anim calcmode="lin" valueType="num">
                                      <p:cBhvr>
                                        <p:cTn id="61" dur="400" fill="hold"/>
                                        <p:tgtEl>
                                          <p:spTgt spid="454"/>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455"/>
                                        </p:tgtEl>
                                        <p:attrNameLst>
                                          <p:attrName>style.visibility</p:attrName>
                                        </p:attrNameLst>
                                      </p:cBhvr>
                                      <p:to>
                                        <p:strVal val="visible"/>
                                      </p:to>
                                    </p:set>
                                    <p:animEffect filter="fade" transition="in">
                                      <p:cBhvr>
                                        <p:cTn id="66" dur="4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430"/>
                </p:tgtEl>
              </p:cMediaNode>
            </p:video>
            <p:seq concurrent="1" prevAc="none" nextAc="seek">
              <p:cTn id="68" evtFilter="cancelBubble" nodeType="interactiveSeq" restart="whenNotActive" fill="hold">
                <p:stCondLst>
                  <p:cond delay="0" evt="onClick">
                    <p:tgtEl>
                      <p:spTgt spid="430"/>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430"/>
                                        </p:tgtEl>
                                      </p:cBhvr>
                                    </p:cmd>
                                  </p:childTnLst>
                                </p:cTn>
                              </p:par>
                            </p:childTnLst>
                          </p:cTn>
                        </p:par>
                      </p:childTnLst>
                    </p:cTn>
                  </p:par>
                </p:childTnLst>
              </p:cTn>
              <p:nextCondLst>
                <p:cond delay="0" evt="onClick">
                  <p:tgtEl>
                    <p:spTgt spid="430"/>
                  </p:tgtEl>
                </p:cond>
              </p:nextCondLst>
            </p:seq>
          </p:childTnLst>
        </p:cTn>
      </p:par>
    </p:tnLst>
    <p:bldLst>
      <p:bldP build="whole" bldLvl="1" animBg="1" rev="0" advAuto="0" spid="453" grpId="10"/>
      <p:bldP build="whole" bldLvl="1" animBg="1" rev="0" advAuto="0" spid="449" grpId="8"/>
      <p:bldP build="whole" bldLvl="1" animBg="1" rev="0" advAuto="0" spid="442" grpId="5"/>
      <p:bldP build="whole" bldLvl="1" animBg="1" rev="0" advAuto="0" spid="445" grpId="6"/>
      <p:bldP build="whole" bldLvl="1" animBg="1" rev="0" advAuto="0" spid="446" grpId="7"/>
      <p:bldP build="whole" bldLvl="1" animBg="1" rev="0" advAuto="0" spid="441" grpId="4"/>
      <p:bldP build="whole" bldLvl="1" animBg="1" rev="0" advAuto="0" spid="437" grpId="2"/>
      <p:bldP build="whole" bldLvl="1" animBg="1" rev="0" advAuto="0" spid="438" grpId="3"/>
      <p:bldP build="whole" bldLvl="1" animBg="1" rev="0" advAuto="0" spid="454" grpId="11"/>
      <p:bldP build="whole" bldLvl="1" animBg="1" rev="0" advAuto="0" spid="450" grpId="9"/>
      <p:bldP build="whole" bldLvl="1" animBg="1" rev="0" advAuto="0" spid="455" grpId="12"/>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