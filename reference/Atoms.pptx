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it will not appear in the slideshow.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1 minute.
READ THE TITLE OUT LOUD, slowly, pointing at each line. Then the class reads it with you. Then again without you.
Point at "Everything." and raise your eyebrows. Point around the room — the desk, the window, your shoe, a student. Nod each time. Say nothing else.
That thirty seconds of pointing is the lesson in miniature and it needs no English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 2 minutes. Three clicks.
Read each one, class repeats. Do the gesture with it: hand to ear, hand to mouth, writing hand.
Point at goal 2 and say: "This sentence. All lesson. You will say it many times." They should not be surprised by slide 9 when it comes.
DO NOT read a long objective out. Three pictures, three short lines,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 4 minutes. Two clicks, one card each.
FULL DRILL ON BOTH. You say it, whole class, half the class, three individuals, then they say it off the picture alone. Thirty seconds each.
ATOM: two beats, stress on the FIRST. Thai speakers reach for "a-TOM". Tap the desk twice as you say it — A-tom — and have them tap with you.
MATTER: two beats. Hold up a rock or a pen and say "this is matter". Then the air — wave your hand — "this is matter too". That surprises them and it is worth the surprise.
DO NOT DEFINE MATTER AS "SOLID, LIQUID, GAS". They do not have those words yet and they do not need them today. "Anything you can touch" is enough and it is true enough.
CHECK, pointing at each picture: "Atom or matter?" Either/or questions only. No open questions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 4 minutes. Two clicks. Same drill.
TINY: the gesture is everything. Finger and thumb almost touching, then closer, then closer still. Say "small… smaller… TINY". They copy the hand, not just the word.
PART: point at a chair. Point at the leg. "The leg is a part of the chair." Point at the back. "The back is a part of the chair." Then point at a student's hand and wait — someone will offer "part of the arm". Take it.
NOW PUT THEM TOGETHER, and this is the sentence the whole unit rests on: "An atom is a tiny part." Say it. Class repeats. Write it on the board and leave it there all lesson.
CHECK with yes/no only: "Is a chair tiny?" No. "Is an atom tiny?"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AND SAY — 5 minutes. Five clicks: the frame, then one answer per picture.
THE FRAME GOES UP FIRST and stays up. Point at each gap as you say the sentence.
FOR EACH PICTURE: they say the whole sentence, not the single word. "A chair is made of wood." Not "wood". Insist on the whole frame every time — that is what makes it stick.
GO ROUND THE ROOM afterwards with real objects: your shoe, the window, a book. Same frame, new noun. Two minutes of this is worth more than anything on the screen.
DO NOT MENTION ATOMS YET. They are about to find out that all four answers were only half the story, and that moment works better if nobody has spoiled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SMALLER AND SMALLER — 5 minutes. Five clicks: each card, with the arrows between.
DO IT WITH YOUR HANDS as the cards appear: big apple shape, then smaller, then finger and thumb pinched shut. They copy.
SAY, and keep it to these words: "An apple. Cut it. Cut it again. Cut it a million times. In the end — atoms."
CHECK with yes/no: "Can you see an apple?" Yes. "Can you see an atom?" No. Get every student to answer one of those two. They are one-word answers and everyone can succeed.
MISCONCEPTION, and it is worth catching now: atoms are not hiding inside the apple like seeds. The apple IS atoms. If you have the words, say "the apple is made of atoms" and point. If not, the pictures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6 minutes. Seven clicks: six objects, then the sentence.
FOR EACH OBJECT: say the word, class repeats, then the little atom appears underneath. Six times. The repetition IS the teaching.
THE SIXTH ONE IS YOU. Point at a student, then at yourself. Wait. Let it land. This is the moment of the lesson and it needs no language.
AIR IS THE SURPRISING ONE for most classes. Wave your hand through the air, look at your hand, shrug, then point at the atom. If someone objects, that is excellent — they are thinking.
THEN THE SENTENCE. Whole class, three times, getting louder. Everybody says it, including the ones who have said nothing all lesson. The sentence is short enough that they can.
CALL BACK to slide 6: "A chair is made of wood." True. "A chair is made of atoms." Also true. Both, not one or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SAY — 7 minutes, and it is the biggest block in the lesson on purpose. Five clicks: the frame, then each picture.
THE FRAME STAYS ON SCREEN. Point at the gap, then at the picture, then wait. Do not say it for them.
ORDER OF DIFFICULTY, and stick to it:
1. Whole class together. 2. Half the class. 3. Pairs, turn and tell your partner. 4. Individuals — strongest first so the shy ones have heard it four times before their turn.
PAIRS IS WHERE THE MINUTES GO. Every student says the sentence out loud four times to one other person. That is far more speaking than any whole-class round can give them.
THE FOURTH ONE IS "MY HAND" and it is deliberate. They point at their own hand and say the sentence about themselves.
ERROR TO CORRECT GENTLY: "made from". Recast it — do not explain it. They say "made from", you say "made of", they say it again. Move on.
EXTENSION for anyone flying: point at anything in the room and they make the sentence. They will try to catch you out with the window, the light, the air conditioning. All atoms.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TINY — 5 minutes. Four clicks: the hair, the number, then each fact.
PULL OUT ONE OF YOUR OWN HAIRS and hold it up. Nothing on a screen beats that.
THE NUMBER IS THE POINT, not the arithmetic. Say "three hundred thousand" slowly. Write 300 000 on the board. Compare it to the number of students in the school — they will guess a few hundred. That is the comparison that lands.
THE TWO RED LINES matter because students assume a microscope solves it. A school microscope gets you to cells, and cells are enormous compared with atoms.
LANGUAGE: "cannot" is the target structure here, not new content. Drill it — "I cannot see an atom" — whole class, twice.
THE SUM IS IN THE FOOTER if a sharp student asks where 300 000 comes from. Hair 0.07 mm, atom about 0.00000025 mm. Do not put that on the board unless somebody asks.
CUT THIS SLIDE FIRST if you are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8 minutes. Three clicks, then the frame.
THE FRAME STAYS ON THE SCREEN while they work. They will copy it, and that is exactly what it is for.
SECTION A is matching pictures to words. Everybody can start, including anyone who arrived this week.
SECTION B is copying. Do not apologise for it — handwriting the new words is real work at this level.
SECTION C is the sentence. This is the assessed one.
CIRCULATE AND ASK ONE THING: point at a picture on their sheet and wait. They say the sentence. That is the oral assessment routine starting six lessons early, and by Lesson 6 it will be ordinary.
FAST FINISHERS: the back page has three more pictures and the same frame. No new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TOGETHER — 3 minutes. Six clicks: the sentence, then each picture with its tick.
THE SENTENCE FIRST, whole class, three times.
THEN POINT AT EACH PICTURE and ask: "Is it made of atoms?" Every answer is yes, and that is on purpose — every single student can answer correctly, out loud, five times in a row. End the lesson with the room having succeeded.
THE LAST ONE IS "ME". They point at themselves and say yes.
DO NOT introduce proton, electron, centre or outside today. Next lesson.
BEFORE THEY GO: the four words, one more time, off the pictures on the worksheet. Atom. Matter. Tiny.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shown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2.png"/><Relationship Id="rId5" Type="http://schemas.openxmlformats.org/officeDocument/2006/relationships/image" Target="../media/image-8-5.png"/><Relationship Id="rId6" Type="http://schemas.openxmlformats.org/officeDocument/2006/relationships/image" Target="../media/image-8-2.png"/><Relationship Id="rId7" Type="http://schemas.openxmlformats.org/officeDocument/2006/relationships/image" Target="../media/image-8-7.png"/><Relationship Id="rId8" Type="http://schemas.openxmlformats.org/officeDocument/2006/relationships/image" Target="../media/image-8-2.png"/><Relationship Id="rId9" Type="http://schemas.openxmlformats.org/officeDocument/2006/relationships/image" Target="../media/image-8-9.png"/><Relationship Id="rId10" Type="http://schemas.openxmlformats.org/officeDocument/2006/relationships/image" Target="../media/image-8-2.png"/><Relationship Id="rId11" Type="http://schemas.openxmlformats.org/officeDocument/2006/relationships/image" Target="../media/image-8-11.png"/><Relationship Id="rId12" Type="http://schemas.openxmlformats.org/officeDocument/2006/relationships/image" Target="../media/image-8-2.png"/><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2.png"/><Relationship Id="rId5" Type="http://schemas.openxmlformats.org/officeDocument/2006/relationships/image" Target="../media/image-9-5.png"/><Relationship Id="rId6" Type="http://schemas.openxmlformats.org/officeDocument/2006/relationships/image" Target="../media/image-9-2.png"/><Relationship Id="rId7" Type="http://schemas.openxmlformats.org/officeDocument/2006/relationships/image" Target="../media/image-9-7.png"/><Relationship Id="rId8" Type="http://schemas.openxmlformats.org/officeDocument/2006/relationships/image" Target="../media/image-9-2.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3.png"/><Relationship Id="rId6" Type="http://schemas.openxmlformats.org/officeDocument/2006/relationships/image" Target="../media/image-12-6.png"/><Relationship Id="rId7" Type="http://schemas.openxmlformats.org/officeDocument/2006/relationships/image" Target="../media/image-12-3.png"/><Relationship Id="rId8" Type="http://schemas.openxmlformats.org/officeDocument/2006/relationships/image" Target="../media/image-12-8.png"/><Relationship Id="rId9" Type="http://schemas.openxmlformats.org/officeDocument/2006/relationships/image" Target="../media/image-12-3.png"/><Relationship Id="rId10" Type="http://schemas.openxmlformats.org/officeDocument/2006/relationships/image" Target="../media/image-12-10.png"/><Relationship Id="rId11" Type="http://schemas.openxmlformats.org/officeDocument/2006/relationships/image" Target="../media/image-12-3.png"/><Relationship Id="rId12" Type="http://schemas.openxmlformats.org/officeDocument/2006/relationships/slideLayout" Target="../slideLayouts/slideLayout1.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bg>
      <p:bgPr>
        <a:solidFill>
          <a:srgbClr val="FFFFFF"/>
        </a:solidFill>
      </p:bgPr>
    </p:bg>
    <p:spTree>
      <p:nvGrpSpPr>
        <p:cNvPr id="1" name=""/>
        <p:cNvGrpSpPr/>
        <p:nvPr/>
      </p:nvGrpSpPr>
      <p:grpSpPr>
        <a:xfrm>
          <a:off x="0" y="0"/>
          <a:ext cx="0" cy="0"/>
          <a:chOff x="0" y="0"/>
          <a:chExt cx="0" cy="0"/>
        </a:xfrm>
      </p:grpSpPr>
      <p:sp>
        <p:nvSpPr>
          <p:cNvPr id="2" name="teach_flag"/>
          <p:cNvSpPr txBox="1"/>
          <p:nvPr/>
        </p:nvSpPr>
        <p:spPr>
          <a:xfrm>
            <a:off x="502920" y="237744"/>
            <a:ext cx="6400800" cy="310896"/>
          </a:xfrm>
          <a:prstGeom prst="rect">
            <a:avLst/>
          </a:prstGeom>
          <a:noFill/>
          <a:ln/>
        </p:spPr>
        <p:txBody>
          <a:bodyPr wrap="square" lIns="0" tIns="0" rIns="0" bIns="0" rtlCol="0" anchor="ctr"/>
          <a:lstStyle/>
          <a:p>
            <a:pPr indent="0" marL="0">
              <a:buNone/>
            </a:pPr>
            <a:r>
              <a:rPr lang="en-US" sz="1100" b="1" spc="120" kern="0" dirty="0">
                <a:solidFill>
                  <a:srgbClr val="EF476F"/>
                </a:solidFill>
                <a:latin typeface="Arial" pitchFamily="34" charset="0"/>
                <a:ea typeface="Arial" pitchFamily="34" charset="-122"/>
                <a:cs typeface="Arial" pitchFamily="34" charset="-120"/>
              </a:rPr>
              <a:t>TEACHER ONLY — hidden in slideshow</a:t>
            </a:r>
            <a:endParaRPr lang="en-US" sz="1100" dirty="0"/>
          </a:p>
        </p:txBody>
      </p:sp>
      <p:sp>
        <p:nvSpPr>
          <p:cNvPr id="3" name="teach_meta"/>
          <p:cNvSpPr txBox="1"/>
          <p:nvPr/>
        </p:nvSpPr>
        <p:spPr>
          <a:xfrm>
            <a:off x="5836615" y="237744"/>
            <a:ext cx="5852160" cy="310896"/>
          </a:xfrm>
          <a:prstGeom prst="rect">
            <a:avLst/>
          </a:prstGeom>
          <a:noFill/>
          <a:ln/>
        </p:spPr>
        <p:txBody>
          <a:bodyPr wrap="square" lIns="0" tIns="0" rIns="0" bIns="0" rtlCol="0" anchor="ctr"/>
          <a:lstStyle/>
          <a:p>
            <a:pPr algn="r" indent="0" marL="0">
              <a:buNone/>
            </a:pPr>
            <a:r>
              <a:rPr lang="en-US" sz="1100" dirty="0">
                <a:solidFill>
                  <a:srgbClr val="5B7484"/>
                </a:solidFill>
                <a:latin typeface="Arial" pitchFamily="34" charset="0"/>
                <a:ea typeface="Arial" pitchFamily="34" charset="-122"/>
                <a:cs typeface="Arial" pitchFamily="34" charset="-120"/>
              </a:rPr>
              <a:t>CLIL · Unit 3 Atoms · L1 of 6 · 50 minutes</a:t>
            </a:r>
            <a:endParaRPr lang="en-US" sz="1100" dirty="0"/>
          </a:p>
        </p:txBody>
      </p:sp>
      <p:sp>
        <p:nvSpPr>
          <p:cNvPr id="4" name="teach_title"/>
          <p:cNvSpPr txBox="1"/>
          <p:nvPr/>
        </p:nvSpPr>
        <p:spPr>
          <a:xfrm>
            <a:off x="502920" y="566928"/>
            <a:ext cx="11185855" cy="457200"/>
          </a:xfrm>
          <a:prstGeom prst="rect">
            <a:avLst/>
          </a:prstGeom>
          <a:noFill/>
          <a:ln/>
        </p:spPr>
        <p:txBody>
          <a:bodyPr wrap="square" lIns="0" tIns="0" rIns="0" bIns="0" rtlCol="0" anchor="ctr"/>
          <a:lstStyle/>
          <a:p>
            <a:pPr indent="0" marL="0">
              <a:buNone/>
            </a:pPr>
            <a:r>
              <a:rPr lang="en-US" sz="1900" b="1" dirty="0">
                <a:solidFill>
                  <a:srgbClr val="123B54"/>
                </a:solidFill>
                <a:latin typeface="Georgia" pitchFamily="34" charset="0"/>
                <a:ea typeface="Georgia" pitchFamily="34" charset="-122"/>
                <a:cs typeface="Georgia" pitchFamily="34" charset="-120"/>
              </a:rPr>
              <a:t>Everything is made of tiny parts — content light, language heavy</a:t>
            </a:r>
            <a:endParaRPr lang="en-US" sz="1900" dirty="0"/>
          </a:p>
        </p:txBody>
      </p:sp>
      <p:sp>
        <p:nvSpPr>
          <p:cNvPr id="5" name="teach_col0_bg"/>
          <p:cNvSpPr/>
          <p:nvPr/>
        </p:nvSpPr>
        <p:spPr>
          <a:xfrm>
            <a:off x="502920" y="1188720"/>
            <a:ext cx="3576218" cy="5285232"/>
          </a:xfrm>
          <a:prstGeom prst="rect">
            <a:avLst/>
          </a:prstGeom>
          <a:solidFill>
            <a:srgbClr val="F1F7F9"/>
          </a:solidFill>
          <a:ln w="12700">
            <a:solidFill>
              <a:srgbClr val="D3E3EB"/>
            </a:solidFill>
            <a:prstDash val="solid"/>
          </a:ln>
        </p:spPr>
      </p:sp>
      <p:sp>
        <p:nvSpPr>
          <p:cNvPr id="6" name="teach_col0_h"/>
          <p:cNvSpPr txBox="1"/>
          <p:nvPr/>
        </p:nvSpPr>
        <p:spPr>
          <a:xfrm>
            <a:off x="649224" y="1316736"/>
            <a:ext cx="3283610" cy="274320"/>
          </a:xfrm>
          <a:prstGeom prst="rect">
            <a:avLst/>
          </a:prstGeom>
          <a:noFill/>
          <a:ln/>
        </p:spPr>
        <p:txBody>
          <a:bodyPr wrap="square" lIns="0" tIns="0" rIns="0" bIns="0" rtlCol="0" anchor="ctr"/>
          <a:lstStyle/>
          <a:p>
            <a:pPr indent="0" marL="0">
              <a:buNone/>
            </a:pPr>
            <a:r>
              <a:rPr lang="en-US" sz="1050" b="1" spc="100" kern="0" dirty="0">
                <a:solidFill>
                  <a:srgbClr val="123B54"/>
                </a:solidFill>
                <a:latin typeface="Arial" pitchFamily="34" charset="0"/>
                <a:ea typeface="Arial" pitchFamily="34" charset="-122"/>
                <a:cs typeface="Arial" pitchFamily="34" charset="-120"/>
              </a:rPr>
              <a:t>HOW THIS DECK IS DIFFERENT</a:t>
            </a:r>
            <a:endParaRPr lang="en-US" sz="1050" dirty="0"/>
          </a:p>
        </p:txBody>
      </p:sp>
      <p:sp>
        <p:nvSpPr>
          <p:cNvPr id="7" name="teach_col0_b"/>
          <p:cNvSpPr txBox="1"/>
          <p:nvPr/>
        </p:nvSpPr>
        <p:spPr>
          <a:xfrm>
            <a:off x="649224" y="1627632"/>
            <a:ext cx="3283610" cy="4718304"/>
          </a:xfrm>
          <a:prstGeom prst="rect">
            <a:avLst/>
          </a:prstGeom>
          <a:noFill/>
          <a:ln/>
        </p:spPr>
        <p:txBody>
          <a:bodyPr wrap="square" lIns="0" tIns="0" rIns="0" bIns="0" rtlCol="0" anchor="t"/>
          <a:lstStyle/>
          <a:p>
            <a:pPr indent="0" marL="0">
              <a:lnSpc>
                <a:spcPts val="1100"/>
              </a:lnSpc>
              <a:buNone/>
            </a:pPr>
            <a:r>
              <a:rPr lang="en-US" sz="800" dirty="0">
                <a:solidFill>
                  <a:srgbClr val="0E2A3B"/>
                </a:solidFill>
                <a:latin typeface="Arial" pitchFamily="34" charset="0"/>
                <a:ea typeface="Arial" pitchFamily="34" charset="-122"/>
                <a:cs typeface="Arial" pitchFamily="34" charset="-120"/>
              </a:rPr>
              <a:t>The science here is tiny and the language is the work, so this deck is built the other way round from the rest of the unit plans.</a:t>
            </a:r>
            <a:endParaRPr lang="en-US" sz="800" dirty="0"/>
          </a:p>
          <a:p>
            <a:pPr indent="0" marL="0">
              <a:lnSpc>
                <a:spcPts val="1100"/>
              </a:lnSpc>
              <a:buNone/>
            </a:pP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 Very little text on screen. What is there is what students SAY, not prose about it.</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 Every word has a picture. Always. No exceptions.</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 One sentence frame, front and centre, reused all lesson: "___ is made of atoms."</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 Questions go yes/no first, then either/or, then open. Never start with an open question.</a:t>
            </a:r>
            <a:endParaRPr lang="en-US" sz="800" dirty="0"/>
          </a:p>
          <a:p>
            <a:pPr indent="0" marL="0">
              <a:lnSpc>
                <a:spcPts val="1100"/>
              </a:lnSpc>
              <a:buNone/>
            </a:pP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DRILL ROUTINE, use it every time a new word appears:</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1. You say it. 2. Whole class repeats. 3. Half the class. 4. Three individuals. 5. Point at the picture and they say it without you.</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Thirty seconds per word. It feels slow the first time and it is the reason they can speak by Friday.</a:t>
            </a:r>
            <a:endParaRPr lang="en-US" sz="800" dirty="0"/>
          </a:p>
          <a:p>
            <a:pPr indent="0" marL="0">
              <a:lnSpc>
                <a:spcPts val="1100"/>
              </a:lnSpc>
              <a:buNone/>
            </a:pP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GESTURES (TPR) — agree them today and keep them all unit:</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tiny = fingers pinched together · part = chop one hand into the other palm · made of = hands building · atom = fingers circling</a:t>
            </a:r>
            <a:endParaRPr lang="en-US" sz="800" dirty="0"/>
          </a:p>
        </p:txBody>
      </p:sp>
      <p:sp>
        <p:nvSpPr>
          <p:cNvPr id="8" name="teach_col1_bg"/>
          <p:cNvSpPr/>
          <p:nvPr/>
        </p:nvSpPr>
        <p:spPr>
          <a:xfrm>
            <a:off x="4307738" y="1188720"/>
            <a:ext cx="3576218" cy="5285232"/>
          </a:xfrm>
          <a:prstGeom prst="rect">
            <a:avLst/>
          </a:prstGeom>
          <a:solidFill>
            <a:srgbClr val="FDEBF0"/>
          </a:solidFill>
          <a:ln w="12700">
            <a:solidFill>
              <a:srgbClr val="EF476F"/>
            </a:solidFill>
            <a:prstDash val="solid"/>
          </a:ln>
        </p:spPr>
      </p:sp>
      <p:sp>
        <p:nvSpPr>
          <p:cNvPr id="9" name="teach_col1_h"/>
          <p:cNvSpPr txBox="1"/>
          <p:nvPr/>
        </p:nvSpPr>
        <p:spPr>
          <a:xfrm>
            <a:off x="4454042" y="1316736"/>
            <a:ext cx="3283610" cy="274320"/>
          </a:xfrm>
          <a:prstGeom prst="rect">
            <a:avLst/>
          </a:prstGeom>
          <a:noFill/>
          <a:ln/>
        </p:spPr>
        <p:txBody>
          <a:bodyPr wrap="square" lIns="0" tIns="0" rIns="0" bIns="0" rtlCol="0" anchor="ctr"/>
          <a:lstStyle/>
          <a:p>
            <a:pPr indent="0" marL="0">
              <a:buNone/>
            </a:pPr>
            <a:r>
              <a:rPr lang="en-US" sz="1050" b="1" spc="100" kern="0" dirty="0">
                <a:solidFill>
                  <a:srgbClr val="EF476F"/>
                </a:solidFill>
                <a:latin typeface="Arial" pitchFamily="34" charset="0"/>
                <a:ea typeface="Arial" pitchFamily="34" charset="-122"/>
                <a:cs typeface="Arial" pitchFamily="34" charset="-120"/>
              </a:rPr>
              <a:t>LANGUAGE NOTES &amp; THINGS TO WATCH</a:t>
            </a:r>
            <a:endParaRPr lang="en-US" sz="1050" dirty="0"/>
          </a:p>
        </p:txBody>
      </p:sp>
      <p:sp>
        <p:nvSpPr>
          <p:cNvPr id="10" name="teach_col1_b"/>
          <p:cNvSpPr txBox="1"/>
          <p:nvPr/>
        </p:nvSpPr>
        <p:spPr>
          <a:xfrm>
            <a:off x="4454042" y="1627632"/>
            <a:ext cx="3283610" cy="4718304"/>
          </a:xfrm>
          <a:prstGeom prst="rect">
            <a:avLst/>
          </a:prstGeom>
          <a:noFill/>
          <a:ln/>
        </p:spPr>
        <p:txBody>
          <a:bodyPr wrap="square" lIns="0" tIns="0" rIns="0" bIns="0" rtlCol="0" anchor="t"/>
          <a:lstStyle/>
          <a:p>
            <a:pPr indent="0" marL="0">
              <a:lnSpc>
                <a:spcPts val="1100"/>
              </a:lnSpc>
              <a:buNone/>
            </a:pPr>
            <a:r>
              <a:rPr lang="en-US" sz="800" dirty="0">
                <a:solidFill>
                  <a:srgbClr val="0E2A3B"/>
                </a:solidFill>
                <a:latin typeface="Arial" pitchFamily="34" charset="0"/>
                <a:ea typeface="Arial" pitchFamily="34" charset="-122"/>
                <a:cs typeface="Arial" pitchFamily="34" charset="-120"/>
              </a:rPr>
              <a:t>PRONUNCIATION</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atom = A-tom (2 beats, stress on A). Thai speakers often say "a-TOM" — correct the stress, it matters.</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matter = MAT-ter (2 beats).</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Common slip: "atom" and "Adam" sound alike. Worth one joke and then move on.</a:t>
            </a:r>
            <a:endParaRPr lang="en-US" sz="800" dirty="0"/>
          </a:p>
          <a:p>
            <a:pPr indent="0" marL="0">
              <a:lnSpc>
                <a:spcPts val="1100"/>
              </a:lnSpc>
              <a:buNone/>
            </a:pP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SPELLING DECISION — YOUR CALL, FLAGGING IT NOW.</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The unit plan writes "center". This deck writes "centre" throughout, because the school is British and everything else these students read will be British. Beginner EAL learners should meet ONE spelling of a target word, not two. Centre does not appear until Lesson 2 — so if you want "center" instead, tell me before then and it is a one-line change.</a:t>
            </a:r>
            <a:endParaRPr lang="en-US" sz="800" dirty="0"/>
          </a:p>
          <a:p>
            <a:pPr indent="0" marL="0">
              <a:lnSpc>
                <a:spcPts val="1100"/>
              </a:lnSpc>
              <a:buNone/>
            </a:pP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"MADE OF" is the structure, not just vocabulary. Drill the whole chunk: made-of, three quick beats, never "made from".</a:t>
            </a:r>
            <a:endParaRPr lang="en-US" sz="800" dirty="0"/>
          </a:p>
          <a:p>
            <a:pPr indent="0" marL="0">
              <a:lnSpc>
                <a:spcPts val="1100"/>
              </a:lnSpc>
              <a:buNone/>
            </a:pP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 "Atoms are inside things, like a filling."</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 Things ARE atoms. Not things with atoms in.</a:t>
            </a:r>
            <a:endParaRPr lang="en-US" sz="800" dirty="0"/>
          </a:p>
          <a:p>
            <a:pPr indent="0" marL="0">
              <a:lnSpc>
                <a:spcPts val="1100"/>
              </a:lnSpc>
              <a:buNone/>
            </a:pP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 "Only science things are made of atoms."</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 Slide 8 is six ordinary objects for exactly this reason.</a:t>
            </a:r>
            <a:endParaRPr lang="en-US" sz="800" dirty="0"/>
          </a:p>
          <a:p>
            <a:pPr indent="0" marL="0">
              <a:lnSpc>
                <a:spcPts val="1100"/>
              </a:lnSpc>
              <a:buNone/>
            </a:pP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 "I can see atoms if I use a microscope."</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 Not a school one. Slide 10.</a:t>
            </a:r>
            <a:endParaRPr lang="en-US" sz="800" dirty="0"/>
          </a:p>
        </p:txBody>
      </p:sp>
      <p:sp>
        <p:nvSpPr>
          <p:cNvPr id="11" name="teach_col2_bg"/>
          <p:cNvSpPr/>
          <p:nvPr/>
        </p:nvSpPr>
        <p:spPr>
          <a:xfrm>
            <a:off x="8112557" y="1188720"/>
            <a:ext cx="3576218" cy="5285232"/>
          </a:xfrm>
          <a:prstGeom prst="rect">
            <a:avLst/>
          </a:prstGeom>
          <a:solidFill>
            <a:srgbClr val="F1F7F9"/>
          </a:solidFill>
          <a:ln w="12700">
            <a:solidFill>
              <a:srgbClr val="D3E3EB"/>
            </a:solidFill>
            <a:prstDash val="solid"/>
          </a:ln>
        </p:spPr>
      </p:sp>
      <p:sp>
        <p:nvSpPr>
          <p:cNvPr id="12" name="teach_col2_h"/>
          <p:cNvSpPr txBox="1"/>
          <p:nvPr/>
        </p:nvSpPr>
        <p:spPr>
          <a:xfrm>
            <a:off x="8258861" y="1316736"/>
            <a:ext cx="3283610" cy="274320"/>
          </a:xfrm>
          <a:prstGeom prst="rect">
            <a:avLst/>
          </a:prstGeom>
          <a:noFill/>
          <a:ln/>
        </p:spPr>
        <p:txBody>
          <a:bodyPr wrap="square" lIns="0" tIns="0" rIns="0" bIns="0" rtlCol="0" anchor="ctr"/>
          <a:lstStyle/>
          <a:p>
            <a:pPr indent="0" marL="0">
              <a:buNone/>
            </a:pPr>
            <a:r>
              <a:rPr lang="en-US" sz="1050" b="1" spc="100" kern="0" dirty="0">
                <a:solidFill>
                  <a:srgbClr val="123B54"/>
                </a:solidFill>
                <a:latin typeface="Arial" pitchFamily="34" charset="0"/>
                <a:ea typeface="Arial" pitchFamily="34" charset="-122"/>
                <a:cs typeface="Arial" pitchFamily="34" charset="-120"/>
              </a:rPr>
              <a:t>LESSON FLOW  (50 min)</a:t>
            </a:r>
            <a:endParaRPr lang="en-US" sz="1050" dirty="0"/>
          </a:p>
        </p:txBody>
      </p:sp>
      <p:sp>
        <p:nvSpPr>
          <p:cNvPr id="13" name="teach_col2_b"/>
          <p:cNvSpPr txBox="1"/>
          <p:nvPr/>
        </p:nvSpPr>
        <p:spPr>
          <a:xfrm>
            <a:off x="8258861" y="1627632"/>
            <a:ext cx="3283610" cy="4718304"/>
          </a:xfrm>
          <a:prstGeom prst="rect">
            <a:avLst/>
          </a:prstGeom>
          <a:noFill/>
          <a:ln/>
        </p:spPr>
        <p:txBody>
          <a:bodyPr wrap="square" lIns="0" tIns="0" rIns="0" bIns="0" rtlCol="0" anchor="t"/>
          <a:lstStyle/>
          <a:p>
            <a:pPr indent="0" marL="0">
              <a:lnSpc>
                <a:spcPts val="1100"/>
              </a:lnSpc>
              <a:buNone/>
            </a:pPr>
            <a:r>
              <a:rPr lang="en-US" sz="800" dirty="0">
                <a:solidFill>
                  <a:srgbClr val="0E2A3B"/>
                </a:solidFill>
                <a:latin typeface="Arial" pitchFamily="34" charset="0"/>
                <a:ea typeface="Arial" pitchFamily="34" charset="-122"/>
                <a:cs typeface="Arial" pitchFamily="34" charset="-120"/>
              </a:rPr>
              <a:t>Title — 1</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Today — 2</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New words: atom, matter — 4</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New words: tiny, part — 4</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Look and say — 5</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Smaller and smaller — 5</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Everything is made of atoms — 6</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Say the sentence — 7</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How tiny? — 5</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You Do: worksheet — 8</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Say it together — 3</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TOTAL 50 min</a:t>
            </a:r>
            <a:endParaRPr lang="en-US" sz="800" dirty="0"/>
          </a:p>
          <a:p>
            <a:pPr indent="0" marL="0">
              <a:lnSpc>
                <a:spcPts val="1100"/>
              </a:lnSpc>
              <a:buNone/>
            </a:pP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THE UNIT, 5 hours as six lessons:</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1 Everything is made of tiny parts</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2 Draw an atom · centre and outside</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3 The parts: proton and electron</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4 PRACTICAL — model kits</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5 Static electricity demo</a:t>
            </a: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6 Assessment: diagram and oral Q&amp;A</a:t>
            </a:r>
            <a:endParaRPr lang="en-US" sz="800" dirty="0"/>
          </a:p>
          <a:p>
            <a:pPr indent="0" marL="0">
              <a:lnSpc>
                <a:spcPts val="1100"/>
              </a:lnSpc>
              <a:buNone/>
            </a:pP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ASSESSMENT NOTE: the unit assesses an oral Q&amp;A — "point to where the electron is". That is a pointing answer, not a speaking answer, and it is the right level. Today builds the pointing habit: every time you ask something, they point first, then say.</a:t>
            </a:r>
            <a:endParaRPr lang="en-US" sz="800" dirty="0"/>
          </a:p>
          <a:p>
            <a:pPr indent="0" marL="0">
              <a:lnSpc>
                <a:spcPts val="1100"/>
              </a:lnSpc>
              <a:buNone/>
            </a:pPr>
            <a:endParaRPr lang="en-US" sz="800" dirty="0"/>
          </a:p>
          <a:p>
            <a:pPr indent="0" marL="0">
              <a:lnSpc>
                <a:spcPts val="1100"/>
              </a:lnSpc>
              <a:buNone/>
            </a:pPr>
            <a:r>
              <a:rPr lang="en-US" sz="800" dirty="0">
                <a:solidFill>
                  <a:srgbClr val="0E2A3B"/>
                </a:solidFill>
                <a:latin typeface="Arial" pitchFamily="34" charset="0"/>
                <a:ea typeface="Arial" pitchFamily="34" charset="-122"/>
                <a:cs typeface="Arial" pitchFamily="34" charset="-120"/>
              </a:rPr>
              <a:t>IF YOU ARE SHORT: cut slide 10. Do not cut slide 9 — the sentence frame is the lesson.</a:t>
            </a:r>
            <a:endParaRPr lang="en-US" sz="8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3B54"/>
        </a:solidFill>
      </p:bgPr>
    </p:bg>
    <p:spTree>
      <p:nvGrpSpPr>
        <p:cNvPr id="1" name=""/>
        <p:cNvGrpSpPr/>
        <p:nvPr/>
      </p:nvGrpSpPr>
      <p:grpSpPr>
        <a:xfrm>
          <a:off x="0" y="0"/>
          <a:ext cx="0" cy="0"/>
          <a:chOff x="0" y="0"/>
          <a:chExt cx="0" cy="0"/>
        </a:xfrm>
      </p:grpSpPr>
      <p:pic>
        <p:nvPicPr>
          <p:cNvPr id="2" name="title_atom" descr="/home/claude/build/img_atoms/atom_accent.png">    </p:cNvPr>
          <p:cNvPicPr>
            <a:picLocks noChangeAspect="1"/>
          </p:cNvPicPr>
          <p:nvPr/>
        </p:nvPicPr>
        <p:blipFill>
          <a:blip r:embed="rId1"/>
          <a:stretch>
            <a:fillRect/>
          </a:stretch>
        </p:blipFill>
        <p:spPr>
          <a:xfrm>
            <a:off x="9006840" y="1920240"/>
            <a:ext cx="2651760" cy="2651760"/>
          </a:xfrm>
          <a:prstGeom prst="rect">
            <a:avLst/>
          </a:prstGeom>
        </p:spPr>
      </p:pic>
      <p:sp>
        <p:nvSpPr>
          <p:cNvPr id="3" name="title_kicker"/>
          <p:cNvSpPr txBox="1"/>
          <p:nvPr/>
        </p:nvSpPr>
        <p:spPr>
          <a:xfrm>
            <a:off x="502920" y="1463040"/>
            <a:ext cx="7315200" cy="329184"/>
          </a:xfrm>
          <a:prstGeom prst="rect">
            <a:avLst/>
          </a:prstGeom>
          <a:noFill/>
          <a:ln/>
        </p:spPr>
        <p:txBody>
          <a:bodyPr wrap="square" lIns="0" tIns="0" rIns="0" bIns="0" rtlCol="0" anchor="ctr"/>
          <a:lstStyle/>
          <a:p>
            <a:pPr indent="0" marL="0">
              <a:buNone/>
            </a:pPr>
            <a:r>
              <a:rPr lang="en-US" sz="1300" b="1" spc="160" kern="0" dirty="0">
                <a:solidFill>
                  <a:srgbClr val="FFD166"/>
                </a:solidFill>
                <a:latin typeface="Arial" pitchFamily="34" charset="0"/>
                <a:ea typeface="Arial" pitchFamily="34" charset="-122"/>
                <a:cs typeface="Arial" pitchFamily="34" charset="-120"/>
              </a:rPr>
              <a:t>ATOMS  ·  LESSON 1</a:t>
            </a:r>
            <a:endParaRPr lang="en-US" sz="1300" dirty="0"/>
          </a:p>
        </p:txBody>
      </p:sp>
      <p:sp>
        <p:nvSpPr>
          <p:cNvPr id="4" name="title_main"/>
          <p:cNvSpPr txBox="1"/>
          <p:nvPr/>
        </p:nvSpPr>
        <p:spPr>
          <a:xfrm>
            <a:off x="502920" y="1920240"/>
            <a:ext cx="7863840" cy="2468880"/>
          </a:xfrm>
          <a:prstGeom prst="rect">
            <a:avLst/>
          </a:prstGeom>
          <a:noFill/>
          <a:ln/>
        </p:spPr>
        <p:txBody>
          <a:bodyPr wrap="square" lIns="0" tIns="0" rIns="0" bIns="0" rtlCol="0" anchor="ctr"/>
          <a:lstStyle/>
          <a:p>
            <a:pPr indent="0" marL="0">
              <a:lnSpc>
                <a:spcPts val="6000"/>
              </a:lnSpc>
              <a:buNone/>
            </a:pPr>
            <a:r>
              <a:rPr lang="en-US" sz="5000" b="1" dirty="0">
                <a:solidFill>
                  <a:srgbClr val="F4F8FA"/>
                </a:solidFill>
                <a:latin typeface="Georgia" pitchFamily="34" charset="0"/>
                <a:ea typeface="Georgia" pitchFamily="34" charset="-122"/>
                <a:cs typeface="Georgia" pitchFamily="34" charset="-120"/>
              </a:rPr>
              <a:t>Everything is</a:t>
            </a:r>
            <a:endParaRPr lang="en-US" sz="5000" dirty="0"/>
          </a:p>
          <a:p>
            <a:pPr indent="0" marL="0">
              <a:lnSpc>
                <a:spcPts val="6000"/>
              </a:lnSpc>
              <a:buNone/>
            </a:pPr>
            <a:r>
              <a:rPr lang="en-US" sz="5000" b="1" dirty="0">
                <a:solidFill>
                  <a:srgbClr val="F4F8FA"/>
                </a:solidFill>
                <a:latin typeface="Georgia" pitchFamily="34" charset="0"/>
                <a:ea typeface="Georgia" pitchFamily="34" charset="-122"/>
                <a:cs typeface="Georgia" pitchFamily="34" charset="-120"/>
              </a:rPr>
              <a:t>made of</a:t>
            </a:r>
            <a:endParaRPr lang="en-US" sz="5000" dirty="0"/>
          </a:p>
          <a:p>
            <a:pPr indent="0" marL="0">
              <a:lnSpc>
                <a:spcPts val="6000"/>
              </a:lnSpc>
              <a:buNone/>
            </a:pPr>
            <a:r>
              <a:rPr lang="en-US" sz="5000" b="1" dirty="0">
                <a:solidFill>
                  <a:srgbClr val="F4F8FA"/>
                </a:solidFill>
                <a:latin typeface="Georgia" pitchFamily="34" charset="0"/>
                <a:ea typeface="Georgia" pitchFamily="34" charset="-122"/>
                <a:cs typeface="Georgia" pitchFamily="34" charset="-120"/>
              </a:rPr>
              <a:t>tiny parts</a:t>
            </a:r>
            <a:endParaRPr lang="en-US" sz="5000" dirty="0"/>
          </a:p>
        </p:txBody>
      </p:sp>
      <p:sp>
        <p:nvSpPr>
          <p:cNvPr id="5" name="title_sub"/>
          <p:cNvSpPr txBox="1"/>
          <p:nvPr/>
        </p:nvSpPr>
        <p:spPr>
          <a:xfrm>
            <a:off x="502920" y="4663440"/>
            <a:ext cx="7315200" cy="475488"/>
          </a:xfrm>
          <a:prstGeom prst="rect">
            <a:avLst/>
          </a:prstGeom>
          <a:noFill/>
          <a:ln/>
        </p:spPr>
        <p:txBody>
          <a:bodyPr wrap="square" lIns="0" tIns="0" rIns="0" bIns="0" rtlCol="0" anchor="ctr"/>
          <a:lstStyle/>
          <a:p>
            <a:pPr indent="0" marL="0">
              <a:buNone/>
            </a:pPr>
            <a:r>
              <a:rPr lang="en-US" sz="2600" b="1" dirty="0">
                <a:solidFill>
                  <a:srgbClr val="FFD166"/>
                </a:solidFill>
                <a:latin typeface="Georgia" pitchFamily="34" charset="0"/>
                <a:ea typeface="Georgia" pitchFamily="34" charset="-122"/>
                <a:cs typeface="Georgia" pitchFamily="34" charset="-120"/>
              </a:rPr>
              <a:t>Everything.</a:t>
            </a:r>
            <a:endParaRPr lang="en-US" sz="2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 fill="hold">
                      <p:stCondLst>
                        <p:cond delay="0"/>
                      </p:stCondLst>
                      <p:childTnLst>
                        <p:par>
                          <p:cTn id="17" fill="hold">
                            <p:stCondLst>
                              <p:cond delay="0"/>
                            </p:stCondLst>
                            <p:childTnLst>
                              <p:par>
                                <p:cTn id="5" presetID="10" presetClass="entr" presetSubtype="0" fill="hold" grpId="0" nodeType="with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8" presetID="10" presetClass="entr" presetSubtype="0" fill="hold" grpId="0" nodeType="withEffect">
                                  <p:stCondLst>
                                    <p:cond delay="1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12" presetID="23" presetClass="entr" presetSubtype="16" fill="hold" grpId="0" nodeType="withEffect">
                                  <p:stCondLst>
                                    <p:cond delay="3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animScale>
                                      <p:cBhvr>
                                        <p:cTn id="11" dur="400" fill="hold"/>
                                        <p:tgtEl>
                                          <p:spTgt spid="2"/>
                                        </p:tgtEl>
                                      </p:cBhvr>
                                      <p:from x="0" y="0"/>
                                      <p:to x="100000" y="100000"/>
                                    </p:animScale>
                                  </p:childTnLst>
                                </p:cTn>
                              </p:par>
                              <p:par>
                                <p:cTn id="15" presetID="10" presetClass="entr" presetSubtype="0" fill="hold" grpId="0" nodeType="withEffect">
                                  <p:stCondLst>
                                    <p:cond delay="45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sp>
        <p:nvSpPr>
          <p:cNvPr id="2" name="phase_pill"/>
          <p:cNvSpPr/>
          <p:nvPr/>
        </p:nvSpPr>
        <p:spPr>
          <a:xfrm>
            <a:off x="502920" y="274320"/>
            <a:ext cx="2286000" cy="347472"/>
          </a:xfrm>
          <a:prstGeom prst="roundRect">
            <a:avLst>
              <a:gd name="adj" fmla="val 50000"/>
            </a:avLst>
          </a:prstGeom>
          <a:solidFill>
            <a:srgbClr val="123B54"/>
          </a:solidFill>
          <a:ln/>
        </p:spPr>
        <p:txBody>
          <a:bodyPr wrap="square" lIns="0" tIns="0" rIns="0" bIns="0" rtlCol="0" anchor="ctr"/>
          <a:lstStyle/>
          <a:p>
            <a:pPr algn="ctr" indent="0" marL="0">
              <a:buNone/>
            </a:pPr>
            <a:r>
              <a:rPr lang="en-US" sz="1100" b="1" spc="110" kern="0" dirty="0">
                <a:solidFill>
                  <a:srgbClr val="F4F8FA"/>
                </a:solidFill>
                <a:latin typeface="Arial" pitchFamily="34" charset="0"/>
                <a:ea typeface="Arial" pitchFamily="34" charset="-122"/>
                <a:cs typeface="Arial" pitchFamily="34" charset="-120"/>
              </a:rPr>
              <a:t>TODAY · 2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123B54"/>
                </a:solidFill>
                <a:latin typeface="Georgia" pitchFamily="34" charset="0"/>
                <a:ea typeface="Georgia" pitchFamily="34" charset="-122"/>
                <a:cs typeface="Georgia" pitchFamily="34" charset="-120"/>
              </a:rPr>
              <a:t>Today</a:t>
            </a:r>
            <a:endParaRPr lang="en-US" sz="3000" dirty="0"/>
          </a:p>
        </p:txBody>
      </p:sp>
      <p:grpSp>
        <p:nvGrpSpPr>
          <p:cNvPr id="13" name="g0"/>
          <p:cNvGrpSpPr/>
          <p:nvPr/>
        </p:nvGrpSpPr>
        <p:grpSpPr>
          <a:xfrm>
            <a:off x="502920" y="2267712"/>
            <a:ext cx="3533546" cy="2651760"/>
            <a:chOff x="502920" y="2267712"/>
            <a:chExt cx="3533546" cy="2651760"/>
          </a:xfrm>
        </p:grpSpPr>
        <p:sp>
          <p:nvSpPr>
            <p:cNvPr id="4" name="g0_bg"/>
            <p:cNvSpPr/>
            <p:nvPr/>
          </p:nvSpPr>
          <p:spPr>
            <a:xfrm>
              <a:off x="502920" y="2267712"/>
              <a:ext cx="3533546" cy="2651760"/>
            </a:xfrm>
            <a:prstGeom prst="roundRect">
              <a:avLst>
                <a:gd name="adj" fmla="val 4828"/>
              </a:avLst>
            </a:prstGeom>
            <a:solidFill>
              <a:srgbClr val="FFFFFF"/>
            </a:solidFill>
            <a:ln w="15875">
              <a:solidFill>
                <a:srgbClr val="D3E3EB"/>
              </a:solidFill>
              <a:prstDash val="solid"/>
            </a:ln>
          </p:spPr>
        </p:sp>
        <p:pic>
          <p:nvPicPr>
            <p:cNvPr id="5" name="g0_icon" descr="/home/claude/build/img_atoms/ear_support.png">    </p:cNvPr>
            <p:cNvPicPr>
              <a:picLocks noChangeAspect="1"/>
            </p:cNvPicPr>
            <p:nvPr/>
          </p:nvPicPr>
          <p:blipFill>
            <a:blip r:embed="rId1"/>
            <a:stretch>
              <a:fillRect/>
            </a:stretch>
          </p:blipFill>
          <p:spPr>
            <a:xfrm>
              <a:off x="1721053" y="2578608"/>
              <a:ext cx="1097280" cy="1097280"/>
            </a:xfrm>
            <a:prstGeom prst="rect">
              <a:avLst/>
            </a:prstGeom>
          </p:spPr>
        </p:pic>
        <p:sp>
          <p:nvSpPr>
            <p:cNvPr id="6" name="g0_t"/>
            <p:cNvSpPr txBox="1"/>
            <p:nvPr/>
          </p:nvSpPr>
          <p:spPr>
            <a:xfrm>
              <a:off x="685800" y="3877056"/>
              <a:ext cx="3167786" cy="877824"/>
            </a:xfrm>
            <a:prstGeom prst="rect">
              <a:avLst/>
            </a:prstGeom>
            <a:noFill/>
            <a:ln/>
          </p:spPr>
          <p:txBody>
            <a:bodyPr wrap="square" lIns="0" tIns="0" rIns="0" bIns="0" rtlCol="0" anchor="t"/>
            <a:lstStyle/>
            <a:p>
              <a:pPr algn="ctr" indent="0" marL="0">
                <a:lnSpc>
                  <a:spcPts val="2400"/>
                </a:lnSpc>
                <a:buNone/>
              </a:pPr>
              <a:r>
                <a:rPr lang="en-US" sz="1800" b="1" dirty="0">
                  <a:solidFill>
                    <a:srgbClr val="0E2A3B"/>
                  </a:solidFill>
                  <a:latin typeface="Arial" pitchFamily="34" charset="0"/>
                  <a:ea typeface="Arial" pitchFamily="34" charset="-122"/>
                  <a:cs typeface="Arial" pitchFamily="34" charset="-120"/>
                </a:rPr>
                <a:t>Learn 4 new words.</a:t>
              </a:r>
              <a:endParaRPr lang="en-US" sz="1800" dirty="0"/>
            </a:p>
          </p:txBody>
        </p:sp>
      </p:grpSp>
      <p:grpSp>
        <p:nvGrpSpPr>
          <p:cNvPr id="14" name="g1"/>
          <p:cNvGrpSpPr/>
          <p:nvPr/>
        </p:nvGrpSpPr>
        <p:grpSpPr>
          <a:xfrm>
            <a:off x="4329074" y="2267712"/>
            <a:ext cx="3533546" cy="2651760"/>
            <a:chOff x="4329074" y="2267712"/>
            <a:chExt cx="3533546" cy="2651760"/>
          </a:xfrm>
        </p:grpSpPr>
        <p:sp>
          <p:nvSpPr>
            <p:cNvPr id="7" name="g1_bg"/>
            <p:cNvSpPr/>
            <p:nvPr/>
          </p:nvSpPr>
          <p:spPr>
            <a:xfrm>
              <a:off x="4329074" y="2267712"/>
              <a:ext cx="3533546" cy="2651760"/>
            </a:xfrm>
            <a:prstGeom prst="roundRect">
              <a:avLst>
                <a:gd name="adj" fmla="val 4828"/>
              </a:avLst>
            </a:prstGeom>
            <a:solidFill>
              <a:srgbClr val="FFFFFF"/>
            </a:solidFill>
            <a:ln w="15875">
              <a:solidFill>
                <a:srgbClr val="D3E3EB"/>
              </a:solidFill>
              <a:prstDash val="solid"/>
            </a:ln>
          </p:spPr>
        </p:sp>
        <p:pic>
          <p:nvPicPr>
            <p:cNvPr id="8" name="g1_icon" descr="/home/claude/build/img_atoms/speak_support.png">    </p:cNvPr>
            <p:cNvPicPr>
              <a:picLocks noChangeAspect="1"/>
            </p:cNvPicPr>
            <p:nvPr/>
          </p:nvPicPr>
          <p:blipFill>
            <a:blip r:embed="rId2"/>
            <a:stretch>
              <a:fillRect/>
            </a:stretch>
          </p:blipFill>
          <p:spPr>
            <a:xfrm>
              <a:off x="5547208" y="2578608"/>
              <a:ext cx="1097280" cy="1097280"/>
            </a:xfrm>
            <a:prstGeom prst="rect">
              <a:avLst/>
            </a:prstGeom>
          </p:spPr>
        </p:pic>
        <p:sp>
          <p:nvSpPr>
            <p:cNvPr id="9" name="g1_t"/>
            <p:cNvSpPr txBox="1"/>
            <p:nvPr/>
          </p:nvSpPr>
          <p:spPr>
            <a:xfrm>
              <a:off x="4511954" y="3877056"/>
              <a:ext cx="3167786" cy="877824"/>
            </a:xfrm>
            <a:prstGeom prst="rect">
              <a:avLst/>
            </a:prstGeom>
            <a:noFill/>
            <a:ln/>
          </p:spPr>
          <p:txBody>
            <a:bodyPr wrap="square" lIns="0" tIns="0" rIns="0" bIns="0" rtlCol="0" anchor="t"/>
            <a:lstStyle/>
            <a:p>
              <a:pPr algn="ctr" indent="0" marL="0">
                <a:lnSpc>
                  <a:spcPts val="2400"/>
                </a:lnSpc>
                <a:buNone/>
              </a:pPr>
              <a:r>
                <a:rPr lang="en-US" sz="1800" b="1" dirty="0">
                  <a:solidFill>
                    <a:srgbClr val="0E2A3B"/>
                  </a:solidFill>
                  <a:latin typeface="Arial" pitchFamily="34" charset="0"/>
                  <a:ea typeface="Arial" pitchFamily="34" charset="-122"/>
                  <a:cs typeface="Arial" pitchFamily="34" charset="-120"/>
                </a:rPr>
                <a:t>Say: "___ is made of atoms."</a:t>
              </a:r>
              <a:endParaRPr lang="en-US" sz="1800" dirty="0"/>
            </a:p>
          </p:txBody>
        </p:sp>
      </p:grpSp>
      <p:grpSp>
        <p:nvGrpSpPr>
          <p:cNvPr id="15" name="g2"/>
          <p:cNvGrpSpPr/>
          <p:nvPr/>
        </p:nvGrpSpPr>
        <p:grpSpPr>
          <a:xfrm>
            <a:off x="8155229" y="2267712"/>
            <a:ext cx="3533546" cy="2651760"/>
            <a:chOff x="8155229" y="2267712"/>
            <a:chExt cx="3533546" cy="2651760"/>
          </a:xfrm>
        </p:grpSpPr>
        <p:sp>
          <p:nvSpPr>
            <p:cNvPr id="10" name="g2_bg"/>
            <p:cNvSpPr/>
            <p:nvPr/>
          </p:nvSpPr>
          <p:spPr>
            <a:xfrm>
              <a:off x="8155229" y="2267712"/>
              <a:ext cx="3533546" cy="2651760"/>
            </a:xfrm>
            <a:prstGeom prst="roundRect">
              <a:avLst>
                <a:gd name="adj" fmla="val 4828"/>
              </a:avLst>
            </a:prstGeom>
            <a:solidFill>
              <a:srgbClr val="FFFFFF"/>
            </a:solidFill>
            <a:ln w="15875">
              <a:solidFill>
                <a:srgbClr val="D3E3EB"/>
              </a:solidFill>
              <a:prstDash val="solid"/>
            </a:ln>
          </p:spPr>
        </p:sp>
        <p:pic>
          <p:nvPicPr>
            <p:cNvPr id="11" name="g2_icon" descr="/home/claude/build/img_atoms/pencil_support.png">    </p:cNvPr>
            <p:cNvPicPr>
              <a:picLocks noChangeAspect="1"/>
            </p:cNvPicPr>
            <p:nvPr/>
          </p:nvPicPr>
          <p:blipFill>
            <a:blip r:embed="rId3"/>
            <a:stretch>
              <a:fillRect/>
            </a:stretch>
          </p:blipFill>
          <p:spPr>
            <a:xfrm>
              <a:off x="9373362" y="2578608"/>
              <a:ext cx="1097280" cy="1097280"/>
            </a:xfrm>
            <a:prstGeom prst="rect">
              <a:avLst/>
            </a:prstGeom>
          </p:spPr>
        </p:pic>
        <p:sp>
          <p:nvSpPr>
            <p:cNvPr id="12" name="g2_t"/>
            <p:cNvSpPr txBox="1"/>
            <p:nvPr/>
          </p:nvSpPr>
          <p:spPr>
            <a:xfrm>
              <a:off x="8338109" y="3877056"/>
              <a:ext cx="3167786" cy="877824"/>
            </a:xfrm>
            <a:prstGeom prst="rect">
              <a:avLst/>
            </a:prstGeom>
            <a:noFill/>
            <a:ln/>
          </p:spPr>
          <p:txBody>
            <a:bodyPr wrap="square" lIns="0" tIns="0" rIns="0" bIns="0" rtlCol="0" anchor="t"/>
            <a:lstStyle/>
            <a:p>
              <a:pPr algn="ctr" indent="0" marL="0">
                <a:lnSpc>
                  <a:spcPts val="2400"/>
                </a:lnSpc>
                <a:buNone/>
              </a:pPr>
              <a:r>
                <a:rPr lang="en-US" sz="1800" b="1" dirty="0">
                  <a:solidFill>
                    <a:srgbClr val="0E2A3B"/>
                  </a:solidFill>
                  <a:latin typeface="Arial" pitchFamily="34" charset="0"/>
                  <a:ea typeface="Arial" pitchFamily="34" charset="-122"/>
                  <a:cs typeface="Arial" pitchFamily="34" charset="-120"/>
                </a:rPr>
                <a:t>Write 3 sentences.</a:t>
              </a:r>
              <a:endParaRPr lang="en-US" sz="18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400"/>
                                        <p:tgtEl>
                                          <p:spTgt spid="13"/>
                                        </p:tgtEl>
                                      </p:cBhvr>
                                    </p:animEffect>
                                    <p:animScale>
                                      <p:cBhvr>
                                        <p:cTn id="5" dur="400" fill="hold"/>
                                        <p:tgtEl>
                                          <p:spTgt spid="13"/>
                                        </p:tgtEl>
                                      </p:cBhvr>
                                      <p:from x="0" y="0"/>
                                      <p:to x="100000" y="100000"/>
                                    </p:animScale>
                                  </p:childTnLst>
                                </p:cTn>
                              </p:par>
                            </p:childTnLst>
                          </p:cTn>
                        </p:par>
                      </p:childTnLst>
                    </p:cTn>
                  </p:par>
                  <p:par>
                    <p:cTn id="13" fill="hold">
                      <p:stCondLst>
                        <p:cond delay="indefinite"/>
                      </p:stCondLst>
                      <p:childTnLst>
                        <p:par>
                          <p:cTn id="14" fill="hold">
                            <p:stCondLst>
                              <p:cond delay="0"/>
                            </p:stCondLst>
                            <p:childTnLst>
                              <p:par>
                                <p:cTn id="12" presetID="23" presetClass="entr" presetSubtype="16" fill="hold" grpId="0"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animScale>
                                      <p:cBhvr>
                                        <p:cTn id="11" dur="400" fill="hold"/>
                                        <p:tgtEl>
                                          <p:spTgt spid="14"/>
                                        </p:tgtEl>
                                      </p:cBhvr>
                                      <p:from x="0" y="0"/>
                                      <p:to x="100000" y="100000"/>
                                    </p:animScale>
                                  </p:childTnLst>
                                </p:cTn>
                              </p:par>
                            </p:childTnLst>
                          </p:cTn>
                        </p:par>
                      </p:childTnLst>
                    </p:cTn>
                  </p:par>
                  <p:par>
                    <p:cTn id="19" fill="hold">
                      <p:stCondLst>
                        <p:cond delay="indefinite"/>
                      </p:stCondLst>
                      <p:childTnLst>
                        <p:par>
                          <p:cTn id="20" fill="hold">
                            <p:stCondLst>
                              <p:cond delay="0"/>
                            </p:stCondLst>
                            <p:childTnLst>
                              <p:par>
                                <p:cTn id="18" presetID="23" presetClass="entr" presetSubtype="16"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animScale>
                                      <p:cBhvr>
                                        <p:cTn id="17" dur="400" fill="hold"/>
                                        <p:tgtEl>
                                          <p:spTgt spid="15"/>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sp>
        <p:nvSpPr>
          <p:cNvPr id="2" name="phase_pill"/>
          <p:cNvSpPr/>
          <p:nvPr/>
        </p:nvSpPr>
        <p:spPr>
          <a:xfrm>
            <a:off x="502920" y="274320"/>
            <a:ext cx="2871216" cy="347472"/>
          </a:xfrm>
          <a:prstGeom prst="roundRect">
            <a:avLst>
              <a:gd name="adj" fmla="val 50000"/>
            </a:avLst>
          </a:prstGeom>
          <a:solidFill>
            <a:srgbClr val="123B54"/>
          </a:solidFill>
          <a:ln/>
        </p:spPr>
        <p:txBody>
          <a:bodyPr wrap="square" lIns="0" tIns="0" rIns="0" bIns="0" rtlCol="0" anchor="ctr"/>
          <a:lstStyle/>
          <a:p>
            <a:pPr algn="ctr" indent="0" marL="0">
              <a:buNone/>
            </a:pPr>
            <a:r>
              <a:rPr lang="en-US" sz="1100" b="1" spc="110" kern="0" dirty="0">
                <a:solidFill>
                  <a:srgbClr val="F4F8FA"/>
                </a:solidFill>
                <a:latin typeface="Arial" pitchFamily="34" charset="0"/>
                <a:ea typeface="Arial" pitchFamily="34" charset="-122"/>
                <a:cs typeface="Arial" pitchFamily="34" charset="-120"/>
              </a:rPr>
              <a:t>NEW WORDS · 4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123B54"/>
                </a:solidFill>
                <a:latin typeface="Georgia" pitchFamily="34" charset="0"/>
                <a:ea typeface="Georgia" pitchFamily="34" charset="-122"/>
                <a:cs typeface="Georgia" pitchFamily="34" charset="-120"/>
              </a:rPr>
              <a:t>New words</a:t>
            </a:r>
            <a:endParaRPr lang="en-US" sz="3000" dirty="0"/>
          </a:p>
        </p:txBody>
      </p:sp>
      <p:grpSp>
        <p:nvGrpSpPr>
          <p:cNvPr id="14" name="w0"/>
          <p:cNvGrpSpPr/>
          <p:nvPr/>
        </p:nvGrpSpPr>
        <p:grpSpPr>
          <a:xfrm>
            <a:off x="1051560" y="2121408"/>
            <a:ext cx="4572000" cy="3145536"/>
            <a:chOff x="1051560" y="2121408"/>
            <a:chExt cx="4572000" cy="3145536"/>
          </a:xfrm>
        </p:grpSpPr>
        <p:sp>
          <p:nvSpPr>
            <p:cNvPr id="4" name="w0_bg"/>
            <p:cNvSpPr/>
            <p:nvPr/>
          </p:nvSpPr>
          <p:spPr>
            <a:xfrm>
              <a:off x="1051560" y="2121408"/>
              <a:ext cx="4572000" cy="3145536"/>
            </a:xfrm>
            <a:prstGeom prst="roundRect">
              <a:avLst>
                <a:gd name="adj" fmla="val 4070"/>
              </a:avLst>
            </a:prstGeom>
            <a:solidFill>
              <a:srgbClr val="FFFFFF"/>
            </a:solidFill>
            <a:ln w="19050">
              <a:solidFill>
                <a:srgbClr val="D3E3EB"/>
              </a:solidFill>
              <a:prstDash val="solid"/>
            </a:ln>
          </p:spPr>
        </p:sp>
        <p:pic>
          <p:nvPicPr>
            <p:cNvPr id="5" name="w0_icon" descr="/home/claude/build/img_atoms/atom_support.png">    </p:cNvPr>
            <p:cNvPicPr>
              <a:picLocks noChangeAspect="1"/>
            </p:cNvPicPr>
            <p:nvPr/>
          </p:nvPicPr>
          <p:blipFill>
            <a:blip r:embed="rId1"/>
            <a:stretch>
              <a:fillRect/>
            </a:stretch>
          </p:blipFill>
          <p:spPr>
            <a:xfrm>
              <a:off x="2857500" y="2340864"/>
              <a:ext cx="960120" cy="960120"/>
            </a:xfrm>
            <a:prstGeom prst="rect">
              <a:avLst/>
            </a:prstGeom>
          </p:spPr>
        </p:pic>
        <p:sp>
          <p:nvSpPr>
            <p:cNvPr id="6" name="w0_word"/>
            <p:cNvSpPr txBox="1"/>
            <p:nvPr/>
          </p:nvSpPr>
          <p:spPr>
            <a:xfrm>
              <a:off x="1143000" y="3438144"/>
              <a:ext cx="4389120" cy="475488"/>
            </a:xfrm>
            <a:prstGeom prst="rect">
              <a:avLst/>
            </a:prstGeom>
            <a:noFill/>
            <a:ln/>
          </p:spPr>
          <p:txBody>
            <a:bodyPr wrap="square" lIns="0" tIns="0" rIns="0" bIns="0" rtlCol="0" anchor="ctr"/>
            <a:lstStyle/>
            <a:p>
              <a:pPr algn="ctr" indent="0" marL="0">
                <a:buNone/>
              </a:pPr>
              <a:r>
                <a:rPr lang="en-US" sz="2800" b="1" dirty="0">
                  <a:solidFill>
                    <a:srgbClr val="123B54"/>
                  </a:solidFill>
                  <a:latin typeface="Georgia" pitchFamily="34" charset="0"/>
                  <a:ea typeface="Georgia" pitchFamily="34" charset="-122"/>
                  <a:cs typeface="Georgia" pitchFamily="34" charset="-120"/>
                </a:rPr>
                <a:t>atom</a:t>
              </a:r>
              <a:endParaRPr lang="en-US" sz="2800" dirty="0"/>
            </a:p>
          </p:txBody>
        </p:sp>
        <p:sp>
          <p:nvSpPr>
            <p:cNvPr id="7" name="w0_say"/>
            <p:cNvSpPr txBox="1"/>
            <p:nvPr/>
          </p:nvSpPr>
          <p:spPr>
            <a:xfrm>
              <a:off x="1143000" y="3931920"/>
              <a:ext cx="4389120" cy="310896"/>
            </a:xfrm>
            <a:prstGeom prst="rect">
              <a:avLst/>
            </a:prstGeom>
            <a:noFill/>
            <a:ln/>
          </p:spPr>
          <p:txBody>
            <a:bodyPr wrap="square" lIns="0" tIns="0" rIns="0" bIns="0" rtlCol="0" anchor="ctr"/>
            <a:lstStyle/>
            <a:p>
              <a:pPr algn="ctr" indent="0" marL="0">
                <a:buNone/>
              </a:pPr>
              <a:r>
                <a:rPr lang="en-US" sz="1400" b="1" dirty="0">
                  <a:solidFill>
                    <a:srgbClr val="EF476F"/>
                  </a:solidFill>
                  <a:latin typeface="Arial" pitchFamily="34" charset="0"/>
                  <a:ea typeface="Arial" pitchFamily="34" charset="-122"/>
                  <a:cs typeface="Arial" pitchFamily="34" charset="-120"/>
                </a:rPr>
                <a:t>A-tom</a:t>
              </a:r>
              <a:endParaRPr lang="en-US" sz="1400" dirty="0"/>
            </a:p>
          </p:txBody>
        </p:sp>
        <p:sp>
          <p:nvSpPr>
            <p:cNvPr id="8" name="w0_means"/>
            <p:cNvSpPr txBox="1"/>
            <p:nvPr/>
          </p:nvSpPr>
          <p:spPr>
            <a:xfrm>
              <a:off x="1216152" y="4297680"/>
              <a:ext cx="4242816" cy="676656"/>
            </a:xfrm>
            <a:prstGeom prst="rect">
              <a:avLst/>
            </a:prstGeom>
            <a:noFill/>
            <a:ln/>
          </p:spPr>
          <p:txBody>
            <a:bodyPr wrap="square" lIns="0" tIns="0" rIns="0" bIns="0" rtlCol="0" anchor="t"/>
            <a:lstStyle/>
            <a:p>
              <a:pPr algn="ctr" indent="0" marL="0">
                <a:lnSpc>
                  <a:spcPts val="2000"/>
                </a:lnSpc>
                <a:buNone/>
              </a:pPr>
              <a:r>
                <a:rPr lang="en-US" sz="1500" dirty="0">
                  <a:solidFill>
                    <a:srgbClr val="0E2A3B"/>
                  </a:solidFill>
                  <a:latin typeface="Arial" pitchFamily="34" charset="0"/>
                  <a:ea typeface="Arial" pitchFamily="34" charset="-122"/>
                  <a:cs typeface="Arial" pitchFamily="34" charset="-120"/>
                </a:rPr>
                <a:t>A very, very small part.</a:t>
              </a:r>
              <a:endParaRPr lang="en-US" sz="1500" dirty="0"/>
            </a:p>
            <a:p>
              <a:pPr algn="ctr" indent="0" marL="0">
                <a:lnSpc>
                  <a:spcPts val="2000"/>
                </a:lnSpc>
                <a:buNone/>
              </a:pPr>
              <a:r>
                <a:rPr lang="en-US" sz="1500" dirty="0">
                  <a:solidFill>
                    <a:srgbClr val="0E2A3B"/>
                  </a:solidFill>
                  <a:latin typeface="Arial" pitchFamily="34" charset="0"/>
                  <a:ea typeface="Arial" pitchFamily="34" charset="-122"/>
                  <a:cs typeface="Arial" pitchFamily="34" charset="-120"/>
                </a:rPr>
                <a:t>Everything is made of atoms.</a:t>
              </a:r>
              <a:endParaRPr lang="en-US" sz="1500" dirty="0"/>
            </a:p>
          </p:txBody>
        </p:sp>
      </p:grpSp>
      <p:grpSp>
        <p:nvGrpSpPr>
          <p:cNvPr id="15" name="w1"/>
          <p:cNvGrpSpPr/>
          <p:nvPr/>
        </p:nvGrpSpPr>
        <p:grpSpPr>
          <a:xfrm>
            <a:off x="6263640" y="2121408"/>
            <a:ext cx="4572000" cy="3145536"/>
            <a:chOff x="6263640" y="2121408"/>
            <a:chExt cx="4572000" cy="3145536"/>
          </a:xfrm>
        </p:grpSpPr>
        <p:sp>
          <p:nvSpPr>
            <p:cNvPr id="9" name="w1_bg"/>
            <p:cNvSpPr/>
            <p:nvPr/>
          </p:nvSpPr>
          <p:spPr>
            <a:xfrm>
              <a:off x="6263640" y="2121408"/>
              <a:ext cx="4572000" cy="3145536"/>
            </a:xfrm>
            <a:prstGeom prst="roundRect">
              <a:avLst>
                <a:gd name="adj" fmla="val 4070"/>
              </a:avLst>
            </a:prstGeom>
            <a:solidFill>
              <a:srgbClr val="FFFFFF"/>
            </a:solidFill>
            <a:ln w="19050">
              <a:solidFill>
                <a:srgbClr val="D3E3EB"/>
              </a:solidFill>
              <a:prstDash val="solid"/>
            </a:ln>
          </p:spPr>
        </p:sp>
        <p:pic>
          <p:nvPicPr>
            <p:cNvPr id="10" name="w1_icon" descr="/home/claude/build/img_atoms/rock_support.png">    </p:cNvPr>
            <p:cNvPicPr>
              <a:picLocks noChangeAspect="1"/>
            </p:cNvPicPr>
            <p:nvPr/>
          </p:nvPicPr>
          <p:blipFill>
            <a:blip r:embed="rId2"/>
            <a:stretch>
              <a:fillRect/>
            </a:stretch>
          </p:blipFill>
          <p:spPr>
            <a:xfrm>
              <a:off x="8069580" y="2340864"/>
              <a:ext cx="960120" cy="960120"/>
            </a:xfrm>
            <a:prstGeom prst="rect">
              <a:avLst/>
            </a:prstGeom>
          </p:spPr>
        </p:pic>
        <p:sp>
          <p:nvSpPr>
            <p:cNvPr id="11" name="w1_word"/>
            <p:cNvSpPr txBox="1"/>
            <p:nvPr/>
          </p:nvSpPr>
          <p:spPr>
            <a:xfrm>
              <a:off x="6355080" y="3438144"/>
              <a:ext cx="4389120" cy="475488"/>
            </a:xfrm>
            <a:prstGeom prst="rect">
              <a:avLst/>
            </a:prstGeom>
            <a:noFill/>
            <a:ln/>
          </p:spPr>
          <p:txBody>
            <a:bodyPr wrap="square" lIns="0" tIns="0" rIns="0" bIns="0" rtlCol="0" anchor="ctr"/>
            <a:lstStyle/>
            <a:p>
              <a:pPr algn="ctr" indent="0" marL="0">
                <a:buNone/>
              </a:pPr>
              <a:r>
                <a:rPr lang="en-US" sz="2800" b="1" dirty="0">
                  <a:solidFill>
                    <a:srgbClr val="123B54"/>
                  </a:solidFill>
                  <a:latin typeface="Georgia" pitchFamily="34" charset="0"/>
                  <a:ea typeface="Georgia" pitchFamily="34" charset="-122"/>
                  <a:cs typeface="Georgia" pitchFamily="34" charset="-120"/>
                </a:rPr>
                <a:t>matter</a:t>
              </a:r>
              <a:endParaRPr lang="en-US" sz="2800" dirty="0"/>
            </a:p>
          </p:txBody>
        </p:sp>
        <p:sp>
          <p:nvSpPr>
            <p:cNvPr id="12" name="w1_say"/>
            <p:cNvSpPr txBox="1"/>
            <p:nvPr/>
          </p:nvSpPr>
          <p:spPr>
            <a:xfrm>
              <a:off x="6355080" y="3931920"/>
              <a:ext cx="4389120" cy="310896"/>
            </a:xfrm>
            <a:prstGeom prst="rect">
              <a:avLst/>
            </a:prstGeom>
            <a:noFill/>
            <a:ln/>
          </p:spPr>
          <p:txBody>
            <a:bodyPr wrap="square" lIns="0" tIns="0" rIns="0" bIns="0" rtlCol="0" anchor="ctr"/>
            <a:lstStyle/>
            <a:p>
              <a:pPr algn="ctr" indent="0" marL="0">
                <a:buNone/>
              </a:pPr>
              <a:r>
                <a:rPr lang="en-US" sz="1400" b="1" dirty="0">
                  <a:solidFill>
                    <a:srgbClr val="EF476F"/>
                  </a:solidFill>
                  <a:latin typeface="Arial" pitchFamily="34" charset="0"/>
                  <a:ea typeface="Arial" pitchFamily="34" charset="-122"/>
                  <a:cs typeface="Arial" pitchFamily="34" charset="-120"/>
                </a:rPr>
                <a:t>MAT-ter</a:t>
              </a:r>
              <a:endParaRPr lang="en-US" sz="1400" dirty="0"/>
            </a:p>
          </p:txBody>
        </p:sp>
        <p:sp>
          <p:nvSpPr>
            <p:cNvPr id="13" name="w1_means"/>
            <p:cNvSpPr txBox="1"/>
            <p:nvPr/>
          </p:nvSpPr>
          <p:spPr>
            <a:xfrm>
              <a:off x="6428232" y="4297680"/>
              <a:ext cx="4242816" cy="676656"/>
            </a:xfrm>
            <a:prstGeom prst="rect">
              <a:avLst/>
            </a:prstGeom>
            <a:noFill/>
            <a:ln/>
          </p:spPr>
          <p:txBody>
            <a:bodyPr wrap="square" lIns="0" tIns="0" rIns="0" bIns="0" rtlCol="0" anchor="t"/>
            <a:lstStyle/>
            <a:p>
              <a:pPr algn="ctr" indent="0" marL="0">
                <a:lnSpc>
                  <a:spcPts val="2000"/>
                </a:lnSpc>
                <a:buNone/>
              </a:pPr>
              <a:r>
                <a:rPr lang="en-US" sz="1500" dirty="0">
                  <a:solidFill>
                    <a:srgbClr val="0E2A3B"/>
                  </a:solidFill>
                  <a:latin typeface="Arial" pitchFamily="34" charset="0"/>
                  <a:ea typeface="Arial" pitchFamily="34" charset="-122"/>
                  <a:cs typeface="Arial" pitchFamily="34" charset="-120"/>
                </a:rPr>
                <a:t>Anything you can touch.</a:t>
              </a:r>
              <a:endParaRPr lang="en-US" sz="1500" dirty="0"/>
            </a:p>
            <a:p>
              <a:pPr algn="ctr" indent="0" marL="0">
                <a:lnSpc>
                  <a:spcPts val="2000"/>
                </a:lnSpc>
                <a:buNone/>
              </a:pPr>
              <a:r>
                <a:rPr lang="en-US" sz="1500" dirty="0">
                  <a:solidFill>
                    <a:srgbClr val="0E2A3B"/>
                  </a:solidFill>
                  <a:latin typeface="Arial" pitchFamily="34" charset="0"/>
                  <a:ea typeface="Arial" pitchFamily="34" charset="-122"/>
                  <a:cs typeface="Arial" pitchFamily="34" charset="-120"/>
                </a:rPr>
                <a:t>A rock. Water. Air. You.</a:t>
              </a:r>
              <a:endParaRPr lang="en-US" sz="15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14"/>
                                        </p:tgtEl>
                                        <p:attrNameLst>
                                          <p:attrName>style.visibility</p:attrName>
                                        </p:attrNameLst>
                                      </p:cBhvr>
                                      <p:to>
                                        <p:strVal val="visible"/>
                                      </p:to>
                                    </p:set>
                                    <p:animEffect transition="in" filter="fade">
                                      <p:cBhvr>
                                        <p:cTn id="4" dur="400"/>
                                        <p:tgtEl>
                                          <p:spTgt spid="14"/>
                                        </p:tgtEl>
                                      </p:cBhvr>
                                    </p:animEffect>
                                    <p:animScale>
                                      <p:cBhvr>
                                        <p:cTn id="5" dur="400" fill="hold"/>
                                        <p:tgtEl>
                                          <p:spTgt spid="14"/>
                                        </p:tgtEl>
                                      </p:cBhvr>
                                      <p:from x="0" y="0"/>
                                      <p:to x="100000" y="100000"/>
                                    </p:animScale>
                                  </p:childTnLst>
                                </p:cTn>
                              </p:par>
                            </p:childTnLst>
                          </p:cTn>
                        </p:par>
                      </p:childTnLst>
                    </p:cTn>
                  </p:par>
                  <p:par>
                    <p:cTn id="13" fill="hold">
                      <p:stCondLst>
                        <p:cond delay="indefinite"/>
                      </p:stCondLst>
                      <p:childTnLst>
                        <p:par>
                          <p:cTn id="14" fill="hold">
                            <p:stCondLst>
                              <p:cond delay="0"/>
                            </p:stCondLst>
                            <p:childTnLst>
                              <p:par>
                                <p:cTn id="12" presetID="23" presetClass="entr" presetSubtype="16" fill="hold" grpId="0"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animScale>
                                      <p:cBhvr>
                                        <p:cTn id="11" dur="400" fill="hold"/>
                                        <p:tgtEl>
                                          <p:spTgt spid="15"/>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phase_pill"/>
          <p:cNvSpPr/>
          <p:nvPr/>
        </p:nvSpPr>
        <p:spPr>
          <a:xfrm>
            <a:off x="502920" y="274320"/>
            <a:ext cx="2871216" cy="347472"/>
          </a:xfrm>
          <a:prstGeom prst="roundRect">
            <a:avLst>
              <a:gd name="adj" fmla="val 50000"/>
            </a:avLst>
          </a:prstGeom>
          <a:solidFill>
            <a:srgbClr val="123B54"/>
          </a:solidFill>
          <a:ln/>
        </p:spPr>
        <p:txBody>
          <a:bodyPr wrap="square" lIns="0" tIns="0" rIns="0" bIns="0" rtlCol="0" anchor="ctr"/>
          <a:lstStyle/>
          <a:p>
            <a:pPr algn="ctr" indent="0" marL="0">
              <a:buNone/>
            </a:pPr>
            <a:r>
              <a:rPr lang="en-US" sz="1100" b="1" spc="110" kern="0" dirty="0">
                <a:solidFill>
                  <a:srgbClr val="F4F8FA"/>
                </a:solidFill>
                <a:latin typeface="Arial" pitchFamily="34" charset="0"/>
                <a:ea typeface="Arial" pitchFamily="34" charset="-122"/>
                <a:cs typeface="Arial" pitchFamily="34" charset="-120"/>
              </a:rPr>
              <a:t>NEW WORDS · 4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123B54"/>
                </a:solidFill>
                <a:latin typeface="Georgia" pitchFamily="34" charset="0"/>
                <a:ea typeface="Georgia" pitchFamily="34" charset="-122"/>
                <a:cs typeface="Georgia" pitchFamily="34" charset="-120"/>
              </a:rPr>
              <a:t>Two more words</a:t>
            </a:r>
            <a:endParaRPr lang="en-US" sz="3000" dirty="0"/>
          </a:p>
        </p:txBody>
      </p:sp>
      <p:grpSp>
        <p:nvGrpSpPr>
          <p:cNvPr id="14" name="w2"/>
          <p:cNvGrpSpPr/>
          <p:nvPr/>
        </p:nvGrpSpPr>
        <p:grpSpPr>
          <a:xfrm>
            <a:off x="1051560" y="2121408"/>
            <a:ext cx="4572000" cy="3145536"/>
            <a:chOff x="1051560" y="2121408"/>
            <a:chExt cx="4572000" cy="3145536"/>
          </a:xfrm>
        </p:grpSpPr>
        <p:sp>
          <p:nvSpPr>
            <p:cNvPr id="4" name="w2_bg"/>
            <p:cNvSpPr/>
            <p:nvPr/>
          </p:nvSpPr>
          <p:spPr>
            <a:xfrm>
              <a:off x="1051560" y="2121408"/>
              <a:ext cx="4572000" cy="3145536"/>
            </a:xfrm>
            <a:prstGeom prst="roundRect">
              <a:avLst>
                <a:gd name="adj" fmla="val 4070"/>
              </a:avLst>
            </a:prstGeom>
            <a:solidFill>
              <a:srgbClr val="FFFFFF"/>
            </a:solidFill>
            <a:ln w="19050">
              <a:solidFill>
                <a:srgbClr val="D3E3EB"/>
              </a:solidFill>
              <a:prstDash val="solid"/>
            </a:ln>
          </p:spPr>
        </p:sp>
        <p:pic>
          <p:nvPicPr>
            <p:cNvPr id="5" name="w2_icon" descr="/home/claude/build/img_atoms/zoom_support.png">    </p:cNvPr>
            <p:cNvPicPr>
              <a:picLocks noChangeAspect="1"/>
            </p:cNvPicPr>
            <p:nvPr/>
          </p:nvPicPr>
          <p:blipFill>
            <a:blip r:embed="rId1"/>
            <a:stretch>
              <a:fillRect/>
            </a:stretch>
          </p:blipFill>
          <p:spPr>
            <a:xfrm>
              <a:off x="2857500" y="2340864"/>
              <a:ext cx="960120" cy="960120"/>
            </a:xfrm>
            <a:prstGeom prst="rect">
              <a:avLst/>
            </a:prstGeom>
          </p:spPr>
        </p:pic>
        <p:sp>
          <p:nvSpPr>
            <p:cNvPr id="6" name="w2_word"/>
            <p:cNvSpPr txBox="1"/>
            <p:nvPr/>
          </p:nvSpPr>
          <p:spPr>
            <a:xfrm>
              <a:off x="1143000" y="3438144"/>
              <a:ext cx="4389120" cy="475488"/>
            </a:xfrm>
            <a:prstGeom prst="rect">
              <a:avLst/>
            </a:prstGeom>
            <a:noFill/>
            <a:ln/>
          </p:spPr>
          <p:txBody>
            <a:bodyPr wrap="square" lIns="0" tIns="0" rIns="0" bIns="0" rtlCol="0" anchor="ctr"/>
            <a:lstStyle/>
            <a:p>
              <a:pPr algn="ctr" indent="0" marL="0">
                <a:buNone/>
              </a:pPr>
              <a:r>
                <a:rPr lang="en-US" sz="2800" b="1" dirty="0">
                  <a:solidFill>
                    <a:srgbClr val="123B54"/>
                  </a:solidFill>
                  <a:latin typeface="Georgia" pitchFamily="34" charset="0"/>
                  <a:ea typeface="Georgia" pitchFamily="34" charset="-122"/>
                  <a:cs typeface="Georgia" pitchFamily="34" charset="-120"/>
                </a:rPr>
                <a:t>tiny</a:t>
              </a:r>
              <a:endParaRPr lang="en-US" sz="2800" dirty="0"/>
            </a:p>
          </p:txBody>
        </p:sp>
        <p:sp>
          <p:nvSpPr>
            <p:cNvPr id="7" name="w2_say"/>
            <p:cNvSpPr txBox="1"/>
            <p:nvPr/>
          </p:nvSpPr>
          <p:spPr>
            <a:xfrm>
              <a:off x="1143000" y="3931920"/>
              <a:ext cx="4389120" cy="310896"/>
            </a:xfrm>
            <a:prstGeom prst="rect">
              <a:avLst/>
            </a:prstGeom>
            <a:noFill/>
            <a:ln/>
          </p:spPr>
          <p:txBody>
            <a:bodyPr wrap="square" lIns="0" tIns="0" rIns="0" bIns="0" rtlCol="0" anchor="ctr"/>
            <a:lstStyle/>
            <a:p>
              <a:pPr algn="ctr" indent="0" marL="0">
                <a:buNone/>
              </a:pPr>
              <a:r>
                <a:rPr lang="en-US" sz="1400" b="1" dirty="0">
                  <a:solidFill>
                    <a:srgbClr val="EF476F"/>
                  </a:solidFill>
                  <a:latin typeface="Arial" pitchFamily="34" charset="0"/>
                  <a:ea typeface="Arial" pitchFamily="34" charset="-122"/>
                  <a:cs typeface="Arial" pitchFamily="34" charset="-120"/>
                </a:rPr>
                <a:t>TY-nee</a:t>
              </a:r>
              <a:endParaRPr lang="en-US" sz="1400" dirty="0"/>
            </a:p>
          </p:txBody>
        </p:sp>
        <p:sp>
          <p:nvSpPr>
            <p:cNvPr id="8" name="w2_means"/>
            <p:cNvSpPr txBox="1"/>
            <p:nvPr/>
          </p:nvSpPr>
          <p:spPr>
            <a:xfrm>
              <a:off x="1216152" y="4297680"/>
              <a:ext cx="4242816" cy="676656"/>
            </a:xfrm>
            <a:prstGeom prst="rect">
              <a:avLst/>
            </a:prstGeom>
            <a:noFill/>
            <a:ln/>
          </p:spPr>
          <p:txBody>
            <a:bodyPr wrap="square" lIns="0" tIns="0" rIns="0" bIns="0" rtlCol="0" anchor="t"/>
            <a:lstStyle/>
            <a:p>
              <a:pPr algn="ctr" indent="0" marL="0">
                <a:lnSpc>
                  <a:spcPts val="2000"/>
                </a:lnSpc>
                <a:buNone/>
              </a:pPr>
              <a:r>
                <a:rPr lang="en-US" sz="1500" dirty="0">
                  <a:solidFill>
                    <a:srgbClr val="0E2A3B"/>
                  </a:solidFill>
                  <a:latin typeface="Arial" pitchFamily="34" charset="0"/>
                  <a:ea typeface="Arial" pitchFamily="34" charset="-122"/>
                  <a:cs typeface="Arial" pitchFamily="34" charset="-120"/>
                </a:rPr>
                <a:t>Very, very small.</a:t>
              </a:r>
              <a:endParaRPr lang="en-US" sz="1500" dirty="0"/>
            </a:p>
            <a:p>
              <a:pPr algn="ctr" indent="0" marL="0">
                <a:lnSpc>
                  <a:spcPts val="2000"/>
                </a:lnSpc>
                <a:buNone/>
              </a:pPr>
              <a:r>
                <a:rPr lang="en-US" sz="1500" dirty="0">
                  <a:solidFill>
                    <a:srgbClr val="0E2A3B"/>
                  </a:solidFill>
                  <a:latin typeface="Arial" pitchFamily="34" charset="0"/>
                  <a:ea typeface="Arial" pitchFamily="34" charset="-122"/>
                  <a:cs typeface="Arial" pitchFamily="34" charset="-120"/>
                </a:rPr>
                <a:t>Too small to see.</a:t>
              </a:r>
              <a:endParaRPr lang="en-US" sz="1500" dirty="0"/>
            </a:p>
          </p:txBody>
        </p:sp>
      </p:grpSp>
      <p:grpSp>
        <p:nvGrpSpPr>
          <p:cNvPr id="15" name="w3"/>
          <p:cNvGrpSpPr/>
          <p:nvPr/>
        </p:nvGrpSpPr>
        <p:grpSpPr>
          <a:xfrm>
            <a:off x="6263640" y="2121408"/>
            <a:ext cx="4572000" cy="3145536"/>
            <a:chOff x="6263640" y="2121408"/>
            <a:chExt cx="4572000" cy="3145536"/>
          </a:xfrm>
        </p:grpSpPr>
        <p:sp>
          <p:nvSpPr>
            <p:cNvPr id="9" name="w3_bg"/>
            <p:cNvSpPr/>
            <p:nvPr/>
          </p:nvSpPr>
          <p:spPr>
            <a:xfrm>
              <a:off x="6263640" y="2121408"/>
              <a:ext cx="4572000" cy="3145536"/>
            </a:xfrm>
            <a:prstGeom prst="roundRect">
              <a:avLst>
                <a:gd name="adj" fmla="val 4070"/>
              </a:avLst>
            </a:prstGeom>
            <a:solidFill>
              <a:srgbClr val="FFFFFF"/>
            </a:solidFill>
            <a:ln w="19050">
              <a:solidFill>
                <a:srgbClr val="D3E3EB"/>
              </a:solidFill>
              <a:prstDash val="solid"/>
            </a:ln>
          </p:spPr>
        </p:sp>
        <p:pic>
          <p:nvPicPr>
            <p:cNvPr id="10" name="w3_icon" descr="/home/claude/build/img_atoms/chair_support.png">    </p:cNvPr>
            <p:cNvPicPr>
              <a:picLocks noChangeAspect="1"/>
            </p:cNvPicPr>
            <p:nvPr/>
          </p:nvPicPr>
          <p:blipFill>
            <a:blip r:embed="rId2"/>
            <a:stretch>
              <a:fillRect/>
            </a:stretch>
          </p:blipFill>
          <p:spPr>
            <a:xfrm>
              <a:off x="8069580" y="2340864"/>
              <a:ext cx="960120" cy="960120"/>
            </a:xfrm>
            <a:prstGeom prst="rect">
              <a:avLst/>
            </a:prstGeom>
          </p:spPr>
        </p:pic>
        <p:sp>
          <p:nvSpPr>
            <p:cNvPr id="11" name="w3_word"/>
            <p:cNvSpPr txBox="1"/>
            <p:nvPr/>
          </p:nvSpPr>
          <p:spPr>
            <a:xfrm>
              <a:off x="6355080" y="3438144"/>
              <a:ext cx="4389120" cy="475488"/>
            </a:xfrm>
            <a:prstGeom prst="rect">
              <a:avLst/>
            </a:prstGeom>
            <a:noFill/>
            <a:ln/>
          </p:spPr>
          <p:txBody>
            <a:bodyPr wrap="square" lIns="0" tIns="0" rIns="0" bIns="0" rtlCol="0" anchor="ctr"/>
            <a:lstStyle/>
            <a:p>
              <a:pPr algn="ctr" indent="0" marL="0">
                <a:buNone/>
              </a:pPr>
              <a:r>
                <a:rPr lang="en-US" sz="2800" b="1" dirty="0">
                  <a:solidFill>
                    <a:srgbClr val="123B54"/>
                  </a:solidFill>
                  <a:latin typeface="Georgia" pitchFamily="34" charset="0"/>
                  <a:ea typeface="Georgia" pitchFamily="34" charset="-122"/>
                  <a:cs typeface="Georgia" pitchFamily="34" charset="-120"/>
                </a:rPr>
                <a:t>part</a:t>
              </a:r>
              <a:endParaRPr lang="en-US" sz="2800" dirty="0"/>
            </a:p>
          </p:txBody>
        </p:sp>
        <p:sp>
          <p:nvSpPr>
            <p:cNvPr id="12" name="w3_say"/>
            <p:cNvSpPr txBox="1"/>
            <p:nvPr/>
          </p:nvSpPr>
          <p:spPr>
            <a:xfrm>
              <a:off x="6355080" y="3931920"/>
              <a:ext cx="4389120" cy="310896"/>
            </a:xfrm>
            <a:prstGeom prst="rect">
              <a:avLst/>
            </a:prstGeom>
            <a:noFill/>
            <a:ln/>
          </p:spPr>
          <p:txBody>
            <a:bodyPr wrap="square" lIns="0" tIns="0" rIns="0" bIns="0" rtlCol="0" anchor="ctr"/>
            <a:lstStyle/>
            <a:p>
              <a:pPr algn="ctr" indent="0" marL="0">
                <a:buNone/>
              </a:pPr>
              <a:r>
                <a:rPr lang="en-US" sz="1400" b="1" dirty="0">
                  <a:solidFill>
                    <a:srgbClr val="EF476F"/>
                  </a:solidFill>
                  <a:latin typeface="Arial" pitchFamily="34" charset="0"/>
                  <a:ea typeface="Arial" pitchFamily="34" charset="-122"/>
                  <a:cs typeface="Arial" pitchFamily="34" charset="-120"/>
                </a:rPr>
                <a:t>PART</a:t>
              </a:r>
              <a:endParaRPr lang="en-US" sz="1400" dirty="0"/>
            </a:p>
          </p:txBody>
        </p:sp>
        <p:sp>
          <p:nvSpPr>
            <p:cNvPr id="13" name="w3_means"/>
            <p:cNvSpPr txBox="1"/>
            <p:nvPr/>
          </p:nvSpPr>
          <p:spPr>
            <a:xfrm>
              <a:off x="6428232" y="4297680"/>
              <a:ext cx="4242816" cy="676656"/>
            </a:xfrm>
            <a:prstGeom prst="rect">
              <a:avLst/>
            </a:prstGeom>
            <a:noFill/>
            <a:ln/>
          </p:spPr>
          <p:txBody>
            <a:bodyPr wrap="square" lIns="0" tIns="0" rIns="0" bIns="0" rtlCol="0" anchor="t"/>
            <a:lstStyle/>
            <a:p>
              <a:pPr algn="ctr" indent="0" marL="0">
                <a:lnSpc>
                  <a:spcPts val="2000"/>
                </a:lnSpc>
                <a:buNone/>
              </a:pPr>
              <a:r>
                <a:rPr lang="en-US" sz="1500" dirty="0">
                  <a:solidFill>
                    <a:srgbClr val="0E2A3B"/>
                  </a:solidFill>
                  <a:latin typeface="Arial" pitchFamily="34" charset="0"/>
                  <a:ea typeface="Arial" pitchFamily="34" charset="-122"/>
                  <a:cs typeface="Arial" pitchFamily="34" charset="-120"/>
                </a:rPr>
                <a:t>One piece of something.</a:t>
              </a:r>
              <a:endParaRPr lang="en-US" sz="1500" dirty="0"/>
            </a:p>
            <a:p>
              <a:pPr algn="ctr" indent="0" marL="0">
                <a:lnSpc>
                  <a:spcPts val="2000"/>
                </a:lnSpc>
                <a:buNone/>
              </a:pPr>
              <a:r>
                <a:rPr lang="en-US" sz="1500" dirty="0">
                  <a:solidFill>
                    <a:srgbClr val="0E2A3B"/>
                  </a:solidFill>
                  <a:latin typeface="Arial" pitchFamily="34" charset="0"/>
                  <a:ea typeface="Arial" pitchFamily="34" charset="-122"/>
                  <a:cs typeface="Arial" pitchFamily="34" charset="-120"/>
                </a:rPr>
                <a:t>A leg is a part of a chair.</a:t>
              </a:r>
              <a:endParaRPr lang="en-US" sz="15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14"/>
                                        </p:tgtEl>
                                        <p:attrNameLst>
                                          <p:attrName>style.visibility</p:attrName>
                                        </p:attrNameLst>
                                      </p:cBhvr>
                                      <p:to>
                                        <p:strVal val="visible"/>
                                      </p:to>
                                    </p:set>
                                    <p:animEffect transition="in" filter="fade">
                                      <p:cBhvr>
                                        <p:cTn id="4" dur="400"/>
                                        <p:tgtEl>
                                          <p:spTgt spid="14"/>
                                        </p:tgtEl>
                                      </p:cBhvr>
                                    </p:animEffect>
                                    <p:animScale>
                                      <p:cBhvr>
                                        <p:cTn id="5" dur="400" fill="hold"/>
                                        <p:tgtEl>
                                          <p:spTgt spid="14"/>
                                        </p:tgtEl>
                                      </p:cBhvr>
                                      <p:from x="0" y="0"/>
                                      <p:to x="100000" y="100000"/>
                                    </p:animScale>
                                  </p:childTnLst>
                                </p:cTn>
                              </p:par>
                            </p:childTnLst>
                          </p:cTn>
                        </p:par>
                      </p:childTnLst>
                    </p:cTn>
                  </p:par>
                  <p:par>
                    <p:cTn id="13" fill="hold">
                      <p:stCondLst>
                        <p:cond delay="indefinite"/>
                      </p:stCondLst>
                      <p:childTnLst>
                        <p:par>
                          <p:cTn id="14" fill="hold">
                            <p:stCondLst>
                              <p:cond delay="0"/>
                            </p:stCondLst>
                            <p:childTnLst>
                              <p:par>
                                <p:cTn id="12" presetID="23" presetClass="entr" presetSubtype="16" fill="hold" grpId="0"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animScale>
                                      <p:cBhvr>
                                        <p:cTn id="11" dur="400" fill="hold"/>
                                        <p:tgtEl>
                                          <p:spTgt spid="15"/>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p:bgPr>
    </p:bg>
    <p:spTree>
      <p:nvGrpSpPr>
        <p:cNvPr id="1" name=""/>
        <p:cNvGrpSpPr/>
        <p:nvPr/>
      </p:nvGrpSpPr>
      <p:grpSpPr>
        <a:xfrm>
          <a:off x="0" y="0"/>
          <a:ext cx="0" cy="0"/>
          <a:chOff x="0" y="0"/>
          <a:chExt cx="0" cy="0"/>
        </a:xfrm>
      </p:grpSpPr>
      <p:sp>
        <p:nvSpPr>
          <p:cNvPr id="2" name="phase_pill"/>
          <p:cNvSpPr/>
          <p:nvPr/>
        </p:nvSpPr>
        <p:spPr>
          <a:xfrm>
            <a:off x="502920" y="274320"/>
            <a:ext cx="3310128" cy="347472"/>
          </a:xfrm>
          <a:prstGeom prst="roundRect">
            <a:avLst>
              <a:gd name="adj" fmla="val 50000"/>
            </a:avLst>
          </a:prstGeom>
          <a:solidFill>
            <a:srgbClr val="123B54"/>
          </a:solidFill>
          <a:ln/>
        </p:spPr>
        <p:txBody>
          <a:bodyPr wrap="square" lIns="0" tIns="0" rIns="0" bIns="0" rtlCol="0" anchor="ctr"/>
          <a:lstStyle/>
          <a:p>
            <a:pPr algn="ctr" indent="0" marL="0">
              <a:buNone/>
            </a:pPr>
            <a:r>
              <a:rPr lang="en-US" sz="1100" b="1" spc="110" kern="0" dirty="0">
                <a:solidFill>
                  <a:srgbClr val="F4F8FA"/>
                </a:solidFill>
                <a:latin typeface="Arial" pitchFamily="34" charset="0"/>
                <a:ea typeface="Arial" pitchFamily="34" charset="-122"/>
                <a:cs typeface="Arial" pitchFamily="34" charset="-120"/>
              </a:rPr>
              <a:t>LOOK AND SAY · 5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123B54"/>
                </a:solidFill>
                <a:latin typeface="Georgia" pitchFamily="34" charset="0"/>
                <a:ea typeface="Georgia" pitchFamily="34" charset="-122"/>
                <a:cs typeface="Georgia" pitchFamily="34" charset="-120"/>
              </a:rPr>
              <a:t>What is it made of?</a:t>
            </a:r>
            <a:endParaRPr lang="en-US" sz="3000" dirty="0"/>
          </a:p>
        </p:txBody>
      </p:sp>
      <p:grpSp>
        <p:nvGrpSpPr>
          <p:cNvPr id="18" name="ls_frame"/>
          <p:cNvGrpSpPr/>
          <p:nvPr/>
        </p:nvGrpSpPr>
        <p:grpSpPr>
          <a:xfrm>
            <a:off x="2606040" y="1591056"/>
            <a:ext cx="6979615" cy="603504"/>
            <a:chOff x="2606040" y="1591056"/>
            <a:chExt cx="6979615" cy="603504"/>
          </a:xfrm>
        </p:grpSpPr>
        <p:sp>
          <p:nvSpPr>
            <p:cNvPr id="4" name="ls_frame_bg"/>
            <p:cNvSpPr/>
            <p:nvPr/>
          </p:nvSpPr>
          <p:spPr>
            <a:xfrm>
              <a:off x="2606040" y="1591056"/>
              <a:ext cx="6979615" cy="603504"/>
            </a:xfrm>
            <a:prstGeom prst="roundRect">
              <a:avLst>
                <a:gd name="adj" fmla="val 18182"/>
              </a:avLst>
            </a:prstGeom>
            <a:solidFill>
              <a:srgbClr val="123B54"/>
            </a:solidFill>
            <a:ln w="12700">
              <a:solidFill>
                <a:srgbClr val="123B54"/>
              </a:solidFill>
              <a:prstDash val="solid"/>
            </a:ln>
          </p:spPr>
        </p:sp>
        <p:sp>
          <p:nvSpPr>
            <p:cNvPr id="5" name="ls_frame_t"/>
            <p:cNvSpPr txBox="1"/>
            <p:nvPr/>
          </p:nvSpPr>
          <p:spPr>
            <a:xfrm>
              <a:off x="2825496" y="1591056"/>
              <a:ext cx="6540703" cy="603504"/>
            </a:xfrm>
            <a:prstGeom prst="rect">
              <a:avLst/>
            </a:prstGeom>
            <a:noFill/>
            <a:ln/>
          </p:spPr>
          <p:txBody>
            <a:bodyPr wrap="square" lIns="0" tIns="0" rIns="0" bIns="0" rtlCol="0" anchor="ctr"/>
            <a:lstStyle/>
            <a:p>
              <a:pPr algn="ctr" indent="0" marL="0">
                <a:buNone/>
              </a:pPr>
              <a:r>
                <a:rPr lang="en-US" sz="2100" b="1" dirty="0">
                  <a:solidFill>
                    <a:srgbClr val="FFD166"/>
                  </a:solidFill>
                  <a:latin typeface="Georgia" pitchFamily="34" charset="0"/>
                  <a:ea typeface="Georgia" pitchFamily="34" charset="-122"/>
                  <a:cs typeface="Georgia" pitchFamily="34" charset="-120"/>
                </a:rPr>
                <a:t>A  ___  is made of  ___ .</a:t>
              </a:r>
              <a:endParaRPr lang="en-US" sz="2100" dirty="0"/>
            </a:p>
          </p:txBody>
        </p:sp>
      </p:grpSp>
      <p:sp>
        <p:nvSpPr>
          <p:cNvPr id="6" name="ls0_bg"/>
          <p:cNvSpPr/>
          <p:nvPr/>
        </p:nvSpPr>
        <p:spPr>
          <a:xfrm>
            <a:off x="502920" y="2834640"/>
            <a:ext cx="3484778" cy="2615184"/>
          </a:xfrm>
          <a:prstGeom prst="roundRect">
            <a:avLst>
              <a:gd name="adj" fmla="val 4895"/>
            </a:avLst>
          </a:prstGeom>
          <a:solidFill>
            <a:srgbClr val="FFFFFF"/>
          </a:solidFill>
          <a:ln w="15875">
            <a:solidFill>
              <a:srgbClr val="D3E3EB"/>
            </a:solidFill>
            <a:prstDash val="solid"/>
          </a:ln>
        </p:spPr>
      </p:sp>
      <p:pic>
        <p:nvPicPr>
          <p:cNvPr id="7" name="ls0_icon" descr="/home/claude/build/img_atoms/chair_support.png">    </p:cNvPr>
          <p:cNvPicPr>
            <a:picLocks noChangeAspect="1"/>
          </p:cNvPicPr>
          <p:nvPr/>
        </p:nvPicPr>
        <p:blipFill>
          <a:blip r:embed="rId1"/>
          <a:stretch>
            <a:fillRect/>
          </a:stretch>
        </p:blipFill>
        <p:spPr>
          <a:xfrm>
            <a:off x="1788109" y="3090672"/>
            <a:ext cx="914400" cy="914400"/>
          </a:xfrm>
          <a:prstGeom prst="rect">
            <a:avLst/>
          </a:prstGeom>
        </p:spPr>
      </p:pic>
      <p:sp>
        <p:nvSpPr>
          <p:cNvPr id="8" name="ls0_thing"/>
          <p:cNvSpPr txBox="1"/>
          <p:nvPr/>
        </p:nvSpPr>
        <p:spPr>
          <a:xfrm>
            <a:off x="630936" y="4151376"/>
            <a:ext cx="3228746" cy="402336"/>
          </a:xfrm>
          <a:prstGeom prst="rect">
            <a:avLst/>
          </a:prstGeom>
          <a:noFill/>
          <a:ln/>
        </p:spPr>
        <p:txBody>
          <a:bodyPr wrap="square" lIns="0" tIns="0" rIns="0" bIns="0" rtlCol="0" anchor="ctr"/>
          <a:lstStyle/>
          <a:p>
            <a:pPr algn="ctr" indent="0" marL="0">
              <a:buNone/>
            </a:pPr>
            <a:r>
              <a:rPr lang="en-US" sz="2000" b="1" dirty="0">
                <a:solidFill>
                  <a:srgbClr val="123B54"/>
                </a:solidFill>
                <a:latin typeface="Georgia" pitchFamily="34" charset="0"/>
                <a:ea typeface="Georgia" pitchFamily="34" charset="-122"/>
                <a:cs typeface="Georgia" pitchFamily="34" charset="-120"/>
              </a:rPr>
              <a:t>a chair</a:t>
            </a:r>
            <a:endParaRPr lang="en-US" sz="2000" dirty="0"/>
          </a:p>
        </p:txBody>
      </p:sp>
      <p:sp>
        <p:nvSpPr>
          <p:cNvPr id="9" name="ls0_made"/>
          <p:cNvSpPr/>
          <p:nvPr/>
        </p:nvSpPr>
        <p:spPr>
          <a:xfrm>
            <a:off x="868680" y="4626864"/>
            <a:ext cx="2753258" cy="512064"/>
          </a:xfrm>
          <a:prstGeom prst="roundRect">
            <a:avLst>
              <a:gd name="adj" fmla="val 17857"/>
            </a:avLst>
          </a:prstGeom>
          <a:solidFill>
            <a:srgbClr val="FFF3D6"/>
          </a:solidFill>
          <a:ln w="17780">
            <a:solidFill>
              <a:srgbClr val="FFD166"/>
            </a:solidFill>
          </a:ln>
        </p:spPr>
        <p:txBody>
          <a:bodyPr wrap="square" lIns="0" tIns="0" rIns="0" bIns="0" rtlCol="0" anchor="ctr"/>
          <a:lstStyle/>
          <a:p>
            <a:pPr algn="ctr" indent="0" marL="0">
              <a:buNone/>
            </a:pPr>
            <a:r>
              <a:rPr lang="en-US" sz="1700" b="1" dirty="0">
                <a:solidFill>
                  <a:srgbClr val="123B54"/>
                </a:solidFill>
                <a:latin typeface="Arial" pitchFamily="34" charset="0"/>
                <a:ea typeface="Arial" pitchFamily="34" charset="-122"/>
                <a:cs typeface="Arial" pitchFamily="34" charset="-120"/>
              </a:rPr>
              <a:t>wood</a:t>
            </a:r>
            <a:endParaRPr lang="en-US" sz="1700" dirty="0"/>
          </a:p>
        </p:txBody>
      </p:sp>
      <p:sp>
        <p:nvSpPr>
          <p:cNvPr id="10" name="ls1_bg"/>
          <p:cNvSpPr/>
          <p:nvPr/>
        </p:nvSpPr>
        <p:spPr>
          <a:xfrm>
            <a:off x="4353458" y="2834640"/>
            <a:ext cx="3484778" cy="2615184"/>
          </a:xfrm>
          <a:prstGeom prst="roundRect">
            <a:avLst>
              <a:gd name="adj" fmla="val 4895"/>
            </a:avLst>
          </a:prstGeom>
          <a:solidFill>
            <a:srgbClr val="FFFFFF"/>
          </a:solidFill>
          <a:ln w="15875">
            <a:solidFill>
              <a:srgbClr val="D3E3EB"/>
            </a:solidFill>
            <a:prstDash val="solid"/>
          </a:ln>
        </p:spPr>
      </p:sp>
      <p:pic>
        <p:nvPicPr>
          <p:cNvPr id="11" name="ls1_icon" descr="/home/claude/build/img_atoms/ruler_support.png">    </p:cNvPr>
          <p:cNvPicPr>
            <a:picLocks noChangeAspect="1"/>
          </p:cNvPicPr>
          <p:nvPr/>
        </p:nvPicPr>
        <p:blipFill>
          <a:blip r:embed="rId2"/>
          <a:stretch>
            <a:fillRect/>
          </a:stretch>
        </p:blipFill>
        <p:spPr>
          <a:xfrm>
            <a:off x="5638648" y="3090672"/>
            <a:ext cx="914400" cy="914400"/>
          </a:xfrm>
          <a:prstGeom prst="rect">
            <a:avLst/>
          </a:prstGeom>
        </p:spPr>
      </p:pic>
      <p:sp>
        <p:nvSpPr>
          <p:cNvPr id="12" name="ls1_thing"/>
          <p:cNvSpPr txBox="1"/>
          <p:nvPr/>
        </p:nvSpPr>
        <p:spPr>
          <a:xfrm>
            <a:off x="4481474" y="4151376"/>
            <a:ext cx="3228746" cy="402336"/>
          </a:xfrm>
          <a:prstGeom prst="rect">
            <a:avLst/>
          </a:prstGeom>
          <a:noFill/>
          <a:ln/>
        </p:spPr>
        <p:txBody>
          <a:bodyPr wrap="square" lIns="0" tIns="0" rIns="0" bIns="0" rtlCol="0" anchor="ctr"/>
          <a:lstStyle/>
          <a:p>
            <a:pPr algn="ctr" indent="0" marL="0">
              <a:buNone/>
            </a:pPr>
            <a:r>
              <a:rPr lang="en-US" sz="2000" b="1" dirty="0">
                <a:solidFill>
                  <a:srgbClr val="123B54"/>
                </a:solidFill>
                <a:latin typeface="Georgia" pitchFamily="34" charset="0"/>
                <a:ea typeface="Georgia" pitchFamily="34" charset="-122"/>
                <a:cs typeface="Georgia" pitchFamily="34" charset="-120"/>
              </a:rPr>
              <a:t>a ruler</a:t>
            </a:r>
            <a:endParaRPr lang="en-US" sz="2000" dirty="0"/>
          </a:p>
        </p:txBody>
      </p:sp>
      <p:sp>
        <p:nvSpPr>
          <p:cNvPr id="13" name="ls1_made"/>
          <p:cNvSpPr/>
          <p:nvPr/>
        </p:nvSpPr>
        <p:spPr>
          <a:xfrm>
            <a:off x="4719218" y="4626864"/>
            <a:ext cx="2753258" cy="512064"/>
          </a:xfrm>
          <a:prstGeom prst="roundRect">
            <a:avLst>
              <a:gd name="adj" fmla="val 17857"/>
            </a:avLst>
          </a:prstGeom>
          <a:solidFill>
            <a:srgbClr val="FFF3D6"/>
          </a:solidFill>
          <a:ln w="17780">
            <a:solidFill>
              <a:srgbClr val="FFD166"/>
            </a:solidFill>
          </a:ln>
        </p:spPr>
        <p:txBody>
          <a:bodyPr wrap="square" lIns="0" tIns="0" rIns="0" bIns="0" rtlCol="0" anchor="ctr"/>
          <a:lstStyle/>
          <a:p>
            <a:pPr algn="ctr" indent="0" marL="0">
              <a:buNone/>
            </a:pPr>
            <a:r>
              <a:rPr lang="en-US" sz="1700" b="1" dirty="0">
                <a:solidFill>
                  <a:srgbClr val="123B54"/>
                </a:solidFill>
                <a:latin typeface="Arial" pitchFamily="34" charset="0"/>
                <a:ea typeface="Arial" pitchFamily="34" charset="-122"/>
                <a:cs typeface="Arial" pitchFamily="34" charset="-120"/>
              </a:rPr>
              <a:t>plastic</a:t>
            </a:r>
            <a:endParaRPr lang="en-US" sz="1700" dirty="0"/>
          </a:p>
        </p:txBody>
      </p:sp>
      <p:sp>
        <p:nvSpPr>
          <p:cNvPr id="14" name="ls2_bg"/>
          <p:cNvSpPr/>
          <p:nvPr/>
        </p:nvSpPr>
        <p:spPr>
          <a:xfrm>
            <a:off x="8203997" y="2834640"/>
            <a:ext cx="3484778" cy="2615184"/>
          </a:xfrm>
          <a:prstGeom prst="roundRect">
            <a:avLst>
              <a:gd name="adj" fmla="val 4895"/>
            </a:avLst>
          </a:prstGeom>
          <a:solidFill>
            <a:srgbClr val="FFFFFF"/>
          </a:solidFill>
          <a:ln w="15875">
            <a:solidFill>
              <a:srgbClr val="D3E3EB"/>
            </a:solidFill>
            <a:prstDash val="solid"/>
          </a:ln>
        </p:spPr>
      </p:sp>
      <p:pic>
        <p:nvPicPr>
          <p:cNvPr id="15" name="ls2_icon" descr="/home/claude/build/img_atoms/rock_support.png">    </p:cNvPr>
          <p:cNvPicPr>
            <a:picLocks noChangeAspect="1"/>
          </p:cNvPicPr>
          <p:nvPr/>
        </p:nvPicPr>
        <p:blipFill>
          <a:blip r:embed="rId3"/>
          <a:stretch>
            <a:fillRect/>
          </a:stretch>
        </p:blipFill>
        <p:spPr>
          <a:xfrm>
            <a:off x="9489186" y="3090672"/>
            <a:ext cx="914400" cy="914400"/>
          </a:xfrm>
          <a:prstGeom prst="rect">
            <a:avLst/>
          </a:prstGeom>
        </p:spPr>
      </p:pic>
      <p:sp>
        <p:nvSpPr>
          <p:cNvPr id="16" name="ls2_thing"/>
          <p:cNvSpPr txBox="1"/>
          <p:nvPr/>
        </p:nvSpPr>
        <p:spPr>
          <a:xfrm>
            <a:off x="8332013" y="4151376"/>
            <a:ext cx="3228746" cy="402336"/>
          </a:xfrm>
          <a:prstGeom prst="rect">
            <a:avLst/>
          </a:prstGeom>
          <a:noFill/>
          <a:ln/>
        </p:spPr>
        <p:txBody>
          <a:bodyPr wrap="square" lIns="0" tIns="0" rIns="0" bIns="0" rtlCol="0" anchor="ctr"/>
          <a:lstStyle/>
          <a:p>
            <a:pPr algn="ctr" indent="0" marL="0">
              <a:buNone/>
            </a:pPr>
            <a:r>
              <a:rPr lang="en-US" sz="2000" b="1" dirty="0">
                <a:solidFill>
                  <a:srgbClr val="123B54"/>
                </a:solidFill>
                <a:latin typeface="Georgia" pitchFamily="34" charset="0"/>
                <a:ea typeface="Georgia" pitchFamily="34" charset="-122"/>
                <a:cs typeface="Georgia" pitchFamily="34" charset="-120"/>
              </a:rPr>
              <a:t>a rock</a:t>
            </a:r>
            <a:endParaRPr lang="en-US" sz="2000" dirty="0"/>
          </a:p>
        </p:txBody>
      </p:sp>
      <p:sp>
        <p:nvSpPr>
          <p:cNvPr id="17" name="ls2_made"/>
          <p:cNvSpPr/>
          <p:nvPr/>
        </p:nvSpPr>
        <p:spPr>
          <a:xfrm>
            <a:off x="8569757" y="4626864"/>
            <a:ext cx="2753258" cy="512064"/>
          </a:xfrm>
          <a:prstGeom prst="roundRect">
            <a:avLst>
              <a:gd name="adj" fmla="val 17857"/>
            </a:avLst>
          </a:prstGeom>
          <a:solidFill>
            <a:srgbClr val="FFF3D6"/>
          </a:solidFill>
          <a:ln w="17780">
            <a:solidFill>
              <a:srgbClr val="FFD166"/>
            </a:solidFill>
          </a:ln>
        </p:spPr>
        <p:txBody>
          <a:bodyPr wrap="square" lIns="0" tIns="0" rIns="0" bIns="0" rtlCol="0" anchor="ctr"/>
          <a:lstStyle/>
          <a:p>
            <a:pPr algn="ctr" indent="0" marL="0">
              <a:buNone/>
            </a:pPr>
            <a:r>
              <a:rPr lang="en-US" sz="1700" b="1" dirty="0">
                <a:solidFill>
                  <a:srgbClr val="123B54"/>
                </a:solidFill>
                <a:latin typeface="Arial" pitchFamily="34" charset="0"/>
                <a:ea typeface="Arial" pitchFamily="34" charset="-122"/>
                <a:cs typeface="Arial" pitchFamily="34" charset="-120"/>
              </a:rPr>
              <a:t>stone</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18"/>
                                        </p:tgtEl>
                                        <p:attrNameLst>
                                          <p:attrName>style.visibility</p:attrName>
                                        </p:attrNameLst>
                                      </p:cBhvr>
                                      <p:to>
                                        <p:strVal val="visible"/>
                                      </p:to>
                                    </p:set>
                                    <p:animEffect transition="in" filter="fade">
                                      <p:cBhvr>
                                        <p:cTn id="4" dur="400"/>
                                        <p:tgtEl>
                                          <p:spTgt spid="18"/>
                                        </p:tgtEl>
                                      </p:cBhvr>
                                    </p:animEffect>
                                    <p:animScale>
                                      <p:cBhvr>
                                        <p:cTn id="5" dur="400" fill="hold"/>
                                        <p:tgtEl>
                                          <p:spTgt spid="18"/>
                                        </p:tgtEl>
                                      </p:cBhvr>
                                      <p:from x="0" y="0"/>
                                      <p:to x="100000" y="100000"/>
                                    </p:animScale>
                                  </p:childTnLst>
                                </p:cTn>
                              </p:par>
                            </p:childTnLst>
                          </p:cTn>
                        </p:par>
                      </p:childTnLst>
                    </p:cTn>
                  </p:par>
                  <p:par>
                    <p:cTn id="13" fill="hold">
                      <p:stCondLst>
                        <p:cond delay="indefinite"/>
                      </p:stCondLst>
                      <p:childTnLst>
                        <p:par>
                          <p:cTn id="14" fill="hold">
                            <p:stCondLst>
                              <p:cond delay="0"/>
                            </p:stCondLst>
                            <p:childTnLst>
                              <p:par>
                                <p:cTn id="12" presetID="23" presetClass="entr" presetSubtype="16"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animScale>
                                      <p:cBhvr>
                                        <p:cTn id="11" dur="400" fill="hold"/>
                                        <p:tgtEl>
                                          <p:spTgt spid="9"/>
                                        </p:tgtEl>
                                      </p:cBhvr>
                                      <p:from x="0" y="0"/>
                                      <p:to x="100000" y="100000"/>
                                    </p:animScale>
                                  </p:childTnLst>
                                </p:cTn>
                              </p:par>
                            </p:childTnLst>
                          </p:cTn>
                        </p:par>
                      </p:childTnLst>
                    </p:cTn>
                  </p:par>
                  <p:par>
                    <p:cTn id="19" fill="hold">
                      <p:stCondLst>
                        <p:cond delay="indefinite"/>
                      </p:stCondLst>
                      <p:childTnLst>
                        <p:par>
                          <p:cTn id="20" fill="hold">
                            <p:stCondLst>
                              <p:cond delay="0"/>
                            </p:stCondLst>
                            <p:childTnLst>
                              <p:par>
                                <p:cTn id="18" presetID="23" presetClass="entr" presetSubtype="16"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animScale>
                                      <p:cBhvr>
                                        <p:cTn id="17" dur="400" fill="hold"/>
                                        <p:tgtEl>
                                          <p:spTgt spid="13"/>
                                        </p:tgtEl>
                                      </p:cBhvr>
                                      <p:from x="0" y="0"/>
                                      <p:to x="100000" y="100000"/>
                                    </p:animScale>
                                  </p:childTnLst>
                                </p:cTn>
                              </p:par>
                            </p:childTnLst>
                          </p:cTn>
                        </p:par>
                      </p:childTnLst>
                    </p:cTn>
                  </p:par>
                  <p:par>
                    <p:cTn id="25" fill="hold">
                      <p:stCondLst>
                        <p:cond delay="indefinite"/>
                      </p:stCondLst>
                      <p:childTnLst>
                        <p:par>
                          <p:cTn id="26" fill="hold">
                            <p:stCondLst>
                              <p:cond delay="0"/>
                            </p:stCondLst>
                            <p:childTnLst>
                              <p:par>
                                <p:cTn id="24" presetID="23" presetClass="entr" presetSubtype="16"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animScale>
                                      <p:cBhvr>
                                        <p:cTn id="23" dur="400" fill="hold"/>
                                        <p:tgtEl>
                                          <p:spTgt spid="17"/>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123B54"/>
          </a:solidFill>
          <a:ln/>
        </p:spPr>
        <p:txBody>
          <a:bodyPr wrap="square" lIns="0" tIns="0" rIns="0" bIns="0" rtlCol="0" anchor="ctr"/>
          <a:lstStyle/>
          <a:p>
            <a:pPr algn="ctr" indent="0" marL="0">
              <a:buNone/>
            </a:pPr>
            <a:r>
              <a:rPr lang="en-US" sz="1100" b="1" spc="110" kern="0" dirty="0">
                <a:solidFill>
                  <a:srgbClr val="F4F8FA"/>
                </a:solidFill>
                <a:latin typeface="Arial" pitchFamily="34" charset="0"/>
                <a:ea typeface="Arial" pitchFamily="34" charset="-122"/>
                <a:cs typeface="Arial" pitchFamily="34" charset="-120"/>
              </a:rPr>
              <a:t>LOOK · 5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123B54"/>
                </a:solidFill>
                <a:latin typeface="Georgia" pitchFamily="34" charset="0"/>
                <a:ea typeface="Georgia" pitchFamily="34" charset="-122"/>
                <a:cs typeface="Georgia" pitchFamily="34" charset="-120"/>
              </a:rPr>
              <a:t>Smaller and smaller</a:t>
            </a:r>
            <a:endParaRPr lang="en-US" sz="3000" dirty="0"/>
          </a:p>
        </p:txBody>
      </p:sp>
      <p:grpSp>
        <p:nvGrpSpPr>
          <p:cNvPr id="18" name="sm0"/>
          <p:cNvGrpSpPr/>
          <p:nvPr/>
        </p:nvGrpSpPr>
        <p:grpSpPr>
          <a:xfrm>
            <a:off x="502920" y="2212848"/>
            <a:ext cx="3058058" cy="2834640"/>
            <a:chOff x="502920" y="2212848"/>
            <a:chExt cx="3058058" cy="2834640"/>
          </a:xfrm>
        </p:grpSpPr>
        <p:sp>
          <p:nvSpPr>
            <p:cNvPr id="4" name="sm0_bg"/>
            <p:cNvSpPr/>
            <p:nvPr/>
          </p:nvSpPr>
          <p:spPr>
            <a:xfrm>
              <a:off x="502920" y="2212848"/>
              <a:ext cx="3058058" cy="2834640"/>
            </a:xfrm>
            <a:prstGeom prst="roundRect">
              <a:avLst>
                <a:gd name="adj" fmla="val 4516"/>
              </a:avLst>
            </a:prstGeom>
            <a:solidFill>
              <a:srgbClr val="FFFFFF"/>
            </a:solidFill>
            <a:ln w="22860">
              <a:solidFill>
                <a:srgbClr val="06A77D"/>
              </a:solidFill>
              <a:prstDash val="solid"/>
            </a:ln>
          </p:spPr>
        </p:sp>
        <p:pic>
          <p:nvPicPr>
            <p:cNvPr id="5" name="sm0_icon" descr="/home/claude/build/img_atoms/apple_support.png">    </p:cNvPr>
            <p:cNvPicPr>
              <a:picLocks noChangeAspect="1"/>
            </p:cNvPicPr>
            <p:nvPr/>
          </p:nvPicPr>
          <p:blipFill>
            <a:blip r:embed="rId1"/>
            <a:stretch>
              <a:fillRect/>
            </a:stretch>
          </p:blipFill>
          <p:spPr>
            <a:xfrm>
              <a:off x="1483309" y="2523744"/>
              <a:ext cx="1097280" cy="1097280"/>
            </a:xfrm>
            <a:prstGeom prst="rect">
              <a:avLst/>
            </a:prstGeom>
          </p:spPr>
        </p:pic>
        <p:sp>
          <p:nvSpPr>
            <p:cNvPr id="6" name="sm0_big"/>
            <p:cNvSpPr txBox="1"/>
            <p:nvPr/>
          </p:nvSpPr>
          <p:spPr>
            <a:xfrm>
              <a:off x="630936" y="3785616"/>
              <a:ext cx="2802026" cy="457200"/>
            </a:xfrm>
            <a:prstGeom prst="rect">
              <a:avLst/>
            </a:prstGeom>
            <a:noFill/>
            <a:ln/>
          </p:spPr>
          <p:txBody>
            <a:bodyPr wrap="square" lIns="0" tIns="0" rIns="0" bIns="0" rtlCol="0" anchor="ctr"/>
            <a:lstStyle/>
            <a:p>
              <a:pPr algn="ctr" indent="0" marL="0">
                <a:buNone/>
              </a:pPr>
              <a:r>
                <a:rPr lang="en-US" sz="2400" b="1" dirty="0">
                  <a:solidFill>
                    <a:srgbClr val="123B54"/>
                  </a:solidFill>
                  <a:latin typeface="Georgia" pitchFamily="34" charset="0"/>
                  <a:ea typeface="Georgia" pitchFamily="34" charset="-122"/>
                  <a:cs typeface="Georgia" pitchFamily="34" charset="-120"/>
                </a:rPr>
                <a:t>an apple</a:t>
              </a:r>
              <a:endParaRPr lang="en-US" sz="2400" dirty="0"/>
            </a:p>
          </p:txBody>
        </p:sp>
        <p:sp>
          <p:nvSpPr>
            <p:cNvPr id="7" name="sm0_small"/>
            <p:cNvSpPr txBox="1"/>
            <p:nvPr/>
          </p:nvSpPr>
          <p:spPr>
            <a:xfrm>
              <a:off x="630936" y="4279392"/>
              <a:ext cx="2802026" cy="402336"/>
            </a:xfrm>
            <a:prstGeom prst="rect">
              <a:avLst/>
            </a:prstGeom>
            <a:noFill/>
            <a:ln/>
          </p:spPr>
          <p:txBody>
            <a:bodyPr wrap="square" lIns="0" tIns="0" rIns="0" bIns="0" rtlCol="0" anchor="ctr"/>
            <a:lstStyle/>
            <a:p>
              <a:pPr algn="ctr" indent="0" marL="0">
                <a:buNone/>
              </a:pPr>
              <a:r>
                <a:rPr lang="en-US" sz="1500" dirty="0">
                  <a:solidFill>
                    <a:srgbClr val="5B7484"/>
                  </a:solidFill>
                  <a:latin typeface="Arial" pitchFamily="34" charset="0"/>
                  <a:ea typeface="Arial" pitchFamily="34" charset="-122"/>
                  <a:cs typeface="Arial" pitchFamily="34" charset="-120"/>
                </a:rPr>
                <a:t>You can see it.</a:t>
              </a:r>
              <a:endParaRPr lang="en-US" sz="1500" dirty="0"/>
            </a:p>
          </p:txBody>
        </p:sp>
      </p:grpSp>
      <p:sp>
        <p:nvSpPr>
          <p:cNvPr id="8" name="sm_arrow0"/>
          <p:cNvSpPr/>
          <p:nvPr/>
        </p:nvSpPr>
        <p:spPr>
          <a:xfrm>
            <a:off x="3725570" y="3511296"/>
            <a:ext cx="676656" cy="237744"/>
          </a:xfrm>
          <a:prstGeom prst="rightArrow">
            <a:avLst/>
          </a:prstGeom>
          <a:solidFill>
            <a:srgbClr val="FFD166"/>
          </a:solidFill>
          <a:ln w="12700">
            <a:solidFill>
              <a:srgbClr val="FFD166"/>
            </a:solidFill>
            <a:prstDash val="solid"/>
          </a:ln>
        </p:spPr>
      </p:sp>
      <p:grpSp>
        <p:nvGrpSpPr>
          <p:cNvPr id="19" name="sm1"/>
          <p:cNvGrpSpPr/>
          <p:nvPr/>
        </p:nvGrpSpPr>
        <p:grpSpPr>
          <a:xfrm>
            <a:off x="4566818" y="2212848"/>
            <a:ext cx="3058058" cy="2834640"/>
            <a:chOff x="4566818" y="2212848"/>
            <a:chExt cx="3058058" cy="2834640"/>
          </a:xfrm>
        </p:grpSpPr>
        <p:sp>
          <p:nvSpPr>
            <p:cNvPr id="9" name="sm1_bg"/>
            <p:cNvSpPr/>
            <p:nvPr/>
          </p:nvSpPr>
          <p:spPr>
            <a:xfrm>
              <a:off x="4566818" y="2212848"/>
              <a:ext cx="3058058" cy="2834640"/>
            </a:xfrm>
            <a:prstGeom prst="roundRect">
              <a:avLst>
                <a:gd name="adj" fmla="val 4516"/>
              </a:avLst>
            </a:prstGeom>
            <a:solidFill>
              <a:srgbClr val="FFFFFF"/>
            </a:solidFill>
            <a:ln w="22860">
              <a:solidFill>
                <a:srgbClr val="06A77D"/>
              </a:solidFill>
              <a:prstDash val="solid"/>
            </a:ln>
          </p:spPr>
        </p:sp>
        <p:pic>
          <p:nvPicPr>
            <p:cNvPr id="10" name="sm1_icon" descr="/home/claude/build/img_atoms/zoom_support.png">    </p:cNvPr>
            <p:cNvPicPr>
              <a:picLocks noChangeAspect="1"/>
            </p:cNvPicPr>
            <p:nvPr/>
          </p:nvPicPr>
          <p:blipFill>
            <a:blip r:embed="rId2"/>
            <a:stretch>
              <a:fillRect/>
            </a:stretch>
          </p:blipFill>
          <p:spPr>
            <a:xfrm>
              <a:off x="5547208" y="2523744"/>
              <a:ext cx="1097280" cy="1097280"/>
            </a:xfrm>
            <a:prstGeom prst="rect">
              <a:avLst/>
            </a:prstGeom>
          </p:spPr>
        </p:pic>
        <p:sp>
          <p:nvSpPr>
            <p:cNvPr id="11" name="sm1_big"/>
            <p:cNvSpPr txBox="1"/>
            <p:nvPr/>
          </p:nvSpPr>
          <p:spPr>
            <a:xfrm>
              <a:off x="4694834" y="3785616"/>
              <a:ext cx="2802026" cy="457200"/>
            </a:xfrm>
            <a:prstGeom prst="rect">
              <a:avLst/>
            </a:prstGeom>
            <a:noFill/>
            <a:ln/>
          </p:spPr>
          <p:txBody>
            <a:bodyPr wrap="square" lIns="0" tIns="0" rIns="0" bIns="0" rtlCol="0" anchor="ctr"/>
            <a:lstStyle/>
            <a:p>
              <a:pPr algn="ctr" indent="0" marL="0">
                <a:buNone/>
              </a:pPr>
              <a:r>
                <a:rPr lang="en-US" sz="2400" b="1" dirty="0">
                  <a:solidFill>
                    <a:srgbClr val="123B54"/>
                  </a:solidFill>
                  <a:latin typeface="Georgia" pitchFamily="34" charset="0"/>
                  <a:ea typeface="Georgia" pitchFamily="34" charset="-122"/>
                  <a:cs typeface="Georgia" pitchFamily="34" charset="-120"/>
                </a:rPr>
                <a:t>smaller</a:t>
              </a:r>
              <a:endParaRPr lang="en-US" sz="2400" dirty="0"/>
            </a:p>
          </p:txBody>
        </p:sp>
        <p:sp>
          <p:nvSpPr>
            <p:cNvPr id="12" name="sm1_small"/>
            <p:cNvSpPr txBox="1"/>
            <p:nvPr/>
          </p:nvSpPr>
          <p:spPr>
            <a:xfrm>
              <a:off x="4694834" y="4279392"/>
              <a:ext cx="2802026" cy="402336"/>
            </a:xfrm>
            <a:prstGeom prst="rect">
              <a:avLst/>
            </a:prstGeom>
            <a:noFill/>
            <a:ln/>
          </p:spPr>
          <p:txBody>
            <a:bodyPr wrap="square" lIns="0" tIns="0" rIns="0" bIns="0" rtlCol="0" anchor="ctr"/>
            <a:lstStyle/>
            <a:p>
              <a:pPr algn="ctr" indent="0" marL="0">
                <a:buNone/>
              </a:pPr>
              <a:r>
                <a:rPr lang="en-US" sz="1500" dirty="0">
                  <a:solidFill>
                    <a:srgbClr val="5B7484"/>
                  </a:solidFill>
                  <a:latin typeface="Arial" pitchFamily="34" charset="0"/>
                  <a:ea typeface="Arial" pitchFamily="34" charset="-122"/>
                  <a:cs typeface="Arial" pitchFamily="34" charset="-120"/>
                </a:rPr>
                <a:t>Now look closer.</a:t>
              </a:r>
              <a:endParaRPr lang="en-US" sz="1500" dirty="0"/>
            </a:p>
          </p:txBody>
        </p:sp>
      </p:grpSp>
      <p:sp>
        <p:nvSpPr>
          <p:cNvPr id="13" name="sm_arrow1"/>
          <p:cNvSpPr/>
          <p:nvPr/>
        </p:nvSpPr>
        <p:spPr>
          <a:xfrm>
            <a:off x="7789469" y="3511296"/>
            <a:ext cx="676656" cy="237744"/>
          </a:xfrm>
          <a:prstGeom prst="rightArrow">
            <a:avLst/>
          </a:prstGeom>
          <a:solidFill>
            <a:srgbClr val="FFD166"/>
          </a:solidFill>
          <a:ln w="12700">
            <a:solidFill>
              <a:srgbClr val="FFD166"/>
            </a:solidFill>
            <a:prstDash val="solid"/>
          </a:ln>
        </p:spPr>
      </p:sp>
      <p:grpSp>
        <p:nvGrpSpPr>
          <p:cNvPr id="20" name="sm2"/>
          <p:cNvGrpSpPr/>
          <p:nvPr/>
        </p:nvGrpSpPr>
        <p:grpSpPr>
          <a:xfrm>
            <a:off x="8630717" y="2212848"/>
            <a:ext cx="3058058" cy="2834640"/>
            <a:chOff x="8630717" y="2212848"/>
            <a:chExt cx="3058058" cy="2834640"/>
          </a:xfrm>
        </p:grpSpPr>
        <p:sp>
          <p:nvSpPr>
            <p:cNvPr id="14" name="sm2_bg"/>
            <p:cNvSpPr/>
            <p:nvPr/>
          </p:nvSpPr>
          <p:spPr>
            <a:xfrm>
              <a:off x="8630717" y="2212848"/>
              <a:ext cx="3058058" cy="2834640"/>
            </a:xfrm>
            <a:prstGeom prst="roundRect">
              <a:avLst>
                <a:gd name="adj" fmla="val 4516"/>
              </a:avLst>
            </a:prstGeom>
            <a:solidFill>
              <a:srgbClr val="FFF3D6"/>
            </a:solidFill>
            <a:ln w="22860">
              <a:solidFill>
                <a:srgbClr val="FFD166"/>
              </a:solidFill>
              <a:prstDash val="solid"/>
            </a:ln>
          </p:spPr>
        </p:sp>
        <p:pic>
          <p:nvPicPr>
            <p:cNvPr id="15" name="sm2_icon" descr="/home/claude/build/img_atoms/atom_accent.png">    </p:cNvPr>
            <p:cNvPicPr>
              <a:picLocks noChangeAspect="1"/>
            </p:cNvPicPr>
            <p:nvPr/>
          </p:nvPicPr>
          <p:blipFill>
            <a:blip r:embed="rId3"/>
            <a:stretch>
              <a:fillRect/>
            </a:stretch>
          </p:blipFill>
          <p:spPr>
            <a:xfrm>
              <a:off x="9611106" y="2523744"/>
              <a:ext cx="1097280" cy="1097280"/>
            </a:xfrm>
            <a:prstGeom prst="rect">
              <a:avLst/>
            </a:prstGeom>
          </p:spPr>
        </p:pic>
        <p:sp>
          <p:nvSpPr>
            <p:cNvPr id="16" name="sm2_big"/>
            <p:cNvSpPr txBox="1"/>
            <p:nvPr/>
          </p:nvSpPr>
          <p:spPr>
            <a:xfrm>
              <a:off x="8758733" y="3785616"/>
              <a:ext cx="2802026" cy="457200"/>
            </a:xfrm>
            <a:prstGeom prst="rect">
              <a:avLst/>
            </a:prstGeom>
            <a:noFill/>
            <a:ln/>
          </p:spPr>
          <p:txBody>
            <a:bodyPr wrap="square" lIns="0" tIns="0" rIns="0" bIns="0" rtlCol="0" anchor="ctr"/>
            <a:lstStyle/>
            <a:p>
              <a:pPr algn="ctr" indent="0" marL="0">
                <a:buNone/>
              </a:pPr>
              <a:r>
                <a:rPr lang="en-US" sz="2400" b="1" dirty="0">
                  <a:solidFill>
                    <a:srgbClr val="123B54"/>
                  </a:solidFill>
                  <a:latin typeface="Georgia" pitchFamily="34" charset="0"/>
                  <a:ea typeface="Georgia" pitchFamily="34" charset="-122"/>
                  <a:cs typeface="Georgia" pitchFamily="34" charset="-120"/>
                </a:rPr>
                <a:t>atoms</a:t>
              </a:r>
              <a:endParaRPr lang="en-US" sz="2400" dirty="0"/>
            </a:p>
          </p:txBody>
        </p:sp>
        <p:sp>
          <p:nvSpPr>
            <p:cNvPr id="17" name="sm2_small"/>
            <p:cNvSpPr txBox="1"/>
            <p:nvPr/>
          </p:nvSpPr>
          <p:spPr>
            <a:xfrm>
              <a:off x="8758733" y="4279392"/>
              <a:ext cx="2802026" cy="402336"/>
            </a:xfrm>
            <a:prstGeom prst="rect">
              <a:avLst/>
            </a:prstGeom>
            <a:noFill/>
            <a:ln/>
          </p:spPr>
          <p:txBody>
            <a:bodyPr wrap="square" lIns="0" tIns="0" rIns="0" bIns="0" rtlCol="0" anchor="ctr"/>
            <a:lstStyle/>
            <a:p>
              <a:pPr algn="ctr" indent="0" marL="0">
                <a:buNone/>
              </a:pPr>
              <a:r>
                <a:rPr lang="en-US" sz="1500" dirty="0">
                  <a:solidFill>
                    <a:srgbClr val="5B7484"/>
                  </a:solidFill>
                  <a:latin typeface="Arial" pitchFamily="34" charset="0"/>
                  <a:ea typeface="Arial" pitchFamily="34" charset="-122"/>
                  <a:cs typeface="Arial" pitchFamily="34" charset="-120"/>
                </a:rPr>
                <a:t>Too small to see.</a:t>
              </a:r>
              <a:endParaRPr lang="en-US" sz="15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18"/>
                                        </p:tgtEl>
                                        <p:attrNameLst>
                                          <p:attrName>style.visibility</p:attrName>
                                        </p:attrNameLst>
                                      </p:cBhvr>
                                      <p:to>
                                        <p:strVal val="visible"/>
                                      </p:to>
                                    </p:set>
                                    <p:animEffect transition="in" filter="fade">
                                      <p:cBhvr>
                                        <p:cTn id="4" dur="400"/>
                                        <p:tgtEl>
                                          <p:spTgt spid="18"/>
                                        </p:tgtEl>
                                      </p:cBhvr>
                                    </p:animEffect>
                                    <p:animScale>
                                      <p:cBhvr>
                                        <p:cTn id="5" dur="400" fill="hold"/>
                                        <p:tgtEl>
                                          <p:spTgt spid="18"/>
                                        </p:tgtEl>
                                      </p:cBhvr>
                                      <p:from x="0" y="0"/>
                                      <p:to x="100000" y="100000"/>
                                    </p:animScale>
                                  </p:childTnLst>
                                </p:cTn>
                              </p:par>
                            </p:childTnLst>
                          </p:cTn>
                        </p:par>
                      </p:childTnLst>
                    </p:cTn>
                  </p:par>
                  <p:par>
                    <p:cTn id="12" fill="hold">
                      <p:stCondLst>
                        <p:cond delay="indefinite"/>
                      </p:stCondLst>
                      <p:childTnLst>
                        <p:par>
                          <p:cTn id="13" fill="hold">
                            <p:stCondLst>
                              <p:cond delay="0"/>
                            </p:stCondLst>
                            <p:childTnLst>
                              <p:par>
                                <p:cTn id="11" presetID="22" presetClass="entr" presetSubtype="8" fill="hold" grpId="0"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400"/>
                                        <p:tgtEl>
                                          <p:spTgt spid="8"/>
                                        </p:tgtEl>
                                      </p:cBhvr>
                                    </p:animEffect>
                                  </p:childTnLst>
                                </p:cTn>
                              </p:par>
                            </p:childTnLst>
                          </p:cTn>
                        </p:par>
                      </p:childTnLst>
                    </p:cTn>
                  </p:par>
                  <p:par>
                    <p:cTn id="18" fill="hold">
                      <p:stCondLst>
                        <p:cond delay="indefinite"/>
                      </p:stCondLst>
                      <p:childTnLst>
                        <p:par>
                          <p:cTn id="19" fill="hold">
                            <p:stCondLst>
                              <p:cond delay="0"/>
                            </p:stCondLst>
                            <p:childTnLst>
                              <p:par>
                                <p:cTn id="17" presetID="23" presetClass="entr" presetSubtype="16"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animScale>
                                      <p:cBhvr>
                                        <p:cTn id="16" dur="400" fill="hold"/>
                                        <p:tgtEl>
                                          <p:spTgt spid="19"/>
                                        </p:tgtEl>
                                      </p:cBhvr>
                                      <p:from x="0" y="0"/>
                                      <p:to x="100000" y="100000"/>
                                    </p:animScale>
                                  </p:childTnLst>
                                </p:cTn>
                              </p:par>
                            </p:childTnLst>
                          </p:cTn>
                        </p:par>
                      </p:childTnLst>
                    </p:cTn>
                  </p:par>
                  <p:par>
                    <p:cTn id="23" fill="hold">
                      <p:stCondLst>
                        <p:cond delay="indefinite"/>
                      </p:stCondLst>
                      <p:childTnLst>
                        <p:par>
                          <p:cTn id="24" fill="hold">
                            <p:stCondLst>
                              <p:cond delay="0"/>
                            </p:stCondLst>
                            <p:childTnLst>
                              <p:par>
                                <p:cTn id="22"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00"/>
                                        <p:tgtEl>
                                          <p:spTgt spid="13"/>
                                        </p:tgtEl>
                                      </p:cBhvr>
                                    </p:animEffect>
                                  </p:childTnLst>
                                </p:cTn>
                              </p:par>
                            </p:childTnLst>
                          </p:cTn>
                        </p:par>
                      </p:childTnLst>
                    </p:cTn>
                  </p:par>
                  <p:par>
                    <p:cTn id="29" fill="hold">
                      <p:stCondLst>
                        <p:cond delay="indefinite"/>
                      </p:stCondLst>
                      <p:childTnLst>
                        <p:par>
                          <p:cTn id="30" fill="hold">
                            <p:stCondLst>
                              <p:cond delay="0"/>
                            </p:stCondLst>
                            <p:childTnLst>
                              <p:par>
                                <p:cTn id="28" presetID="23" presetClass="entr" presetSubtype="16"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animScale>
                                      <p:cBhvr>
                                        <p:cTn id="27" dur="400" fill="hold"/>
                                        <p:tgtEl>
                                          <p:spTgt spid="20"/>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123B54"/>
          </a:solidFill>
          <a:ln/>
        </p:spPr>
        <p:txBody>
          <a:bodyPr wrap="square" lIns="0" tIns="0" rIns="0" bIns="0" rtlCol="0" anchor="ctr"/>
          <a:lstStyle/>
          <a:p>
            <a:pPr algn="ctr" indent="0" marL="0">
              <a:buNone/>
            </a:pPr>
            <a:r>
              <a:rPr lang="en-US" sz="1100" b="1" spc="110" kern="0" dirty="0">
                <a:solidFill>
                  <a:srgbClr val="F4F8FA"/>
                </a:solidFill>
                <a:latin typeface="Arial" pitchFamily="34" charset="0"/>
                <a:ea typeface="Arial" pitchFamily="34" charset="-122"/>
                <a:cs typeface="Arial" pitchFamily="34" charset="-120"/>
              </a:rPr>
              <a:t>I DO · 6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123B54"/>
                </a:solidFill>
                <a:latin typeface="Georgia" pitchFamily="34" charset="0"/>
                <a:ea typeface="Georgia" pitchFamily="34" charset="-122"/>
                <a:cs typeface="Georgia" pitchFamily="34" charset="-120"/>
              </a:rPr>
              <a:t>Everything is made of atoms</a:t>
            </a:r>
            <a:endParaRPr lang="en-US" sz="3000" dirty="0"/>
          </a:p>
        </p:txBody>
      </p:sp>
      <p:grpSp>
        <p:nvGrpSpPr>
          <p:cNvPr id="31" name="th0"/>
          <p:cNvGrpSpPr/>
          <p:nvPr/>
        </p:nvGrpSpPr>
        <p:grpSpPr>
          <a:xfrm>
            <a:off x="502920" y="2231136"/>
            <a:ext cx="1696669" cy="2084832"/>
            <a:chOff x="502920" y="2231136"/>
            <a:chExt cx="1696669" cy="2084832"/>
          </a:xfrm>
        </p:grpSpPr>
        <p:sp>
          <p:nvSpPr>
            <p:cNvPr id="4" name="th0_bg"/>
            <p:cNvSpPr/>
            <p:nvPr/>
          </p:nvSpPr>
          <p:spPr>
            <a:xfrm>
              <a:off x="502920" y="2231136"/>
              <a:ext cx="1696669" cy="2084832"/>
            </a:xfrm>
            <a:prstGeom prst="roundRect">
              <a:avLst>
                <a:gd name="adj" fmla="val 7545"/>
              </a:avLst>
            </a:prstGeom>
            <a:solidFill>
              <a:srgbClr val="FFFFFF"/>
            </a:solidFill>
            <a:ln w="15875">
              <a:solidFill>
                <a:srgbClr val="D3E3EB"/>
              </a:solidFill>
              <a:prstDash val="solid"/>
            </a:ln>
          </p:spPr>
        </p:sp>
        <p:pic>
          <p:nvPicPr>
            <p:cNvPr id="5" name="th0_icon" descr="/home/claude/build/img_atoms/water_support.png">    </p:cNvPr>
            <p:cNvPicPr>
              <a:picLocks noChangeAspect="1"/>
            </p:cNvPicPr>
            <p:nvPr/>
          </p:nvPicPr>
          <p:blipFill>
            <a:blip r:embed="rId1"/>
            <a:stretch>
              <a:fillRect/>
            </a:stretch>
          </p:blipFill>
          <p:spPr>
            <a:xfrm>
              <a:off x="930631" y="2468880"/>
              <a:ext cx="841248" cy="841248"/>
            </a:xfrm>
            <a:prstGeom prst="rect">
              <a:avLst/>
            </a:prstGeom>
          </p:spPr>
        </p:pic>
        <p:sp>
          <p:nvSpPr>
            <p:cNvPr id="6" name="th0_t"/>
            <p:cNvSpPr txBox="1"/>
            <p:nvPr/>
          </p:nvSpPr>
          <p:spPr>
            <a:xfrm>
              <a:off x="576072" y="3438144"/>
              <a:ext cx="1550365" cy="402336"/>
            </a:xfrm>
            <a:prstGeom prst="rect">
              <a:avLst/>
            </a:prstGeom>
            <a:noFill/>
            <a:ln/>
          </p:spPr>
          <p:txBody>
            <a:bodyPr wrap="square" lIns="0" tIns="0" rIns="0" bIns="0" rtlCol="0" anchor="ctr"/>
            <a:lstStyle/>
            <a:p>
              <a:pPr algn="ctr" indent="0" marL="0">
                <a:buNone/>
              </a:pPr>
              <a:r>
                <a:rPr lang="en-US" sz="1700" b="1" dirty="0">
                  <a:solidFill>
                    <a:srgbClr val="123B54"/>
                  </a:solidFill>
                  <a:latin typeface="Georgia" pitchFamily="34" charset="0"/>
                  <a:ea typeface="Georgia" pitchFamily="34" charset="-122"/>
                  <a:cs typeface="Georgia" pitchFamily="34" charset="-120"/>
                </a:rPr>
                <a:t>water</a:t>
              </a:r>
              <a:endParaRPr lang="en-US" sz="1700" dirty="0"/>
            </a:p>
          </p:txBody>
        </p:sp>
      </p:grpSp>
      <p:pic>
        <p:nvPicPr>
          <p:cNvPr id="7" name="th0_atom" descr="/home/claude/build/img_atoms/atom_accent.png">    </p:cNvPr>
          <p:cNvPicPr>
            <a:picLocks noChangeAspect="1"/>
          </p:cNvPicPr>
          <p:nvPr/>
        </p:nvPicPr>
        <p:blipFill>
          <a:blip r:embed="rId2"/>
          <a:stretch>
            <a:fillRect/>
          </a:stretch>
        </p:blipFill>
        <p:spPr>
          <a:xfrm>
            <a:off x="1140943" y="3877056"/>
            <a:ext cx="420624" cy="420624"/>
          </a:xfrm>
          <a:prstGeom prst="rect">
            <a:avLst/>
          </a:prstGeom>
        </p:spPr>
      </p:pic>
      <p:grpSp>
        <p:nvGrpSpPr>
          <p:cNvPr id="32" name="th1"/>
          <p:cNvGrpSpPr/>
          <p:nvPr/>
        </p:nvGrpSpPr>
        <p:grpSpPr>
          <a:xfrm>
            <a:off x="2400757" y="2231136"/>
            <a:ext cx="1696669" cy="2084832"/>
            <a:chOff x="2400757" y="2231136"/>
            <a:chExt cx="1696669" cy="2084832"/>
          </a:xfrm>
        </p:grpSpPr>
        <p:sp>
          <p:nvSpPr>
            <p:cNvPr id="8" name="th1_bg"/>
            <p:cNvSpPr/>
            <p:nvPr/>
          </p:nvSpPr>
          <p:spPr>
            <a:xfrm>
              <a:off x="2400757" y="2231136"/>
              <a:ext cx="1696669" cy="2084832"/>
            </a:xfrm>
            <a:prstGeom prst="roundRect">
              <a:avLst>
                <a:gd name="adj" fmla="val 7545"/>
              </a:avLst>
            </a:prstGeom>
            <a:solidFill>
              <a:srgbClr val="FFFFFF"/>
            </a:solidFill>
            <a:ln w="15875">
              <a:solidFill>
                <a:srgbClr val="D3E3EB"/>
              </a:solidFill>
              <a:prstDash val="solid"/>
            </a:ln>
          </p:spPr>
        </p:sp>
        <p:pic>
          <p:nvPicPr>
            <p:cNvPr id="9" name="th1_icon" descr="/home/claude/build/img_atoms/air_support.png">    </p:cNvPr>
            <p:cNvPicPr>
              <a:picLocks noChangeAspect="1"/>
            </p:cNvPicPr>
            <p:nvPr/>
          </p:nvPicPr>
          <p:blipFill>
            <a:blip r:embed="rId3"/>
            <a:stretch>
              <a:fillRect/>
            </a:stretch>
          </p:blipFill>
          <p:spPr>
            <a:xfrm>
              <a:off x="2828468" y="2468880"/>
              <a:ext cx="841248" cy="841248"/>
            </a:xfrm>
            <a:prstGeom prst="rect">
              <a:avLst/>
            </a:prstGeom>
          </p:spPr>
        </p:pic>
        <p:sp>
          <p:nvSpPr>
            <p:cNvPr id="10" name="th1_t"/>
            <p:cNvSpPr txBox="1"/>
            <p:nvPr/>
          </p:nvSpPr>
          <p:spPr>
            <a:xfrm>
              <a:off x="2473909" y="3438144"/>
              <a:ext cx="1550365" cy="402336"/>
            </a:xfrm>
            <a:prstGeom prst="rect">
              <a:avLst/>
            </a:prstGeom>
            <a:noFill/>
            <a:ln/>
          </p:spPr>
          <p:txBody>
            <a:bodyPr wrap="square" lIns="0" tIns="0" rIns="0" bIns="0" rtlCol="0" anchor="ctr"/>
            <a:lstStyle/>
            <a:p>
              <a:pPr algn="ctr" indent="0" marL="0">
                <a:buNone/>
              </a:pPr>
              <a:r>
                <a:rPr lang="en-US" sz="1700" b="1" dirty="0">
                  <a:solidFill>
                    <a:srgbClr val="123B54"/>
                  </a:solidFill>
                  <a:latin typeface="Georgia" pitchFamily="34" charset="0"/>
                  <a:ea typeface="Georgia" pitchFamily="34" charset="-122"/>
                  <a:cs typeface="Georgia" pitchFamily="34" charset="-120"/>
                </a:rPr>
                <a:t>air</a:t>
              </a:r>
              <a:endParaRPr lang="en-US" sz="1700" dirty="0"/>
            </a:p>
          </p:txBody>
        </p:sp>
      </p:grpSp>
      <p:pic>
        <p:nvPicPr>
          <p:cNvPr id="11" name="th1_atom" descr="/home/claude/build/img_atoms/atom_accent.png">    </p:cNvPr>
          <p:cNvPicPr>
            <a:picLocks noChangeAspect="1"/>
          </p:cNvPicPr>
          <p:nvPr/>
        </p:nvPicPr>
        <p:blipFill>
          <a:blip r:embed="rId4"/>
          <a:stretch>
            <a:fillRect/>
          </a:stretch>
        </p:blipFill>
        <p:spPr>
          <a:xfrm>
            <a:off x="3038780" y="3877056"/>
            <a:ext cx="420624" cy="420624"/>
          </a:xfrm>
          <a:prstGeom prst="rect">
            <a:avLst/>
          </a:prstGeom>
        </p:spPr>
      </p:pic>
      <p:grpSp>
        <p:nvGrpSpPr>
          <p:cNvPr id="33" name="th2"/>
          <p:cNvGrpSpPr/>
          <p:nvPr/>
        </p:nvGrpSpPr>
        <p:grpSpPr>
          <a:xfrm>
            <a:off x="4298594" y="2231136"/>
            <a:ext cx="1696669" cy="2084832"/>
            <a:chOff x="4298594" y="2231136"/>
            <a:chExt cx="1696669" cy="2084832"/>
          </a:xfrm>
        </p:grpSpPr>
        <p:sp>
          <p:nvSpPr>
            <p:cNvPr id="12" name="th2_bg"/>
            <p:cNvSpPr/>
            <p:nvPr/>
          </p:nvSpPr>
          <p:spPr>
            <a:xfrm>
              <a:off x="4298594" y="2231136"/>
              <a:ext cx="1696669" cy="2084832"/>
            </a:xfrm>
            <a:prstGeom prst="roundRect">
              <a:avLst>
                <a:gd name="adj" fmla="val 7545"/>
              </a:avLst>
            </a:prstGeom>
            <a:solidFill>
              <a:srgbClr val="FFFFFF"/>
            </a:solidFill>
            <a:ln w="15875">
              <a:solidFill>
                <a:srgbClr val="D3E3EB"/>
              </a:solidFill>
              <a:prstDash val="solid"/>
            </a:ln>
          </p:spPr>
        </p:sp>
        <p:pic>
          <p:nvPicPr>
            <p:cNvPr id="13" name="th2_icon" descr="/home/claude/build/img_atoms/apple_support.png">    </p:cNvPr>
            <p:cNvPicPr>
              <a:picLocks noChangeAspect="1"/>
            </p:cNvPicPr>
            <p:nvPr/>
          </p:nvPicPr>
          <p:blipFill>
            <a:blip r:embed="rId5"/>
            <a:stretch>
              <a:fillRect/>
            </a:stretch>
          </p:blipFill>
          <p:spPr>
            <a:xfrm>
              <a:off x="4726305" y="2468880"/>
              <a:ext cx="841248" cy="841248"/>
            </a:xfrm>
            <a:prstGeom prst="rect">
              <a:avLst/>
            </a:prstGeom>
          </p:spPr>
        </p:pic>
        <p:sp>
          <p:nvSpPr>
            <p:cNvPr id="14" name="th2_t"/>
            <p:cNvSpPr txBox="1"/>
            <p:nvPr/>
          </p:nvSpPr>
          <p:spPr>
            <a:xfrm>
              <a:off x="4371746" y="3438144"/>
              <a:ext cx="1550365" cy="402336"/>
            </a:xfrm>
            <a:prstGeom prst="rect">
              <a:avLst/>
            </a:prstGeom>
            <a:noFill/>
            <a:ln/>
          </p:spPr>
          <p:txBody>
            <a:bodyPr wrap="square" lIns="0" tIns="0" rIns="0" bIns="0" rtlCol="0" anchor="ctr"/>
            <a:lstStyle/>
            <a:p>
              <a:pPr algn="ctr" indent="0" marL="0">
                <a:buNone/>
              </a:pPr>
              <a:r>
                <a:rPr lang="en-US" sz="1700" b="1" dirty="0">
                  <a:solidFill>
                    <a:srgbClr val="123B54"/>
                  </a:solidFill>
                  <a:latin typeface="Georgia" pitchFamily="34" charset="0"/>
                  <a:ea typeface="Georgia" pitchFamily="34" charset="-122"/>
                  <a:cs typeface="Georgia" pitchFamily="34" charset="-120"/>
                </a:rPr>
                <a:t>an apple</a:t>
              </a:r>
              <a:endParaRPr lang="en-US" sz="1700" dirty="0"/>
            </a:p>
          </p:txBody>
        </p:sp>
      </p:grpSp>
      <p:pic>
        <p:nvPicPr>
          <p:cNvPr id="15" name="th2_atom" descr="/home/claude/build/img_atoms/atom_accent.png">    </p:cNvPr>
          <p:cNvPicPr>
            <a:picLocks noChangeAspect="1"/>
          </p:cNvPicPr>
          <p:nvPr/>
        </p:nvPicPr>
        <p:blipFill>
          <a:blip r:embed="rId6"/>
          <a:stretch>
            <a:fillRect/>
          </a:stretch>
        </p:blipFill>
        <p:spPr>
          <a:xfrm>
            <a:off x="4936617" y="3877056"/>
            <a:ext cx="420624" cy="420624"/>
          </a:xfrm>
          <a:prstGeom prst="rect">
            <a:avLst/>
          </a:prstGeom>
        </p:spPr>
      </p:pic>
      <p:grpSp>
        <p:nvGrpSpPr>
          <p:cNvPr id="34" name="th3"/>
          <p:cNvGrpSpPr/>
          <p:nvPr/>
        </p:nvGrpSpPr>
        <p:grpSpPr>
          <a:xfrm>
            <a:off x="6196432" y="2231136"/>
            <a:ext cx="1696669" cy="2084832"/>
            <a:chOff x="6196432" y="2231136"/>
            <a:chExt cx="1696669" cy="2084832"/>
          </a:xfrm>
        </p:grpSpPr>
        <p:sp>
          <p:nvSpPr>
            <p:cNvPr id="16" name="th3_bg"/>
            <p:cNvSpPr/>
            <p:nvPr/>
          </p:nvSpPr>
          <p:spPr>
            <a:xfrm>
              <a:off x="6196432" y="2231136"/>
              <a:ext cx="1696669" cy="2084832"/>
            </a:xfrm>
            <a:prstGeom prst="roundRect">
              <a:avLst>
                <a:gd name="adj" fmla="val 7545"/>
              </a:avLst>
            </a:prstGeom>
            <a:solidFill>
              <a:srgbClr val="FFFFFF"/>
            </a:solidFill>
            <a:ln w="15875">
              <a:solidFill>
                <a:srgbClr val="D3E3EB"/>
              </a:solidFill>
              <a:prstDash val="solid"/>
            </a:ln>
          </p:spPr>
        </p:sp>
        <p:pic>
          <p:nvPicPr>
            <p:cNvPr id="17" name="th3_icon" descr="/home/claude/build/img_atoms/rock_support.png">    </p:cNvPr>
            <p:cNvPicPr>
              <a:picLocks noChangeAspect="1"/>
            </p:cNvPicPr>
            <p:nvPr/>
          </p:nvPicPr>
          <p:blipFill>
            <a:blip r:embed="rId7"/>
            <a:stretch>
              <a:fillRect/>
            </a:stretch>
          </p:blipFill>
          <p:spPr>
            <a:xfrm>
              <a:off x="6624142" y="2468880"/>
              <a:ext cx="841248" cy="841248"/>
            </a:xfrm>
            <a:prstGeom prst="rect">
              <a:avLst/>
            </a:prstGeom>
          </p:spPr>
        </p:pic>
        <p:sp>
          <p:nvSpPr>
            <p:cNvPr id="18" name="th3_t"/>
            <p:cNvSpPr txBox="1"/>
            <p:nvPr/>
          </p:nvSpPr>
          <p:spPr>
            <a:xfrm>
              <a:off x="6269584" y="3438144"/>
              <a:ext cx="1550365" cy="402336"/>
            </a:xfrm>
            <a:prstGeom prst="rect">
              <a:avLst/>
            </a:prstGeom>
            <a:noFill/>
            <a:ln/>
          </p:spPr>
          <p:txBody>
            <a:bodyPr wrap="square" lIns="0" tIns="0" rIns="0" bIns="0" rtlCol="0" anchor="ctr"/>
            <a:lstStyle/>
            <a:p>
              <a:pPr algn="ctr" indent="0" marL="0">
                <a:buNone/>
              </a:pPr>
              <a:r>
                <a:rPr lang="en-US" sz="1700" b="1" dirty="0">
                  <a:solidFill>
                    <a:srgbClr val="123B54"/>
                  </a:solidFill>
                  <a:latin typeface="Georgia" pitchFamily="34" charset="0"/>
                  <a:ea typeface="Georgia" pitchFamily="34" charset="-122"/>
                  <a:cs typeface="Georgia" pitchFamily="34" charset="-120"/>
                </a:rPr>
                <a:t>a rock</a:t>
              </a:r>
              <a:endParaRPr lang="en-US" sz="1700" dirty="0"/>
            </a:p>
          </p:txBody>
        </p:sp>
      </p:grpSp>
      <p:pic>
        <p:nvPicPr>
          <p:cNvPr id="19" name="th3_atom" descr="/home/claude/build/img_atoms/atom_accent.png">    </p:cNvPr>
          <p:cNvPicPr>
            <a:picLocks noChangeAspect="1"/>
          </p:cNvPicPr>
          <p:nvPr/>
        </p:nvPicPr>
        <p:blipFill>
          <a:blip r:embed="rId8"/>
          <a:stretch>
            <a:fillRect/>
          </a:stretch>
        </p:blipFill>
        <p:spPr>
          <a:xfrm>
            <a:off x="6834454" y="3877056"/>
            <a:ext cx="420624" cy="420624"/>
          </a:xfrm>
          <a:prstGeom prst="rect">
            <a:avLst/>
          </a:prstGeom>
        </p:spPr>
      </p:pic>
      <p:grpSp>
        <p:nvGrpSpPr>
          <p:cNvPr id="35" name="th4"/>
          <p:cNvGrpSpPr/>
          <p:nvPr/>
        </p:nvGrpSpPr>
        <p:grpSpPr>
          <a:xfrm>
            <a:off x="8094269" y="2231136"/>
            <a:ext cx="1696669" cy="2084832"/>
            <a:chOff x="8094269" y="2231136"/>
            <a:chExt cx="1696669" cy="2084832"/>
          </a:xfrm>
        </p:grpSpPr>
        <p:sp>
          <p:nvSpPr>
            <p:cNvPr id="20" name="th4_bg"/>
            <p:cNvSpPr/>
            <p:nvPr/>
          </p:nvSpPr>
          <p:spPr>
            <a:xfrm>
              <a:off x="8094269" y="2231136"/>
              <a:ext cx="1696669" cy="2084832"/>
            </a:xfrm>
            <a:prstGeom prst="roundRect">
              <a:avLst>
                <a:gd name="adj" fmla="val 7545"/>
              </a:avLst>
            </a:prstGeom>
            <a:solidFill>
              <a:srgbClr val="FFFFFF"/>
            </a:solidFill>
            <a:ln w="15875">
              <a:solidFill>
                <a:srgbClr val="D3E3EB"/>
              </a:solidFill>
              <a:prstDash val="solid"/>
            </a:ln>
          </p:spPr>
        </p:sp>
        <p:pic>
          <p:nvPicPr>
            <p:cNvPr id="21" name="th4_icon" descr="/home/claude/build/img_atoms/chair_support.png">    </p:cNvPr>
            <p:cNvPicPr>
              <a:picLocks noChangeAspect="1"/>
            </p:cNvPicPr>
            <p:nvPr/>
          </p:nvPicPr>
          <p:blipFill>
            <a:blip r:embed="rId9"/>
            <a:stretch>
              <a:fillRect/>
            </a:stretch>
          </p:blipFill>
          <p:spPr>
            <a:xfrm>
              <a:off x="8521979" y="2468880"/>
              <a:ext cx="841248" cy="841248"/>
            </a:xfrm>
            <a:prstGeom prst="rect">
              <a:avLst/>
            </a:prstGeom>
          </p:spPr>
        </p:pic>
        <p:sp>
          <p:nvSpPr>
            <p:cNvPr id="22" name="th4_t"/>
            <p:cNvSpPr txBox="1"/>
            <p:nvPr/>
          </p:nvSpPr>
          <p:spPr>
            <a:xfrm>
              <a:off x="8167421" y="3438144"/>
              <a:ext cx="1550365" cy="402336"/>
            </a:xfrm>
            <a:prstGeom prst="rect">
              <a:avLst/>
            </a:prstGeom>
            <a:noFill/>
            <a:ln/>
          </p:spPr>
          <p:txBody>
            <a:bodyPr wrap="square" lIns="0" tIns="0" rIns="0" bIns="0" rtlCol="0" anchor="ctr"/>
            <a:lstStyle/>
            <a:p>
              <a:pPr algn="ctr" indent="0" marL="0">
                <a:buNone/>
              </a:pPr>
              <a:r>
                <a:rPr lang="en-US" sz="1700" b="1" dirty="0">
                  <a:solidFill>
                    <a:srgbClr val="123B54"/>
                  </a:solidFill>
                  <a:latin typeface="Georgia" pitchFamily="34" charset="0"/>
                  <a:ea typeface="Georgia" pitchFamily="34" charset="-122"/>
                  <a:cs typeface="Georgia" pitchFamily="34" charset="-120"/>
                </a:rPr>
                <a:t>a chair</a:t>
              </a:r>
              <a:endParaRPr lang="en-US" sz="1700" dirty="0"/>
            </a:p>
          </p:txBody>
        </p:sp>
      </p:grpSp>
      <p:pic>
        <p:nvPicPr>
          <p:cNvPr id="23" name="th4_atom" descr="/home/claude/build/img_atoms/atom_accent.png">    </p:cNvPr>
          <p:cNvPicPr>
            <a:picLocks noChangeAspect="1"/>
          </p:cNvPicPr>
          <p:nvPr/>
        </p:nvPicPr>
        <p:blipFill>
          <a:blip r:embed="rId10"/>
          <a:stretch>
            <a:fillRect/>
          </a:stretch>
        </p:blipFill>
        <p:spPr>
          <a:xfrm>
            <a:off x="8732291" y="3877056"/>
            <a:ext cx="420624" cy="420624"/>
          </a:xfrm>
          <a:prstGeom prst="rect">
            <a:avLst/>
          </a:prstGeom>
        </p:spPr>
      </p:pic>
      <p:grpSp>
        <p:nvGrpSpPr>
          <p:cNvPr id="36" name="th5"/>
          <p:cNvGrpSpPr/>
          <p:nvPr/>
        </p:nvGrpSpPr>
        <p:grpSpPr>
          <a:xfrm>
            <a:off x="9992106" y="2231136"/>
            <a:ext cx="1696669" cy="2084832"/>
            <a:chOff x="9992106" y="2231136"/>
            <a:chExt cx="1696669" cy="2084832"/>
          </a:xfrm>
        </p:grpSpPr>
        <p:sp>
          <p:nvSpPr>
            <p:cNvPr id="24" name="th5_bg"/>
            <p:cNvSpPr/>
            <p:nvPr/>
          </p:nvSpPr>
          <p:spPr>
            <a:xfrm>
              <a:off x="9992106" y="2231136"/>
              <a:ext cx="1696669" cy="2084832"/>
            </a:xfrm>
            <a:prstGeom prst="roundRect">
              <a:avLst>
                <a:gd name="adj" fmla="val 7545"/>
              </a:avLst>
            </a:prstGeom>
            <a:solidFill>
              <a:srgbClr val="FFFFFF"/>
            </a:solidFill>
            <a:ln w="15875">
              <a:solidFill>
                <a:srgbClr val="D3E3EB"/>
              </a:solidFill>
              <a:prstDash val="solid"/>
            </a:ln>
          </p:spPr>
        </p:sp>
        <p:pic>
          <p:nvPicPr>
            <p:cNvPr id="25" name="th5_icon" descr="/home/claude/build/img_atoms/person_support.png">    </p:cNvPr>
            <p:cNvPicPr>
              <a:picLocks noChangeAspect="1"/>
            </p:cNvPicPr>
            <p:nvPr/>
          </p:nvPicPr>
          <p:blipFill>
            <a:blip r:embed="rId11"/>
            <a:stretch>
              <a:fillRect/>
            </a:stretch>
          </p:blipFill>
          <p:spPr>
            <a:xfrm>
              <a:off x="10419817" y="2468880"/>
              <a:ext cx="841248" cy="841248"/>
            </a:xfrm>
            <a:prstGeom prst="rect">
              <a:avLst/>
            </a:prstGeom>
          </p:spPr>
        </p:pic>
        <p:sp>
          <p:nvSpPr>
            <p:cNvPr id="26" name="th5_t"/>
            <p:cNvSpPr txBox="1"/>
            <p:nvPr/>
          </p:nvSpPr>
          <p:spPr>
            <a:xfrm>
              <a:off x="10065258" y="3438144"/>
              <a:ext cx="1550365" cy="402336"/>
            </a:xfrm>
            <a:prstGeom prst="rect">
              <a:avLst/>
            </a:prstGeom>
            <a:noFill/>
            <a:ln/>
          </p:spPr>
          <p:txBody>
            <a:bodyPr wrap="square" lIns="0" tIns="0" rIns="0" bIns="0" rtlCol="0" anchor="ctr"/>
            <a:lstStyle/>
            <a:p>
              <a:pPr algn="ctr" indent="0" marL="0">
                <a:buNone/>
              </a:pPr>
              <a:r>
                <a:rPr lang="en-US" sz="1700" b="1" dirty="0">
                  <a:solidFill>
                    <a:srgbClr val="123B54"/>
                  </a:solidFill>
                  <a:latin typeface="Georgia" pitchFamily="34" charset="0"/>
                  <a:ea typeface="Georgia" pitchFamily="34" charset="-122"/>
                  <a:cs typeface="Georgia" pitchFamily="34" charset="-120"/>
                </a:rPr>
                <a:t>you</a:t>
              </a:r>
              <a:endParaRPr lang="en-US" sz="1700" dirty="0"/>
            </a:p>
          </p:txBody>
        </p:sp>
      </p:grpSp>
      <p:pic>
        <p:nvPicPr>
          <p:cNvPr id="27" name="th5_atom" descr="/home/claude/build/img_atoms/atom_accent.png">    </p:cNvPr>
          <p:cNvPicPr>
            <a:picLocks noChangeAspect="1"/>
          </p:cNvPicPr>
          <p:nvPr/>
        </p:nvPicPr>
        <p:blipFill>
          <a:blip r:embed="rId12"/>
          <a:stretch>
            <a:fillRect/>
          </a:stretch>
        </p:blipFill>
        <p:spPr>
          <a:xfrm>
            <a:off x="10630129" y="3877056"/>
            <a:ext cx="420624" cy="420624"/>
          </a:xfrm>
          <a:prstGeom prst="rect">
            <a:avLst/>
          </a:prstGeom>
        </p:spPr>
      </p:pic>
      <p:grpSp>
        <p:nvGrpSpPr>
          <p:cNvPr id="30" name="ev_frame"/>
          <p:cNvGrpSpPr/>
          <p:nvPr/>
        </p:nvGrpSpPr>
        <p:grpSpPr>
          <a:xfrm>
            <a:off x="502920" y="4773168"/>
            <a:ext cx="11185855" cy="786384"/>
            <a:chOff x="502920" y="4773168"/>
            <a:chExt cx="11185855" cy="786384"/>
          </a:xfrm>
        </p:grpSpPr>
        <p:sp>
          <p:nvSpPr>
            <p:cNvPr id="28" name="ev_frame_bg"/>
            <p:cNvSpPr/>
            <p:nvPr/>
          </p:nvSpPr>
          <p:spPr>
            <a:xfrm>
              <a:off x="502920" y="4773168"/>
              <a:ext cx="11185855" cy="786384"/>
            </a:xfrm>
            <a:prstGeom prst="roundRect">
              <a:avLst>
                <a:gd name="adj" fmla="val 13953"/>
              </a:avLst>
            </a:prstGeom>
            <a:solidFill>
              <a:srgbClr val="123B54"/>
            </a:solidFill>
            <a:ln w="12700">
              <a:solidFill>
                <a:srgbClr val="123B54"/>
              </a:solidFill>
              <a:prstDash val="solid"/>
            </a:ln>
          </p:spPr>
        </p:sp>
        <p:sp>
          <p:nvSpPr>
            <p:cNvPr id="29" name="ev_frame_t"/>
            <p:cNvSpPr txBox="1"/>
            <p:nvPr/>
          </p:nvSpPr>
          <p:spPr>
            <a:xfrm>
              <a:off x="722376" y="4773168"/>
              <a:ext cx="10746943" cy="786384"/>
            </a:xfrm>
            <a:prstGeom prst="rect">
              <a:avLst/>
            </a:prstGeom>
            <a:noFill/>
            <a:ln/>
          </p:spPr>
          <p:txBody>
            <a:bodyPr wrap="square" lIns="0" tIns="0" rIns="0" bIns="0" rtlCol="0" anchor="ctr"/>
            <a:lstStyle/>
            <a:p>
              <a:pPr algn="ctr" indent="0" marL="0">
                <a:buNone/>
              </a:pPr>
              <a:r>
                <a:rPr lang="en-US" sz="2800" b="1" dirty="0">
                  <a:solidFill>
                    <a:srgbClr val="FFD166"/>
                  </a:solidFill>
                  <a:latin typeface="Georgia" pitchFamily="34" charset="0"/>
                  <a:ea typeface="Georgia" pitchFamily="34" charset="-122"/>
                  <a:cs typeface="Georgia" pitchFamily="34" charset="-120"/>
                </a:rPr>
                <a:t>Everything is made of atoms.</a:t>
              </a:r>
              <a:endParaRPr lang="en-US" sz="28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31"/>
                                        </p:tgtEl>
                                        <p:attrNameLst>
                                          <p:attrName>style.visibility</p:attrName>
                                        </p:attrNameLst>
                                      </p:cBhvr>
                                      <p:to>
                                        <p:strVal val="visible"/>
                                      </p:to>
                                    </p:set>
                                    <p:animEffect transition="in" filter="fade">
                                      <p:cBhvr>
                                        <p:cTn id="4" dur="400"/>
                                        <p:tgtEl>
                                          <p:spTgt spid="31"/>
                                        </p:tgtEl>
                                      </p:cBhvr>
                                    </p:animEffect>
                                  </p:childTnLst>
                                </p:cTn>
                              </p:par>
                              <p:par>
                                <p:cTn id="9" presetID="23" presetClass="entr" presetSubtype="16" fill="hold" grpId="0" nodeType="withEffect">
                                  <p:stCondLst>
                                    <p:cond delay="1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animScale>
                                      <p:cBhvr>
                                        <p:cTn id="8" dur="400" fill="hold"/>
                                        <p:tgtEl>
                                          <p:spTgt spid="7"/>
                                        </p:tgtEl>
                                      </p:cBhvr>
                                      <p:from x="0" y="0"/>
                                      <p:to x="100000" y="100000"/>
                                    </p:animScale>
                                  </p:childTnLst>
                                </p:cTn>
                              </p:par>
                            </p:childTnLst>
                          </p:cTn>
                        </p:par>
                      </p:childTnLst>
                    </p:cTn>
                  </p:par>
                  <p:par>
                    <p:cTn id="19" fill="hold">
                      <p:stCondLst>
                        <p:cond delay="indefinite"/>
                      </p:stCondLst>
                      <p:childTnLst>
                        <p:par>
                          <p:cTn id="20" fill="hold">
                            <p:stCondLst>
                              <p:cond delay="0"/>
                            </p:stCondLst>
                            <p:childTnLst>
                              <p:par>
                                <p:cTn id="14" presetID="10"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400"/>
                                        <p:tgtEl>
                                          <p:spTgt spid="32"/>
                                        </p:tgtEl>
                                      </p:cBhvr>
                                    </p:animEffect>
                                  </p:childTnLst>
                                </p:cTn>
                              </p:par>
                              <p:par>
                                <p:cTn id="18" presetID="23" presetClass="entr" presetSubtype="16" fill="hold" grpId="0" nodeType="withEffect">
                                  <p:stCondLst>
                                    <p:cond delay="15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animScale>
                                      <p:cBhvr>
                                        <p:cTn id="17" dur="400" fill="hold"/>
                                        <p:tgtEl>
                                          <p:spTgt spid="11"/>
                                        </p:tgtEl>
                                      </p:cBhvr>
                                      <p:from x="0" y="0"/>
                                      <p:to x="100000" y="100000"/>
                                    </p:animScale>
                                  </p:childTnLst>
                                </p:cTn>
                              </p:par>
                            </p:childTnLst>
                          </p:cTn>
                        </p:par>
                      </p:childTnLst>
                    </p:cTn>
                  </p:par>
                  <p:par>
                    <p:cTn id="28" fill="hold">
                      <p:stCondLst>
                        <p:cond delay="indefinite"/>
                      </p:stCondLst>
                      <p:childTnLst>
                        <p:par>
                          <p:cTn id="29" fill="hold">
                            <p:stCondLst>
                              <p:cond delay="0"/>
                            </p:stCondLst>
                            <p:childTnLst>
                              <p:par>
                                <p:cTn id="23" presetID="10" presetClass="entr" presetSubtype="0"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par>
                                <p:cTn id="27" presetID="23" presetClass="entr" presetSubtype="16" fill="hold" grpId="0" nodeType="withEffect">
                                  <p:stCondLst>
                                    <p:cond delay="15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animScale>
                                      <p:cBhvr>
                                        <p:cTn id="26" dur="400" fill="hold"/>
                                        <p:tgtEl>
                                          <p:spTgt spid="15"/>
                                        </p:tgtEl>
                                      </p:cBhvr>
                                      <p:from x="0" y="0"/>
                                      <p:to x="100000" y="100000"/>
                                    </p:animScale>
                                  </p:childTnLst>
                                </p:cTn>
                              </p:par>
                            </p:childTnLst>
                          </p:cTn>
                        </p:par>
                      </p:childTnLst>
                    </p:cTn>
                  </p:par>
                  <p:par>
                    <p:cTn id="37" fill="hold">
                      <p:stCondLst>
                        <p:cond delay="indefinite"/>
                      </p:stCondLst>
                      <p:childTnLst>
                        <p:par>
                          <p:cTn id="38" fill="hold">
                            <p:stCondLst>
                              <p:cond delay="0"/>
                            </p:stCondLst>
                            <p:childTnLst>
                              <p:par>
                                <p:cTn id="32" presetID="10"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400"/>
                                        <p:tgtEl>
                                          <p:spTgt spid="34"/>
                                        </p:tgtEl>
                                      </p:cBhvr>
                                    </p:animEffect>
                                  </p:childTnLst>
                                </p:cTn>
                              </p:par>
                              <p:par>
                                <p:cTn id="36" presetID="23" presetClass="entr" presetSubtype="16" fill="hold" grpId="0" nodeType="withEffect">
                                  <p:stCondLst>
                                    <p:cond delay="15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animScale>
                                      <p:cBhvr>
                                        <p:cTn id="35" dur="400" fill="hold"/>
                                        <p:tgtEl>
                                          <p:spTgt spid="19"/>
                                        </p:tgtEl>
                                      </p:cBhvr>
                                      <p:from x="0" y="0"/>
                                      <p:to x="100000" y="100000"/>
                                    </p:animScale>
                                  </p:childTnLst>
                                </p:cTn>
                              </p:par>
                            </p:childTnLst>
                          </p:cTn>
                        </p:par>
                      </p:childTnLst>
                    </p:cTn>
                  </p:par>
                  <p:par>
                    <p:cTn id="46" fill="hold">
                      <p:stCondLst>
                        <p:cond delay="indefinite"/>
                      </p:stCondLst>
                      <p:childTnLst>
                        <p:par>
                          <p:cTn id="47" fill="hold">
                            <p:stCondLst>
                              <p:cond delay="0"/>
                            </p:stCondLst>
                            <p:childTnLst>
                              <p:par>
                                <p:cTn id="41" presetID="10" presetClass="entr" presetSubtype="0" fill="hold" grpId="0" nodeType="click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400"/>
                                        <p:tgtEl>
                                          <p:spTgt spid="35"/>
                                        </p:tgtEl>
                                      </p:cBhvr>
                                    </p:animEffect>
                                  </p:childTnLst>
                                </p:cTn>
                              </p:par>
                              <p:par>
                                <p:cTn id="45" presetID="23" presetClass="entr" presetSubtype="16" fill="hold" grpId="0" nodeType="withEffect">
                                  <p:stCondLst>
                                    <p:cond delay="15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00"/>
                                        <p:tgtEl>
                                          <p:spTgt spid="23"/>
                                        </p:tgtEl>
                                      </p:cBhvr>
                                    </p:animEffect>
                                    <p:animScale>
                                      <p:cBhvr>
                                        <p:cTn id="44" dur="400" fill="hold"/>
                                        <p:tgtEl>
                                          <p:spTgt spid="23"/>
                                        </p:tgtEl>
                                      </p:cBhvr>
                                      <p:from x="0" y="0"/>
                                      <p:to x="100000" y="100000"/>
                                    </p:animScale>
                                  </p:childTnLst>
                                </p:cTn>
                              </p:par>
                            </p:childTnLst>
                          </p:cTn>
                        </p:par>
                      </p:childTnLst>
                    </p:cTn>
                  </p:par>
                  <p:par>
                    <p:cTn id="55" fill="hold">
                      <p:stCondLst>
                        <p:cond delay="indefinite"/>
                      </p:stCondLst>
                      <p:childTnLst>
                        <p:par>
                          <p:cTn id="56" fill="hold">
                            <p:stCondLst>
                              <p:cond delay="0"/>
                            </p:stCondLst>
                            <p:childTnLst>
                              <p:par>
                                <p:cTn id="50" presetID="10" presetClass="entr" presetSubtype="0" fill="hold" grpId="0" nodeType="click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400"/>
                                        <p:tgtEl>
                                          <p:spTgt spid="36"/>
                                        </p:tgtEl>
                                      </p:cBhvr>
                                    </p:animEffect>
                                  </p:childTnLst>
                                </p:cTn>
                              </p:par>
                              <p:par>
                                <p:cTn id="54" presetID="23" presetClass="entr" presetSubtype="16" fill="hold" grpId="0" nodeType="withEffect">
                                  <p:stCondLst>
                                    <p:cond delay="15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400"/>
                                        <p:tgtEl>
                                          <p:spTgt spid="27"/>
                                        </p:tgtEl>
                                      </p:cBhvr>
                                    </p:animEffect>
                                    <p:animScale>
                                      <p:cBhvr>
                                        <p:cTn id="53" dur="400" fill="hold"/>
                                        <p:tgtEl>
                                          <p:spTgt spid="27"/>
                                        </p:tgtEl>
                                      </p:cBhvr>
                                      <p:from x="0" y="0"/>
                                      <p:to x="100000" y="100000"/>
                                    </p:animScale>
                                  </p:childTnLst>
                                </p:cTn>
                              </p:par>
                            </p:childTnLst>
                          </p:cTn>
                        </p:par>
                      </p:childTnLst>
                    </p:cTn>
                  </p:par>
                  <p:par>
                    <p:cTn id="61" fill="hold">
                      <p:stCondLst>
                        <p:cond delay="indefinite"/>
                      </p:stCondLst>
                      <p:childTnLst>
                        <p:par>
                          <p:cTn id="62" fill="hold">
                            <p:stCondLst>
                              <p:cond delay="0"/>
                            </p:stCondLst>
                            <p:childTnLst>
                              <p:par>
                                <p:cTn id="60" presetID="23" presetClass="entr" presetSubtype="16" fill="hold" grpId="0" nodeType="click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400"/>
                                        <p:tgtEl>
                                          <p:spTgt spid="30"/>
                                        </p:tgtEl>
                                      </p:cBhvr>
                                    </p:animEffect>
                                    <p:animScale>
                                      <p:cBhvr>
                                        <p:cTn id="59" dur="400" fill="hold"/>
                                        <p:tgtEl>
                                          <p:spTgt spid="30"/>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sp>
        <p:nvSpPr>
          <p:cNvPr id="2" name="phase_pill"/>
          <p:cNvSpPr/>
          <p:nvPr/>
        </p:nvSpPr>
        <p:spPr>
          <a:xfrm>
            <a:off x="502920" y="274320"/>
            <a:ext cx="2578608" cy="347472"/>
          </a:xfrm>
          <a:prstGeom prst="roundRect">
            <a:avLst>
              <a:gd name="adj" fmla="val 50000"/>
            </a:avLst>
          </a:prstGeom>
          <a:solidFill>
            <a:srgbClr val="123B54"/>
          </a:solidFill>
          <a:ln/>
        </p:spPr>
        <p:txBody>
          <a:bodyPr wrap="square" lIns="0" tIns="0" rIns="0" bIns="0" rtlCol="0" anchor="ctr"/>
          <a:lstStyle/>
          <a:p>
            <a:pPr algn="ctr" indent="0" marL="0">
              <a:buNone/>
            </a:pPr>
            <a:r>
              <a:rPr lang="en-US" sz="1100" b="1" spc="110" kern="0" dirty="0">
                <a:solidFill>
                  <a:srgbClr val="F4F8FA"/>
                </a:solidFill>
                <a:latin typeface="Arial" pitchFamily="34" charset="0"/>
                <a:ea typeface="Arial" pitchFamily="34" charset="-122"/>
                <a:cs typeface="Arial" pitchFamily="34" charset="-120"/>
              </a:rPr>
              <a:t>YOU SAY · 7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123B54"/>
                </a:solidFill>
                <a:latin typeface="Georgia" pitchFamily="34" charset="0"/>
                <a:ea typeface="Georgia" pitchFamily="34" charset="-122"/>
                <a:cs typeface="Georgia" pitchFamily="34" charset="-120"/>
              </a:rPr>
              <a:t>Your turn. Say the sentence.</a:t>
            </a:r>
            <a:endParaRPr lang="en-US" sz="3000" dirty="0"/>
          </a:p>
        </p:txBody>
      </p:sp>
      <p:grpSp>
        <p:nvGrpSpPr>
          <p:cNvPr id="22" name="sf_frame"/>
          <p:cNvGrpSpPr/>
          <p:nvPr/>
        </p:nvGrpSpPr>
        <p:grpSpPr>
          <a:xfrm>
            <a:off x="1965960" y="1609344"/>
            <a:ext cx="8259775" cy="713232"/>
            <a:chOff x="1965960" y="1609344"/>
            <a:chExt cx="8259775" cy="713232"/>
          </a:xfrm>
        </p:grpSpPr>
        <p:sp>
          <p:nvSpPr>
            <p:cNvPr id="4" name="sf_frame_bg"/>
            <p:cNvSpPr/>
            <p:nvPr/>
          </p:nvSpPr>
          <p:spPr>
            <a:xfrm>
              <a:off x="1965960" y="1609344"/>
              <a:ext cx="8259775" cy="713232"/>
            </a:xfrm>
            <a:prstGeom prst="roundRect">
              <a:avLst>
                <a:gd name="adj" fmla="val 15385"/>
              </a:avLst>
            </a:prstGeom>
            <a:solidFill>
              <a:srgbClr val="123B54"/>
            </a:solidFill>
            <a:ln w="12700">
              <a:solidFill>
                <a:srgbClr val="123B54"/>
              </a:solidFill>
              <a:prstDash val="solid"/>
            </a:ln>
          </p:spPr>
        </p:sp>
        <p:sp>
          <p:nvSpPr>
            <p:cNvPr id="5" name="sf_frame_t"/>
            <p:cNvSpPr txBox="1"/>
            <p:nvPr/>
          </p:nvSpPr>
          <p:spPr>
            <a:xfrm>
              <a:off x="2185416" y="1609344"/>
              <a:ext cx="7820863" cy="713232"/>
            </a:xfrm>
            <a:prstGeom prst="rect">
              <a:avLst/>
            </a:prstGeom>
            <a:noFill/>
            <a:ln/>
          </p:spPr>
          <p:txBody>
            <a:bodyPr wrap="square" lIns="0" tIns="0" rIns="0" bIns="0" rtlCol="0" anchor="ctr"/>
            <a:lstStyle/>
            <a:p>
              <a:pPr algn="ctr" indent="0" marL="0">
                <a:buNone/>
              </a:pPr>
              <a:r>
                <a:rPr lang="en-US" sz="2600" b="1" dirty="0">
                  <a:solidFill>
                    <a:srgbClr val="FFD166"/>
                  </a:solidFill>
                  <a:latin typeface="Georgia" pitchFamily="34" charset="0"/>
                  <a:ea typeface="Georgia" pitchFamily="34" charset="-122"/>
                  <a:cs typeface="Georgia" pitchFamily="34" charset="-120"/>
                </a:rPr>
                <a:t>___  is made of atoms.</a:t>
              </a:r>
              <a:endParaRPr lang="en-US" sz="2600" dirty="0"/>
            </a:p>
          </p:txBody>
        </p:sp>
      </p:grpSp>
      <p:grpSp>
        <p:nvGrpSpPr>
          <p:cNvPr id="23" name="sy0"/>
          <p:cNvGrpSpPr/>
          <p:nvPr/>
        </p:nvGrpSpPr>
        <p:grpSpPr>
          <a:xfrm>
            <a:off x="502920" y="2980944"/>
            <a:ext cx="2590724" cy="2432304"/>
            <a:chOff x="502920" y="2980944"/>
            <a:chExt cx="2590724" cy="2432304"/>
          </a:xfrm>
        </p:grpSpPr>
        <p:sp>
          <p:nvSpPr>
            <p:cNvPr id="6" name="sy0_bg"/>
            <p:cNvSpPr/>
            <p:nvPr/>
          </p:nvSpPr>
          <p:spPr>
            <a:xfrm>
              <a:off x="502920" y="2980944"/>
              <a:ext cx="2590724" cy="2432304"/>
            </a:xfrm>
            <a:prstGeom prst="roundRect">
              <a:avLst>
                <a:gd name="adj" fmla="val 5263"/>
              </a:avLst>
            </a:prstGeom>
            <a:solidFill>
              <a:srgbClr val="FFFFFF"/>
            </a:solidFill>
            <a:ln w="15875">
              <a:solidFill>
                <a:srgbClr val="D3E3EB"/>
              </a:solidFill>
              <a:prstDash val="solid"/>
            </a:ln>
          </p:spPr>
        </p:sp>
        <p:pic>
          <p:nvPicPr>
            <p:cNvPr id="7" name="sy0_icon" descr="/home/claude/build/img_atoms/water_support.png">    </p:cNvPr>
            <p:cNvPicPr>
              <a:picLocks noChangeAspect="1"/>
            </p:cNvPicPr>
            <p:nvPr/>
          </p:nvPicPr>
          <p:blipFill>
            <a:blip r:embed="rId1"/>
            <a:stretch>
              <a:fillRect/>
            </a:stretch>
          </p:blipFill>
          <p:spPr>
            <a:xfrm>
              <a:off x="1318222" y="3236976"/>
              <a:ext cx="960120" cy="960120"/>
            </a:xfrm>
            <a:prstGeom prst="rect">
              <a:avLst/>
            </a:prstGeom>
          </p:spPr>
        </p:pic>
        <p:sp>
          <p:nvSpPr>
            <p:cNvPr id="8" name="sy0_t"/>
            <p:cNvSpPr txBox="1"/>
            <p:nvPr/>
          </p:nvSpPr>
          <p:spPr>
            <a:xfrm>
              <a:off x="612648" y="4315968"/>
              <a:ext cx="2371268" cy="420624"/>
            </a:xfrm>
            <a:prstGeom prst="rect">
              <a:avLst/>
            </a:prstGeom>
            <a:noFill/>
            <a:ln/>
          </p:spPr>
          <p:txBody>
            <a:bodyPr wrap="square" lIns="0" tIns="0" rIns="0" bIns="0" rtlCol="0" anchor="ctr"/>
            <a:lstStyle/>
            <a:p>
              <a:pPr algn="ctr" indent="0" marL="0">
                <a:buNone/>
              </a:pPr>
              <a:r>
                <a:rPr lang="en-US" sz="2000" b="1" dirty="0">
                  <a:solidFill>
                    <a:srgbClr val="123B54"/>
                  </a:solidFill>
                  <a:latin typeface="Georgia" pitchFamily="34" charset="0"/>
                  <a:ea typeface="Georgia" pitchFamily="34" charset="-122"/>
                  <a:cs typeface="Georgia" pitchFamily="34" charset="-120"/>
                </a:rPr>
                <a:t>Water</a:t>
              </a:r>
              <a:endParaRPr lang="en-US" sz="2000" dirty="0"/>
            </a:p>
          </p:txBody>
        </p:sp>
        <p:pic>
          <p:nvPicPr>
            <p:cNvPr id="9" name="sy0_speak" descr="/home/claude/build/img_atoms/speak_accent.png">    </p:cNvPr>
            <p:cNvPicPr>
              <a:picLocks noChangeAspect="1"/>
            </p:cNvPicPr>
            <p:nvPr/>
          </p:nvPicPr>
          <p:blipFill>
            <a:blip r:embed="rId2"/>
            <a:stretch>
              <a:fillRect/>
            </a:stretch>
          </p:blipFill>
          <p:spPr>
            <a:xfrm>
              <a:off x="1597114" y="4828032"/>
              <a:ext cx="402336" cy="402336"/>
            </a:xfrm>
            <a:prstGeom prst="rect">
              <a:avLst/>
            </a:prstGeom>
          </p:spPr>
        </p:pic>
      </p:grpSp>
      <p:grpSp>
        <p:nvGrpSpPr>
          <p:cNvPr id="24" name="sy1"/>
          <p:cNvGrpSpPr/>
          <p:nvPr/>
        </p:nvGrpSpPr>
        <p:grpSpPr>
          <a:xfrm>
            <a:off x="3367964" y="2980944"/>
            <a:ext cx="2590724" cy="2432304"/>
            <a:chOff x="3367964" y="2980944"/>
            <a:chExt cx="2590724" cy="2432304"/>
          </a:xfrm>
        </p:grpSpPr>
        <p:sp>
          <p:nvSpPr>
            <p:cNvPr id="10" name="sy1_bg"/>
            <p:cNvSpPr/>
            <p:nvPr/>
          </p:nvSpPr>
          <p:spPr>
            <a:xfrm>
              <a:off x="3367964" y="2980944"/>
              <a:ext cx="2590724" cy="2432304"/>
            </a:xfrm>
            <a:prstGeom prst="roundRect">
              <a:avLst>
                <a:gd name="adj" fmla="val 5263"/>
              </a:avLst>
            </a:prstGeom>
            <a:solidFill>
              <a:srgbClr val="FFFFFF"/>
            </a:solidFill>
            <a:ln w="15875">
              <a:solidFill>
                <a:srgbClr val="D3E3EB"/>
              </a:solidFill>
              <a:prstDash val="solid"/>
            </a:ln>
          </p:spPr>
        </p:sp>
        <p:pic>
          <p:nvPicPr>
            <p:cNvPr id="11" name="sy1_icon" descr="/home/claude/build/img_atoms/apple_support.png">    </p:cNvPr>
            <p:cNvPicPr>
              <a:picLocks noChangeAspect="1"/>
            </p:cNvPicPr>
            <p:nvPr/>
          </p:nvPicPr>
          <p:blipFill>
            <a:blip r:embed="rId3"/>
            <a:stretch>
              <a:fillRect/>
            </a:stretch>
          </p:blipFill>
          <p:spPr>
            <a:xfrm>
              <a:off x="4183266" y="3236976"/>
              <a:ext cx="960120" cy="960120"/>
            </a:xfrm>
            <a:prstGeom prst="rect">
              <a:avLst/>
            </a:prstGeom>
          </p:spPr>
        </p:pic>
        <p:sp>
          <p:nvSpPr>
            <p:cNvPr id="12" name="sy1_t"/>
            <p:cNvSpPr txBox="1"/>
            <p:nvPr/>
          </p:nvSpPr>
          <p:spPr>
            <a:xfrm>
              <a:off x="3477692" y="4315968"/>
              <a:ext cx="2371268" cy="420624"/>
            </a:xfrm>
            <a:prstGeom prst="rect">
              <a:avLst/>
            </a:prstGeom>
            <a:noFill/>
            <a:ln/>
          </p:spPr>
          <p:txBody>
            <a:bodyPr wrap="square" lIns="0" tIns="0" rIns="0" bIns="0" rtlCol="0" anchor="ctr"/>
            <a:lstStyle/>
            <a:p>
              <a:pPr algn="ctr" indent="0" marL="0">
                <a:buNone/>
              </a:pPr>
              <a:r>
                <a:rPr lang="en-US" sz="2000" b="1" dirty="0">
                  <a:solidFill>
                    <a:srgbClr val="123B54"/>
                  </a:solidFill>
                  <a:latin typeface="Georgia" pitchFamily="34" charset="0"/>
                  <a:ea typeface="Georgia" pitchFamily="34" charset="-122"/>
                  <a:cs typeface="Georgia" pitchFamily="34" charset="-120"/>
                </a:rPr>
                <a:t>An apple</a:t>
              </a:r>
              <a:endParaRPr lang="en-US" sz="2000" dirty="0"/>
            </a:p>
          </p:txBody>
        </p:sp>
        <p:pic>
          <p:nvPicPr>
            <p:cNvPr id="13" name="sy1_speak" descr="/home/claude/build/img_atoms/speak_accent.png">    </p:cNvPr>
            <p:cNvPicPr>
              <a:picLocks noChangeAspect="1"/>
            </p:cNvPicPr>
            <p:nvPr/>
          </p:nvPicPr>
          <p:blipFill>
            <a:blip r:embed="rId4"/>
            <a:stretch>
              <a:fillRect/>
            </a:stretch>
          </p:blipFill>
          <p:spPr>
            <a:xfrm>
              <a:off x="4462158" y="4828032"/>
              <a:ext cx="402336" cy="402336"/>
            </a:xfrm>
            <a:prstGeom prst="rect">
              <a:avLst/>
            </a:prstGeom>
          </p:spPr>
        </p:pic>
      </p:grpSp>
      <p:grpSp>
        <p:nvGrpSpPr>
          <p:cNvPr id="25" name="sy2"/>
          <p:cNvGrpSpPr/>
          <p:nvPr/>
        </p:nvGrpSpPr>
        <p:grpSpPr>
          <a:xfrm>
            <a:off x="6233008" y="2980944"/>
            <a:ext cx="2590724" cy="2432304"/>
            <a:chOff x="6233008" y="2980944"/>
            <a:chExt cx="2590724" cy="2432304"/>
          </a:xfrm>
        </p:grpSpPr>
        <p:sp>
          <p:nvSpPr>
            <p:cNvPr id="14" name="sy2_bg"/>
            <p:cNvSpPr/>
            <p:nvPr/>
          </p:nvSpPr>
          <p:spPr>
            <a:xfrm>
              <a:off x="6233008" y="2980944"/>
              <a:ext cx="2590724" cy="2432304"/>
            </a:xfrm>
            <a:prstGeom prst="roundRect">
              <a:avLst>
                <a:gd name="adj" fmla="val 5263"/>
              </a:avLst>
            </a:prstGeom>
            <a:solidFill>
              <a:srgbClr val="FFFFFF"/>
            </a:solidFill>
            <a:ln w="15875">
              <a:solidFill>
                <a:srgbClr val="D3E3EB"/>
              </a:solidFill>
              <a:prstDash val="solid"/>
            </a:ln>
          </p:spPr>
        </p:sp>
        <p:pic>
          <p:nvPicPr>
            <p:cNvPr id="15" name="sy2_icon" descr="/home/claude/build/img_atoms/air_support.png">    </p:cNvPr>
            <p:cNvPicPr>
              <a:picLocks noChangeAspect="1"/>
            </p:cNvPicPr>
            <p:nvPr/>
          </p:nvPicPr>
          <p:blipFill>
            <a:blip r:embed="rId5"/>
            <a:stretch>
              <a:fillRect/>
            </a:stretch>
          </p:blipFill>
          <p:spPr>
            <a:xfrm>
              <a:off x="7048310" y="3236976"/>
              <a:ext cx="960120" cy="960120"/>
            </a:xfrm>
            <a:prstGeom prst="rect">
              <a:avLst/>
            </a:prstGeom>
          </p:spPr>
        </p:pic>
        <p:sp>
          <p:nvSpPr>
            <p:cNvPr id="16" name="sy2_t"/>
            <p:cNvSpPr txBox="1"/>
            <p:nvPr/>
          </p:nvSpPr>
          <p:spPr>
            <a:xfrm>
              <a:off x="6342736" y="4315968"/>
              <a:ext cx="2371268" cy="420624"/>
            </a:xfrm>
            <a:prstGeom prst="rect">
              <a:avLst/>
            </a:prstGeom>
            <a:noFill/>
            <a:ln/>
          </p:spPr>
          <p:txBody>
            <a:bodyPr wrap="square" lIns="0" tIns="0" rIns="0" bIns="0" rtlCol="0" anchor="ctr"/>
            <a:lstStyle/>
            <a:p>
              <a:pPr algn="ctr" indent="0" marL="0">
                <a:buNone/>
              </a:pPr>
              <a:r>
                <a:rPr lang="en-US" sz="2000" b="1" dirty="0">
                  <a:solidFill>
                    <a:srgbClr val="123B54"/>
                  </a:solidFill>
                  <a:latin typeface="Georgia" pitchFamily="34" charset="0"/>
                  <a:ea typeface="Georgia" pitchFamily="34" charset="-122"/>
                  <a:cs typeface="Georgia" pitchFamily="34" charset="-120"/>
                </a:rPr>
                <a:t>Air</a:t>
              </a:r>
              <a:endParaRPr lang="en-US" sz="2000" dirty="0"/>
            </a:p>
          </p:txBody>
        </p:sp>
        <p:pic>
          <p:nvPicPr>
            <p:cNvPr id="17" name="sy2_speak" descr="/home/claude/build/img_atoms/speak_accent.png">    </p:cNvPr>
            <p:cNvPicPr>
              <a:picLocks noChangeAspect="1"/>
            </p:cNvPicPr>
            <p:nvPr/>
          </p:nvPicPr>
          <p:blipFill>
            <a:blip r:embed="rId6"/>
            <a:stretch>
              <a:fillRect/>
            </a:stretch>
          </p:blipFill>
          <p:spPr>
            <a:xfrm>
              <a:off x="7327201" y="4828032"/>
              <a:ext cx="402336" cy="402336"/>
            </a:xfrm>
            <a:prstGeom prst="rect">
              <a:avLst/>
            </a:prstGeom>
          </p:spPr>
        </p:pic>
      </p:grpSp>
      <p:grpSp>
        <p:nvGrpSpPr>
          <p:cNvPr id="26" name="sy3"/>
          <p:cNvGrpSpPr/>
          <p:nvPr/>
        </p:nvGrpSpPr>
        <p:grpSpPr>
          <a:xfrm>
            <a:off x="9098051" y="2980944"/>
            <a:ext cx="2590724" cy="2432304"/>
            <a:chOff x="9098051" y="2980944"/>
            <a:chExt cx="2590724" cy="2432304"/>
          </a:xfrm>
        </p:grpSpPr>
        <p:sp>
          <p:nvSpPr>
            <p:cNvPr id="18" name="sy3_bg"/>
            <p:cNvSpPr/>
            <p:nvPr/>
          </p:nvSpPr>
          <p:spPr>
            <a:xfrm>
              <a:off x="9098051" y="2980944"/>
              <a:ext cx="2590724" cy="2432304"/>
            </a:xfrm>
            <a:prstGeom prst="roundRect">
              <a:avLst>
                <a:gd name="adj" fmla="val 5263"/>
              </a:avLst>
            </a:prstGeom>
            <a:solidFill>
              <a:srgbClr val="FFFFFF"/>
            </a:solidFill>
            <a:ln w="15875">
              <a:solidFill>
                <a:srgbClr val="D3E3EB"/>
              </a:solidFill>
              <a:prstDash val="solid"/>
            </a:ln>
          </p:spPr>
        </p:sp>
        <p:pic>
          <p:nvPicPr>
            <p:cNvPr id="19" name="sy3_icon" descr="/home/claude/build/img_atoms/hand_support.png">    </p:cNvPr>
            <p:cNvPicPr>
              <a:picLocks noChangeAspect="1"/>
            </p:cNvPicPr>
            <p:nvPr/>
          </p:nvPicPr>
          <p:blipFill>
            <a:blip r:embed="rId7"/>
            <a:stretch>
              <a:fillRect/>
            </a:stretch>
          </p:blipFill>
          <p:spPr>
            <a:xfrm>
              <a:off x="9913353" y="3236976"/>
              <a:ext cx="960120" cy="960120"/>
            </a:xfrm>
            <a:prstGeom prst="rect">
              <a:avLst/>
            </a:prstGeom>
          </p:spPr>
        </p:pic>
        <p:sp>
          <p:nvSpPr>
            <p:cNvPr id="20" name="sy3_t"/>
            <p:cNvSpPr txBox="1"/>
            <p:nvPr/>
          </p:nvSpPr>
          <p:spPr>
            <a:xfrm>
              <a:off x="9207779" y="4315968"/>
              <a:ext cx="2371268" cy="420624"/>
            </a:xfrm>
            <a:prstGeom prst="rect">
              <a:avLst/>
            </a:prstGeom>
            <a:noFill/>
            <a:ln/>
          </p:spPr>
          <p:txBody>
            <a:bodyPr wrap="square" lIns="0" tIns="0" rIns="0" bIns="0" rtlCol="0" anchor="ctr"/>
            <a:lstStyle/>
            <a:p>
              <a:pPr algn="ctr" indent="0" marL="0">
                <a:buNone/>
              </a:pPr>
              <a:r>
                <a:rPr lang="en-US" sz="2000" b="1" dirty="0">
                  <a:solidFill>
                    <a:srgbClr val="123B54"/>
                  </a:solidFill>
                  <a:latin typeface="Georgia" pitchFamily="34" charset="0"/>
                  <a:ea typeface="Georgia" pitchFamily="34" charset="-122"/>
                  <a:cs typeface="Georgia" pitchFamily="34" charset="-120"/>
                </a:rPr>
                <a:t>My hand</a:t>
              </a:r>
              <a:endParaRPr lang="en-US" sz="2000" dirty="0"/>
            </a:p>
          </p:txBody>
        </p:sp>
        <p:pic>
          <p:nvPicPr>
            <p:cNvPr id="21" name="sy3_speak" descr="/home/claude/build/img_atoms/speak_accent.png">    </p:cNvPr>
            <p:cNvPicPr>
              <a:picLocks noChangeAspect="1"/>
            </p:cNvPicPr>
            <p:nvPr/>
          </p:nvPicPr>
          <p:blipFill>
            <a:blip r:embed="rId8"/>
            <a:stretch>
              <a:fillRect/>
            </a:stretch>
          </p:blipFill>
          <p:spPr>
            <a:xfrm>
              <a:off x="10192245" y="4828032"/>
              <a:ext cx="402336" cy="402336"/>
            </a:xfrm>
            <a:prstGeom prst="rect">
              <a:avLst/>
            </a:prstGeom>
          </p:spPr>
        </p:pic>
      </p:gr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22"/>
                                        </p:tgtEl>
                                        <p:attrNameLst>
                                          <p:attrName>style.visibility</p:attrName>
                                        </p:attrNameLst>
                                      </p:cBhvr>
                                      <p:to>
                                        <p:strVal val="visible"/>
                                      </p:to>
                                    </p:set>
                                    <p:animEffect transition="in" filter="fade">
                                      <p:cBhvr>
                                        <p:cTn id="4" dur="400"/>
                                        <p:tgtEl>
                                          <p:spTgt spid="22"/>
                                        </p:tgtEl>
                                      </p:cBhvr>
                                    </p:animEffect>
                                    <p:animScale>
                                      <p:cBhvr>
                                        <p:cTn id="5" dur="400" fill="hold"/>
                                        <p:tgtEl>
                                          <p:spTgt spid="22"/>
                                        </p:tgtEl>
                                      </p:cBhvr>
                                      <p:from x="0" y="0"/>
                                      <p:to x="100000" y="100000"/>
                                    </p:animScale>
                                  </p:childTnLst>
                                </p:cTn>
                              </p:par>
                            </p:childTnLst>
                          </p:cTn>
                        </p:par>
                      </p:childTnLst>
                    </p:cTn>
                  </p:par>
                  <p:par>
                    <p:cTn id="13" fill="hold">
                      <p:stCondLst>
                        <p:cond delay="indefinite"/>
                      </p:stCondLst>
                      <p:childTnLst>
                        <p:par>
                          <p:cTn id="14" fill="hold">
                            <p:stCondLst>
                              <p:cond delay="0"/>
                            </p:stCondLst>
                            <p:childTnLst>
                              <p:par>
                                <p:cTn id="12" presetID="23" presetClass="entr" presetSubtype="16" fill="hold" grpId="0" nodeType="click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400"/>
                                        <p:tgtEl>
                                          <p:spTgt spid="23"/>
                                        </p:tgtEl>
                                      </p:cBhvr>
                                    </p:animEffect>
                                    <p:animScale>
                                      <p:cBhvr>
                                        <p:cTn id="11" dur="400" fill="hold"/>
                                        <p:tgtEl>
                                          <p:spTgt spid="23"/>
                                        </p:tgtEl>
                                      </p:cBhvr>
                                      <p:from x="0" y="0"/>
                                      <p:to x="100000" y="100000"/>
                                    </p:animScale>
                                  </p:childTnLst>
                                </p:cTn>
                              </p:par>
                            </p:childTnLst>
                          </p:cTn>
                        </p:par>
                      </p:childTnLst>
                    </p:cTn>
                  </p:par>
                  <p:par>
                    <p:cTn id="19" fill="hold">
                      <p:stCondLst>
                        <p:cond delay="indefinite"/>
                      </p:stCondLst>
                      <p:childTnLst>
                        <p:par>
                          <p:cTn id="20" fill="hold">
                            <p:stCondLst>
                              <p:cond delay="0"/>
                            </p:stCondLst>
                            <p:childTnLst>
                              <p:par>
                                <p:cTn id="18" presetID="23" presetClass="entr" presetSubtype="16" fill="hold" grpId="0" nodeType="click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400"/>
                                        <p:tgtEl>
                                          <p:spTgt spid="24"/>
                                        </p:tgtEl>
                                      </p:cBhvr>
                                    </p:animEffect>
                                    <p:animScale>
                                      <p:cBhvr>
                                        <p:cTn id="17" dur="400" fill="hold"/>
                                        <p:tgtEl>
                                          <p:spTgt spid="24"/>
                                        </p:tgtEl>
                                      </p:cBhvr>
                                      <p:from x="0" y="0"/>
                                      <p:to x="100000" y="100000"/>
                                    </p:animScale>
                                  </p:childTnLst>
                                </p:cTn>
                              </p:par>
                            </p:childTnLst>
                          </p:cTn>
                        </p:par>
                      </p:childTnLst>
                    </p:cTn>
                  </p:par>
                  <p:par>
                    <p:cTn id="25" fill="hold">
                      <p:stCondLst>
                        <p:cond delay="indefinite"/>
                      </p:stCondLst>
                      <p:childTnLst>
                        <p:par>
                          <p:cTn id="26" fill="hold">
                            <p:stCondLst>
                              <p:cond delay="0"/>
                            </p:stCondLst>
                            <p:childTnLst>
                              <p:par>
                                <p:cTn id="24" presetID="23" presetClass="entr" presetSubtype="16"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animScale>
                                      <p:cBhvr>
                                        <p:cTn id="23" dur="400" fill="hold"/>
                                        <p:tgtEl>
                                          <p:spTgt spid="25"/>
                                        </p:tgtEl>
                                      </p:cBhvr>
                                      <p:from x="0" y="0"/>
                                      <p:to x="100000" y="100000"/>
                                    </p:animScale>
                                  </p:childTnLst>
                                </p:cTn>
                              </p:par>
                            </p:childTnLst>
                          </p:cTn>
                        </p:par>
                      </p:childTnLst>
                    </p:cTn>
                  </p:par>
                  <p:par>
                    <p:cTn id="31" fill="hold">
                      <p:stCondLst>
                        <p:cond delay="indefinite"/>
                      </p:stCondLst>
                      <p:childTnLst>
                        <p:par>
                          <p:cTn id="32" fill="hold">
                            <p:stCondLst>
                              <p:cond delay="0"/>
                            </p:stCondLst>
                            <p:childTnLst>
                              <p:par>
                                <p:cTn id="30" presetID="23" presetClass="entr" presetSubtype="16"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400"/>
                                        <p:tgtEl>
                                          <p:spTgt spid="26"/>
                                        </p:tgtEl>
                                      </p:cBhvr>
                                    </p:animEffect>
                                    <p:animScale>
                                      <p:cBhvr>
                                        <p:cTn id="29" dur="400" fill="hold"/>
                                        <p:tgtEl>
                                          <p:spTgt spid="26"/>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123B54"/>
          </a:solidFill>
          <a:ln/>
        </p:spPr>
        <p:txBody>
          <a:bodyPr wrap="square" lIns="0" tIns="0" rIns="0" bIns="0" rtlCol="0" anchor="ctr"/>
          <a:lstStyle/>
          <a:p>
            <a:pPr algn="ctr" indent="0" marL="0">
              <a:buNone/>
            </a:pPr>
            <a:r>
              <a:rPr lang="en-US" sz="1100" b="1" spc="110" kern="0" dirty="0">
                <a:solidFill>
                  <a:srgbClr val="F4F8FA"/>
                </a:solidFill>
                <a:latin typeface="Arial" pitchFamily="34" charset="0"/>
                <a:ea typeface="Arial" pitchFamily="34" charset="-122"/>
                <a:cs typeface="Arial" pitchFamily="34" charset="-120"/>
              </a:rPr>
              <a:t>LOOK · 5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123B54"/>
                </a:solidFill>
                <a:latin typeface="Georgia" pitchFamily="34" charset="0"/>
                <a:ea typeface="Georgia" pitchFamily="34" charset="-122"/>
                <a:cs typeface="Georgia" pitchFamily="34" charset="-120"/>
              </a:rPr>
              <a:t>How tiny is an atom?</a:t>
            </a:r>
            <a:endParaRPr lang="en-US" sz="3000" dirty="0"/>
          </a:p>
        </p:txBody>
      </p:sp>
      <p:grpSp>
        <p:nvGrpSpPr>
          <p:cNvPr id="16" name="ht_hairline"/>
          <p:cNvGrpSpPr/>
          <p:nvPr/>
        </p:nvGrpSpPr>
        <p:grpSpPr>
          <a:xfrm>
            <a:off x="777240" y="2359152"/>
            <a:ext cx="5943600" cy="1371600"/>
            <a:chOff x="777240" y="2359152"/>
            <a:chExt cx="5943600" cy="1371600"/>
          </a:xfrm>
        </p:grpSpPr>
        <p:pic>
          <p:nvPicPr>
            <p:cNvPr id="4" name="ht_ruler" descr="/home/claude/build/img_atoms/ruler_support.png">    </p:cNvPr>
            <p:cNvPicPr>
              <a:picLocks noChangeAspect="1"/>
            </p:cNvPicPr>
            <p:nvPr/>
          </p:nvPicPr>
          <p:blipFill>
            <a:blip r:embed="rId1"/>
            <a:stretch>
              <a:fillRect/>
            </a:stretch>
          </p:blipFill>
          <p:spPr>
            <a:xfrm>
              <a:off x="777240" y="2359152"/>
              <a:ext cx="1371600" cy="1371600"/>
            </a:xfrm>
            <a:prstGeom prst="rect">
              <a:avLst/>
            </a:prstGeom>
          </p:spPr>
        </p:pic>
        <p:sp>
          <p:nvSpPr>
            <p:cNvPr id="5" name="ht_hair"/>
            <p:cNvSpPr txBox="1"/>
            <p:nvPr/>
          </p:nvSpPr>
          <p:spPr>
            <a:xfrm>
              <a:off x="2514600" y="2359152"/>
              <a:ext cx="4206240" cy="1371600"/>
            </a:xfrm>
            <a:prstGeom prst="rect">
              <a:avLst/>
            </a:prstGeom>
            <a:noFill/>
            <a:ln/>
          </p:spPr>
          <p:txBody>
            <a:bodyPr wrap="square" lIns="0" tIns="0" rIns="0" bIns="0" rtlCol="0" anchor="ctr"/>
            <a:lstStyle/>
            <a:p>
              <a:pPr indent="0" marL="0">
                <a:lnSpc>
                  <a:spcPts val="2600"/>
                </a:lnSpc>
                <a:buNone/>
              </a:pPr>
              <a:r>
                <a:rPr lang="en-US" sz="2000" dirty="0">
                  <a:solidFill>
                    <a:srgbClr val="0E2A3B"/>
                  </a:solidFill>
                  <a:latin typeface="Arial" pitchFamily="34" charset="0"/>
                  <a:ea typeface="Arial" pitchFamily="34" charset="-122"/>
                  <a:cs typeface="Arial" pitchFamily="34" charset="-120"/>
                </a:rPr>
                <a:t>One hair is about 0.07 mm across.</a:t>
              </a:r>
              <a:endParaRPr lang="en-US" sz="2000" dirty="0"/>
            </a:p>
          </p:txBody>
        </p:sp>
      </p:grpSp>
      <p:grpSp>
        <p:nvGrpSpPr>
          <p:cNvPr id="17" name="ht_big"/>
          <p:cNvGrpSpPr/>
          <p:nvPr/>
        </p:nvGrpSpPr>
        <p:grpSpPr>
          <a:xfrm>
            <a:off x="7178040" y="2212848"/>
            <a:ext cx="4510735" cy="1664208"/>
            <a:chOff x="7178040" y="2212848"/>
            <a:chExt cx="4510735" cy="1664208"/>
          </a:xfrm>
        </p:grpSpPr>
        <p:sp>
          <p:nvSpPr>
            <p:cNvPr id="6" name="ht_big_bg"/>
            <p:cNvSpPr/>
            <p:nvPr/>
          </p:nvSpPr>
          <p:spPr>
            <a:xfrm>
              <a:off x="7178040" y="2212848"/>
              <a:ext cx="4510735" cy="1664208"/>
            </a:xfrm>
            <a:prstGeom prst="roundRect">
              <a:avLst>
                <a:gd name="adj" fmla="val 7692"/>
              </a:avLst>
            </a:prstGeom>
            <a:solidFill>
              <a:srgbClr val="FFD166"/>
            </a:solidFill>
            <a:ln w="12700">
              <a:solidFill>
                <a:srgbClr val="FFD166"/>
              </a:solidFill>
              <a:prstDash val="solid"/>
            </a:ln>
          </p:spPr>
        </p:sp>
        <p:sp>
          <p:nvSpPr>
            <p:cNvPr id="7" name="ht_big_n"/>
            <p:cNvSpPr txBox="1"/>
            <p:nvPr/>
          </p:nvSpPr>
          <p:spPr>
            <a:xfrm>
              <a:off x="7178040" y="2322576"/>
              <a:ext cx="4510735" cy="841248"/>
            </a:xfrm>
            <a:prstGeom prst="rect">
              <a:avLst/>
            </a:prstGeom>
            <a:noFill/>
            <a:ln/>
          </p:spPr>
          <p:txBody>
            <a:bodyPr wrap="square" lIns="0" tIns="0" rIns="0" bIns="0" rtlCol="0" anchor="ctr"/>
            <a:lstStyle/>
            <a:p>
              <a:pPr algn="ctr" indent="0" marL="0">
                <a:buNone/>
              </a:pPr>
              <a:r>
                <a:rPr lang="en-US" sz="4400" b="1" dirty="0">
                  <a:solidFill>
                    <a:srgbClr val="123B54"/>
                  </a:solidFill>
                  <a:latin typeface="Georgia" pitchFamily="34" charset="0"/>
                  <a:ea typeface="Georgia" pitchFamily="34" charset="-122"/>
                  <a:cs typeface="Georgia" pitchFamily="34" charset="-120"/>
                </a:rPr>
                <a:t>300 000</a:t>
              </a:r>
              <a:endParaRPr lang="en-US" sz="4400" dirty="0"/>
            </a:p>
          </p:txBody>
        </p:sp>
        <p:sp>
          <p:nvSpPr>
            <p:cNvPr id="8" name="ht_big_t"/>
            <p:cNvSpPr txBox="1"/>
            <p:nvPr/>
          </p:nvSpPr>
          <p:spPr>
            <a:xfrm>
              <a:off x="7178040" y="3145536"/>
              <a:ext cx="4510735" cy="566928"/>
            </a:xfrm>
            <a:prstGeom prst="rect">
              <a:avLst/>
            </a:prstGeom>
            <a:noFill/>
            <a:ln/>
          </p:spPr>
          <p:txBody>
            <a:bodyPr wrap="square" lIns="0" tIns="0" rIns="0" bIns="0" rtlCol="0" anchor="t"/>
            <a:lstStyle/>
            <a:p>
              <a:pPr algn="ctr" indent="0" marL="0">
                <a:buNone/>
              </a:pPr>
              <a:r>
                <a:rPr lang="en-US" sz="1600" b="1" dirty="0">
                  <a:solidFill>
                    <a:srgbClr val="123B54"/>
                  </a:solidFill>
                  <a:latin typeface="Arial" pitchFamily="34" charset="0"/>
                  <a:ea typeface="Arial" pitchFamily="34" charset="-122"/>
                  <a:cs typeface="Arial" pitchFamily="34" charset="-120"/>
                </a:rPr>
                <a:t>atoms across one hair</a:t>
              </a:r>
              <a:endParaRPr lang="en-US" sz="1600" dirty="0"/>
            </a:p>
          </p:txBody>
        </p:sp>
      </p:grpSp>
      <p:grpSp>
        <p:nvGrpSpPr>
          <p:cNvPr id="18" name="hf0"/>
          <p:cNvGrpSpPr/>
          <p:nvPr/>
        </p:nvGrpSpPr>
        <p:grpSpPr>
          <a:xfrm>
            <a:off x="502920" y="4151376"/>
            <a:ext cx="11185855" cy="676656"/>
            <a:chOff x="502920" y="4151376"/>
            <a:chExt cx="11185855" cy="676656"/>
          </a:xfrm>
        </p:grpSpPr>
        <p:sp>
          <p:nvSpPr>
            <p:cNvPr id="9" name="hf0_bg"/>
            <p:cNvSpPr/>
            <p:nvPr/>
          </p:nvSpPr>
          <p:spPr>
            <a:xfrm>
              <a:off x="502920" y="4151376"/>
              <a:ext cx="11185855" cy="676656"/>
            </a:xfrm>
            <a:prstGeom prst="roundRect">
              <a:avLst>
                <a:gd name="adj" fmla="val 18919"/>
              </a:avLst>
            </a:prstGeom>
            <a:solidFill>
              <a:srgbClr val="FFFFFF"/>
            </a:solidFill>
            <a:ln w="15875">
              <a:solidFill>
                <a:srgbClr val="D3E3EB"/>
              </a:solidFill>
              <a:prstDash val="solid"/>
            </a:ln>
          </p:spPr>
        </p:sp>
        <p:pic>
          <p:nvPicPr>
            <p:cNvPr id="10" name="hf0_icon" descr="/home/claude/build/img_atoms/eye_alert.png">    </p:cNvPr>
            <p:cNvPicPr>
              <a:picLocks noChangeAspect="1"/>
            </p:cNvPicPr>
            <p:nvPr/>
          </p:nvPicPr>
          <p:blipFill>
            <a:blip r:embed="rId2"/>
            <a:stretch>
              <a:fillRect/>
            </a:stretch>
          </p:blipFill>
          <p:spPr>
            <a:xfrm>
              <a:off x="740664" y="4288536"/>
              <a:ext cx="402336" cy="402336"/>
            </a:xfrm>
            <a:prstGeom prst="rect">
              <a:avLst/>
            </a:prstGeom>
          </p:spPr>
        </p:pic>
        <p:sp>
          <p:nvSpPr>
            <p:cNvPr id="11" name="hf0_t"/>
            <p:cNvSpPr txBox="1"/>
            <p:nvPr/>
          </p:nvSpPr>
          <p:spPr>
            <a:xfrm>
              <a:off x="1362456" y="4151376"/>
              <a:ext cx="10088575" cy="676656"/>
            </a:xfrm>
            <a:prstGeom prst="rect">
              <a:avLst/>
            </a:prstGeom>
            <a:noFill/>
            <a:ln/>
          </p:spPr>
          <p:txBody>
            <a:bodyPr wrap="square" lIns="0" tIns="0" rIns="0" bIns="0" rtlCol="0" anchor="ctr"/>
            <a:lstStyle/>
            <a:p>
              <a:pPr indent="0" marL="0">
                <a:buNone/>
              </a:pPr>
              <a:r>
                <a:rPr lang="en-US" sz="1900" dirty="0">
                  <a:solidFill>
                    <a:srgbClr val="0E2A3B"/>
                  </a:solidFill>
                  <a:latin typeface="Arial" pitchFamily="34" charset="0"/>
                  <a:ea typeface="Arial" pitchFamily="34" charset="-122"/>
                  <a:cs typeface="Arial" pitchFamily="34" charset="-120"/>
                </a:rPr>
                <a:t>You cannot see an atom with your eyes.</a:t>
              </a:r>
              <a:endParaRPr lang="en-US" sz="1900" dirty="0"/>
            </a:p>
          </p:txBody>
        </p:sp>
      </p:grpSp>
      <p:grpSp>
        <p:nvGrpSpPr>
          <p:cNvPr id="19" name="hf1"/>
          <p:cNvGrpSpPr/>
          <p:nvPr/>
        </p:nvGrpSpPr>
        <p:grpSpPr>
          <a:xfrm>
            <a:off x="502920" y="4974336"/>
            <a:ext cx="11185855" cy="676656"/>
            <a:chOff x="502920" y="4974336"/>
            <a:chExt cx="11185855" cy="676656"/>
          </a:xfrm>
        </p:grpSpPr>
        <p:sp>
          <p:nvSpPr>
            <p:cNvPr id="12" name="hf1_bg"/>
            <p:cNvSpPr/>
            <p:nvPr/>
          </p:nvSpPr>
          <p:spPr>
            <a:xfrm>
              <a:off x="502920" y="4974336"/>
              <a:ext cx="11185855" cy="676656"/>
            </a:xfrm>
            <a:prstGeom prst="roundRect">
              <a:avLst>
                <a:gd name="adj" fmla="val 18919"/>
              </a:avLst>
            </a:prstGeom>
            <a:solidFill>
              <a:srgbClr val="FFFFFF"/>
            </a:solidFill>
            <a:ln w="15875">
              <a:solidFill>
                <a:srgbClr val="D3E3EB"/>
              </a:solidFill>
              <a:prstDash val="solid"/>
            </a:ln>
          </p:spPr>
        </p:sp>
        <p:pic>
          <p:nvPicPr>
            <p:cNvPr id="13" name="hf1_icon" descr="/home/claude/build/img_atoms/zoom_alert.png">    </p:cNvPr>
            <p:cNvPicPr>
              <a:picLocks noChangeAspect="1"/>
            </p:cNvPicPr>
            <p:nvPr/>
          </p:nvPicPr>
          <p:blipFill>
            <a:blip r:embed="rId3"/>
            <a:stretch>
              <a:fillRect/>
            </a:stretch>
          </p:blipFill>
          <p:spPr>
            <a:xfrm>
              <a:off x="740664" y="5111496"/>
              <a:ext cx="402336" cy="402336"/>
            </a:xfrm>
            <a:prstGeom prst="rect">
              <a:avLst/>
            </a:prstGeom>
          </p:spPr>
        </p:pic>
        <p:sp>
          <p:nvSpPr>
            <p:cNvPr id="14" name="hf1_t"/>
            <p:cNvSpPr txBox="1"/>
            <p:nvPr/>
          </p:nvSpPr>
          <p:spPr>
            <a:xfrm>
              <a:off x="1362456" y="4974336"/>
              <a:ext cx="10088575" cy="676656"/>
            </a:xfrm>
            <a:prstGeom prst="rect">
              <a:avLst/>
            </a:prstGeom>
            <a:noFill/>
            <a:ln/>
          </p:spPr>
          <p:txBody>
            <a:bodyPr wrap="square" lIns="0" tIns="0" rIns="0" bIns="0" rtlCol="0" anchor="ctr"/>
            <a:lstStyle/>
            <a:p>
              <a:pPr indent="0" marL="0">
                <a:buNone/>
              </a:pPr>
              <a:r>
                <a:rPr lang="en-US" sz="1900" dirty="0">
                  <a:solidFill>
                    <a:srgbClr val="0E2A3B"/>
                  </a:solidFill>
                  <a:latin typeface="Arial" pitchFamily="34" charset="0"/>
                  <a:ea typeface="Arial" pitchFamily="34" charset="-122"/>
                  <a:cs typeface="Arial" pitchFamily="34" charset="-120"/>
                </a:rPr>
                <a:t>You cannot see one with a school microscope.</a:t>
              </a:r>
              <a:endParaRPr lang="en-US" sz="1900" dirty="0"/>
            </a:p>
          </p:txBody>
        </p:sp>
      </p:grpSp>
      <p:sp>
        <p:nvSpPr>
          <p:cNvPr id="15" name="footer_note"/>
          <p:cNvSpPr txBox="1"/>
          <p:nvPr/>
        </p:nvSpPr>
        <p:spPr>
          <a:xfrm>
            <a:off x="502920" y="6382512"/>
            <a:ext cx="11185855" cy="292608"/>
          </a:xfrm>
          <a:prstGeom prst="rect">
            <a:avLst/>
          </a:prstGeom>
          <a:noFill/>
          <a:ln/>
        </p:spPr>
        <p:txBody>
          <a:bodyPr wrap="square" lIns="0" tIns="0" rIns="0" bIns="0" rtlCol="0" anchor="ctr"/>
          <a:lstStyle/>
          <a:p>
            <a:pPr algn="l" indent="0" marL="0">
              <a:buNone/>
            </a:pPr>
            <a:r>
              <a:rPr lang="en-US" sz="1050" i="1" dirty="0">
                <a:solidFill>
                  <a:srgbClr val="5B7484"/>
                </a:solidFill>
                <a:latin typeface="Arial" pitchFamily="34" charset="0"/>
                <a:ea typeface="Arial" pitchFamily="34" charset="-122"/>
                <a:cs typeface="Arial" pitchFamily="34" charset="-120"/>
              </a:rPr>
              <a:t>A hair is about 0.07 mm across. An atom is about 0.00000025 mm. 0.07 ÷ 0.00000025 ≈ 300 000.</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1" presetID="23" presetClass="entr" presetSubtype="16" fill="hold" grpId="0" nodeType="clickEffect">
                                  <p:stCondLst>
                                    <p:cond delay="0"/>
                                  </p:stCondLst>
                                  <p:childTnLst>
                                    <p:set>
                                      <p:cBhvr>
                                        <p:cTn id="8" dur="1" fill="hold">
                                          <p:stCondLst>
                                            <p:cond delay="0"/>
                                          </p:stCondLst>
                                        </p:cTn>
                                        <p:tgtEl>
                                          <p:spTgt spid="17"/>
                                        </p:tgtEl>
                                        <p:attrNameLst>
                                          <p:attrName>style.visibility</p:attrName>
                                        </p:attrNameLst>
                                      </p:cBhvr>
                                      <p:to>
                                        <p:strVal val="visible"/>
                                      </p:to>
                                    </p:set>
                                    <p:animEffect transition="in" filter="fade">
                                      <p:cBhvr>
                                        <p:cTn id="9" dur="400"/>
                                        <p:tgtEl>
                                          <p:spTgt spid="17"/>
                                        </p:tgtEl>
                                      </p:cBhvr>
                                    </p:animEffect>
                                    <p:animScale>
                                      <p:cBhvr>
                                        <p:cTn id="10" dur="400" fill="hold"/>
                                        <p:tgtEl>
                                          <p:spTgt spid="17"/>
                                        </p:tgtEl>
                                      </p:cBhvr>
                                      <p:from x="0" y="0"/>
                                      <p:to x="100000" y="100000"/>
                                    </p:animScale>
                                  </p:childTnLst>
                                </p:cTn>
                              </p:par>
                            </p:childTnLst>
                          </p:cTn>
                        </p:par>
                      </p:childTnLst>
                    </p:cTn>
                  </p:par>
                  <p:par>
                    <p:cTn id="17" fill="hold">
                      <p:stCondLst>
                        <p:cond delay="indefinite"/>
                      </p:stCondLst>
                      <p:childTnLst>
                        <p:par>
                          <p:cTn id="18" fill="hold">
                            <p:stCondLst>
                              <p:cond delay="0"/>
                            </p:stCondLst>
                            <p:childTnLst>
                              <p:par>
                                <p:cTn id="16"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1"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sp>
        <p:nvSpPr>
          <p:cNvPr id="2" name="phase_pill"/>
          <p:cNvSpPr/>
          <p:nvPr/>
        </p:nvSpPr>
        <p:spPr>
          <a:xfrm>
            <a:off x="502920" y="274320"/>
            <a:ext cx="2432304" cy="347472"/>
          </a:xfrm>
          <a:prstGeom prst="roundRect">
            <a:avLst>
              <a:gd name="adj" fmla="val 50000"/>
            </a:avLst>
          </a:prstGeom>
          <a:solidFill>
            <a:srgbClr val="123B54"/>
          </a:solidFill>
          <a:ln/>
        </p:spPr>
        <p:txBody>
          <a:bodyPr wrap="square" lIns="0" tIns="0" rIns="0" bIns="0" rtlCol="0" anchor="ctr"/>
          <a:lstStyle/>
          <a:p>
            <a:pPr algn="ctr" indent="0" marL="0">
              <a:buNone/>
            </a:pPr>
            <a:r>
              <a:rPr lang="en-US" sz="1100" b="1" spc="110" kern="0" dirty="0">
                <a:solidFill>
                  <a:srgbClr val="F4F8FA"/>
                </a:solidFill>
                <a:latin typeface="Arial" pitchFamily="34" charset="0"/>
                <a:ea typeface="Arial" pitchFamily="34" charset="-122"/>
                <a:cs typeface="Arial" pitchFamily="34" charset="-120"/>
              </a:rPr>
              <a:t>YOU DO · 8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123B54"/>
                </a:solidFill>
                <a:latin typeface="Georgia" pitchFamily="34" charset="0"/>
                <a:ea typeface="Georgia" pitchFamily="34" charset="-122"/>
                <a:cs typeface="Georgia" pitchFamily="34" charset="-120"/>
              </a:rPr>
              <a:t>Your worksheet</a:t>
            </a:r>
            <a:endParaRPr lang="en-US" sz="3000" dirty="0"/>
          </a:p>
        </p:txBody>
      </p:sp>
      <p:grpSp>
        <p:nvGrpSpPr>
          <p:cNvPr id="22" name="p0"/>
          <p:cNvGrpSpPr/>
          <p:nvPr/>
        </p:nvGrpSpPr>
        <p:grpSpPr>
          <a:xfrm>
            <a:off x="502920" y="2212848"/>
            <a:ext cx="3533546" cy="2468880"/>
            <a:chOff x="502920" y="2212848"/>
            <a:chExt cx="3533546" cy="2468880"/>
          </a:xfrm>
        </p:grpSpPr>
        <p:sp>
          <p:nvSpPr>
            <p:cNvPr id="4" name="p0_bg"/>
            <p:cNvSpPr/>
            <p:nvPr/>
          </p:nvSpPr>
          <p:spPr>
            <a:xfrm>
              <a:off x="502920" y="2212848"/>
              <a:ext cx="3533546" cy="2468880"/>
            </a:xfrm>
            <a:prstGeom prst="roundRect">
              <a:avLst>
                <a:gd name="adj" fmla="val 5185"/>
              </a:avLst>
            </a:prstGeom>
            <a:solidFill>
              <a:srgbClr val="FFFFFF"/>
            </a:solidFill>
            <a:ln w="15875">
              <a:solidFill>
                <a:srgbClr val="D3E3EB"/>
              </a:solidFill>
              <a:prstDash val="solid"/>
            </a:ln>
          </p:spPr>
        </p:sp>
        <p:pic>
          <p:nvPicPr>
            <p:cNvPr id="5" name="p0_icon" descr="/home/claude/build/img_atoms/eye_support.png">    </p:cNvPr>
            <p:cNvPicPr>
              <a:picLocks noChangeAspect="1"/>
            </p:cNvPicPr>
            <p:nvPr/>
          </p:nvPicPr>
          <p:blipFill>
            <a:blip r:embed="rId1"/>
            <a:stretch>
              <a:fillRect/>
            </a:stretch>
          </p:blipFill>
          <p:spPr>
            <a:xfrm>
              <a:off x="722376" y="2450592"/>
              <a:ext cx="731520" cy="731520"/>
            </a:xfrm>
            <a:prstGeom prst="rect">
              <a:avLst/>
            </a:prstGeom>
          </p:spPr>
        </p:pic>
        <p:sp>
          <p:nvSpPr>
            <p:cNvPr id="6" name="p0_l"/>
            <p:cNvSpPr txBox="1"/>
            <p:nvPr/>
          </p:nvSpPr>
          <p:spPr>
            <a:xfrm>
              <a:off x="3122066" y="2450592"/>
              <a:ext cx="694944" cy="731520"/>
            </a:xfrm>
            <a:prstGeom prst="rect">
              <a:avLst/>
            </a:prstGeom>
            <a:noFill/>
            <a:ln/>
          </p:spPr>
          <p:txBody>
            <a:bodyPr wrap="square" lIns="0" tIns="0" rIns="0" bIns="0" rtlCol="0" anchor="ctr"/>
            <a:lstStyle/>
            <a:p>
              <a:pPr algn="r" indent="0" marL="0">
                <a:buNone/>
              </a:pPr>
              <a:r>
                <a:rPr lang="en-US" sz="3200" b="1" dirty="0">
                  <a:solidFill>
                    <a:srgbClr val="FFD166"/>
                  </a:solidFill>
                  <a:latin typeface="Georgia" pitchFamily="34" charset="0"/>
                  <a:ea typeface="Georgia" pitchFamily="34" charset="-122"/>
                  <a:cs typeface="Georgia" pitchFamily="34" charset="-120"/>
                </a:rPr>
                <a:t>A</a:t>
              </a:r>
              <a:endParaRPr lang="en-US" sz="3200" dirty="0"/>
            </a:p>
          </p:txBody>
        </p:sp>
        <p:sp>
          <p:nvSpPr>
            <p:cNvPr id="7" name="p0_h"/>
            <p:cNvSpPr txBox="1"/>
            <p:nvPr/>
          </p:nvSpPr>
          <p:spPr>
            <a:xfrm>
              <a:off x="722376" y="3328416"/>
              <a:ext cx="3094634" cy="420624"/>
            </a:xfrm>
            <a:prstGeom prst="rect">
              <a:avLst/>
            </a:prstGeom>
            <a:noFill/>
            <a:ln/>
          </p:spPr>
          <p:txBody>
            <a:bodyPr wrap="square" lIns="0" tIns="0" rIns="0" bIns="0" rtlCol="0" anchor="ctr"/>
            <a:lstStyle/>
            <a:p>
              <a:pPr indent="0" marL="0">
                <a:buNone/>
              </a:pPr>
              <a:r>
                <a:rPr lang="en-US" sz="2000" b="1" dirty="0">
                  <a:solidFill>
                    <a:srgbClr val="123B54"/>
                  </a:solidFill>
                  <a:latin typeface="Georgia" pitchFamily="34" charset="0"/>
                  <a:ea typeface="Georgia" pitchFamily="34" charset="-122"/>
                  <a:cs typeface="Georgia" pitchFamily="34" charset="-120"/>
                </a:rPr>
                <a:t>Look and match.</a:t>
              </a:r>
              <a:endParaRPr lang="en-US" sz="2000" dirty="0"/>
            </a:p>
          </p:txBody>
        </p:sp>
        <p:sp>
          <p:nvSpPr>
            <p:cNvPr id="8" name="p0_b"/>
            <p:cNvSpPr txBox="1"/>
            <p:nvPr/>
          </p:nvSpPr>
          <p:spPr>
            <a:xfrm>
              <a:off x="722376" y="3785616"/>
              <a:ext cx="3094634" cy="658368"/>
            </a:xfrm>
            <a:prstGeom prst="rect">
              <a:avLst/>
            </a:prstGeom>
            <a:noFill/>
            <a:ln/>
          </p:spPr>
          <p:txBody>
            <a:bodyPr wrap="square" lIns="0" tIns="0" rIns="0" bIns="0" rtlCol="0" anchor="t"/>
            <a:lstStyle/>
            <a:p>
              <a:pPr indent="0" marL="0">
                <a:lnSpc>
                  <a:spcPts val="1900"/>
                </a:lnSpc>
                <a:buNone/>
              </a:pPr>
              <a:r>
                <a:rPr lang="en-US" sz="1500" dirty="0">
                  <a:solidFill>
                    <a:srgbClr val="5B7484"/>
                  </a:solidFill>
                  <a:latin typeface="Arial" pitchFamily="34" charset="0"/>
                  <a:ea typeface="Arial" pitchFamily="34" charset="-122"/>
                  <a:cs typeface="Arial" pitchFamily="34" charset="-120"/>
                </a:rPr>
                <a:t>Match the picture to the word.</a:t>
              </a:r>
              <a:endParaRPr lang="en-US" sz="1500" dirty="0"/>
            </a:p>
          </p:txBody>
        </p:sp>
      </p:grpSp>
      <p:grpSp>
        <p:nvGrpSpPr>
          <p:cNvPr id="23" name="p1"/>
          <p:cNvGrpSpPr/>
          <p:nvPr/>
        </p:nvGrpSpPr>
        <p:grpSpPr>
          <a:xfrm>
            <a:off x="4329074" y="2212848"/>
            <a:ext cx="3533546" cy="2468880"/>
            <a:chOff x="4329074" y="2212848"/>
            <a:chExt cx="3533546" cy="2468880"/>
          </a:xfrm>
        </p:grpSpPr>
        <p:sp>
          <p:nvSpPr>
            <p:cNvPr id="9" name="p1_bg"/>
            <p:cNvSpPr/>
            <p:nvPr/>
          </p:nvSpPr>
          <p:spPr>
            <a:xfrm>
              <a:off x="4329074" y="2212848"/>
              <a:ext cx="3533546" cy="2468880"/>
            </a:xfrm>
            <a:prstGeom prst="roundRect">
              <a:avLst>
                <a:gd name="adj" fmla="val 5185"/>
              </a:avLst>
            </a:prstGeom>
            <a:solidFill>
              <a:srgbClr val="FFFFFF"/>
            </a:solidFill>
            <a:ln w="15875">
              <a:solidFill>
                <a:srgbClr val="D3E3EB"/>
              </a:solidFill>
              <a:prstDash val="solid"/>
            </a:ln>
          </p:spPr>
        </p:sp>
        <p:pic>
          <p:nvPicPr>
            <p:cNvPr id="10" name="p1_icon" descr="/home/claude/build/img_atoms/pencil_support.png">    </p:cNvPr>
            <p:cNvPicPr>
              <a:picLocks noChangeAspect="1"/>
            </p:cNvPicPr>
            <p:nvPr/>
          </p:nvPicPr>
          <p:blipFill>
            <a:blip r:embed="rId2"/>
            <a:stretch>
              <a:fillRect/>
            </a:stretch>
          </p:blipFill>
          <p:spPr>
            <a:xfrm>
              <a:off x="4548530" y="2450592"/>
              <a:ext cx="731520" cy="731520"/>
            </a:xfrm>
            <a:prstGeom prst="rect">
              <a:avLst/>
            </a:prstGeom>
          </p:spPr>
        </p:pic>
        <p:sp>
          <p:nvSpPr>
            <p:cNvPr id="11" name="p1_l"/>
            <p:cNvSpPr txBox="1"/>
            <p:nvPr/>
          </p:nvSpPr>
          <p:spPr>
            <a:xfrm>
              <a:off x="6948221" y="2450592"/>
              <a:ext cx="694944" cy="731520"/>
            </a:xfrm>
            <a:prstGeom prst="rect">
              <a:avLst/>
            </a:prstGeom>
            <a:noFill/>
            <a:ln/>
          </p:spPr>
          <p:txBody>
            <a:bodyPr wrap="square" lIns="0" tIns="0" rIns="0" bIns="0" rtlCol="0" anchor="ctr"/>
            <a:lstStyle/>
            <a:p>
              <a:pPr algn="r" indent="0" marL="0">
                <a:buNone/>
              </a:pPr>
              <a:r>
                <a:rPr lang="en-US" sz="3200" b="1" dirty="0">
                  <a:solidFill>
                    <a:srgbClr val="FFD166"/>
                  </a:solidFill>
                  <a:latin typeface="Georgia" pitchFamily="34" charset="0"/>
                  <a:ea typeface="Georgia" pitchFamily="34" charset="-122"/>
                  <a:cs typeface="Georgia" pitchFamily="34" charset="-120"/>
                </a:rPr>
                <a:t>B</a:t>
              </a:r>
              <a:endParaRPr lang="en-US" sz="3200" dirty="0"/>
            </a:p>
          </p:txBody>
        </p:sp>
        <p:sp>
          <p:nvSpPr>
            <p:cNvPr id="12" name="p1_h"/>
            <p:cNvSpPr txBox="1"/>
            <p:nvPr/>
          </p:nvSpPr>
          <p:spPr>
            <a:xfrm>
              <a:off x="4548530" y="3328416"/>
              <a:ext cx="3094634" cy="420624"/>
            </a:xfrm>
            <a:prstGeom prst="rect">
              <a:avLst/>
            </a:prstGeom>
            <a:noFill/>
            <a:ln/>
          </p:spPr>
          <p:txBody>
            <a:bodyPr wrap="square" lIns="0" tIns="0" rIns="0" bIns="0" rtlCol="0" anchor="ctr"/>
            <a:lstStyle/>
            <a:p>
              <a:pPr indent="0" marL="0">
                <a:buNone/>
              </a:pPr>
              <a:r>
                <a:rPr lang="en-US" sz="2000" b="1" dirty="0">
                  <a:solidFill>
                    <a:srgbClr val="123B54"/>
                  </a:solidFill>
                  <a:latin typeface="Georgia" pitchFamily="34" charset="0"/>
                  <a:ea typeface="Georgia" pitchFamily="34" charset="-122"/>
                  <a:cs typeface="Georgia" pitchFamily="34" charset="-120"/>
                </a:rPr>
                <a:t>Write the word.</a:t>
              </a:r>
              <a:endParaRPr lang="en-US" sz="2000" dirty="0"/>
            </a:p>
          </p:txBody>
        </p:sp>
        <p:sp>
          <p:nvSpPr>
            <p:cNvPr id="13" name="p1_b"/>
            <p:cNvSpPr txBox="1"/>
            <p:nvPr/>
          </p:nvSpPr>
          <p:spPr>
            <a:xfrm>
              <a:off x="4548530" y="3785616"/>
              <a:ext cx="3094634" cy="658368"/>
            </a:xfrm>
            <a:prstGeom prst="rect">
              <a:avLst/>
            </a:prstGeom>
            <a:noFill/>
            <a:ln/>
          </p:spPr>
          <p:txBody>
            <a:bodyPr wrap="square" lIns="0" tIns="0" rIns="0" bIns="0" rtlCol="0" anchor="t"/>
            <a:lstStyle/>
            <a:p>
              <a:pPr indent="0" marL="0">
                <a:lnSpc>
                  <a:spcPts val="1900"/>
                </a:lnSpc>
                <a:buNone/>
              </a:pPr>
              <a:r>
                <a:rPr lang="en-US" sz="1500" dirty="0">
                  <a:solidFill>
                    <a:srgbClr val="5B7484"/>
                  </a:solidFill>
                  <a:latin typeface="Arial" pitchFamily="34" charset="0"/>
                  <a:ea typeface="Arial" pitchFamily="34" charset="-122"/>
                  <a:cs typeface="Arial" pitchFamily="34" charset="-120"/>
                </a:rPr>
                <a:t>Copy the four new words.</a:t>
              </a:r>
              <a:endParaRPr lang="en-US" sz="1500" dirty="0"/>
            </a:p>
          </p:txBody>
        </p:sp>
      </p:grpSp>
      <p:grpSp>
        <p:nvGrpSpPr>
          <p:cNvPr id="24" name="p2"/>
          <p:cNvGrpSpPr/>
          <p:nvPr/>
        </p:nvGrpSpPr>
        <p:grpSpPr>
          <a:xfrm>
            <a:off x="8155229" y="2212848"/>
            <a:ext cx="3533546" cy="2468880"/>
            <a:chOff x="8155229" y="2212848"/>
            <a:chExt cx="3533546" cy="2468880"/>
          </a:xfrm>
        </p:grpSpPr>
        <p:sp>
          <p:nvSpPr>
            <p:cNvPr id="14" name="p2_bg"/>
            <p:cNvSpPr/>
            <p:nvPr/>
          </p:nvSpPr>
          <p:spPr>
            <a:xfrm>
              <a:off x="8155229" y="2212848"/>
              <a:ext cx="3533546" cy="2468880"/>
            </a:xfrm>
            <a:prstGeom prst="roundRect">
              <a:avLst>
                <a:gd name="adj" fmla="val 5185"/>
              </a:avLst>
            </a:prstGeom>
            <a:solidFill>
              <a:srgbClr val="FFFFFF"/>
            </a:solidFill>
            <a:ln w="15875">
              <a:solidFill>
                <a:srgbClr val="D3E3EB"/>
              </a:solidFill>
              <a:prstDash val="solid"/>
            </a:ln>
          </p:spPr>
        </p:sp>
        <p:pic>
          <p:nvPicPr>
            <p:cNvPr id="15" name="p2_icon" descr="/home/claude/build/img_atoms/speak_support.png">    </p:cNvPr>
            <p:cNvPicPr>
              <a:picLocks noChangeAspect="1"/>
            </p:cNvPicPr>
            <p:nvPr/>
          </p:nvPicPr>
          <p:blipFill>
            <a:blip r:embed="rId3"/>
            <a:stretch>
              <a:fillRect/>
            </a:stretch>
          </p:blipFill>
          <p:spPr>
            <a:xfrm>
              <a:off x="8374685" y="2450592"/>
              <a:ext cx="731520" cy="731520"/>
            </a:xfrm>
            <a:prstGeom prst="rect">
              <a:avLst/>
            </a:prstGeom>
          </p:spPr>
        </p:pic>
        <p:sp>
          <p:nvSpPr>
            <p:cNvPr id="16" name="p2_l"/>
            <p:cNvSpPr txBox="1"/>
            <p:nvPr/>
          </p:nvSpPr>
          <p:spPr>
            <a:xfrm>
              <a:off x="10774375" y="2450592"/>
              <a:ext cx="694944" cy="731520"/>
            </a:xfrm>
            <a:prstGeom prst="rect">
              <a:avLst/>
            </a:prstGeom>
            <a:noFill/>
            <a:ln/>
          </p:spPr>
          <p:txBody>
            <a:bodyPr wrap="square" lIns="0" tIns="0" rIns="0" bIns="0" rtlCol="0" anchor="ctr"/>
            <a:lstStyle/>
            <a:p>
              <a:pPr algn="r" indent="0" marL="0">
                <a:buNone/>
              </a:pPr>
              <a:r>
                <a:rPr lang="en-US" sz="3200" b="1" dirty="0">
                  <a:solidFill>
                    <a:srgbClr val="FFD166"/>
                  </a:solidFill>
                  <a:latin typeface="Georgia" pitchFamily="34" charset="0"/>
                  <a:ea typeface="Georgia" pitchFamily="34" charset="-122"/>
                  <a:cs typeface="Georgia" pitchFamily="34" charset="-120"/>
                </a:rPr>
                <a:t>C</a:t>
              </a:r>
              <a:endParaRPr lang="en-US" sz="3200" dirty="0"/>
            </a:p>
          </p:txBody>
        </p:sp>
        <p:sp>
          <p:nvSpPr>
            <p:cNvPr id="17" name="p2_h"/>
            <p:cNvSpPr txBox="1"/>
            <p:nvPr/>
          </p:nvSpPr>
          <p:spPr>
            <a:xfrm>
              <a:off x="8374685" y="3328416"/>
              <a:ext cx="3094634" cy="420624"/>
            </a:xfrm>
            <a:prstGeom prst="rect">
              <a:avLst/>
            </a:prstGeom>
            <a:noFill/>
            <a:ln/>
          </p:spPr>
          <p:txBody>
            <a:bodyPr wrap="square" lIns="0" tIns="0" rIns="0" bIns="0" rtlCol="0" anchor="ctr"/>
            <a:lstStyle/>
            <a:p>
              <a:pPr indent="0" marL="0">
                <a:buNone/>
              </a:pPr>
              <a:r>
                <a:rPr lang="en-US" sz="2000" b="1" dirty="0">
                  <a:solidFill>
                    <a:srgbClr val="123B54"/>
                  </a:solidFill>
                  <a:latin typeface="Georgia" pitchFamily="34" charset="0"/>
                  <a:ea typeface="Georgia" pitchFamily="34" charset="-122"/>
                  <a:cs typeface="Georgia" pitchFamily="34" charset="-120"/>
                </a:rPr>
                <a:t>Write the sentence.</a:t>
              </a:r>
              <a:endParaRPr lang="en-US" sz="2000" dirty="0"/>
            </a:p>
          </p:txBody>
        </p:sp>
        <p:sp>
          <p:nvSpPr>
            <p:cNvPr id="18" name="p2_b"/>
            <p:cNvSpPr txBox="1"/>
            <p:nvPr/>
          </p:nvSpPr>
          <p:spPr>
            <a:xfrm>
              <a:off x="8374685" y="3785616"/>
              <a:ext cx="3094634" cy="658368"/>
            </a:xfrm>
            <a:prstGeom prst="rect">
              <a:avLst/>
            </a:prstGeom>
            <a:noFill/>
            <a:ln/>
          </p:spPr>
          <p:txBody>
            <a:bodyPr wrap="square" lIns="0" tIns="0" rIns="0" bIns="0" rtlCol="0" anchor="t"/>
            <a:lstStyle/>
            <a:p>
              <a:pPr indent="0" marL="0">
                <a:lnSpc>
                  <a:spcPts val="1900"/>
                </a:lnSpc>
                <a:buNone/>
              </a:pPr>
              <a:r>
                <a:rPr lang="en-US" sz="1500" dirty="0">
                  <a:solidFill>
                    <a:srgbClr val="5B7484"/>
                  </a:solidFill>
                  <a:latin typeface="Arial" pitchFamily="34" charset="0"/>
                  <a:ea typeface="Arial" pitchFamily="34" charset="-122"/>
                  <a:cs typeface="Arial" pitchFamily="34" charset="-120"/>
                </a:rPr>
                <a:t>Use: ___ is made of atoms.</a:t>
              </a:r>
              <a:endParaRPr lang="en-US" sz="1500" dirty="0"/>
            </a:p>
          </p:txBody>
        </p:sp>
      </p:grpSp>
      <p:grpSp>
        <p:nvGrpSpPr>
          <p:cNvPr id="21" name="yd_frame"/>
          <p:cNvGrpSpPr/>
          <p:nvPr/>
        </p:nvGrpSpPr>
        <p:grpSpPr>
          <a:xfrm>
            <a:off x="502920" y="4956048"/>
            <a:ext cx="11185855" cy="676656"/>
            <a:chOff x="502920" y="4956048"/>
            <a:chExt cx="11185855" cy="676656"/>
          </a:xfrm>
        </p:grpSpPr>
        <p:sp>
          <p:nvSpPr>
            <p:cNvPr id="19" name="yd_frame_bg"/>
            <p:cNvSpPr/>
            <p:nvPr/>
          </p:nvSpPr>
          <p:spPr>
            <a:xfrm>
              <a:off x="502920" y="4956048"/>
              <a:ext cx="11185855" cy="676656"/>
            </a:xfrm>
            <a:prstGeom prst="roundRect">
              <a:avLst>
                <a:gd name="adj" fmla="val 16216"/>
              </a:avLst>
            </a:prstGeom>
            <a:solidFill>
              <a:srgbClr val="123B54"/>
            </a:solidFill>
            <a:ln w="12700">
              <a:solidFill>
                <a:srgbClr val="123B54"/>
              </a:solidFill>
              <a:prstDash val="solid"/>
            </a:ln>
          </p:spPr>
        </p:sp>
        <p:sp>
          <p:nvSpPr>
            <p:cNvPr id="20" name="yd_frame_t"/>
            <p:cNvSpPr txBox="1"/>
            <p:nvPr/>
          </p:nvSpPr>
          <p:spPr>
            <a:xfrm>
              <a:off x="722376" y="4956048"/>
              <a:ext cx="10746943" cy="676656"/>
            </a:xfrm>
            <a:prstGeom prst="rect">
              <a:avLst/>
            </a:prstGeom>
            <a:noFill/>
            <a:ln/>
          </p:spPr>
          <p:txBody>
            <a:bodyPr wrap="square" lIns="0" tIns="0" rIns="0" bIns="0" rtlCol="0" anchor="ctr"/>
            <a:lstStyle/>
            <a:p>
              <a:pPr algn="ctr" indent="0" marL="0">
                <a:buNone/>
              </a:pPr>
              <a:r>
                <a:rPr lang="en-US" sz="2400" b="1" dirty="0">
                  <a:solidFill>
                    <a:srgbClr val="FFD166"/>
                  </a:solidFill>
                  <a:latin typeface="Georgia" pitchFamily="34" charset="0"/>
                  <a:ea typeface="Georgia" pitchFamily="34" charset="-122"/>
                  <a:cs typeface="Georgia" pitchFamily="34" charset="-120"/>
                </a:rPr>
                <a:t>___  is made of atoms.</a:t>
              </a:r>
              <a:endParaRPr lang="en-US" sz="24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22"/>
                                        </p:tgtEl>
                                        <p:attrNameLst>
                                          <p:attrName>style.visibility</p:attrName>
                                        </p:attrNameLst>
                                      </p:cBhvr>
                                      <p:to>
                                        <p:strVal val="visible"/>
                                      </p:to>
                                    </p:set>
                                    <p:animEffect transition="in" filter="fade">
                                      <p:cBhvr>
                                        <p:cTn id="4" dur="400"/>
                                        <p:tgtEl>
                                          <p:spTgt spid="22"/>
                                        </p:tgtEl>
                                      </p:cBhvr>
                                    </p:animEffect>
                                    <p:animScale>
                                      <p:cBhvr>
                                        <p:cTn id="5" dur="400" fill="hold"/>
                                        <p:tgtEl>
                                          <p:spTgt spid="22"/>
                                        </p:tgtEl>
                                      </p:cBhvr>
                                      <p:from x="0" y="0"/>
                                      <p:to x="100000" y="100000"/>
                                    </p:animScale>
                                  </p:childTnLst>
                                </p:cTn>
                              </p:par>
                            </p:childTnLst>
                          </p:cTn>
                        </p:par>
                      </p:childTnLst>
                    </p:cTn>
                  </p:par>
                  <p:par>
                    <p:cTn id="13" fill="hold">
                      <p:stCondLst>
                        <p:cond delay="indefinite"/>
                      </p:stCondLst>
                      <p:childTnLst>
                        <p:par>
                          <p:cTn id="14" fill="hold">
                            <p:stCondLst>
                              <p:cond delay="0"/>
                            </p:stCondLst>
                            <p:childTnLst>
                              <p:par>
                                <p:cTn id="12" presetID="23" presetClass="entr" presetSubtype="16" fill="hold" grpId="0" nodeType="click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400"/>
                                        <p:tgtEl>
                                          <p:spTgt spid="23"/>
                                        </p:tgtEl>
                                      </p:cBhvr>
                                    </p:animEffect>
                                    <p:animScale>
                                      <p:cBhvr>
                                        <p:cTn id="11" dur="400" fill="hold"/>
                                        <p:tgtEl>
                                          <p:spTgt spid="23"/>
                                        </p:tgtEl>
                                      </p:cBhvr>
                                      <p:from x="0" y="0"/>
                                      <p:to x="100000" y="100000"/>
                                    </p:animScale>
                                  </p:childTnLst>
                                </p:cTn>
                              </p:par>
                            </p:childTnLst>
                          </p:cTn>
                        </p:par>
                      </p:childTnLst>
                    </p:cTn>
                  </p:par>
                  <p:par>
                    <p:cTn id="19" fill="hold">
                      <p:stCondLst>
                        <p:cond delay="indefinite"/>
                      </p:stCondLst>
                      <p:childTnLst>
                        <p:par>
                          <p:cTn id="20" fill="hold">
                            <p:stCondLst>
                              <p:cond delay="0"/>
                            </p:stCondLst>
                            <p:childTnLst>
                              <p:par>
                                <p:cTn id="18" presetID="23" presetClass="entr" presetSubtype="16" fill="hold" grpId="0" nodeType="click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400"/>
                                        <p:tgtEl>
                                          <p:spTgt spid="24"/>
                                        </p:tgtEl>
                                      </p:cBhvr>
                                    </p:animEffect>
                                    <p:animScale>
                                      <p:cBhvr>
                                        <p:cTn id="17" dur="400" fill="hold"/>
                                        <p:tgtEl>
                                          <p:spTgt spid="24"/>
                                        </p:tgtEl>
                                      </p:cBhvr>
                                      <p:from x="0" y="0"/>
                                      <p:to x="100000" y="100000"/>
                                    </p:animScale>
                                  </p:childTnLst>
                                </p:cTn>
                              </p:par>
                            </p:childTnLst>
                          </p:cTn>
                        </p:par>
                      </p:childTnLst>
                    </p:cTn>
                  </p:par>
                  <p:par>
                    <p:cTn id="25" fill="hold">
                      <p:stCondLst>
                        <p:cond delay="indefinite"/>
                      </p:stCondLst>
                      <p:childTnLst>
                        <p:par>
                          <p:cTn id="26" fill="hold">
                            <p:stCondLst>
                              <p:cond delay="0"/>
                            </p:stCondLst>
                            <p:childTnLst>
                              <p:par>
                                <p:cTn id="24" presetID="23" presetClass="entr" presetSubtype="16"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animScale>
                                      <p:cBhvr>
                                        <p:cTn id="23" dur="400" fill="hold"/>
                                        <p:tgtEl>
                                          <p:spTgt spid="21"/>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3B54"/>
        </a:solidFill>
      </p:bgPr>
    </p:bg>
    <p:spTree>
      <p:nvGrpSpPr>
        <p:cNvPr id="1" name=""/>
        <p:cNvGrpSpPr/>
        <p:nvPr/>
      </p:nvGrpSpPr>
      <p:grpSpPr>
        <a:xfrm>
          <a:off x="0" y="0"/>
          <a:ext cx="0" cy="0"/>
          <a:chOff x="0" y="0"/>
          <a:chExt cx="0" cy="0"/>
        </a:xfrm>
      </p:grpSpPr>
      <p:sp>
        <p:nvSpPr>
          <p:cNvPr id="2" name="phase_pill"/>
          <p:cNvSpPr/>
          <p:nvPr/>
        </p:nvSpPr>
        <p:spPr>
          <a:xfrm>
            <a:off x="502920" y="274320"/>
            <a:ext cx="2724912" cy="347472"/>
          </a:xfrm>
          <a:prstGeom prst="roundRect">
            <a:avLst>
              <a:gd name="adj" fmla="val 50000"/>
            </a:avLst>
          </a:prstGeom>
          <a:solidFill>
            <a:srgbClr val="FFD166"/>
          </a:solidFill>
          <a:ln/>
        </p:spPr>
        <p:txBody>
          <a:bodyPr wrap="square" lIns="0" tIns="0" rIns="0" bIns="0" rtlCol="0" anchor="ctr"/>
          <a:lstStyle/>
          <a:p>
            <a:pPr algn="ctr" indent="0" marL="0">
              <a:buNone/>
            </a:pPr>
            <a:r>
              <a:rPr lang="en-US" sz="1100" b="1" spc="110" kern="0" dirty="0">
                <a:solidFill>
                  <a:srgbClr val="123B54"/>
                </a:solidFill>
                <a:latin typeface="Arial" pitchFamily="34" charset="0"/>
                <a:ea typeface="Arial" pitchFamily="34" charset="-122"/>
                <a:cs typeface="Arial" pitchFamily="34" charset="-120"/>
              </a:rPr>
              <a:t>TOGETHER · 3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F4F8FA"/>
                </a:solidFill>
                <a:latin typeface="Georgia" pitchFamily="34" charset="0"/>
                <a:ea typeface="Georgia" pitchFamily="34" charset="-122"/>
                <a:cs typeface="Georgia" pitchFamily="34" charset="-120"/>
              </a:rPr>
              <a:t>Say it together</a:t>
            </a:r>
            <a:endParaRPr lang="en-US" sz="3000" dirty="0"/>
          </a:p>
        </p:txBody>
      </p:sp>
      <p:pic>
        <p:nvPicPr>
          <p:cNvPr id="4" name="pl_atom" descr="/home/claude/build/img_atoms/atom_accent.png">    </p:cNvPr>
          <p:cNvPicPr>
            <a:picLocks noChangeAspect="1"/>
          </p:cNvPicPr>
          <p:nvPr/>
        </p:nvPicPr>
        <p:blipFill>
          <a:blip r:embed="rId1"/>
          <a:stretch>
            <a:fillRect/>
          </a:stretch>
        </p:blipFill>
        <p:spPr>
          <a:xfrm>
            <a:off x="10241280" y="731520"/>
            <a:ext cx="1280160" cy="1280160"/>
          </a:xfrm>
          <a:prstGeom prst="rect">
            <a:avLst/>
          </a:prstGeom>
        </p:spPr>
      </p:pic>
      <p:grpSp>
        <p:nvGrpSpPr>
          <p:cNvPr id="28" name="pl_frame"/>
          <p:cNvGrpSpPr/>
          <p:nvPr/>
        </p:nvGrpSpPr>
        <p:grpSpPr>
          <a:xfrm>
            <a:off x="502920" y="2084832"/>
            <a:ext cx="11185855" cy="969264"/>
            <a:chOff x="502920" y="2084832"/>
            <a:chExt cx="11185855" cy="969264"/>
          </a:xfrm>
        </p:grpSpPr>
        <p:sp>
          <p:nvSpPr>
            <p:cNvPr id="5" name="pl_frame_bg"/>
            <p:cNvSpPr/>
            <p:nvPr/>
          </p:nvSpPr>
          <p:spPr>
            <a:xfrm>
              <a:off x="502920" y="2084832"/>
              <a:ext cx="11185855" cy="969264"/>
            </a:xfrm>
            <a:prstGeom prst="roundRect">
              <a:avLst>
                <a:gd name="adj" fmla="val 11321"/>
              </a:avLst>
            </a:prstGeom>
            <a:solidFill>
              <a:srgbClr val="123B54"/>
            </a:solidFill>
            <a:ln w="12700">
              <a:solidFill>
                <a:srgbClr val="123B54"/>
              </a:solidFill>
              <a:prstDash val="solid"/>
            </a:ln>
          </p:spPr>
        </p:sp>
        <p:sp>
          <p:nvSpPr>
            <p:cNvPr id="6" name="pl_frame_t"/>
            <p:cNvSpPr txBox="1"/>
            <p:nvPr/>
          </p:nvSpPr>
          <p:spPr>
            <a:xfrm>
              <a:off x="722376" y="2084832"/>
              <a:ext cx="10746943" cy="969264"/>
            </a:xfrm>
            <a:prstGeom prst="rect">
              <a:avLst/>
            </a:prstGeom>
            <a:noFill/>
            <a:ln/>
          </p:spPr>
          <p:txBody>
            <a:bodyPr wrap="square" lIns="0" tIns="0" rIns="0" bIns="0" rtlCol="0" anchor="ctr"/>
            <a:lstStyle/>
            <a:p>
              <a:pPr algn="ctr" indent="0" marL="0">
                <a:buNone/>
              </a:pPr>
              <a:r>
                <a:rPr lang="en-US" sz="3200" b="1" dirty="0">
                  <a:solidFill>
                    <a:srgbClr val="FFD166"/>
                  </a:solidFill>
                  <a:latin typeface="Georgia" pitchFamily="34" charset="0"/>
                  <a:ea typeface="Georgia" pitchFamily="34" charset="-122"/>
                  <a:cs typeface="Georgia" pitchFamily="34" charset="-120"/>
                </a:rPr>
                <a:t>Everything is made of atoms.</a:t>
              </a:r>
              <a:endParaRPr lang="en-US" sz="3200" dirty="0"/>
            </a:p>
          </p:txBody>
        </p:sp>
      </p:grpSp>
      <p:grpSp>
        <p:nvGrpSpPr>
          <p:cNvPr id="29" name="pc0"/>
          <p:cNvGrpSpPr/>
          <p:nvPr/>
        </p:nvGrpSpPr>
        <p:grpSpPr>
          <a:xfrm>
            <a:off x="502920" y="3401568"/>
            <a:ext cx="2046976" cy="1883664"/>
            <a:chOff x="502920" y="3401568"/>
            <a:chExt cx="2046976" cy="1883664"/>
          </a:xfrm>
        </p:grpSpPr>
        <p:sp>
          <p:nvSpPr>
            <p:cNvPr id="7" name="pc0_bg"/>
            <p:cNvSpPr/>
            <p:nvPr/>
          </p:nvSpPr>
          <p:spPr>
            <a:xfrm>
              <a:off x="502920" y="3401568"/>
              <a:ext cx="2046976" cy="1883664"/>
            </a:xfrm>
            <a:prstGeom prst="roundRect">
              <a:avLst>
                <a:gd name="adj" fmla="val 5825"/>
              </a:avLst>
            </a:prstGeom>
            <a:solidFill>
              <a:srgbClr val="1C536F"/>
            </a:solidFill>
            <a:ln w="12700">
              <a:solidFill>
                <a:srgbClr val="2D5F7C"/>
              </a:solidFill>
              <a:prstDash val="solid"/>
            </a:ln>
          </p:spPr>
        </p:sp>
        <p:pic>
          <p:nvPicPr>
            <p:cNvPr id="8" name="pc0_icon" descr="/home/claude/build/img_atoms/water_tint.png">    </p:cNvPr>
            <p:cNvPicPr>
              <a:picLocks noChangeAspect="1"/>
            </p:cNvPicPr>
            <p:nvPr/>
          </p:nvPicPr>
          <p:blipFill>
            <a:blip r:embed="rId2"/>
            <a:stretch>
              <a:fillRect/>
            </a:stretch>
          </p:blipFill>
          <p:spPr>
            <a:xfrm>
              <a:off x="1133216" y="3639312"/>
              <a:ext cx="786384" cy="786384"/>
            </a:xfrm>
            <a:prstGeom prst="rect">
              <a:avLst/>
            </a:prstGeom>
          </p:spPr>
        </p:pic>
        <p:sp>
          <p:nvSpPr>
            <p:cNvPr id="9" name="pc0_t"/>
            <p:cNvSpPr txBox="1"/>
            <p:nvPr/>
          </p:nvSpPr>
          <p:spPr>
            <a:xfrm>
              <a:off x="594360" y="4535424"/>
              <a:ext cx="1864096" cy="384048"/>
            </a:xfrm>
            <a:prstGeom prst="rect">
              <a:avLst/>
            </a:prstGeom>
            <a:noFill/>
            <a:ln/>
          </p:spPr>
          <p:txBody>
            <a:bodyPr wrap="square" lIns="0" tIns="0" rIns="0" bIns="0" rtlCol="0" anchor="ctr"/>
            <a:lstStyle/>
            <a:p>
              <a:pPr algn="ctr" indent="0" marL="0">
                <a:buNone/>
              </a:pPr>
              <a:r>
                <a:rPr lang="en-US" sz="1700" b="1" dirty="0">
                  <a:solidFill>
                    <a:srgbClr val="F4F8FA"/>
                  </a:solidFill>
                  <a:latin typeface="Arial" pitchFamily="34" charset="0"/>
                  <a:ea typeface="Arial" pitchFamily="34" charset="-122"/>
                  <a:cs typeface="Arial" pitchFamily="34" charset="-120"/>
                </a:rPr>
                <a:t>water</a:t>
              </a:r>
              <a:endParaRPr lang="en-US" sz="1700" dirty="0"/>
            </a:p>
          </p:txBody>
        </p:sp>
      </p:grpSp>
      <p:pic>
        <p:nvPicPr>
          <p:cNvPr id="10" name="pc0_check" descr="/home/claude/build/img_atoms/check_accent.png">    </p:cNvPr>
          <p:cNvPicPr>
            <a:picLocks noChangeAspect="1"/>
          </p:cNvPicPr>
          <p:nvPr/>
        </p:nvPicPr>
        <p:blipFill>
          <a:blip r:embed="rId3"/>
          <a:stretch>
            <a:fillRect/>
          </a:stretch>
        </p:blipFill>
        <p:spPr>
          <a:xfrm>
            <a:off x="1334384" y="4919472"/>
            <a:ext cx="384048" cy="384048"/>
          </a:xfrm>
          <a:prstGeom prst="rect">
            <a:avLst/>
          </a:prstGeom>
        </p:spPr>
      </p:pic>
      <p:grpSp>
        <p:nvGrpSpPr>
          <p:cNvPr id="30" name="pc1"/>
          <p:cNvGrpSpPr/>
          <p:nvPr/>
        </p:nvGrpSpPr>
        <p:grpSpPr>
          <a:xfrm>
            <a:off x="2787640" y="3401568"/>
            <a:ext cx="2046976" cy="1883664"/>
            <a:chOff x="2787640" y="3401568"/>
            <a:chExt cx="2046976" cy="1883664"/>
          </a:xfrm>
        </p:grpSpPr>
        <p:sp>
          <p:nvSpPr>
            <p:cNvPr id="11" name="pc1_bg"/>
            <p:cNvSpPr/>
            <p:nvPr/>
          </p:nvSpPr>
          <p:spPr>
            <a:xfrm>
              <a:off x="2787640" y="3401568"/>
              <a:ext cx="2046976" cy="1883664"/>
            </a:xfrm>
            <a:prstGeom prst="roundRect">
              <a:avLst>
                <a:gd name="adj" fmla="val 5825"/>
              </a:avLst>
            </a:prstGeom>
            <a:solidFill>
              <a:srgbClr val="1C536F"/>
            </a:solidFill>
            <a:ln w="12700">
              <a:solidFill>
                <a:srgbClr val="2D5F7C"/>
              </a:solidFill>
              <a:prstDash val="solid"/>
            </a:ln>
          </p:spPr>
        </p:sp>
        <p:pic>
          <p:nvPicPr>
            <p:cNvPr id="12" name="pc1_icon" descr="/home/claude/build/img_atoms/air_tint.png">    </p:cNvPr>
            <p:cNvPicPr>
              <a:picLocks noChangeAspect="1"/>
            </p:cNvPicPr>
            <p:nvPr/>
          </p:nvPicPr>
          <p:blipFill>
            <a:blip r:embed="rId4"/>
            <a:stretch>
              <a:fillRect/>
            </a:stretch>
          </p:blipFill>
          <p:spPr>
            <a:xfrm>
              <a:off x="3417936" y="3639312"/>
              <a:ext cx="786384" cy="786384"/>
            </a:xfrm>
            <a:prstGeom prst="rect">
              <a:avLst/>
            </a:prstGeom>
          </p:spPr>
        </p:pic>
        <p:sp>
          <p:nvSpPr>
            <p:cNvPr id="13" name="pc1_t"/>
            <p:cNvSpPr txBox="1"/>
            <p:nvPr/>
          </p:nvSpPr>
          <p:spPr>
            <a:xfrm>
              <a:off x="2879080" y="4535424"/>
              <a:ext cx="1864096" cy="384048"/>
            </a:xfrm>
            <a:prstGeom prst="rect">
              <a:avLst/>
            </a:prstGeom>
            <a:noFill/>
            <a:ln/>
          </p:spPr>
          <p:txBody>
            <a:bodyPr wrap="square" lIns="0" tIns="0" rIns="0" bIns="0" rtlCol="0" anchor="ctr"/>
            <a:lstStyle/>
            <a:p>
              <a:pPr algn="ctr" indent="0" marL="0">
                <a:buNone/>
              </a:pPr>
              <a:r>
                <a:rPr lang="en-US" sz="1700" b="1" dirty="0">
                  <a:solidFill>
                    <a:srgbClr val="F4F8FA"/>
                  </a:solidFill>
                  <a:latin typeface="Arial" pitchFamily="34" charset="0"/>
                  <a:ea typeface="Arial" pitchFamily="34" charset="-122"/>
                  <a:cs typeface="Arial" pitchFamily="34" charset="-120"/>
                </a:rPr>
                <a:t>air</a:t>
              </a:r>
              <a:endParaRPr lang="en-US" sz="1700" dirty="0"/>
            </a:p>
          </p:txBody>
        </p:sp>
      </p:grpSp>
      <p:pic>
        <p:nvPicPr>
          <p:cNvPr id="14" name="pc1_check" descr="/home/claude/build/img_atoms/check_accent.png">    </p:cNvPr>
          <p:cNvPicPr>
            <a:picLocks noChangeAspect="1"/>
          </p:cNvPicPr>
          <p:nvPr/>
        </p:nvPicPr>
        <p:blipFill>
          <a:blip r:embed="rId5"/>
          <a:stretch>
            <a:fillRect/>
          </a:stretch>
        </p:blipFill>
        <p:spPr>
          <a:xfrm>
            <a:off x="3619104" y="4919472"/>
            <a:ext cx="384048" cy="384048"/>
          </a:xfrm>
          <a:prstGeom prst="rect">
            <a:avLst/>
          </a:prstGeom>
        </p:spPr>
      </p:pic>
      <p:grpSp>
        <p:nvGrpSpPr>
          <p:cNvPr id="31" name="pc2"/>
          <p:cNvGrpSpPr/>
          <p:nvPr/>
        </p:nvGrpSpPr>
        <p:grpSpPr>
          <a:xfrm>
            <a:off x="5072360" y="3401568"/>
            <a:ext cx="2046976" cy="1883664"/>
            <a:chOff x="5072360" y="3401568"/>
            <a:chExt cx="2046976" cy="1883664"/>
          </a:xfrm>
        </p:grpSpPr>
        <p:sp>
          <p:nvSpPr>
            <p:cNvPr id="15" name="pc2_bg"/>
            <p:cNvSpPr/>
            <p:nvPr/>
          </p:nvSpPr>
          <p:spPr>
            <a:xfrm>
              <a:off x="5072360" y="3401568"/>
              <a:ext cx="2046976" cy="1883664"/>
            </a:xfrm>
            <a:prstGeom prst="roundRect">
              <a:avLst>
                <a:gd name="adj" fmla="val 5825"/>
              </a:avLst>
            </a:prstGeom>
            <a:solidFill>
              <a:srgbClr val="1C536F"/>
            </a:solidFill>
            <a:ln w="12700">
              <a:solidFill>
                <a:srgbClr val="2D5F7C"/>
              </a:solidFill>
              <a:prstDash val="solid"/>
            </a:ln>
          </p:spPr>
        </p:sp>
        <p:pic>
          <p:nvPicPr>
            <p:cNvPr id="16" name="pc2_icon" descr="/home/claude/build/img_atoms/rock_tint.png">    </p:cNvPr>
            <p:cNvPicPr>
              <a:picLocks noChangeAspect="1"/>
            </p:cNvPicPr>
            <p:nvPr/>
          </p:nvPicPr>
          <p:blipFill>
            <a:blip r:embed="rId6"/>
            <a:stretch>
              <a:fillRect/>
            </a:stretch>
          </p:blipFill>
          <p:spPr>
            <a:xfrm>
              <a:off x="5702656" y="3639312"/>
              <a:ext cx="786384" cy="786384"/>
            </a:xfrm>
            <a:prstGeom prst="rect">
              <a:avLst/>
            </a:prstGeom>
          </p:spPr>
        </p:pic>
        <p:sp>
          <p:nvSpPr>
            <p:cNvPr id="17" name="pc2_t"/>
            <p:cNvSpPr txBox="1"/>
            <p:nvPr/>
          </p:nvSpPr>
          <p:spPr>
            <a:xfrm>
              <a:off x="5163800" y="4535424"/>
              <a:ext cx="1864096" cy="384048"/>
            </a:xfrm>
            <a:prstGeom prst="rect">
              <a:avLst/>
            </a:prstGeom>
            <a:noFill/>
            <a:ln/>
          </p:spPr>
          <p:txBody>
            <a:bodyPr wrap="square" lIns="0" tIns="0" rIns="0" bIns="0" rtlCol="0" anchor="ctr"/>
            <a:lstStyle/>
            <a:p>
              <a:pPr algn="ctr" indent="0" marL="0">
                <a:buNone/>
              </a:pPr>
              <a:r>
                <a:rPr lang="en-US" sz="1700" b="1" dirty="0">
                  <a:solidFill>
                    <a:srgbClr val="F4F8FA"/>
                  </a:solidFill>
                  <a:latin typeface="Arial" pitchFamily="34" charset="0"/>
                  <a:ea typeface="Arial" pitchFamily="34" charset="-122"/>
                  <a:cs typeface="Arial" pitchFamily="34" charset="-120"/>
                </a:rPr>
                <a:t>a rock</a:t>
              </a:r>
              <a:endParaRPr lang="en-US" sz="1700" dirty="0"/>
            </a:p>
          </p:txBody>
        </p:sp>
      </p:grpSp>
      <p:pic>
        <p:nvPicPr>
          <p:cNvPr id="18" name="pc2_check" descr="/home/claude/build/img_atoms/check_accent.png">    </p:cNvPr>
          <p:cNvPicPr>
            <a:picLocks noChangeAspect="1"/>
          </p:cNvPicPr>
          <p:nvPr/>
        </p:nvPicPr>
        <p:blipFill>
          <a:blip r:embed="rId7"/>
          <a:stretch>
            <a:fillRect/>
          </a:stretch>
        </p:blipFill>
        <p:spPr>
          <a:xfrm>
            <a:off x="5903824" y="4919472"/>
            <a:ext cx="384048" cy="384048"/>
          </a:xfrm>
          <a:prstGeom prst="rect">
            <a:avLst/>
          </a:prstGeom>
        </p:spPr>
      </p:pic>
      <p:grpSp>
        <p:nvGrpSpPr>
          <p:cNvPr id="32" name="pc3"/>
          <p:cNvGrpSpPr/>
          <p:nvPr/>
        </p:nvGrpSpPr>
        <p:grpSpPr>
          <a:xfrm>
            <a:off x="7357080" y="3401568"/>
            <a:ext cx="2046976" cy="1883664"/>
            <a:chOff x="7357080" y="3401568"/>
            <a:chExt cx="2046976" cy="1883664"/>
          </a:xfrm>
        </p:grpSpPr>
        <p:sp>
          <p:nvSpPr>
            <p:cNvPr id="19" name="pc3_bg"/>
            <p:cNvSpPr/>
            <p:nvPr/>
          </p:nvSpPr>
          <p:spPr>
            <a:xfrm>
              <a:off x="7357080" y="3401568"/>
              <a:ext cx="2046976" cy="1883664"/>
            </a:xfrm>
            <a:prstGeom prst="roundRect">
              <a:avLst>
                <a:gd name="adj" fmla="val 5825"/>
              </a:avLst>
            </a:prstGeom>
            <a:solidFill>
              <a:srgbClr val="1C536F"/>
            </a:solidFill>
            <a:ln w="12700">
              <a:solidFill>
                <a:srgbClr val="2D5F7C"/>
              </a:solidFill>
              <a:prstDash val="solid"/>
            </a:ln>
          </p:spPr>
        </p:sp>
        <p:pic>
          <p:nvPicPr>
            <p:cNvPr id="20" name="pc3_icon" descr="/home/claude/build/img_atoms/chair_tint.png">    </p:cNvPr>
            <p:cNvPicPr>
              <a:picLocks noChangeAspect="1"/>
            </p:cNvPicPr>
            <p:nvPr/>
          </p:nvPicPr>
          <p:blipFill>
            <a:blip r:embed="rId8"/>
            <a:stretch>
              <a:fillRect/>
            </a:stretch>
          </p:blipFill>
          <p:spPr>
            <a:xfrm>
              <a:off x="7987375" y="3639312"/>
              <a:ext cx="786384" cy="786384"/>
            </a:xfrm>
            <a:prstGeom prst="rect">
              <a:avLst/>
            </a:prstGeom>
          </p:spPr>
        </p:pic>
        <p:sp>
          <p:nvSpPr>
            <p:cNvPr id="21" name="pc3_t"/>
            <p:cNvSpPr txBox="1"/>
            <p:nvPr/>
          </p:nvSpPr>
          <p:spPr>
            <a:xfrm>
              <a:off x="7448520" y="4535424"/>
              <a:ext cx="1864096" cy="384048"/>
            </a:xfrm>
            <a:prstGeom prst="rect">
              <a:avLst/>
            </a:prstGeom>
            <a:noFill/>
            <a:ln/>
          </p:spPr>
          <p:txBody>
            <a:bodyPr wrap="square" lIns="0" tIns="0" rIns="0" bIns="0" rtlCol="0" anchor="ctr"/>
            <a:lstStyle/>
            <a:p>
              <a:pPr algn="ctr" indent="0" marL="0">
                <a:buNone/>
              </a:pPr>
              <a:r>
                <a:rPr lang="en-US" sz="1700" b="1" dirty="0">
                  <a:solidFill>
                    <a:srgbClr val="F4F8FA"/>
                  </a:solidFill>
                  <a:latin typeface="Arial" pitchFamily="34" charset="0"/>
                  <a:ea typeface="Arial" pitchFamily="34" charset="-122"/>
                  <a:cs typeface="Arial" pitchFamily="34" charset="-120"/>
                </a:rPr>
                <a:t>a chair</a:t>
              </a:r>
              <a:endParaRPr lang="en-US" sz="1700" dirty="0"/>
            </a:p>
          </p:txBody>
        </p:sp>
      </p:grpSp>
      <p:pic>
        <p:nvPicPr>
          <p:cNvPr id="22" name="pc3_check" descr="/home/claude/build/img_atoms/check_accent.png">    </p:cNvPr>
          <p:cNvPicPr>
            <a:picLocks noChangeAspect="1"/>
          </p:cNvPicPr>
          <p:nvPr/>
        </p:nvPicPr>
        <p:blipFill>
          <a:blip r:embed="rId9"/>
          <a:stretch>
            <a:fillRect/>
          </a:stretch>
        </p:blipFill>
        <p:spPr>
          <a:xfrm>
            <a:off x="8188543" y="4919472"/>
            <a:ext cx="384048" cy="384048"/>
          </a:xfrm>
          <a:prstGeom prst="rect">
            <a:avLst/>
          </a:prstGeom>
        </p:spPr>
      </p:pic>
      <p:grpSp>
        <p:nvGrpSpPr>
          <p:cNvPr id="33" name="pc4"/>
          <p:cNvGrpSpPr/>
          <p:nvPr/>
        </p:nvGrpSpPr>
        <p:grpSpPr>
          <a:xfrm>
            <a:off x="9641799" y="3401568"/>
            <a:ext cx="2046976" cy="1883664"/>
            <a:chOff x="9641799" y="3401568"/>
            <a:chExt cx="2046976" cy="1883664"/>
          </a:xfrm>
        </p:grpSpPr>
        <p:sp>
          <p:nvSpPr>
            <p:cNvPr id="23" name="pc4_bg"/>
            <p:cNvSpPr/>
            <p:nvPr/>
          </p:nvSpPr>
          <p:spPr>
            <a:xfrm>
              <a:off x="9641799" y="3401568"/>
              <a:ext cx="2046976" cy="1883664"/>
            </a:xfrm>
            <a:prstGeom prst="roundRect">
              <a:avLst>
                <a:gd name="adj" fmla="val 5825"/>
              </a:avLst>
            </a:prstGeom>
            <a:solidFill>
              <a:srgbClr val="1C536F"/>
            </a:solidFill>
            <a:ln w="12700">
              <a:solidFill>
                <a:srgbClr val="2D5F7C"/>
              </a:solidFill>
              <a:prstDash val="solid"/>
            </a:ln>
          </p:spPr>
        </p:sp>
        <p:pic>
          <p:nvPicPr>
            <p:cNvPr id="24" name="pc4_icon" descr="/home/claude/build/img_atoms/person_tint.png">    </p:cNvPr>
            <p:cNvPicPr>
              <a:picLocks noChangeAspect="1"/>
            </p:cNvPicPr>
            <p:nvPr/>
          </p:nvPicPr>
          <p:blipFill>
            <a:blip r:embed="rId10"/>
            <a:stretch>
              <a:fillRect/>
            </a:stretch>
          </p:blipFill>
          <p:spPr>
            <a:xfrm>
              <a:off x="10272095" y="3639312"/>
              <a:ext cx="786384" cy="786384"/>
            </a:xfrm>
            <a:prstGeom prst="rect">
              <a:avLst/>
            </a:prstGeom>
          </p:spPr>
        </p:pic>
        <p:sp>
          <p:nvSpPr>
            <p:cNvPr id="25" name="pc4_t"/>
            <p:cNvSpPr txBox="1"/>
            <p:nvPr/>
          </p:nvSpPr>
          <p:spPr>
            <a:xfrm>
              <a:off x="9733239" y="4535424"/>
              <a:ext cx="1864096" cy="384048"/>
            </a:xfrm>
            <a:prstGeom prst="rect">
              <a:avLst/>
            </a:prstGeom>
            <a:noFill/>
            <a:ln/>
          </p:spPr>
          <p:txBody>
            <a:bodyPr wrap="square" lIns="0" tIns="0" rIns="0" bIns="0" rtlCol="0" anchor="ctr"/>
            <a:lstStyle/>
            <a:p>
              <a:pPr algn="ctr" indent="0" marL="0">
                <a:buNone/>
              </a:pPr>
              <a:r>
                <a:rPr lang="en-US" sz="1700" b="1" dirty="0">
                  <a:solidFill>
                    <a:srgbClr val="F4F8FA"/>
                  </a:solidFill>
                  <a:latin typeface="Arial" pitchFamily="34" charset="0"/>
                  <a:ea typeface="Arial" pitchFamily="34" charset="-122"/>
                  <a:cs typeface="Arial" pitchFamily="34" charset="-120"/>
                </a:rPr>
                <a:t>me</a:t>
              </a:r>
              <a:endParaRPr lang="en-US" sz="1700" dirty="0"/>
            </a:p>
          </p:txBody>
        </p:sp>
      </p:grpSp>
      <p:pic>
        <p:nvPicPr>
          <p:cNvPr id="26" name="pc4_check" descr="/home/claude/build/img_atoms/check_accent.png">    </p:cNvPr>
          <p:cNvPicPr>
            <a:picLocks noChangeAspect="1"/>
          </p:cNvPicPr>
          <p:nvPr/>
        </p:nvPicPr>
        <p:blipFill>
          <a:blip r:embed="rId11"/>
          <a:stretch>
            <a:fillRect/>
          </a:stretch>
        </p:blipFill>
        <p:spPr>
          <a:xfrm>
            <a:off x="10473263" y="4919472"/>
            <a:ext cx="384048" cy="384048"/>
          </a:xfrm>
          <a:prstGeom prst="rect">
            <a:avLst/>
          </a:prstGeom>
        </p:spPr>
      </p:pic>
      <p:sp>
        <p:nvSpPr>
          <p:cNvPr id="27" name="pl_next"/>
          <p:cNvSpPr txBox="1"/>
          <p:nvPr/>
        </p:nvSpPr>
        <p:spPr>
          <a:xfrm>
            <a:off x="502920" y="6181344"/>
            <a:ext cx="11185855" cy="384048"/>
          </a:xfrm>
          <a:prstGeom prst="rect">
            <a:avLst/>
          </a:prstGeom>
          <a:noFill/>
          <a:ln/>
        </p:spPr>
        <p:txBody>
          <a:bodyPr wrap="square" lIns="0" tIns="0" rIns="0" bIns="0" rtlCol="0" anchor="ctr"/>
          <a:lstStyle/>
          <a:p>
            <a:pPr indent="0" marL="0">
              <a:buNone/>
            </a:pPr>
            <a:r>
              <a:rPr lang="en-US" sz="1500" b="1" dirty="0">
                <a:solidFill>
                  <a:srgbClr val="FFD166"/>
                </a:solidFill>
                <a:latin typeface="Arial" pitchFamily="34" charset="0"/>
                <a:ea typeface="Arial" pitchFamily="34" charset="-122"/>
                <a:cs typeface="Arial" pitchFamily="34" charset="-120"/>
              </a:rPr>
              <a:t>Next lesson: we draw an atom.</a:t>
            </a:r>
            <a:endParaRPr lang="en-US" sz="15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28"/>
                                        </p:tgtEl>
                                        <p:attrNameLst>
                                          <p:attrName>style.visibility</p:attrName>
                                        </p:attrNameLst>
                                      </p:cBhvr>
                                      <p:to>
                                        <p:strVal val="visible"/>
                                      </p:to>
                                    </p:set>
                                    <p:animEffect transition="in" filter="fade">
                                      <p:cBhvr>
                                        <p:cTn id="4" dur="400"/>
                                        <p:tgtEl>
                                          <p:spTgt spid="28"/>
                                        </p:tgtEl>
                                      </p:cBhvr>
                                    </p:animEffect>
                                    <p:animScale>
                                      <p:cBhvr>
                                        <p:cTn id="5" dur="400" fill="hold"/>
                                        <p:tgtEl>
                                          <p:spTgt spid="28"/>
                                        </p:tgtEl>
                                      </p:cBhvr>
                                      <p:from x="0" y="0"/>
                                      <p:to x="100000" y="100000"/>
                                    </p:animScale>
                                  </p:childTnLst>
                                </p:cTn>
                              </p:par>
                            </p:childTnLst>
                          </p:cTn>
                        </p:par>
                      </p:childTnLst>
                    </p:cTn>
                  </p:par>
                  <p:par>
                    <p:cTn id="16" fill="hold">
                      <p:stCondLst>
                        <p:cond delay="indefinite"/>
                      </p:stCondLst>
                      <p:childTnLst>
                        <p:par>
                          <p:cTn id="17" fill="hold">
                            <p:stCondLst>
                              <p:cond delay="0"/>
                            </p:stCondLst>
                            <p:childTnLst>
                              <p:par>
                                <p:cTn id="11" presetID="10" presetClass="entr" presetSubtype="0" fill="hold" grpId="0" nodeType="click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400"/>
                                        <p:tgtEl>
                                          <p:spTgt spid="29"/>
                                        </p:tgtEl>
                                      </p:cBhvr>
                                    </p:animEffect>
                                  </p:childTnLst>
                                </p:cTn>
                              </p:par>
                              <p:par>
                                <p:cTn id="15" presetID="23" presetClass="entr" presetSubtype="16" fill="hold" grpId="0" nodeType="withEffect">
                                  <p:stCondLst>
                                    <p:cond delay="15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animScale>
                                      <p:cBhvr>
                                        <p:cTn id="14" dur="400" fill="hold"/>
                                        <p:tgtEl>
                                          <p:spTgt spid="10"/>
                                        </p:tgtEl>
                                      </p:cBhvr>
                                      <p:from x="0" y="0"/>
                                      <p:to x="100000" y="100000"/>
                                    </p:animScale>
                                  </p:childTnLst>
                                </p:cTn>
                              </p:par>
                            </p:childTnLst>
                          </p:cTn>
                        </p:par>
                      </p:childTnLst>
                    </p:cTn>
                  </p:par>
                  <p:par>
                    <p:cTn id="25" fill="hold">
                      <p:stCondLst>
                        <p:cond delay="indefinite"/>
                      </p:stCondLst>
                      <p:childTnLst>
                        <p:par>
                          <p:cTn id="26"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00"/>
                                        <p:tgtEl>
                                          <p:spTgt spid="30"/>
                                        </p:tgtEl>
                                      </p:cBhvr>
                                    </p:animEffect>
                                  </p:childTnLst>
                                </p:cTn>
                              </p:par>
                              <p:par>
                                <p:cTn id="24" presetID="23" presetClass="entr" presetSubtype="16" fill="hold" grpId="0" nodeType="withEffect">
                                  <p:stCondLst>
                                    <p:cond delay="15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animScale>
                                      <p:cBhvr>
                                        <p:cTn id="23" dur="400" fill="hold"/>
                                        <p:tgtEl>
                                          <p:spTgt spid="14"/>
                                        </p:tgtEl>
                                      </p:cBhvr>
                                      <p:from x="0" y="0"/>
                                      <p:to x="100000" y="100000"/>
                                    </p:animScale>
                                  </p:childTnLst>
                                </p:cTn>
                              </p:par>
                            </p:childTnLst>
                          </p:cTn>
                        </p:par>
                      </p:childTnLst>
                    </p:cTn>
                  </p:par>
                  <p:par>
                    <p:cTn id="34" fill="hold">
                      <p:stCondLst>
                        <p:cond delay="indefinite"/>
                      </p:stCondLst>
                      <p:childTnLst>
                        <p:par>
                          <p:cTn id="35" fill="hold">
                            <p:stCondLst>
                              <p:cond delay="0"/>
                            </p:stCondLst>
                            <p:childTnLst>
                              <p:par>
                                <p:cTn id="29" presetID="10" presetClass="entr" presetSubtype="0" fill="hold" grpId="0"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400"/>
                                        <p:tgtEl>
                                          <p:spTgt spid="31"/>
                                        </p:tgtEl>
                                      </p:cBhvr>
                                    </p:animEffect>
                                  </p:childTnLst>
                                </p:cTn>
                              </p:par>
                              <p:par>
                                <p:cTn id="33" presetID="23" presetClass="entr" presetSubtype="16" fill="hold" grpId="0" nodeType="withEffect">
                                  <p:stCondLst>
                                    <p:cond delay="15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animScale>
                                      <p:cBhvr>
                                        <p:cTn id="32" dur="400" fill="hold"/>
                                        <p:tgtEl>
                                          <p:spTgt spid="18"/>
                                        </p:tgtEl>
                                      </p:cBhvr>
                                      <p:from x="0" y="0"/>
                                      <p:to x="100000" y="100000"/>
                                    </p:animScale>
                                  </p:childTnLst>
                                </p:cTn>
                              </p:par>
                            </p:childTnLst>
                          </p:cTn>
                        </p:par>
                      </p:childTnLst>
                    </p:cTn>
                  </p:par>
                  <p:par>
                    <p:cTn id="43" fill="hold">
                      <p:stCondLst>
                        <p:cond delay="indefinite"/>
                      </p:stCondLst>
                      <p:childTnLst>
                        <p:par>
                          <p:cTn id="44" fill="hold">
                            <p:stCondLst>
                              <p:cond delay="0"/>
                            </p:stCondLst>
                            <p:childTnLst>
                              <p:par>
                                <p:cTn id="38" presetID="10"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par>
                                <p:cTn id="42" presetID="23" presetClass="entr" presetSubtype="16" fill="hold" grpId="0" nodeType="withEffect">
                                  <p:stCondLst>
                                    <p:cond delay="15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400"/>
                                        <p:tgtEl>
                                          <p:spTgt spid="22"/>
                                        </p:tgtEl>
                                      </p:cBhvr>
                                    </p:animEffect>
                                    <p:animScale>
                                      <p:cBhvr>
                                        <p:cTn id="41" dur="400" fill="hold"/>
                                        <p:tgtEl>
                                          <p:spTgt spid="22"/>
                                        </p:tgtEl>
                                      </p:cBhvr>
                                      <p:from x="0" y="0"/>
                                      <p:to x="100000" y="100000"/>
                                    </p:animScale>
                                  </p:childTnLst>
                                </p:cTn>
                              </p:par>
                            </p:childTnLst>
                          </p:cTn>
                        </p:par>
                      </p:childTnLst>
                    </p:cTn>
                  </p:par>
                  <p:par>
                    <p:cTn id="52" fill="hold">
                      <p:stCondLst>
                        <p:cond delay="indefinite"/>
                      </p:stCondLst>
                      <p:childTnLst>
                        <p:par>
                          <p:cTn id="53" fill="hold">
                            <p:stCondLst>
                              <p:cond delay="0"/>
                            </p:stCondLst>
                            <p:childTnLst>
                              <p:par>
                                <p:cTn id="47" presetID="10" presetClass="entr" presetSubtype="0" fill="hold" grpId="0" nodeType="click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par>
                                <p:cTn id="51" presetID="23" presetClass="entr" presetSubtype="16" fill="hold" grpId="0" nodeType="withEffect">
                                  <p:stCondLst>
                                    <p:cond delay="15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00"/>
                                        <p:tgtEl>
                                          <p:spTgt spid="26"/>
                                        </p:tgtEl>
                                      </p:cBhvr>
                                    </p:animEffect>
                                    <p:animScale>
                                      <p:cBhvr>
                                        <p:cTn id="50" dur="400" fill="hold"/>
                                        <p:tgtEl>
                                          <p:spTgt spid="26"/>
                                        </p:tgtEl>
                                      </p:cBhvr>
                                      <p:from x="0" y="0"/>
                                      <p:to x="100000" y="100000"/>
                                    </p:animScale>
                                  </p:childTnLst>
                                </p:cTn>
                              </p:par>
                            </p:childTnLst>
                          </p:cTn>
                        </p:par>
                      </p:childTnLst>
                    </p:cTn>
                  </p:par>
                  <p:par>
                    <p:cTn id="57" fill="hold">
                      <p:stCondLst>
                        <p:cond delay="indefinite"/>
                      </p:stCondLst>
                      <p:childTnLst>
                        <p:par>
                          <p:cTn id="58" fill="hold">
                            <p:stCondLst>
                              <p:cond delay="0"/>
                            </p:stCondLst>
                            <p:childTnLst>
                              <p:par>
                                <p:cTn id="56" presetID="10"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3B54"/>
        </a:solidFill>
      </p:bgPr>
    </p:bg>
    <p:spTree>
      <p:nvGrpSpPr>
        <p:cNvPr id="1" name=""/>
        <p:cNvGrpSpPr/>
        <p:nvPr/>
      </p:nvGrpSpPr>
      <p:grpSpPr>
        <a:xfrm>
          <a:off x="0" y="0"/>
          <a:ext cx="0" cy="0"/>
          <a:chOff x="0" y="0"/>
          <a:chExt cx="0" cy="0"/>
        </a:xfrm>
      </p:grpSpPr>
      <p:sp>
        <p:nvSpPr>
          <p:cNvPr id="2"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F4F8FA"/>
                </a:solidFill>
                <a:latin typeface="Georgia" pitchFamily="34" charset="0"/>
                <a:ea typeface="Georgia" pitchFamily="34" charset="-122"/>
                <a:cs typeface="Georgia" pitchFamily="34" charset="-120"/>
              </a:rPr>
              <a:t>Credits and sources</a:t>
            </a:r>
            <a:endParaRPr lang="en-US" sz="3000" dirty="0"/>
          </a:p>
        </p:txBody>
      </p:sp>
      <p:sp>
        <p:nvSpPr>
          <p:cNvPr id="3" name="cred0_a"/>
          <p:cNvSpPr txBox="1"/>
          <p:nvPr/>
        </p:nvSpPr>
        <p:spPr>
          <a:xfrm>
            <a:off x="502920" y="1828800"/>
            <a:ext cx="5760720" cy="310896"/>
          </a:xfrm>
          <a:prstGeom prst="rect">
            <a:avLst/>
          </a:prstGeom>
          <a:noFill/>
          <a:ln/>
        </p:spPr>
        <p:txBody>
          <a:bodyPr wrap="square" lIns="0" tIns="0" rIns="0" bIns="0" rtlCol="0" anchor="ctr"/>
          <a:lstStyle/>
          <a:p>
            <a:pPr indent="0" marL="0">
              <a:buNone/>
            </a:pPr>
            <a:r>
              <a:rPr lang="en-US" sz="1150" b="1" spc="110" kern="0" dirty="0">
                <a:solidFill>
                  <a:srgbClr val="FFD166"/>
                </a:solidFill>
                <a:latin typeface="Arial" pitchFamily="34" charset="0"/>
                <a:ea typeface="Arial" pitchFamily="34" charset="-122"/>
                <a:cs typeface="Arial" pitchFamily="34" charset="-120"/>
              </a:rPr>
              <a:t>SOURCES</a:t>
            </a:r>
            <a:endParaRPr lang="en-US" sz="1150" dirty="0"/>
          </a:p>
        </p:txBody>
      </p:sp>
      <p:sp>
        <p:nvSpPr>
          <p:cNvPr id="4" name="cred1_a"/>
          <p:cNvSpPr txBox="1"/>
          <p:nvPr/>
        </p:nvSpPr>
        <p:spPr>
          <a:xfrm>
            <a:off x="502920" y="2231136"/>
            <a:ext cx="5760720" cy="310896"/>
          </a:xfrm>
          <a:prstGeom prst="rect">
            <a:avLst/>
          </a:prstGeom>
          <a:noFill/>
          <a:ln/>
        </p:spPr>
        <p:txBody>
          <a:bodyPr wrap="square" lIns="0" tIns="0" rIns="0" bIns="0" rtlCol="0" anchor="ctr"/>
          <a:lstStyle/>
          <a:p>
            <a:pPr indent="0" marL="0">
              <a:buNone/>
            </a:pPr>
            <a:r>
              <a:rPr lang="en-US" sz="1150" dirty="0">
                <a:solidFill>
                  <a:srgbClr val="F4F8FA"/>
                </a:solidFill>
                <a:latin typeface="Arial" pitchFamily="34" charset="0"/>
                <a:ea typeface="Arial" pitchFamily="34" charset="-122"/>
                <a:cs typeface="Arial" pitchFamily="34" charset="-120"/>
              </a:rPr>
              <a:t>Objectives, vocabulary and language structures</a:t>
            </a:r>
            <a:endParaRPr lang="en-US" sz="1150" dirty="0"/>
          </a:p>
        </p:txBody>
      </p:sp>
      <p:sp>
        <p:nvSpPr>
          <p:cNvPr id="5" name="cred1_b"/>
          <p:cNvSpPr txBox="1"/>
          <p:nvPr/>
        </p:nvSpPr>
        <p:spPr>
          <a:xfrm>
            <a:off x="6446520" y="2231136"/>
            <a:ext cx="5242255" cy="310896"/>
          </a:xfrm>
          <a:prstGeom prst="rect">
            <a:avLst/>
          </a:prstGeom>
          <a:noFill/>
          <a:ln/>
        </p:spPr>
        <p:txBody>
          <a:bodyPr wrap="square" lIns="0" tIns="0" rIns="0" bIns="0" rtlCol="0" anchor="ctr"/>
          <a:lstStyle/>
          <a:p>
            <a:pPr indent="0" marL="0">
              <a:buNone/>
            </a:pPr>
            <a:r>
              <a:rPr lang="en-US" sz="1050" dirty="0">
                <a:solidFill>
                  <a:srgbClr val="D3E3EB"/>
                </a:solidFill>
                <a:latin typeface="Arial" pitchFamily="34" charset="0"/>
                <a:ea typeface="Arial" pitchFamily="34" charset="-122"/>
                <a:cs typeface="Arial" pitchFamily="34" charset="-120"/>
              </a:rPr>
              <a:t>Unit 3 Atoms (5 hours) · CLIL unit plan</a:t>
            </a:r>
            <a:endParaRPr lang="en-US" sz="1050" dirty="0"/>
          </a:p>
        </p:txBody>
      </p:sp>
      <p:sp>
        <p:nvSpPr>
          <p:cNvPr id="6" name="cred2_a"/>
          <p:cNvSpPr txBox="1"/>
          <p:nvPr/>
        </p:nvSpPr>
        <p:spPr>
          <a:xfrm>
            <a:off x="502920" y="2633472"/>
            <a:ext cx="5760720" cy="310896"/>
          </a:xfrm>
          <a:prstGeom prst="rect">
            <a:avLst/>
          </a:prstGeom>
          <a:noFill/>
          <a:ln/>
        </p:spPr>
        <p:txBody>
          <a:bodyPr wrap="square" lIns="0" tIns="0" rIns="0" bIns="0" rtlCol="0" anchor="ctr"/>
          <a:lstStyle/>
          <a:p>
            <a:pPr indent="0" marL="0">
              <a:buNone/>
            </a:pPr>
            <a:r>
              <a:rPr lang="en-US" sz="1150" dirty="0">
                <a:solidFill>
                  <a:srgbClr val="F4F8FA"/>
                </a:solidFill>
                <a:latin typeface="Arial" pitchFamily="34" charset="0"/>
                <a:ea typeface="Arial" pitchFamily="34" charset="-122"/>
                <a:cs typeface="Arial" pitchFamily="34" charset="-120"/>
              </a:rPr>
              <a:t>A hair is about 0.07 mm across</a:t>
            </a:r>
            <a:endParaRPr lang="en-US" sz="1150" dirty="0"/>
          </a:p>
        </p:txBody>
      </p:sp>
      <p:sp>
        <p:nvSpPr>
          <p:cNvPr id="7" name="cred2_b"/>
          <p:cNvSpPr txBox="1"/>
          <p:nvPr/>
        </p:nvSpPr>
        <p:spPr>
          <a:xfrm>
            <a:off x="6446520" y="2633472"/>
            <a:ext cx="5242255" cy="310896"/>
          </a:xfrm>
          <a:prstGeom prst="rect">
            <a:avLst/>
          </a:prstGeom>
          <a:noFill/>
          <a:ln/>
        </p:spPr>
        <p:txBody>
          <a:bodyPr wrap="square" lIns="0" tIns="0" rIns="0" bIns="0" rtlCol="0" anchor="ctr"/>
          <a:lstStyle/>
          <a:p>
            <a:pPr indent="0" marL="0">
              <a:buNone/>
            </a:pPr>
            <a:r>
              <a:rPr lang="en-US" sz="1050" dirty="0">
                <a:solidFill>
                  <a:srgbClr val="D3E3EB"/>
                </a:solidFill>
                <a:latin typeface="Arial" pitchFamily="34" charset="0"/>
                <a:ea typeface="Arial" pitchFamily="34" charset="-122"/>
                <a:cs typeface="Arial" pitchFamily="34" charset="-120"/>
              </a:rPr>
              <a:t>Typical human hair, 0.017–0.18 mm; 0.07 mm is a middle value</a:t>
            </a:r>
            <a:endParaRPr lang="en-US" sz="1050" dirty="0"/>
          </a:p>
        </p:txBody>
      </p:sp>
      <p:sp>
        <p:nvSpPr>
          <p:cNvPr id="8" name="cred3_a"/>
          <p:cNvSpPr txBox="1"/>
          <p:nvPr/>
        </p:nvSpPr>
        <p:spPr>
          <a:xfrm>
            <a:off x="502920" y="3035808"/>
            <a:ext cx="5760720" cy="310896"/>
          </a:xfrm>
          <a:prstGeom prst="rect">
            <a:avLst/>
          </a:prstGeom>
          <a:noFill/>
          <a:ln/>
        </p:spPr>
        <p:txBody>
          <a:bodyPr wrap="square" lIns="0" tIns="0" rIns="0" bIns="0" rtlCol="0" anchor="ctr"/>
          <a:lstStyle/>
          <a:p>
            <a:pPr indent="0" marL="0">
              <a:buNone/>
            </a:pPr>
            <a:r>
              <a:rPr lang="en-US" sz="1150" dirty="0">
                <a:solidFill>
                  <a:srgbClr val="F4F8FA"/>
                </a:solidFill>
                <a:latin typeface="Arial" pitchFamily="34" charset="0"/>
                <a:ea typeface="Arial" pitchFamily="34" charset="-122"/>
                <a:cs typeface="Arial" pitchFamily="34" charset="-120"/>
              </a:rPr>
              <a:t>An atom is about 0.00000025 mm across</a:t>
            </a:r>
            <a:endParaRPr lang="en-US" sz="1150" dirty="0"/>
          </a:p>
        </p:txBody>
      </p:sp>
      <p:sp>
        <p:nvSpPr>
          <p:cNvPr id="9" name="cred3_b"/>
          <p:cNvSpPr txBox="1"/>
          <p:nvPr/>
        </p:nvSpPr>
        <p:spPr>
          <a:xfrm>
            <a:off x="6446520" y="3035808"/>
            <a:ext cx="5242255" cy="310896"/>
          </a:xfrm>
          <a:prstGeom prst="rect">
            <a:avLst/>
          </a:prstGeom>
          <a:noFill/>
          <a:ln/>
        </p:spPr>
        <p:txBody>
          <a:bodyPr wrap="square" lIns="0" tIns="0" rIns="0" bIns="0" rtlCol="0" anchor="ctr"/>
          <a:lstStyle/>
          <a:p>
            <a:pPr indent="0" marL="0">
              <a:buNone/>
            </a:pPr>
            <a:r>
              <a:rPr lang="en-US" sz="1050" dirty="0">
                <a:solidFill>
                  <a:srgbClr val="D3E3EB"/>
                </a:solidFill>
                <a:latin typeface="Arial" pitchFamily="34" charset="0"/>
                <a:ea typeface="Arial" pitchFamily="34" charset="-122"/>
                <a:cs typeface="Arial" pitchFamily="34" charset="-120"/>
              </a:rPr>
              <a:t>About 0.25 nm — a common value for a small atom</a:t>
            </a:r>
            <a:endParaRPr lang="en-US" sz="1050" dirty="0"/>
          </a:p>
        </p:txBody>
      </p:sp>
      <p:sp>
        <p:nvSpPr>
          <p:cNvPr id="10" name="cred4_a"/>
          <p:cNvSpPr txBox="1"/>
          <p:nvPr/>
        </p:nvSpPr>
        <p:spPr>
          <a:xfrm>
            <a:off x="502920" y="3438144"/>
            <a:ext cx="5760720" cy="310896"/>
          </a:xfrm>
          <a:prstGeom prst="rect">
            <a:avLst/>
          </a:prstGeom>
          <a:noFill/>
          <a:ln/>
        </p:spPr>
        <p:txBody>
          <a:bodyPr wrap="square" lIns="0" tIns="0" rIns="0" bIns="0" rtlCol="0" anchor="ctr"/>
          <a:lstStyle/>
          <a:p>
            <a:pPr indent="0" marL="0">
              <a:buNone/>
            </a:pPr>
            <a:r>
              <a:rPr lang="en-US" sz="1150" dirty="0">
                <a:solidFill>
                  <a:srgbClr val="F4F8FA"/>
                </a:solidFill>
                <a:latin typeface="Arial" pitchFamily="34" charset="0"/>
                <a:ea typeface="Arial" pitchFamily="34" charset="-122"/>
                <a:cs typeface="Arial" pitchFamily="34" charset="-120"/>
              </a:rPr>
              <a:t>300 000 atoms across one hair</a:t>
            </a:r>
            <a:endParaRPr lang="en-US" sz="1150" dirty="0"/>
          </a:p>
        </p:txBody>
      </p:sp>
      <p:sp>
        <p:nvSpPr>
          <p:cNvPr id="11" name="cred4_b"/>
          <p:cNvSpPr txBox="1"/>
          <p:nvPr/>
        </p:nvSpPr>
        <p:spPr>
          <a:xfrm>
            <a:off x="6446520" y="3438144"/>
            <a:ext cx="5242255" cy="310896"/>
          </a:xfrm>
          <a:prstGeom prst="rect">
            <a:avLst/>
          </a:prstGeom>
          <a:noFill/>
          <a:ln/>
        </p:spPr>
        <p:txBody>
          <a:bodyPr wrap="square" lIns="0" tIns="0" rIns="0" bIns="0" rtlCol="0" anchor="ctr"/>
          <a:lstStyle/>
          <a:p>
            <a:pPr indent="0" marL="0">
              <a:buNone/>
            </a:pPr>
            <a:r>
              <a:rPr lang="en-US" sz="1050" dirty="0">
                <a:solidFill>
                  <a:srgbClr val="D3E3EB"/>
                </a:solidFill>
                <a:latin typeface="Arial" pitchFamily="34" charset="0"/>
                <a:ea typeface="Arial" pitchFamily="34" charset="-122"/>
                <a:cs typeface="Arial" pitchFamily="34" charset="-120"/>
              </a:rPr>
              <a:t>0.07 ÷ 0.00000025, rounded to one figure</a:t>
            </a:r>
            <a:endParaRPr lang="en-US" sz="1050" dirty="0"/>
          </a:p>
        </p:txBody>
      </p:sp>
      <p:sp>
        <p:nvSpPr>
          <p:cNvPr id="12" name="cred5_a"/>
          <p:cNvSpPr txBox="1"/>
          <p:nvPr/>
        </p:nvSpPr>
        <p:spPr>
          <a:xfrm>
            <a:off x="502920" y="3840480"/>
            <a:ext cx="5760720" cy="310896"/>
          </a:xfrm>
          <a:prstGeom prst="rect">
            <a:avLst/>
          </a:prstGeom>
          <a:noFill/>
          <a:ln/>
        </p:spPr>
        <p:txBody>
          <a:bodyPr wrap="square" lIns="0" tIns="0" rIns="0" bIns="0" rtlCol="0" anchor="ctr"/>
          <a:lstStyle/>
          <a:p>
            <a:pPr indent="0" marL="0">
              <a:buNone/>
            </a:pPr>
            <a:r>
              <a:rPr lang="en-US" sz="1150" b="1" spc="110" kern="0" dirty="0">
                <a:solidFill>
                  <a:srgbClr val="FFD166"/>
                </a:solidFill>
                <a:latin typeface="Arial" pitchFamily="34" charset="0"/>
                <a:ea typeface="Arial" pitchFamily="34" charset="-122"/>
                <a:cs typeface="Arial" pitchFamily="34" charset="-120"/>
              </a:rPr>
              <a:t>ICONS</a:t>
            </a:r>
            <a:endParaRPr lang="en-US" sz="1150" dirty="0"/>
          </a:p>
        </p:txBody>
      </p:sp>
      <p:sp>
        <p:nvSpPr>
          <p:cNvPr id="13" name="cred6_a"/>
          <p:cNvSpPr txBox="1"/>
          <p:nvPr/>
        </p:nvSpPr>
        <p:spPr>
          <a:xfrm>
            <a:off x="502920" y="4242816"/>
            <a:ext cx="5760720" cy="310896"/>
          </a:xfrm>
          <a:prstGeom prst="rect">
            <a:avLst/>
          </a:prstGeom>
          <a:noFill/>
          <a:ln/>
        </p:spPr>
        <p:txBody>
          <a:bodyPr wrap="square" lIns="0" tIns="0" rIns="0" bIns="0" rtlCol="0" anchor="ctr"/>
          <a:lstStyle/>
          <a:p>
            <a:pPr indent="0" marL="0">
              <a:buNone/>
            </a:pPr>
            <a:r>
              <a:rPr lang="en-US" sz="1150" dirty="0">
                <a:solidFill>
                  <a:srgbClr val="F4F8FA"/>
                </a:solidFill>
                <a:latin typeface="Arial" pitchFamily="34" charset="0"/>
                <a:ea typeface="Arial" pitchFamily="34" charset="-122"/>
                <a:cs typeface="Arial" pitchFamily="34" charset="-120"/>
              </a:rPr>
              <a:t>All icons from Font Awesome and Game Icons via react-icons</a:t>
            </a:r>
            <a:endParaRPr lang="en-US" sz="1150" dirty="0"/>
          </a:p>
        </p:txBody>
      </p:sp>
      <p:sp>
        <p:nvSpPr>
          <p:cNvPr id="14" name="cred6_b"/>
          <p:cNvSpPr txBox="1"/>
          <p:nvPr/>
        </p:nvSpPr>
        <p:spPr>
          <a:xfrm>
            <a:off x="6446520" y="4242816"/>
            <a:ext cx="5242255" cy="310896"/>
          </a:xfrm>
          <a:prstGeom prst="rect">
            <a:avLst/>
          </a:prstGeom>
          <a:noFill/>
          <a:ln/>
        </p:spPr>
        <p:txBody>
          <a:bodyPr wrap="square" lIns="0" tIns="0" rIns="0" bIns="0" rtlCol="0" anchor="ctr"/>
          <a:lstStyle/>
          <a:p>
            <a:pPr indent="0" marL="0">
              <a:buNone/>
            </a:pPr>
            <a:r>
              <a:rPr lang="en-US" sz="1050" dirty="0">
                <a:solidFill>
                  <a:srgbClr val="D3E3EB"/>
                </a:solidFill>
                <a:latin typeface="Arial" pitchFamily="34" charset="0"/>
                <a:ea typeface="Arial" pitchFamily="34" charset="-122"/>
                <a:cs typeface="Arial" pitchFamily="34" charset="-120"/>
              </a:rPr>
              <a:t>Recoloured to the unit palette</a:t>
            </a:r>
            <a:endParaRPr lang="en-US" sz="10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Atoms — Lesson 1: Everything is made of tiny parts</dc:title>
  <dc:subject>CLIL · Unit 3 Atoms · Lesson 1 of 6</dc:subject>
  <dc:creator>Chuka</dc:creator>
  <cp:lastModifiedBy>Chuka</cp:lastModifiedBy>
  <cp:revision>1</cp:revision>
  <dcterms:created xsi:type="dcterms:W3CDTF">2026-09-15T02:51:39Z</dcterms:created>
  <dcterms:modified xsi:type="dcterms:W3CDTF">2026-09-15T02:51:39Z</dcterms:modified>
</cp:coreProperties>
</file>