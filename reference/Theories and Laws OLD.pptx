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it will not appear in the slideshow. Print it or keep it open on the second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arrive on this. The build is snappy now: a flat 0.15 s between each piece.
SAY, pointing right: "Dots on the left. An explanation on the right. Science makes both, and they are not the same thing."
Do not name them yet. The words arrive on slides 6 and 7.
TIMING: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 2 minutes. Two clicks.
Point at the red line. They should know the essay is coming and that today is where the marks come from.
Criterion five is the stretch: one law and one theory about the SAME thing. Slide 10 hands them one.
RAG grid, START column,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5 minutes: 4 working, 1 marking. Six clicks.
Q1, Q2 and Q5 are last lesson. If Q2 is shaky, reteach it in thirty seconds on the board — today sits on top of it.
Q6 IS THE LESSON. Collect three or four answers out loud and write them on the board without judging them. Almost every one will mean "a guess". Leave them up there; slide 8 comes back to them.
STRETCH: "Where else do you hear the word theory?" Music theory, conspiracy theory, theory test. All different. That is the whole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 4 minutes. Four clicks: card A, card B, the three options, then the closing line.
Take the vote by hands and tally it on the board.
ANSWER (slide 8, not now): A. B is cell theory, and people have been looking down microscopes at it since the 1600s.
MOST CLASSES SPLIT BETWEEN A AND C, and C is the interesting wrong answer. Ask whoever picked C what would have to happen for B to stop being a guess. They will say "someone checks it". Somebody did, about a billion times.
DO NOT DEFINE ANYTHING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6 minutes. Eight clicks: the definition, the three points, the heading, then the three examples.
THE DEFINITION IS THE ONE THEY COPY. Give them time to write it properly.
SAY IT FLATLY: "None of these three tells you WHY. Water boils at 100. Why? The law has nothing to say about it. That is not a fault — describing is its job."
EAL AND EVERYONE: this "law" is nothing to do with police, courts or rules. Nobody is being told what to do. Water is not obeying anything.
MISCONCEPTION: "so a law is a fact?" Close. A law is a general statement covering an enormous number of facts. One boiling kettle is a fact. The law covers every kettle that ever will boil.
STRETCH: "Can a law be written as a picture or a graph?" Yes, often. They will meet that properly in Year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6 minutes. Eight clicks, same shape as the last slide so the contrast is obvious.
RUN IT STRAIGHT OFF THE LAW SLIDE. Same layout, opposite job. "That slide said what. This one says why."
PARTICLE THEORY IS THE ONE TO DWELL ON, because it explains the boiling law from the last slide. Point back at it: water boils at 100 because the particles have enough energy to escape. The law gave you the number; the theory gives you the reason.
HOW MUCH EVIDENCE: cell theory has had people looking down microscopes since the 1600s and nobody has ever found a living thing that is not made of cells. That is what "backed by a huge amount of evidence" means.
MISCONCEPTION: "can a theory be wrong?" It can be improved, and very occasionally replaced. That is not the same as a guess being wrong. Hold the detail; slide 8 handles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6 minutes. Seven clicks: the claim, the verdict, each half, the LAW–THEORY strip, then the closing line.
GO BACK TO THE BOARD where you wrote their Do Now Q6 answers, and to the hook tally. Announce A.
HALF ONE IS THE ONE THEY CARE ABOUT. "Only a theory" gets used to dismiss things — evolution, climate, vaccines — and the person saying it is using the everyday word while sounding like they are using the science one. Say that plainly. Year 7 can handle it and they will meet it within the week.
HALF TWO IS THE ONE THE EXAM CARES ABOUT. Use one concrete pair: the law says water boils at 100 °C; particle theory says why. No amount of extra boiling turns the explanation into the number.
MISCONCEPTION: "so which is better?" Neither. Ask which is better, a photo of a football match or a commentary on it. You want both.
IF A STUDENT ASKS whether a law can be wrong — yes, laws get refined too. One sentence, and tell them it is a very good question they will come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6 minutes. Twelve clicks: letter then reason, row by row. Boards up BEFORE you click.
THE TEST TO GIVE THEM, out loud, every time: does it say WHAT, or does it say WHY?
ROWS 1 AND 4 ARE A PAIR. The law says water boils at 100. The theory says particles escape when they have enough energy. Same phenomenon, two different jobs. If you only make one point on this slide, make that one.
ROW 3: some will say theory because it sounds complicated. Complicated is not the test.
ROW 6 IS EVOLUTION without the word. Use the word if your class is ready; if anyone says "that is only a theory", you have a gift, because slide 8 answered it ten minutes ago.
ICONS are on every row on purpose, so a sentence with an unfamiliar word still has something to hold on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4 minutes. Five clicks: the fact, each panel, then the closing line.
THIS IS SUCCESS CRITERION FIVE: one law and one theory about the same thing. Point that out explicitly.
ASK BEFORE YOU CLICK: "if you took a kettle up there, would the water boil hotter or cooler?" Most say hotter, because the mountain feels like an extreme place. It is cooler, and that is the surprise worth having.
THE CLOSING LINE IS THE POINT OF THE WHOLE LESSON. A law describes what has been measured. A theory tells you what will happen somewhere nobody has been yet. That is why explanations are worth having.
THE 92 °C IS CALCULATED, not looked up, and the footer says so. Anyone who has been up there in the cool season will tell you the tea is disappointing.
CUT THIS FIRST if you are behind — keep the two numbers and the closing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8 minutes. No clicks.
CIRCULATE WITH ONE QUESTION: "does that one say what, or why?"
WHERE THEY WILL STALL: C1 (explaining why a theory never becomes a law) and C3 (writing a law and a theory about the same thing). C3 is the essay in miniature — if they can do it, they can write the essay.
THE GOLD SECTION IS ESSAY PRACTICE and you should say so. Marks for full sentences, not bullet points.
AT 2 MINUTES REMAINING, stop them wherever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PLENARY — 3 minutes. Eleven clicks: statement, then verdict and reason together, then the closing line.
Both FALSE statements are the two halves of the big mistake from slide 8.
Q1 AND Q3 ARE THE ASSESSED IDEAS. If the room splits on either, that is your Do Now for next lesson and your reteach before the essay.
Q5 is the subtle one. "Improved, not thrown away" is the phrase to leave them with.
THE TWO ICONS top right are the ruler and the bulb from the title slide. Nobody will mention it. It still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shown in the lesson unless someone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show="0">
  <p:cSld name="Slide 1">
    <p:bg>
      <p:bgPr>
        <a:solidFill>
          <a:srgbClr val="FFFFFF"/>
        </a:solidFill>
      </p:bgPr>
    </p:bg>
    <p:spTree>
      <p:nvGrpSpPr>
        <p:cNvPr id="1" name=""/>
        <p:cNvGrpSpPr/>
        <p:nvPr/>
      </p:nvGrpSpPr>
      <p:grpSpPr>
        <a:xfrm>
          <a:off x="0" y="0"/>
          <a:ext cx="0" cy="0"/>
          <a:chOff x="0" y="0"/>
          <a:chExt cx="0" cy="0"/>
        </a:xfrm>
      </p:grpSpPr>
      <p:sp>
        <p:nvSpPr>
          <p:cNvPr id="2" name="teach_flag"/>
          <p:cNvSpPr txBox="1"/>
          <p:nvPr/>
        </p:nvSpPr>
        <p:spPr>
          <a:xfrm>
            <a:off x="502920" y="237744"/>
            <a:ext cx="6400800" cy="310896"/>
          </a:xfrm>
          <a:prstGeom prst="rect">
            <a:avLst/>
          </a:prstGeom>
          <a:noFill/>
          <a:ln/>
        </p:spPr>
        <p:txBody>
          <a:bodyPr wrap="square" lIns="0" tIns="0" rIns="0" bIns="0" rtlCol="0" anchor="ctr"/>
          <a:lstStyle/>
          <a:p>
            <a:pPr indent="0" marL="0">
              <a:buNone/>
            </a:pPr>
            <a:r>
              <a:rPr lang="en-US" sz="1100" b="1" spc="120" kern="0" dirty="0">
                <a:solidFill>
                  <a:srgbClr val="D94F6A"/>
                </a:solidFill>
                <a:latin typeface="Arial" pitchFamily="34" charset="0"/>
                <a:ea typeface="Arial" pitchFamily="34" charset="-122"/>
                <a:cs typeface="Arial" pitchFamily="34" charset="-120"/>
              </a:rPr>
              <a:t>TEACHER ONLY — hidden in slideshow</a:t>
            </a:r>
            <a:endParaRPr lang="en-US" sz="1100" dirty="0"/>
          </a:p>
        </p:txBody>
      </p:sp>
      <p:sp>
        <p:nvSpPr>
          <p:cNvPr id="3" name="teach_meta"/>
          <p:cNvSpPr txBox="1"/>
          <p:nvPr/>
        </p:nvSpPr>
        <p:spPr>
          <a:xfrm>
            <a:off x="5653735" y="237744"/>
            <a:ext cx="6035040" cy="310896"/>
          </a:xfrm>
          <a:prstGeom prst="rect">
            <a:avLst/>
          </a:prstGeom>
          <a:noFill/>
          <a:ln/>
        </p:spPr>
        <p:txBody>
          <a:bodyPr wrap="square" lIns="0" tIns="0" rIns="0" bIns="0" rtlCol="0" anchor="ctr"/>
          <a:lstStyle/>
          <a:p>
            <a:pPr algn="r" indent="0" marL="0">
              <a:buNone/>
            </a:pPr>
            <a:r>
              <a:rPr lang="en-US" sz="1100" dirty="0">
                <a:solidFill>
                  <a:srgbClr val="6A6180"/>
                </a:solidFill>
                <a:latin typeface="Arial" pitchFamily="34" charset="0"/>
                <a:ea typeface="Arial" pitchFamily="34" charset="-122"/>
                <a:cs typeface="Arial" pitchFamily="34" charset="-120"/>
              </a:rPr>
              <a:t>Y7 · Unit 1 The World of Science · L2 of 4 · 50 minutes</a:t>
            </a:r>
            <a:endParaRPr lang="en-US" sz="1100" dirty="0"/>
          </a:p>
        </p:txBody>
      </p:sp>
      <p:sp>
        <p:nvSpPr>
          <p:cNvPr id="4" name="teach_title"/>
          <p:cNvSpPr txBox="1"/>
          <p:nvPr/>
        </p:nvSpPr>
        <p:spPr>
          <a:xfrm>
            <a:off x="502920" y="566928"/>
            <a:ext cx="11185855" cy="457200"/>
          </a:xfrm>
          <a:prstGeom prst="rect">
            <a:avLst/>
          </a:prstGeom>
          <a:noFill/>
          <a:ln/>
        </p:spPr>
        <p:txBody>
          <a:bodyPr wrap="square" lIns="0" tIns="0" rIns="0" bIns="0" rtlCol="0" anchor="ctr"/>
          <a:lstStyle/>
          <a:p>
            <a:pPr indent="0" marL="0">
              <a:buNone/>
            </a:pPr>
            <a:r>
              <a:rPr lang="en-US" sz="1900" b="1" dirty="0">
                <a:solidFill>
                  <a:srgbClr val="4A2C6F"/>
                </a:solidFill>
                <a:latin typeface="Georgia" pitchFamily="34" charset="0"/>
                <a:ea typeface="Georgia" pitchFamily="34" charset="-122"/>
                <a:cs typeface="Georgia" pitchFamily="34" charset="-120"/>
              </a:rPr>
              <a:t>Theory or law?  Two words everybody uses, and almost nobody uses correctly</a:t>
            </a:r>
            <a:endParaRPr lang="en-US" sz="1900" dirty="0"/>
          </a:p>
        </p:txBody>
      </p:sp>
      <p:sp>
        <p:nvSpPr>
          <p:cNvPr id="5" name="teach_col0_bg"/>
          <p:cNvSpPr/>
          <p:nvPr/>
        </p:nvSpPr>
        <p:spPr>
          <a:xfrm>
            <a:off x="502920" y="1188720"/>
            <a:ext cx="3576218" cy="5285232"/>
          </a:xfrm>
          <a:prstGeom prst="rect">
            <a:avLst/>
          </a:prstGeom>
          <a:solidFill>
            <a:srgbClr val="F7F4FB"/>
          </a:solidFill>
          <a:ln w="12700">
            <a:solidFill>
              <a:srgbClr val="E3DAF0"/>
            </a:solidFill>
            <a:prstDash val="solid"/>
          </a:ln>
        </p:spPr>
      </p:sp>
      <p:sp>
        <p:nvSpPr>
          <p:cNvPr id="6" name="teach_col0_h"/>
          <p:cNvSpPr txBox="1"/>
          <p:nvPr/>
        </p:nvSpPr>
        <p:spPr>
          <a:xfrm>
            <a:off x="649224" y="1316736"/>
            <a:ext cx="3283610" cy="274320"/>
          </a:xfrm>
          <a:prstGeom prst="rect">
            <a:avLst/>
          </a:prstGeom>
          <a:noFill/>
          <a:ln/>
        </p:spPr>
        <p:txBody>
          <a:bodyPr wrap="square" lIns="0" tIns="0" rIns="0" bIns="0" rtlCol="0" anchor="ctr"/>
          <a:lstStyle/>
          <a:p>
            <a:pPr indent="0" marL="0">
              <a:buNone/>
            </a:pPr>
            <a:r>
              <a:rPr lang="en-US" sz="1050" b="1" spc="100" kern="0" dirty="0">
                <a:solidFill>
                  <a:srgbClr val="4A2C6F"/>
                </a:solidFill>
                <a:latin typeface="Arial" pitchFamily="34" charset="0"/>
                <a:ea typeface="Arial" pitchFamily="34" charset="-122"/>
                <a:cs typeface="Arial" pitchFamily="34" charset="-120"/>
              </a:rPr>
              <a:t>PRIOR KNOWLEDGE &amp; CONTEXT</a:t>
            </a:r>
            <a:endParaRPr lang="en-US" sz="1050" dirty="0"/>
          </a:p>
        </p:txBody>
      </p:sp>
      <p:sp>
        <p:nvSpPr>
          <p:cNvPr id="7" name="teach_col0_b"/>
          <p:cNvSpPr txBox="1"/>
          <p:nvPr/>
        </p:nvSpPr>
        <p:spPr>
          <a:xfrm>
            <a:off x="649224" y="1627632"/>
            <a:ext cx="3283610" cy="4718304"/>
          </a:xfrm>
          <a:prstGeom prst="rect">
            <a:avLst/>
          </a:prstGeom>
          <a:noFill/>
          <a:ln/>
        </p:spPr>
        <p:txBody>
          <a:bodyPr wrap="square" lIns="0" tIns="0" rIns="0" bIns="0" rtlCol="0" anchor="t"/>
          <a:lstStyle/>
          <a:p>
            <a:pPr indent="0" marL="0">
              <a:lnSpc>
                <a:spcPts val="1150"/>
              </a:lnSpc>
              <a:buNone/>
            </a:pPr>
            <a:r>
              <a:rPr lang="en-US" sz="820" dirty="0">
                <a:solidFill>
                  <a:srgbClr val="241535"/>
                </a:solidFill>
                <a:latin typeface="Arial" pitchFamily="34" charset="0"/>
                <a:ea typeface="Arial" pitchFamily="34" charset="-122"/>
                <a:cs typeface="Arial" pitchFamily="34" charset="-120"/>
              </a:rPr>
              <a:t>From Lesson 1: science = evidence + logic; induction; and that a conclusion is never closed. All three are load-bearing today.</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THE DO NOW IS LESSON 1, so you get a free check on whether it stuck. Q5 is the swan.</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NO PRIOR VOCABULARY IS ASSUMED. "Law" and "theory" both already live in their heads with everyday meanings, and that is the problem, not a gap.</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EAL note: "law" here has nothing to do with police or courts. Say it once, early. Several will have been quietly confused for years.</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THIS IS THE ASSESSED ONE. The SoW sets an essay on theories versus laws as the summative task, and the ATL skill indicator names this exact distinction. It is worth the whole lesson.</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ICONS on slides 9 and 10 are there because a word with no picture is a word half the room skips.</a:t>
            </a:r>
            <a:endParaRPr lang="en-US" sz="820" dirty="0"/>
          </a:p>
        </p:txBody>
      </p:sp>
      <p:sp>
        <p:nvSpPr>
          <p:cNvPr id="8" name="teach_col1_bg"/>
          <p:cNvSpPr/>
          <p:nvPr/>
        </p:nvSpPr>
        <p:spPr>
          <a:xfrm>
            <a:off x="4307738" y="1188720"/>
            <a:ext cx="3576218" cy="5285232"/>
          </a:xfrm>
          <a:prstGeom prst="rect">
            <a:avLst/>
          </a:prstGeom>
          <a:solidFill>
            <a:srgbClr val="FCEDF0"/>
          </a:solidFill>
          <a:ln w="12700">
            <a:solidFill>
              <a:srgbClr val="D94F6A"/>
            </a:solidFill>
            <a:prstDash val="solid"/>
          </a:ln>
        </p:spPr>
      </p:sp>
      <p:sp>
        <p:nvSpPr>
          <p:cNvPr id="9" name="teach_col1_h"/>
          <p:cNvSpPr txBox="1"/>
          <p:nvPr/>
        </p:nvSpPr>
        <p:spPr>
          <a:xfrm>
            <a:off x="4454042" y="1316736"/>
            <a:ext cx="3283610" cy="274320"/>
          </a:xfrm>
          <a:prstGeom prst="rect">
            <a:avLst/>
          </a:prstGeom>
          <a:noFill/>
          <a:ln/>
        </p:spPr>
        <p:txBody>
          <a:bodyPr wrap="square" lIns="0" tIns="0" rIns="0" bIns="0" rtlCol="0" anchor="ctr"/>
          <a:lstStyle/>
          <a:p>
            <a:pPr indent="0" marL="0">
              <a:buNone/>
            </a:pPr>
            <a:r>
              <a:rPr lang="en-US" sz="1050" b="1" spc="100" kern="0" dirty="0">
                <a:solidFill>
                  <a:srgbClr val="D94F6A"/>
                </a:solidFill>
                <a:latin typeface="Arial" pitchFamily="34" charset="0"/>
                <a:ea typeface="Arial" pitchFamily="34" charset="-122"/>
                <a:cs typeface="Arial" pitchFamily="34" charset="-120"/>
              </a:rPr>
              <a:t>MISCONCEPTIONS  (wrong → right)</a:t>
            </a:r>
            <a:endParaRPr lang="en-US" sz="1050" dirty="0"/>
          </a:p>
        </p:txBody>
      </p:sp>
      <p:sp>
        <p:nvSpPr>
          <p:cNvPr id="10" name="teach_col1_b"/>
          <p:cNvSpPr txBox="1"/>
          <p:nvPr/>
        </p:nvSpPr>
        <p:spPr>
          <a:xfrm>
            <a:off x="4454042" y="1627632"/>
            <a:ext cx="3283610" cy="4718304"/>
          </a:xfrm>
          <a:prstGeom prst="rect">
            <a:avLst/>
          </a:prstGeom>
          <a:noFill/>
          <a:ln/>
        </p:spPr>
        <p:txBody>
          <a:bodyPr wrap="square" lIns="0" tIns="0" rIns="0" bIns="0" rtlCol="0" anchor="t"/>
          <a:lstStyle/>
          <a:p>
            <a:pPr indent="0" marL="0">
              <a:lnSpc>
                <a:spcPts val="1150"/>
              </a:lnSpc>
              <a:buNone/>
            </a:pPr>
            <a:r>
              <a:rPr lang="en-US" sz="820" dirty="0">
                <a:solidFill>
                  <a:srgbClr val="241535"/>
                </a:solidFill>
                <a:latin typeface="Arial" pitchFamily="34" charset="0"/>
                <a:ea typeface="Arial" pitchFamily="34" charset="-122"/>
                <a:cs typeface="Arial" pitchFamily="34" charset="-120"/>
              </a:rPr>
              <a:t>✗ "A theory is a guess."</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That is the everyday word. A scientific theory is the opposite: the most heavily evidenced kind of idea there is.</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"A theory becomes a law once it is proved."</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Never. They answer different questions. Slide 8 is built entirely for this one.</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"A law explains why things happen."</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It describes what happens. It never explains.</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"It is only a theory, so you can ignore it."</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This is the version that matters outside school. Handle it directly.</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"Laws can never be wrong."</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They get refined too. Do not open this today; one sentence if a bright student pushes.</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"Law means a rule you must obey."</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Nobody enforces the boiling point of water. Nothing is being told what to do.</a:t>
            </a:r>
            <a:endParaRPr lang="en-US" sz="820" dirty="0"/>
          </a:p>
        </p:txBody>
      </p:sp>
      <p:sp>
        <p:nvSpPr>
          <p:cNvPr id="11" name="teach_col2_bg"/>
          <p:cNvSpPr/>
          <p:nvPr/>
        </p:nvSpPr>
        <p:spPr>
          <a:xfrm>
            <a:off x="8112557" y="1188720"/>
            <a:ext cx="3576218" cy="5285232"/>
          </a:xfrm>
          <a:prstGeom prst="rect">
            <a:avLst/>
          </a:prstGeom>
          <a:solidFill>
            <a:srgbClr val="F7F4FB"/>
          </a:solidFill>
          <a:ln w="12700">
            <a:solidFill>
              <a:srgbClr val="E3DAF0"/>
            </a:solidFill>
            <a:prstDash val="solid"/>
          </a:ln>
        </p:spPr>
      </p:sp>
      <p:sp>
        <p:nvSpPr>
          <p:cNvPr id="12" name="teach_col2_h"/>
          <p:cNvSpPr txBox="1"/>
          <p:nvPr/>
        </p:nvSpPr>
        <p:spPr>
          <a:xfrm>
            <a:off x="8258861" y="1316736"/>
            <a:ext cx="3283610" cy="274320"/>
          </a:xfrm>
          <a:prstGeom prst="rect">
            <a:avLst/>
          </a:prstGeom>
          <a:noFill/>
          <a:ln/>
        </p:spPr>
        <p:txBody>
          <a:bodyPr wrap="square" lIns="0" tIns="0" rIns="0" bIns="0" rtlCol="0" anchor="ctr"/>
          <a:lstStyle/>
          <a:p>
            <a:pPr indent="0" marL="0">
              <a:buNone/>
            </a:pPr>
            <a:r>
              <a:rPr lang="en-US" sz="1050" b="1" spc="100" kern="0" dirty="0">
                <a:solidFill>
                  <a:srgbClr val="4A2C6F"/>
                </a:solidFill>
                <a:latin typeface="Arial" pitchFamily="34" charset="0"/>
                <a:ea typeface="Arial" pitchFamily="34" charset="-122"/>
                <a:cs typeface="Arial" pitchFamily="34" charset="-120"/>
              </a:rPr>
              <a:t>LESSON FLOW  (50 min)</a:t>
            </a:r>
            <a:endParaRPr lang="en-US" sz="1050" dirty="0"/>
          </a:p>
        </p:txBody>
      </p:sp>
      <p:sp>
        <p:nvSpPr>
          <p:cNvPr id="13" name="teach_col2_b"/>
          <p:cNvSpPr txBox="1"/>
          <p:nvPr/>
        </p:nvSpPr>
        <p:spPr>
          <a:xfrm>
            <a:off x="8258861" y="1627632"/>
            <a:ext cx="3283610" cy="4718304"/>
          </a:xfrm>
          <a:prstGeom prst="rect">
            <a:avLst/>
          </a:prstGeom>
          <a:noFill/>
          <a:ln/>
        </p:spPr>
        <p:txBody>
          <a:bodyPr wrap="square" lIns="0" tIns="0" rIns="0" bIns="0" rtlCol="0" anchor="t"/>
          <a:lstStyle/>
          <a:p>
            <a:pPr indent="0" marL="0">
              <a:lnSpc>
                <a:spcPts val="1150"/>
              </a:lnSpc>
              <a:buNone/>
            </a:pPr>
            <a:r>
              <a:rPr lang="en-US" sz="820" dirty="0">
                <a:solidFill>
                  <a:srgbClr val="241535"/>
                </a:solidFill>
                <a:latin typeface="Arial" pitchFamily="34" charset="0"/>
                <a:ea typeface="Arial" pitchFamily="34" charset="-122"/>
                <a:cs typeface="Arial" pitchFamily="34" charset="-120"/>
              </a:rPr>
              <a:t>Objectives — 2</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Do Now — 5</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Hook: just a guess? — 4</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I Do: what a law does — 6</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I Do: what a theory does — 6</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I Do: the big mistake — 6</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We Do: which is it? — 6</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Context: Doi Inthanon — 4</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You Do: worksheet — 8</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Plenary: true or false — 3</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TOTAL 50 min</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SCOPE: one unit objective, "distinguish between scientific theories and laws". That is deliberate — it is the hardest idea in the unit and the one the essay is on.</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IF YOU ARE SHORT: cut slide 10 (Doi Inthanon) to the two numbers. Do not cut slide 8.</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CHANGES SINCE LESSON 1, from your feedback:</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The opening build now steps at a flat 0.15 s. No growing delay.</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Rows are vertically centred in the body area — Lesson 1 slide 8 sat high with dead space underneath.</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Text is shorter and more direct throughout.</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Icons on every concrete noun.</a:t>
            </a:r>
            <a:endParaRPr lang="en-US" sz="82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2C6F"/>
        </a:solidFill>
      </p:bgPr>
    </p:bg>
    <p:spTree>
      <p:nvGrpSpPr>
        <p:cNvPr id="1" name=""/>
        <p:cNvGrpSpPr/>
        <p:nvPr/>
      </p:nvGrpSpPr>
      <p:grpSpPr>
        <a:xfrm>
          <a:off x="0" y="0"/>
          <a:ext cx="0" cy="0"/>
          <a:chOff x="0" y="0"/>
          <a:chExt cx="0" cy="0"/>
        </a:xfrm>
      </p:grpSpPr>
      <p:grpSp>
        <p:nvGrpSpPr>
          <p:cNvPr id="18" name="motif_dots"/>
          <p:cNvGrpSpPr/>
          <p:nvPr/>
        </p:nvGrpSpPr>
        <p:grpSpPr>
          <a:xfrm>
            <a:off x="7589520" y="4105656"/>
            <a:ext cx="1773936" cy="237744"/>
            <a:chOff x="7589520" y="4105656"/>
            <a:chExt cx="1773936" cy="237744"/>
          </a:xfrm>
        </p:grpSpPr>
        <p:sp>
          <p:nvSpPr>
            <p:cNvPr id="2" name="motif_obs0"/>
            <p:cNvSpPr/>
            <p:nvPr/>
          </p:nvSpPr>
          <p:spPr>
            <a:xfrm>
              <a:off x="7589520" y="4105656"/>
              <a:ext cx="237744" cy="237744"/>
            </a:xfrm>
            <a:prstGeom prst="ellipse">
              <a:avLst/>
            </a:prstGeom>
            <a:solidFill>
              <a:srgbClr val="F7F4FB"/>
            </a:solidFill>
            <a:ln w="12700">
              <a:solidFill>
                <a:srgbClr val="F7F4FB"/>
              </a:solidFill>
              <a:prstDash val="solid"/>
            </a:ln>
          </p:spPr>
        </p:sp>
        <p:sp>
          <p:nvSpPr>
            <p:cNvPr id="3" name="motif_obs1"/>
            <p:cNvSpPr/>
            <p:nvPr/>
          </p:nvSpPr>
          <p:spPr>
            <a:xfrm>
              <a:off x="7973568" y="4105656"/>
              <a:ext cx="237744" cy="237744"/>
            </a:xfrm>
            <a:prstGeom prst="ellipse">
              <a:avLst/>
            </a:prstGeom>
            <a:solidFill>
              <a:srgbClr val="F7F4FB"/>
            </a:solidFill>
            <a:ln w="12700">
              <a:solidFill>
                <a:srgbClr val="F7F4FB"/>
              </a:solidFill>
              <a:prstDash val="solid"/>
            </a:ln>
          </p:spPr>
        </p:sp>
        <p:sp>
          <p:nvSpPr>
            <p:cNvPr id="4" name="motif_obs2"/>
            <p:cNvSpPr/>
            <p:nvPr/>
          </p:nvSpPr>
          <p:spPr>
            <a:xfrm>
              <a:off x="8357616" y="4105656"/>
              <a:ext cx="237744" cy="237744"/>
            </a:xfrm>
            <a:prstGeom prst="ellipse">
              <a:avLst/>
            </a:prstGeom>
            <a:solidFill>
              <a:srgbClr val="F7F4FB"/>
            </a:solidFill>
            <a:ln w="12700">
              <a:solidFill>
                <a:srgbClr val="F7F4FB"/>
              </a:solidFill>
              <a:prstDash val="solid"/>
            </a:ln>
          </p:spPr>
        </p:sp>
        <p:sp>
          <p:nvSpPr>
            <p:cNvPr id="5" name="motif_obs3"/>
            <p:cNvSpPr/>
            <p:nvPr/>
          </p:nvSpPr>
          <p:spPr>
            <a:xfrm>
              <a:off x="8741664" y="4105656"/>
              <a:ext cx="237744" cy="237744"/>
            </a:xfrm>
            <a:prstGeom prst="ellipse">
              <a:avLst/>
            </a:prstGeom>
            <a:solidFill>
              <a:srgbClr val="F7F4FB"/>
            </a:solidFill>
            <a:ln w="12700">
              <a:solidFill>
                <a:srgbClr val="F7F4FB"/>
              </a:solidFill>
              <a:prstDash val="solid"/>
            </a:ln>
          </p:spPr>
        </p:sp>
        <p:sp>
          <p:nvSpPr>
            <p:cNvPr id="6" name="motif_obs4"/>
            <p:cNvSpPr/>
            <p:nvPr/>
          </p:nvSpPr>
          <p:spPr>
            <a:xfrm>
              <a:off x="9125712" y="4105656"/>
              <a:ext cx="237744" cy="237744"/>
            </a:xfrm>
            <a:prstGeom prst="ellipse">
              <a:avLst/>
            </a:prstGeom>
            <a:solidFill>
              <a:srgbClr val="F7F4FB"/>
            </a:solidFill>
            <a:ln w="12700">
              <a:solidFill>
                <a:srgbClr val="F7F4FB"/>
              </a:solidFill>
              <a:prstDash val="solid"/>
            </a:ln>
          </p:spPr>
        </p:sp>
      </p:grpSp>
      <p:pic>
        <p:nvPicPr>
          <p:cNvPr id="7" name="motif_ruler" descr="/home/claude/build/img_y7/ruler_accent.png">    </p:cNvPr>
          <p:cNvPicPr>
            <a:picLocks noChangeAspect="1"/>
          </p:cNvPicPr>
          <p:nvPr/>
        </p:nvPicPr>
        <p:blipFill>
          <a:blip r:embed="rId1"/>
          <a:stretch>
            <a:fillRect/>
          </a:stretch>
        </p:blipFill>
        <p:spPr>
          <a:xfrm>
            <a:off x="7589520" y="3310128"/>
            <a:ext cx="566928" cy="566928"/>
          </a:xfrm>
          <a:prstGeom prst="rect">
            <a:avLst/>
          </a:prstGeom>
        </p:spPr>
      </p:pic>
      <p:sp>
        <p:nvSpPr>
          <p:cNvPr id="8" name="motif_what"/>
          <p:cNvSpPr txBox="1"/>
          <p:nvPr/>
        </p:nvSpPr>
        <p:spPr>
          <a:xfrm>
            <a:off x="7589520" y="4590288"/>
            <a:ext cx="2194560" cy="292608"/>
          </a:xfrm>
          <a:prstGeom prst="rect">
            <a:avLst/>
          </a:prstGeom>
          <a:noFill/>
          <a:ln/>
        </p:spPr>
        <p:txBody>
          <a:bodyPr wrap="square" lIns="0" tIns="0" rIns="0" bIns="0" rtlCol="0" anchor="ctr"/>
          <a:lstStyle/>
          <a:p>
            <a:pPr indent="0" marL="0">
              <a:buNone/>
            </a:pPr>
            <a:r>
              <a:rPr lang="en-US" sz="1150" b="1" dirty="0">
                <a:solidFill>
                  <a:srgbClr val="E3DAF0"/>
                </a:solidFill>
                <a:latin typeface="Arial" pitchFamily="34" charset="0"/>
                <a:ea typeface="Arial" pitchFamily="34" charset="-122"/>
                <a:cs typeface="Arial" pitchFamily="34" charset="-120"/>
              </a:rPr>
              <a:t>WHAT happens</a:t>
            </a:r>
            <a:endParaRPr lang="en-US" sz="1150" dirty="0"/>
          </a:p>
        </p:txBody>
      </p:sp>
      <p:pic>
        <p:nvPicPr>
          <p:cNvPr id="9" name="motif_bulb" descr="/home/claude/build/img_y7/lightbulb_accent.png">    </p:cNvPr>
          <p:cNvPicPr>
            <a:picLocks noChangeAspect="1"/>
          </p:cNvPicPr>
          <p:nvPr/>
        </p:nvPicPr>
        <p:blipFill>
          <a:blip r:embed="rId2"/>
          <a:stretch>
            <a:fillRect/>
          </a:stretch>
        </p:blipFill>
        <p:spPr>
          <a:xfrm>
            <a:off x="10149840" y="3310128"/>
            <a:ext cx="566928" cy="566928"/>
          </a:xfrm>
          <a:prstGeom prst="rect">
            <a:avLst/>
          </a:prstGeom>
        </p:spPr>
      </p:pic>
      <p:grpSp>
        <p:nvGrpSpPr>
          <p:cNvPr id="17" name="motif_why"/>
          <p:cNvGrpSpPr/>
          <p:nvPr/>
        </p:nvGrpSpPr>
        <p:grpSpPr>
          <a:xfrm>
            <a:off x="10149840" y="3986784"/>
            <a:ext cx="1481328" cy="475488"/>
            <a:chOff x="10149840" y="3986784"/>
            <a:chExt cx="1481328" cy="475488"/>
          </a:xfrm>
        </p:grpSpPr>
        <p:sp>
          <p:nvSpPr>
            <p:cNvPr id="10" name="motif_why_bg"/>
            <p:cNvSpPr/>
            <p:nvPr/>
          </p:nvSpPr>
          <p:spPr>
            <a:xfrm>
              <a:off x="10149840" y="3986784"/>
              <a:ext cx="1481328" cy="475488"/>
            </a:xfrm>
            <a:prstGeom prst="roundRect">
              <a:avLst>
                <a:gd name="adj" fmla="val 23077"/>
              </a:avLst>
            </a:prstGeom>
            <a:solidFill>
              <a:srgbClr val="F2A03D"/>
            </a:solidFill>
            <a:ln w="12700">
              <a:solidFill>
                <a:srgbClr val="F2A03D"/>
              </a:solidFill>
              <a:prstDash val="solid"/>
            </a:ln>
          </p:spPr>
        </p:sp>
        <p:sp>
          <p:nvSpPr>
            <p:cNvPr id="11" name="motif_why_t"/>
            <p:cNvSpPr txBox="1"/>
            <p:nvPr/>
          </p:nvSpPr>
          <p:spPr>
            <a:xfrm>
              <a:off x="10149840" y="3986784"/>
              <a:ext cx="1481328" cy="475488"/>
            </a:xfrm>
            <a:prstGeom prst="rect">
              <a:avLst/>
            </a:prstGeom>
            <a:noFill/>
            <a:ln/>
          </p:spPr>
          <p:txBody>
            <a:bodyPr wrap="square" lIns="0" tIns="0" rIns="0" bIns="0" rtlCol="0" anchor="ctr"/>
            <a:lstStyle/>
            <a:p>
              <a:pPr algn="ctr" indent="0" marL="0">
                <a:buNone/>
              </a:pPr>
              <a:r>
                <a:rPr lang="en-US" sz="1400" b="1" dirty="0">
                  <a:solidFill>
                    <a:srgbClr val="4A2C6F"/>
                  </a:solidFill>
                  <a:latin typeface="Arial" pitchFamily="34" charset="0"/>
                  <a:ea typeface="Arial" pitchFamily="34" charset="-122"/>
                  <a:cs typeface="Arial" pitchFamily="34" charset="-120"/>
                </a:rPr>
                <a:t>WHY</a:t>
              </a:r>
              <a:endParaRPr lang="en-US" sz="1400" dirty="0"/>
            </a:p>
          </p:txBody>
        </p:sp>
      </p:grpSp>
      <p:sp>
        <p:nvSpPr>
          <p:cNvPr id="12" name="motif_whycap"/>
          <p:cNvSpPr txBox="1"/>
          <p:nvPr/>
        </p:nvSpPr>
        <p:spPr>
          <a:xfrm>
            <a:off x="10149840" y="4590288"/>
            <a:ext cx="2194560" cy="292608"/>
          </a:xfrm>
          <a:prstGeom prst="rect">
            <a:avLst/>
          </a:prstGeom>
          <a:noFill/>
          <a:ln/>
        </p:spPr>
        <p:txBody>
          <a:bodyPr wrap="square" lIns="0" tIns="0" rIns="0" bIns="0" rtlCol="0" anchor="ctr"/>
          <a:lstStyle/>
          <a:p>
            <a:pPr indent="0" marL="0">
              <a:buNone/>
            </a:pPr>
            <a:r>
              <a:rPr lang="en-US" sz="1150" b="1" dirty="0">
                <a:solidFill>
                  <a:srgbClr val="E3DAF0"/>
                </a:solidFill>
                <a:latin typeface="Arial" pitchFamily="34" charset="0"/>
                <a:ea typeface="Arial" pitchFamily="34" charset="-122"/>
                <a:cs typeface="Arial" pitchFamily="34" charset="-120"/>
              </a:rPr>
              <a:t>WHY it happens</a:t>
            </a:r>
            <a:endParaRPr lang="en-US" sz="1150" dirty="0"/>
          </a:p>
        </p:txBody>
      </p:sp>
      <p:sp>
        <p:nvSpPr>
          <p:cNvPr id="13" name="title_kicker"/>
          <p:cNvSpPr txBox="1"/>
          <p:nvPr/>
        </p:nvSpPr>
        <p:spPr>
          <a:xfrm>
            <a:off x="502920" y="1243584"/>
            <a:ext cx="7315200" cy="329184"/>
          </a:xfrm>
          <a:prstGeom prst="rect">
            <a:avLst/>
          </a:prstGeom>
          <a:noFill/>
          <a:ln/>
        </p:spPr>
        <p:txBody>
          <a:bodyPr wrap="square" lIns="0" tIns="0" rIns="0" bIns="0" rtlCol="0" anchor="ctr"/>
          <a:lstStyle/>
          <a:p>
            <a:pPr indent="0" marL="0">
              <a:buNone/>
            </a:pPr>
            <a:r>
              <a:rPr lang="en-US" sz="1250" b="1" spc="160" kern="0" dirty="0">
                <a:solidFill>
                  <a:srgbClr val="F2A03D"/>
                </a:solidFill>
                <a:latin typeface="Arial" pitchFamily="34" charset="0"/>
                <a:ea typeface="Arial" pitchFamily="34" charset="-122"/>
                <a:cs typeface="Arial" pitchFamily="34" charset="-120"/>
              </a:rPr>
              <a:t>Y7 SCIENCE  ·  UNIT 1  ·  LESSON 2 OF 4</a:t>
            </a:r>
            <a:endParaRPr lang="en-US" sz="1250" dirty="0"/>
          </a:p>
        </p:txBody>
      </p:sp>
      <p:sp>
        <p:nvSpPr>
          <p:cNvPr id="14" name="title_main"/>
          <p:cNvSpPr txBox="1"/>
          <p:nvPr/>
        </p:nvSpPr>
        <p:spPr>
          <a:xfrm>
            <a:off x="502920" y="1645920"/>
            <a:ext cx="6766560" cy="1700784"/>
          </a:xfrm>
          <a:prstGeom prst="rect">
            <a:avLst/>
          </a:prstGeom>
          <a:noFill/>
          <a:ln/>
        </p:spPr>
        <p:txBody>
          <a:bodyPr wrap="square" lIns="0" tIns="0" rIns="0" bIns="0" rtlCol="0" anchor="ctr"/>
          <a:lstStyle/>
          <a:p>
            <a:pPr indent="0" marL="0">
              <a:lnSpc>
                <a:spcPts val="5600"/>
              </a:lnSpc>
              <a:buNone/>
            </a:pPr>
            <a:r>
              <a:rPr lang="en-US" sz="5400" b="1" dirty="0">
                <a:solidFill>
                  <a:srgbClr val="F7F4FB"/>
                </a:solidFill>
                <a:latin typeface="Georgia" pitchFamily="34" charset="0"/>
                <a:ea typeface="Georgia" pitchFamily="34" charset="-122"/>
                <a:cs typeface="Georgia" pitchFamily="34" charset="-120"/>
              </a:rPr>
              <a:t>Theory</a:t>
            </a:r>
            <a:endParaRPr lang="en-US" sz="5400" dirty="0"/>
          </a:p>
          <a:p>
            <a:pPr indent="0" marL="0">
              <a:lnSpc>
                <a:spcPts val="5600"/>
              </a:lnSpc>
              <a:buNone/>
            </a:pPr>
            <a:r>
              <a:rPr lang="en-US" sz="5400" b="1" dirty="0">
                <a:solidFill>
                  <a:srgbClr val="F7F4FB"/>
                </a:solidFill>
                <a:latin typeface="Georgia" pitchFamily="34" charset="0"/>
                <a:ea typeface="Georgia" pitchFamily="34" charset="-122"/>
                <a:cs typeface="Georgia" pitchFamily="34" charset="-120"/>
              </a:rPr>
              <a:t>or law?</a:t>
            </a:r>
            <a:endParaRPr lang="en-US" sz="5400" dirty="0"/>
          </a:p>
        </p:txBody>
      </p:sp>
      <p:sp>
        <p:nvSpPr>
          <p:cNvPr id="15" name="title_sub"/>
          <p:cNvSpPr txBox="1"/>
          <p:nvPr/>
        </p:nvSpPr>
        <p:spPr>
          <a:xfrm>
            <a:off x="502920" y="3529584"/>
            <a:ext cx="6766560" cy="548640"/>
          </a:xfrm>
          <a:prstGeom prst="rect">
            <a:avLst/>
          </a:prstGeom>
          <a:noFill/>
          <a:ln/>
        </p:spPr>
        <p:txBody>
          <a:bodyPr wrap="square" lIns="0" tIns="0" rIns="0" bIns="0" rtlCol="0" anchor="t"/>
          <a:lstStyle/>
          <a:p>
            <a:pPr indent="0" marL="0">
              <a:lnSpc>
                <a:spcPts val="2300"/>
              </a:lnSpc>
              <a:buNone/>
            </a:pPr>
            <a:r>
              <a:rPr lang="en-US" sz="1500" dirty="0">
                <a:solidFill>
                  <a:srgbClr val="E3DAF0"/>
                </a:solidFill>
                <a:latin typeface="Arial" pitchFamily="34" charset="0"/>
                <a:ea typeface="Arial" pitchFamily="34" charset="-122"/>
                <a:cs typeface="Arial" pitchFamily="34" charset="-120"/>
              </a:rPr>
              <a:t>Science makes two different things. One says what happens. The other says why.</a:t>
            </a:r>
            <a:endParaRPr lang="en-US" sz="1500" dirty="0"/>
          </a:p>
        </p:txBody>
      </p:sp>
      <p:sp>
        <p:nvSpPr>
          <p:cNvPr id="16" name="title_place"/>
          <p:cNvSpPr txBox="1"/>
          <p:nvPr/>
        </p:nvSpPr>
        <p:spPr>
          <a:xfrm>
            <a:off x="502920" y="5815584"/>
            <a:ext cx="6400800" cy="329184"/>
          </a:xfrm>
          <a:prstGeom prst="rect">
            <a:avLst/>
          </a:prstGeom>
          <a:noFill/>
          <a:ln/>
        </p:spPr>
        <p:txBody>
          <a:bodyPr wrap="square" lIns="0" tIns="0" rIns="0" bIns="0" rtlCol="0" anchor="ctr"/>
          <a:lstStyle/>
          <a:p>
            <a:pPr indent="0" marL="0">
              <a:buNone/>
            </a:pPr>
            <a:r>
              <a:rPr lang="en-US" sz="1200" i="1" dirty="0">
                <a:solidFill>
                  <a:srgbClr val="F2A03D"/>
                </a:solidFill>
                <a:latin typeface="Arial" pitchFamily="34" charset="0"/>
                <a:ea typeface="Arial" pitchFamily="34" charset="-122"/>
                <a:cs typeface="Arial" pitchFamily="34" charset="-120"/>
              </a:rPr>
              <a:t>Unit 1  ·  The World of Science</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 fill="hold">
                      <p:stCondLst>
                        <p:cond delay="0"/>
                      </p:stCondLst>
                      <p:childTnLst>
                        <p:par>
                          <p:cTn id="37" fill="hold">
                            <p:stCondLst>
                              <p:cond delay="0"/>
                            </p:stCondLst>
                            <p:childTnLst>
                              <p:par>
                                <p:cTn id="5" presetID="10" presetClass="entr" presetSubtype="0" fill="hold" grpId="0" nodeType="with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400"/>
                                        <p:tgtEl>
                                          <p:spTgt spid="13"/>
                                        </p:tgtEl>
                                      </p:cBhvr>
                                    </p:animEffect>
                                  </p:childTnLst>
                                </p:cTn>
                              </p:par>
                              <p:par>
                                <p:cTn id="8" presetID="10" presetClass="entr" presetSubtype="0" fill="hold" grpId="0" nodeType="withEffect">
                                  <p:stCondLst>
                                    <p:cond delay="15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11" presetID="10" presetClass="entr" presetSubtype="0" fill="hold" grpId="0" nodeType="withEffect">
                                  <p:stCondLst>
                                    <p:cond delay="30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par>
                                <p:cTn id="15" presetID="23" presetClass="entr" presetSubtype="16"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animScale>
                                      <p:cBhvr>
                                        <p:cTn id="14" dur="400" fill="hold"/>
                                        <p:tgtEl>
                                          <p:spTgt spid="7"/>
                                        </p:tgtEl>
                                      </p:cBhvr>
                                      <p:from x="0" y="0"/>
                                      <p:to x="100000" y="100000"/>
                                    </p:animScale>
                                  </p:childTnLst>
                                </p:cTn>
                              </p:par>
                              <p:par>
                                <p:cTn id="18" presetID="10" presetClass="entr" presetSubtype="0" fill="hold" grpId="0" nodeType="withEffect">
                                  <p:stCondLst>
                                    <p:cond delay="60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par>
                                <p:cTn id="21" presetID="10" presetClass="entr" presetSubtype="0" fill="hold" grpId="0" nodeType="withEffect">
                                  <p:stCondLst>
                                    <p:cond delay="7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00"/>
                                        <p:tgtEl>
                                          <p:spTgt spid="8"/>
                                        </p:tgtEl>
                                      </p:cBhvr>
                                    </p:animEffect>
                                  </p:childTnLst>
                                </p:cTn>
                              </p:par>
                              <p:par>
                                <p:cTn id="25" presetID="23" presetClass="entr" presetSubtype="16" fill="hold" grpId="0" nodeType="withEffect">
                                  <p:stCondLst>
                                    <p:cond delay="90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00"/>
                                        <p:tgtEl>
                                          <p:spTgt spid="9"/>
                                        </p:tgtEl>
                                      </p:cBhvr>
                                    </p:animEffect>
                                    <p:animScale>
                                      <p:cBhvr>
                                        <p:cTn id="24" dur="400" fill="hold"/>
                                        <p:tgtEl>
                                          <p:spTgt spid="9"/>
                                        </p:tgtEl>
                                      </p:cBhvr>
                                      <p:from x="0" y="0"/>
                                      <p:to x="100000" y="100000"/>
                                    </p:animScale>
                                  </p:childTnLst>
                                </p:cTn>
                              </p:par>
                              <p:par>
                                <p:cTn id="29" presetID="23" presetClass="entr" presetSubtype="16" fill="hold" grpId="0" nodeType="withEffect">
                                  <p:stCondLst>
                                    <p:cond delay="105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animScale>
                                      <p:cBhvr>
                                        <p:cTn id="28" dur="400" fill="hold"/>
                                        <p:tgtEl>
                                          <p:spTgt spid="17"/>
                                        </p:tgtEl>
                                      </p:cBhvr>
                                      <p:from x="0" y="0"/>
                                      <p:to x="100000" y="100000"/>
                                    </p:animScale>
                                  </p:childTnLst>
                                </p:cTn>
                              </p:par>
                              <p:par>
                                <p:cTn id="32" presetID="10" presetClass="entr" presetSubtype="0" fill="hold" grpId="0" nodeType="withEffect">
                                  <p:stCondLst>
                                    <p:cond delay="12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5" presetID="10" presetClass="entr" presetSubtype="0" fill="hold" grpId="0" nodeType="withEffect">
                                  <p:stCondLst>
                                    <p:cond delay="135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3017520"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OBJECTIVES · 2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Today’s goals</a:t>
            </a:r>
            <a:endParaRPr lang="en-US" sz="3000" dirty="0"/>
          </a:p>
        </p:txBody>
      </p:sp>
      <p:grpSp>
        <p:nvGrpSpPr>
          <p:cNvPr id="25" name="obj_block"/>
          <p:cNvGrpSpPr/>
          <p:nvPr/>
        </p:nvGrpSpPr>
        <p:grpSpPr>
          <a:xfrm>
            <a:off x="502920" y="1810512"/>
            <a:ext cx="5394960" cy="4023360"/>
            <a:chOff x="502920" y="1810512"/>
            <a:chExt cx="5394960" cy="4023360"/>
          </a:xfrm>
        </p:grpSpPr>
        <p:sp>
          <p:nvSpPr>
            <p:cNvPr id="4" name="obj_card"/>
            <p:cNvSpPr/>
            <p:nvPr/>
          </p:nvSpPr>
          <p:spPr>
            <a:xfrm>
              <a:off x="502920" y="1810512"/>
              <a:ext cx="5394960" cy="4023360"/>
            </a:xfrm>
            <a:prstGeom prst="roundRect">
              <a:avLst>
                <a:gd name="adj" fmla="val 3182"/>
              </a:avLst>
            </a:prstGeom>
            <a:solidFill>
              <a:srgbClr val="FFFFFF"/>
            </a:solidFill>
            <a:ln w="15875">
              <a:solidFill>
                <a:srgbClr val="E3DAF0"/>
              </a:solidFill>
              <a:prstDash val="solid"/>
            </a:ln>
          </p:spPr>
        </p:sp>
        <p:sp>
          <p:nvSpPr>
            <p:cNvPr id="5" name="obj_head"/>
            <p:cNvSpPr txBox="1"/>
            <p:nvPr/>
          </p:nvSpPr>
          <p:spPr>
            <a:xfrm>
              <a:off x="740664" y="1993392"/>
              <a:ext cx="4937760" cy="274320"/>
            </a:xfrm>
            <a:prstGeom prst="rect">
              <a:avLst/>
            </a:prstGeom>
            <a:noFill/>
            <a:ln/>
          </p:spPr>
          <p:txBody>
            <a:bodyPr wrap="square" lIns="0" tIns="0" rIns="0" bIns="0" rtlCol="0" anchor="ctr"/>
            <a:lstStyle/>
            <a:p>
              <a:pPr indent="0" marL="0">
                <a:buNone/>
              </a:pPr>
              <a:r>
                <a:rPr lang="en-US" sz="1100" b="1" spc="100" kern="0" dirty="0">
                  <a:solidFill>
                    <a:srgbClr val="4A2C6F"/>
                  </a:solidFill>
                  <a:latin typeface="Arial" pitchFamily="34" charset="0"/>
                  <a:ea typeface="Arial" pitchFamily="34" charset="-122"/>
                  <a:cs typeface="Arial" pitchFamily="34" charset="-120"/>
                </a:rPr>
                <a:t>LESSON OBJECTIVES</a:t>
              </a:r>
              <a:endParaRPr lang="en-US" sz="1100" dirty="0"/>
            </a:p>
          </p:txBody>
        </p:sp>
        <p:sp>
          <p:nvSpPr>
            <p:cNvPr id="12" name="obj_seq"/>
            <p:cNvSpPr txBox="1"/>
            <p:nvPr/>
          </p:nvSpPr>
          <p:spPr>
            <a:xfrm>
              <a:off x="740664" y="5413248"/>
              <a:ext cx="4937760" cy="292608"/>
            </a:xfrm>
            <a:prstGeom prst="rect">
              <a:avLst/>
            </a:prstGeom>
            <a:noFill/>
            <a:ln/>
          </p:spPr>
          <p:txBody>
            <a:bodyPr wrap="square" lIns="0" tIns="0" rIns="0" bIns="0" rtlCol="0" anchor="ctr"/>
            <a:lstStyle/>
            <a:p>
              <a:pPr indent="0" marL="0">
                <a:buNone/>
              </a:pPr>
              <a:r>
                <a:rPr lang="en-US" sz="1150" b="1" dirty="0">
                  <a:solidFill>
                    <a:srgbClr val="D94F6A"/>
                  </a:solidFill>
                  <a:latin typeface="Arial" pitchFamily="34" charset="0"/>
                  <a:ea typeface="Arial" pitchFamily="34" charset="-122"/>
                  <a:cs typeface="Arial" pitchFamily="34" charset="-120"/>
                </a:rPr>
                <a:t>This is the one the essay is on.</a:t>
              </a:r>
              <a:endParaRPr lang="en-US" sz="1150" dirty="0"/>
            </a:p>
          </p:txBody>
        </p:sp>
        <p:sp>
          <p:nvSpPr>
            <p:cNvPr id="6" name="obj0_n"/>
            <p:cNvSpPr txBox="1"/>
            <p:nvPr/>
          </p:nvSpPr>
          <p:spPr>
            <a:xfrm>
              <a:off x="740664" y="2432304"/>
              <a:ext cx="329184" cy="310896"/>
            </a:xfrm>
            <a:prstGeom prst="rect">
              <a:avLst/>
            </a:prstGeom>
            <a:noFill/>
            <a:ln/>
          </p:spPr>
          <p:txBody>
            <a:bodyPr wrap="square" lIns="0" tIns="0" rIns="0" bIns="0" rtlCol="0" anchor="t"/>
            <a:lstStyle/>
            <a:p>
              <a:pPr indent="0" marL="0">
                <a:buNone/>
              </a:pPr>
              <a:r>
                <a:rPr lang="en-US" sz="1500" b="1" dirty="0">
                  <a:solidFill>
                    <a:srgbClr val="F2A03D"/>
                  </a:solidFill>
                  <a:latin typeface="Arial" pitchFamily="34" charset="0"/>
                  <a:ea typeface="Arial" pitchFamily="34" charset="-122"/>
                  <a:cs typeface="Arial" pitchFamily="34" charset="-120"/>
                </a:rPr>
                <a:t>1.</a:t>
              </a:r>
              <a:endParaRPr lang="en-US" sz="1500" dirty="0"/>
            </a:p>
          </p:txBody>
        </p:sp>
        <p:sp>
          <p:nvSpPr>
            <p:cNvPr id="7" name="obj0_t"/>
            <p:cNvSpPr txBox="1"/>
            <p:nvPr/>
          </p:nvSpPr>
          <p:spPr>
            <a:xfrm>
              <a:off x="1106424" y="2432304"/>
              <a:ext cx="4572000" cy="877824"/>
            </a:xfrm>
            <a:prstGeom prst="rect">
              <a:avLst/>
            </a:prstGeom>
            <a:noFill/>
            <a:ln/>
          </p:spPr>
          <p:txBody>
            <a:bodyPr wrap="square" lIns="0" tIns="0" rIns="0" bIns="0" rtlCol="0" anchor="t"/>
            <a:lstStyle/>
            <a:p>
              <a:pPr indent="0" marL="0">
                <a:lnSpc>
                  <a:spcPts val="1900"/>
                </a:lnSpc>
                <a:buNone/>
              </a:pPr>
              <a:r>
                <a:rPr lang="en-US" sz="1350" dirty="0">
                  <a:solidFill>
                    <a:srgbClr val="241535"/>
                  </a:solidFill>
                  <a:latin typeface="Arial" pitchFamily="34" charset="0"/>
                  <a:ea typeface="Arial" pitchFamily="34" charset="-122"/>
                  <a:cs typeface="Arial" pitchFamily="34" charset="-120"/>
                </a:rPr>
                <a:t>Say what a scientific law is, and give an example.</a:t>
              </a:r>
              <a:endParaRPr lang="en-US" sz="1350" dirty="0"/>
            </a:p>
          </p:txBody>
        </p:sp>
        <p:sp>
          <p:nvSpPr>
            <p:cNvPr id="8" name="obj1_n"/>
            <p:cNvSpPr txBox="1"/>
            <p:nvPr/>
          </p:nvSpPr>
          <p:spPr>
            <a:xfrm>
              <a:off x="740664" y="3438144"/>
              <a:ext cx="329184" cy="310896"/>
            </a:xfrm>
            <a:prstGeom prst="rect">
              <a:avLst/>
            </a:prstGeom>
            <a:noFill/>
            <a:ln/>
          </p:spPr>
          <p:txBody>
            <a:bodyPr wrap="square" lIns="0" tIns="0" rIns="0" bIns="0" rtlCol="0" anchor="t"/>
            <a:lstStyle/>
            <a:p>
              <a:pPr indent="0" marL="0">
                <a:buNone/>
              </a:pPr>
              <a:r>
                <a:rPr lang="en-US" sz="1500" b="1" dirty="0">
                  <a:solidFill>
                    <a:srgbClr val="F2A03D"/>
                  </a:solidFill>
                  <a:latin typeface="Arial" pitchFamily="34" charset="0"/>
                  <a:ea typeface="Arial" pitchFamily="34" charset="-122"/>
                  <a:cs typeface="Arial" pitchFamily="34" charset="-120"/>
                </a:rPr>
                <a:t>2.</a:t>
              </a:r>
              <a:endParaRPr lang="en-US" sz="1500" dirty="0"/>
            </a:p>
          </p:txBody>
        </p:sp>
        <p:sp>
          <p:nvSpPr>
            <p:cNvPr id="9" name="obj1_t"/>
            <p:cNvSpPr txBox="1"/>
            <p:nvPr/>
          </p:nvSpPr>
          <p:spPr>
            <a:xfrm>
              <a:off x="1106424" y="3438144"/>
              <a:ext cx="4572000" cy="877824"/>
            </a:xfrm>
            <a:prstGeom prst="rect">
              <a:avLst/>
            </a:prstGeom>
            <a:noFill/>
            <a:ln/>
          </p:spPr>
          <p:txBody>
            <a:bodyPr wrap="square" lIns="0" tIns="0" rIns="0" bIns="0" rtlCol="0" anchor="t"/>
            <a:lstStyle/>
            <a:p>
              <a:pPr indent="0" marL="0">
                <a:lnSpc>
                  <a:spcPts val="1900"/>
                </a:lnSpc>
                <a:buNone/>
              </a:pPr>
              <a:r>
                <a:rPr lang="en-US" sz="1350" dirty="0">
                  <a:solidFill>
                    <a:srgbClr val="241535"/>
                  </a:solidFill>
                  <a:latin typeface="Arial" pitchFamily="34" charset="0"/>
                  <a:ea typeface="Arial" pitchFamily="34" charset="-122"/>
                  <a:cs typeface="Arial" pitchFamily="34" charset="-120"/>
                </a:rPr>
                <a:t>Say what a scientific theory is, and give an example.</a:t>
              </a:r>
              <a:endParaRPr lang="en-US" sz="1350" dirty="0"/>
            </a:p>
          </p:txBody>
        </p:sp>
        <p:sp>
          <p:nvSpPr>
            <p:cNvPr id="10" name="obj2_n"/>
            <p:cNvSpPr txBox="1"/>
            <p:nvPr/>
          </p:nvSpPr>
          <p:spPr>
            <a:xfrm>
              <a:off x="740664" y="4443984"/>
              <a:ext cx="329184" cy="310896"/>
            </a:xfrm>
            <a:prstGeom prst="rect">
              <a:avLst/>
            </a:prstGeom>
            <a:noFill/>
            <a:ln/>
          </p:spPr>
          <p:txBody>
            <a:bodyPr wrap="square" lIns="0" tIns="0" rIns="0" bIns="0" rtlCol="0" anchor="t"/>
            <a:lstStyle/>
            <a:p>
              <a:pPr indent="0" marL="0">
                <a:buNone/>
              </a:pPr>
              <a:r>
                <a:rPr lang="en-US" sz="1500" b="1" dirty="0">
                  <a:solidFill>
                    <a:srgbClr val="F2A03D"/>
                  </a:solidFill>
                  <a:latin typeface="Arial" pitchFamily="34" charset="0"/>
                  <a:ea typeface="Arial" pitchFamily="34" charset="-122"/>
                  <a:cs typeface="Arial" pitchFamily="34" charset="-120"/>
                </a:rPr>
                <a:t>3.</a:t>
              </a:r>
              <a:endParaRPr lang="en-US" sz="1500" dirty="0"/>
            </a:p>
          </p:txBody>
        </p:sp>
        <p:sp>
          <p:nvSpPr>
            <p:cNvPr id="11" name="obj2_t"/>
            <p:cNvSpPr txBox="1"/>
            <p:nvPr/>
          </p:nvSpPr>
          <p:spPr>
            <a:xfrm>
              <a:off x="1106424" y="4443984"/>
              <a:ext cx="4572000" cy="877824"/>
            </a:xfrm>
            <a:prstGeom prst="rect">
              <a:avLst/>
            </a:prstGeom>
            <a:noFill/>
            <a:ln/>
          </p:spPr>
          <p:txBody>
            <a:bodyPr wrap="square" lIns="0" tIns="0" rIns="0" bIns="0" rtlCol="0" anchor="t"/>
            <a:lstStyle/>
            <a:p>
              <a:pPr indent="0" marL="0">
                <a:lnSpc>
                  <a:spcPts val="1900"/>
                </a:lnSpc>
                <a:buNone/>
              </a:pPr>
              <a:r>
                <a:rPr lang="en-US" sz="1350" dirty="0">
                  <a:solidFill>
                    <a:srgbClr val="241535"/>
                  </a:solidFill>
                  <a:latin typeface="Arial" pitchFamily="34" charset="0"/>
                  <a:ea typeface="Arial" pitchFamily="34" charset="-122"/>
                  <a:cs typeface="Arial" pitchFamily="34" charset="-120"/>
                </a:rPr>
                <a:t>Explain why a theory never turns into a law.</a:t>
              </a:r>
              <a:endParaRPr lang="en-US" sz="1350" dirty="0"/>
            </a:p>
          </p:txBody>
        </p:sp>
      </p:grpSp>
      <p:grpSp>
        <p:nvGrpSpPr>
          <p:cNvPr id="26" name="sc_block"/>
          <p:cNvGrpSpPr/>
          <p:nvPr/>
        </p:nvGrpSpPr>
        <p:grpSpPr>
          <a:xfrm>
            <a:off x="6263640" y="1810512"/>
            <a:ext cx="5425135" cy="4023360"/>
            <a:chOff x="6263640" y="1810512"/>
            <a:chExt cx="5425135" cy="4023360"/>
          </a:xfrm>
        </p:grpSpPr>
        <p:sp>
          <p:nvSpPr>
            <p:cNvPr id="13" name="sc_card"/>
            <p:cNvSpPr/>
            <p:nvPr/>
          </p:nvSpPr>
          <p:spPr>
            <a:xfrm>
              <a:off x="6263640" y="1810512"/>
              <a:ext cx="5425135" cy="4023360"/>
            </a:xfrm>
            <a:prstGeom prst="roundRect">
              <a:avLst>
                <a:gd name="adj" fmla="val 3182"/>
              </a:avLst>
            </a:prstGeom>
            <a:solidFill>
              <a:srgbClr val="E8F6F5"/>
            </a:solidFill>
            <a:ln w="15875">
              <a:solidFill>
                <a:srgbClr val="2BA6A0"/>
              </a:solidFill>
              <a:prstDash val="solid"/>
            </a:ln>
          </p:spPr>
        </p:sp>
        <p:sp>
          <p:nvSpPr>
            <p:cNvPr id="14" name="sc_head"/>
            <p:cNvSpPr txBox="1"/>
            <p:nvPr/>
          </p:nvSpPr>
          <p:spPr>
            <a:xfrm>
              <a:off x="6501384" y="1993392"/>
              <a:ext cx="5120640" cy="274320"/>
            </a:xfrm>
            <a:prstGeom prst="rect">
              <a:avLst/>
            </a:prstGeom>
            <a:noFill/>
            <a:ln/>
          </p:spPr>
          <p:txBody>
            <a:bodyPr wrap="square" lIns="0" tIns="0" rIns="0" bIns="0" rtlCol="0" anchor="ctr"/>
            <a:lstStyle/>
            <a:p>
              <a:pPr indent="0" marL="0">
                <a:buNone/>
              </a:pPr>
              <a:r>
                <a:rPr lang="en-US" sz="1100" b="1" spc="100" kern="0" dirty="0">
                  <a:solidFill>
                    <a:srgbClr val="2BA6A0"/>
                  </a:solidFill>
                  <a:latin typeface="Arial" pitchFamily="34" charset="0"/>
                  <a:ea typeface="Arial" pitchFamily="34" charset="-122"/>
                  <a:cs typeface="Arial" pitchFamily="34" charset="-120"/>
                </a:rPr>
                <a:t>SUCCESS CRITERIA — tick these off yourself</a:t>
              </a:r>
              <a:endParaRPr lang="en-US" sz="1100" dirty="0"/>
            </a:p>
          </p:txBody>
        </p:sp>
        <p:sp>
          <p:nvSpPr>
            <p:cNvPr id="15" name="sc0_box"/>
            <p:cNvSpPr/>
            <p:nvPr/>
          </p:nvSpPr>
          <p:spPr>
            <a:xfrm>
              <a:off x="6501384" y="2450592"/>
              <a:ext cx="201168" cy="201168"/>
            </a:xfrm>
            <a:prstGeom prst="rect">
              <a:avLst/>
            </a:prstGeom>
            <a:solidFill>
              <a:srgbClr val="FFFFFF"/>
            </a:solidFill>
            <a:ln w="15240">
              <a:solidFill>
                <a:srgbClr val="2BA6A0"/>
              </a:solidFill>
              <a:prstDash val="solid"/>
            </a:ln>
          </p:spPr>
        </p:sp>
        <p:sp>
          <p:nvSpPr>
            <p:cNvPr id="16" name="sc0_t"/>
            <p:cNvSpPr txBox="1"/>
            <p:nvPr/>
          </p:nvSpPr>
          <p:spPr>
            <a:xfrm>
              <a:off x="6830568" y="2377440"/>
              <a:ext cx="4602175" cy="585216"/>
            </a:xfrm>
            <a:prstGeom prst="rect">
              <a:avLst/>
            </a:prstGeom>
            <a:noFill/>
            <a:ln/>
          </p:spPr>
          <p:txBody>
            <a:bodyPr wrap="square" lIns="0" tIns="0" rIns="0" bIns="0" rtlCol="0" anchor="t"/>
            <a:lstStyle/>
            <a:p>
              <a:pPr indent="0" marL="0">
                <a:lnSpc>
                  <a:spcPts val="1700"/>
                </a:lnSpc>
                <a:buNone/>
              </a:pPr>
              <a:r>
                <a:rPr lang="en-US" sz="1250" dirty="0">
                  <a:solidFill>
                    <a:srgbClr val="241535"/>
                  </a:solidFill>
                  <a:latin typeface="Arial" pitchFamily="34" charset="0"/>
                  <a:ea typeface="Arial" pitchFamily="34" charset="-122"/>
                  <a:cs typeface="Arial" pitchFamily="34" charset="-120"/>
                </a:rPr>
                <a:t>I can say what a law does in one sentence.</a:t>
              </a:r>
              <a:endParaRPr lang="en-US" sz="1250" dirty="0"/>
            </a:p>
          </p:txBody>
        </p:sp>
        <p:sp>
          <p:nvSpPr>
            <p:cNvPr id="17" name="sc1_box"/>
            <p:cNvSpPr/>
            <p:nvPr/>
          </p:nvSpPr>
          <p:spPr>
            <a:xfrm>
              <a:off x="6501384" y="3145536"/>
              <a:ext cx="201168" cy="201168"/>
            </a:xfrm>
            <a:prstGeom prst="rect">
              <a:avLst/>
            </a:prstGeom>
            <a:solidFill>
              <a:srgbClr val="FFFFFF"/>
            </a:solidFill>
            <a:ln w="15240">
              <a:solidFill>
                <a:srgbClr val="2BA6A0"/>
              </a:solidFill>
              <a:prstDash val="solid"/>
            </a:ln>
          </p:spPr>
        </p:sp>
        <p:sp>
          <p:nvSpPr>
            <p:cNvPr id="18" name="sc1_t"/>
            <p:cNvSpPr txBox="1"/>
            <p:nvPr/>
          </p:nvSpPr>
          <p:spPr>
            <a:xfrm>
              <a:off x="6830568" y="3072384"/>
              <a:ext cx="4602175" cy="585216"/>
            </a:xfrm>
            <a:prstGeom prst="rect">
              <a:avLst/>
            </a:prstGeom>
            <a:noFill/>
            <a:ln/>
          </p:spPr>
          <p:txBody>
            <a:bodyPr wrap="square" lIns="0" tIns="0" rIns="0" bIns="0" rtlCol="0" anchor="t"/>
            <a:lstStyle/>
            <a:p>
              <a:pPr indent="0" marL="0">
                <a:lnSpc>
                  <a:spcPts val="1700"/>
                </a:lnSpc>
                <a:buNone/>
              </a:pPr>
              <a:r>
                <a:rPr lang="en-US" sz="1250" dirty="0">
                  <a:solidFill>
                    <a:srgbClr val="241535"/>
                  </a:solidFill>
                  <a:latin typeface="Arial" pitchFamily="34" charset="0"/>
                  <a:ea typeface="Arial" pitchFamily="34" charset="-122"/>
                  <a:cs typeface="Arial" pitchFamily="34" charset="-120"/>
                </a:rPr>
                <a:t>I can say what a theory does in one sentence.</a:t>
              </a:r>
              <a:endParaRPr lang="en-US" sz="1250" dirty="0"/>
            </a:p>
          </p:txBody>
        </p:sp>
        <p:sp>
          <p:nvSpPr>
            <p:cNvPr id="19" name="sc2_box"/>
            <p:cNvSpPr/>
            <p:nvPr/>
          </p:nvSpPr>
          <p:spPr>
            <a:xfrm>
              <a:off x="6501384" y="3840480"/>
              <a:ext cx="201168" cy="201168"/>
            </a:xfrm>
            <a:prstGeom prst="rect">
              <a:avLst/>
            </a:prstGeom>
            <a:solidFill>
              <a:srgbClr val="FFFFFF"/>
            </a:solidFill>
            <a:ln w="15240">
              <a:solidFill>
                <a:srgbClr val="2BA6A0"/>
              </a:solidFill>
              <a:prstDash val="solid"/>
            </a:ln>
          </p:spPr>
        </p:sp>
        <p:sp>
          <p:nvSpPr>
            <p:cNvPr id="20" name="sc2_t"/>
            <p:cNvSpPr txBox="1"/>
            <p:nvPr/>
          </p:nvSpPr>
          <p:spPr>
            <a:xfrm>
              <a:off x="6830568" y="3767328"/>
              <a:ext cx="4602175" cy="585216"/>
            </a:xfrm>
            <a:prstGeom prst="rect">
              <a:avLst/>
            </a:prstGeom>
            <a:noFill/>
            <a:ln/>
          </p:spPr>
          <p:txBody>
            <a:bodyPr wrap="square" lIns="0" tIns="0" rIns="0" bIns="0" rtlCol="0" anchor="t"/>
            <a:lstStyle/>
            <a:p>
              <a:pPr indent="0" marL="0">
                <a:lnSpc>
                  <a:spcPts val="1700"/>
                </a:lnSpc>
                <a:buNone/>
              </a:pPr>
              <a:r>
                <a:rPr lang="en-US" sz="1250" dirty="0">
                  <a:solidFill>
                    <a:srgbClr val="241535"/>
                  </a:solidFill>
                  <a:latin typeface="Arial" pitchFamily="34" charset="0"/>
                  <a:ea typeface="Arial" pitchFamily="34" charset="-122"/>
                  <a:cs typeface="Arial" pitchFamily="34" charset="-120"/>
                </a:rPr>
                <a:t>I can sort five statements into laws and theories.</a:t>
              </a:r>
              <a:endParaRPr lang="en-US" sz="1250" dirty="0"/>
            </a:p>
          </p:txBody>
        </p:sp>
        <p:sp>
          <p:nvSpPr>
            <p:cNvPr id="21" name="sc3_box"/>
            <p:cNvSpPr/>
            <p:nvPr/>
          </p:nvSpPr>
          <p:spPr>
            <a:xfrm>
              <a:off x="6501384" y="4535424"/>
              <a:ext cx="201168" cy="201168"/>
            </a:xfrm>
            <a:prstGeom prst="rect">
              <a:avLst/>
            </a:prstGeom>
            <a:solidFill>
              <a:srgbClr val="FFFFFF"/>
            </a:solidFill>
            <a:ln w="15240">
              <a:solidFill>
                <a:srgbClr val="2BA6A0"/>
              </a:solidFill>
              <a:prstDash val="solid"/>
            </a:ln>
          </p:spPr>
        </p:sp>
        <p:sp>
          <p:nvSpPr>
            <p:cNvPr id="22" name="sc3_t"/>
            <p:cNvSpPr txBox="1"/>
            <p:nvPr/>
          </p:nvSpPr>
          <p:spPr>
            <a:xfrm>
              <a:off x="6830568" y="4462272"/>
              <a:ext cx="4602175" cy="585216"/>
            </a:xfrm>
            <a:prstGeom prst="rect">
              <a:avLst/>
            </a:prstGeom>
            <a:noFill/>
            <a:ln/>
          </p:spPr>
          <p:txBody>
            <a:bodyPr wrap="square" lIns="0" tIns="0" rIns="0" bIns="0" rtlCol="0" anchor="t"/>
            <a:lstStyle/>
            <a:p>
              <a:pPr indent="0" marL="0">
                <a:lnSpc>
                  <a:spcPts val="1700"/>
                </a:lnSpc>
                <a:buNone/>
              </a:pPr>
              <a:r>
                <a:rPr lang="en-US" sz="1250" dirty="0">
                  <a:solidFill>
                    <a:srgbClr val="241535"/>
                  </a:solidFill>
                  <a:latin typeface="Arial" pitchFamily="34" charset="0"/>
                  <a:ea typeface="Arial" pitchFamily="34" charset="-122"/>
                  <a:cs typeface="Arial" pitchFamily="34" charset="-120"/>
                </a:rPr>
                <a:t>I can explain why "only a theory" is wrong.</a:t>
              </a:r>
              <a:endParaRPr lang="en-US" sz="1250" dirty="0"/>
            </a:p>
          </p:txBody>
        </p:sp>
        <p:sp>
          <p:nvSpPr>
            <p:cNvPr id="23" name="sc4_box"/>
            <p:cNvSpPr/>
            <p:nvPr/>
          </p:nvSpPr>
          <p:spPr>
            <a:xfrm>
              <a:off x="6501384" y="5230368"/>
              <a:ext cx="201168" cy="201168"/>
            </a:xfrm>
            <a:prstGeom prst="rect">
              <a:avLst/>
            </a:prstGeom>
            <a:solidFill>
              <a:srgbClr val="FFFFFF"/>
            </a:solidFill>
            <a:ln w="15240">
              <a:solidFill>
                <a:srgbClr val="2BA6A0"/>
              </a:solidFill>
              <a:prstDash val="solid"/>
            </a:ln>
          </p:spPr>
        </p:sp>
        <p:sp>
          <p:nvSpPr>
            <p:cNvPr id="24" name="sc4_t"/>
            <p:cNvSpPr txBox="1"/>
            <p:nvPr/>
          </p:nvSpPr>
          <p:spPr>
            <a:xfrm>
              <a:off x="6830568" y="5157216"/>
              <a:ext cx="4602175" cy="585216"/>
            </a:xfrm>
            <a:prstGeom prst="rect">
              <a:avLst/>
            </a:prstGeom>
            <a:noFill/>
            <a:ln/>
          </p:spPr>
          <p:txBody>
            <a:bodyPr wrap="square" lIns="0" tIns="0" rIns="0" bIns="0" rtlCol="0" anchor="t"/>
            <a:lstStyle/>
            <a:p>
              <a:pPr indent="0" marL="0">
                <a:lnSpc>
                  <a:spcPts val="1700"/>
                </a:lnSpc>
                <a:buNone/>
              </a:pPr>
              <a:r>
                <a:rPr lang="en-US" sz="1250" dirty="0">
                  <a:solidFill>
                    <a:srgbClr val="241535"/>
                  </a:solidFill>
                  <a:latin typeface="Arial" pitchFamily="34" charset="0"/>
                  <a:ea typeface="Arial" pitchFamily="34" charset="-122"/>
                  <a:cs typeface="Arial" pitchFamily="34" charset="-120"/>
                </a:rPr>
                <a:t>I can name one law and one theory about the same thing.</a:t>
              </a:r>
              <a:endParaRPr lang="en-US" sz="125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5"/>
                                        </p:tgtEl>
                                        <p:attrNameLst>
                                          <p:attrName>style.visibility</p:attrName>
                                        </p:attrNameLst>
                                      </p:cBhvr>
                                      <p:to>
                                        <p:strVal val="visible"/>
                                      </p:to>
                                    </p:set>
                                    <p:animEffect transition="in" filter="fade">
                                      <p:cBhvr>
                                        <p:cTn id="4" dur="4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26"/>
                                        </p:tgtEl>
                                        <p:attrNameLst>
                                          <p:attrName>style.visibility</p:attrName>
                                        </p:attrNameLst>
                                      </p:cBhvr>
                                      <p:to>
                                        <p:strVal val="visible"/>
                                      </p:to>
                                    </p:set>
                                    <p:animEffect transition="in" filter="wipe(right)">
                                      <p:cBhvr>
                                        <p:cTn id="9"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2432304"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DO NOW · 5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Do Now</a:t>
            </a:r>
            <a:endParaRPr lang="en-US" sz="3000" dirty="0"/>
          </a:p>
        </p:txBody>
      </p:sp>
      <p:sp>
        <p:nvSpPr>
          <p:cNvPr id="4" name="do_intro"/>
          <p:cNvSpPr txBox="1"/>
          <p:nvPr/>
        </p:nvSpPr>
        <p:spPr>
          <a:xfrm>
            <a:off x="502920" y="1554480"/>
            <a:ext cx="10058400" cy="310896"/>
          </a:xfrm>
          <a:prstGeom prst="rect">
            <a:avLst/>
          </a:prstGeom>
          <a:noFill/>
          <a:ln/>
        </p:spPr>
        <p:txBody>
          <a:bodyPr wrap="square" lIns="0" tIns="0" rIns="0" bIns="0" rtlCol="0" anchor="ctr"/>
          <a:lstStyle/>
          <a:p>
            <a:pPr indent="0" marL="0">
              <a:buNone/>
            </a:pPr>
            <a:r>
              <a:rPr lang="en-US" sz="1300" dirty="0">
                <a:solidFill>
                  <a:srgbClr val="6A6180"/>
                </a:solidFill>
                <a:latin typeface="Arial" pitchFamily="34" charset="0"/>
                <a:ea typeface="Arial" pitchFamily="34" charset="-122"/>
                <a:cs typeface="Arial" pitchFamily="34" charset="-120"/>
              </a:rPr>
              <a:t>Books, name and date at the top. All six. Four minutes.</a:t>
            </a:r>
            <a:endParaRPr lang="en-US" sz="1300" dirty="0"/>
          </a:p>
        </p:txBody>
      </p:sp>
      <p:sp>
        <p:nvSpPr>
          <p:cNvPr id="5" name="dq0_card"/>
          <p:cNvSpPr/>
          <p:nvPr/>
        </p:nvSpPr>
        <p:spPr>
          <a:xfrm>
            <a:off x="502920" y="2194560"/>
            <a:ext cx="5455768" cy="1024128"/>
          </a:xfrm>
          <a:prstGeom prst="roundRect">
            <a:avLst>
              <a:gd name="adj" fmla="val 12500"/>
            </a:avLst>
          </a:prstGeom>
          <a:solidFill>
            <a:srgbClr val="FFFFFF"/>
          </a:solidFill>
          <a:ln w="15875">
            <a:solidFill>
              <a:srgbClr val="E3DAF0"/>
            </a:solidFill>
            <a:prstDash val="solid"/>
          </a:ln>
        </p:spPr>
      </p:sp>
      <p:sp>
        <p:nvSpPr>
          <p:cNvPr id="6" name="dq0_n"/>
          <p:cNvSpPr txBox="1"/>
          <p:nvPr/>
        </p:nvSpPr>
        <p:spPr>
          <a:xfrm>
            <a:off x="649224" y="2304288"/>
            <a:ext cx="274320" cy="256032"/>
          </a:xfrm>
          <a:prstGeom prst="rect">
            <a:avLst/>
          </a:prstGeom>
          <a:noFill/>
          <a:ln/>
        </p:spPr>
        <p:txBody>
          <a:bodyPr wrap="square" lIns="0" tIns="0" rIns="0" bIns="0" rtlCol="0" anchor="ctr"/>
          <a:lstStyle/>
          <a:p>
            <a:pPr indent="0" marL="0">
              <a:buNone/>
            </a:pPr>
            <a:r>
              <a:rPr lang="en-US" sz="1300" b="1" dirty="0">
                <a:solidFill>
                  <a:srgbClr val="F2A03D"/>
                </a:solidFill>
                <a:latin typeface="Arial" pitchFamily="34" charset="0"/>
                <a:ea typeface="Arial" pitchFamily="34" charset="-122"/>
                <a:cs typeface="Arial" pitchFamily="34" charset="-120"/>
              </a:rPr>
              <a:t>1</a:t>
            </a:r>
            <a:endParaRPr lang="en-US" sz="1300" dirty="0"/>
          </a:p>
        </p:txBody>
      </p:sp>
      <p:sp>
        <p:nvSpPr>
          <p:cNvPr id="7" name="dq0_q"/>
          <p:cNvSpPr txBox="1"/>
          <p:nvPr/>
        </p:nvSpPr>
        <p:spPr>
          <a:xfrm>
            <a:off x="978408" y="2286000"/>
            <a:ext cx="4797400" cy="420624"/>
          </a:xfrm>
          <a:prstGeom prst="rect">
            <a:avLst/>
          </a:prstGeom>
          <a:noFill/>
          <a:ln/>
        </p:spPr>
        <p:txBody>
          <a:bodyPr wrap="square" lIns="0" tIns="0" rIns="0" bIns="0" rtlCol="0" anchor="t"/>
          <a:lstStyle/>
          <a:p>
            <a:pPr indent="0" marL="0">
              <a:lnSpc>
                <a:spcPts val="1500"/>
              </a:lnSpc>
              <a:buNone/>
            </a:pPr>
            <a:r>
              <a:rPr lang="en-US" sz="1250" dirty="0">
                <a:solidFill>
                  <a:srgbClr val="241535"/>
                </a:solidFill>
                <a:latin typeface="Arial" pitchFamily="34" charset="0"/>
                <a:ea typeface="Arial" pitchFamily="34" charset="-122"/>
                <a:cs typeface="Arial" pitchFamily="34" charset="-120"/>
              </a:rPr>
              <a:t>What two things does science run on?</a:t>
            </a:r>
            <a:endParaRPr lang="en-US" sz="1250" dirty="0"/>
          </a:p>
        </p:txBody>
      </p:sp>
      <p:sp>
        <p:nvSpPr>
          <p:cNvPr id="8" name="dq0_a"/>
          <p:cNvSpPr/>
          <p:nvPr/>
        </p:nvSpPr>
        <p:spPr>
          <a:xfrm>
            <a:off x="978408" y="2761488"/>
            <a:ext cx="4797400" cy="329184"/>
          </a:xfrm>
          <a:prstGeom prst="roundRect">
            <a:avLst>
              <a:gd name="adj" fmla="val 22222"/>
            </a:avLst>
          </a:prstGeom>
          <a:solidFill>
            <a:srgbClr val="FDEEDC"/>
          </a:solidFill>
          <a:ln w="12700">
            <a:solidFill>
              <a:srgbClr val="F2A03D"/>
            </a:solidFill>
          </a:ln>
        </p:spPr>
        <p:txBody>
          <a:bodyPr wrap="square" lIns="762" tIns="762" rIns="762" bIns="762" rtlCol="0" anchor="ctr"/>
          <a:lstStyle/>
          <a:p>
            <a:pPr algn="l" indent="0" marL="0">
              <a:buNone/>
            </a:pPr>
            <a:r>
              <a:rPr lang="en-US" sz="1100" b="1" dirty="0">
                <a:solidFill>
                  <a:srgbClr val="4A2C6F"/>
                </a:solidFill>
                <a:latin typeface="Arial" pitchFamily="34" charset="0"/>
                <a:ea typeface="Arial" pitchFamily="34" charset="-122"/>
                <a:cs typeface="Arial" pitchFamily="34" charset="-120"/>
              </a:rPr>
              <a:t>Evidence and logic.</a:t>
            </a:r>
            <a:endParaRPr lang="en-US" sz="1100" dirty="0"/>
          </a:p>
        </p:txBody>
      </p:sp>
      <p:sp>
        <p:nvSpPr>
          <p:cNvPr id="9" name="dq1_card"/>
          <p:cNvSpPr/>
          <p:nvPr/>
        </p:nvSpPr>
        <p:spPr>
          <a:xfrm>
            <a:off x="6233008" y="2194560"/>
            <a:ext cx="5455768" cy="1024128"/>
          </a:xfrm>
          <a:prstGeom prst="roundRect">
            <a:avLst>
              <a:gd name="adj" fmla="val 12500"/>
            </a:avLst>
          </a:prstGeom>
          <a:solidFill>
            <a:srgbClr val="FFFFFF"/>
          </a:solidFill>
          <a:ln w="15875">
            <a:solidFill>
              <a:srgbClr val="E3DAF0"/>
            </a:solidFill>
            <a:prstDash val="solid"/>
          </a:ln>
        </p:spPr>
      </p:sp>
      <p:sp>
        <p:nvSpPr>
          <p:cNvPr id="10" name="dq1_n"/>
          <p:cNvSpPr txBox="1"/>
          <p:nvPr/>
        </p:nvSpPr>
        <p:spPr>
          <a:xfrm>
            <a:off x="6379312" y="2304288"/>
            <a:ext cx="274320" cy="256032"/>
          </a:xfrm>
          <a:prstGeom prst="rect">
            <a:avLst/>
          </a:prstGeom>
          <a:noFill/>
          <a:ln/>
        </p:spPr>
        <p:txBody>
          <a:bodyPr wrap="square" lIns="0" tIns="0" rIns="0" bIns="0" rtlCol="0" anchor="ctr"/>
          <a:lstStyle/>
          <a:p>
            <a:pPr indent="0" marL="0">
              <a:buNone/>
            </a:pPr>
            <a:r>
              <a:rPr lang="en-US" sz="1300" b="1" dirty="0">
                <a:solidFill>
                  <a:srgbClr val="F2A03D"/>
                </a:solidFill>
                <a:latin typeface="Arial" pitchFamily="34" charset="0"/>
                <a:ea typeface="Arial" pitchFamily="34" charset="-122"/>
                <a:cs typeface="Arial" pitchFamily="34" charset="-120"/>
              </a:rPr>
              <a:t>2</a:t>
            </a:r>
            <a:endParaRPr lang="en-US" sz="1300" dirty="0"/>
          </a:p>
        </p:txBody>
      </p:sp>
      <p:sp>
        <p:nvSpPr>
          <p:cNvPr id="11" name="dq1_q"/>
          <p:cNvSpPr txBox="1"/>
          <p:nvPr/>
        </p:nvSpPr>
        <p:spPr>
          <a:xfrm>
            <a:off x="6708496" y="2286000"/>
            <a:ext cx="4797400" cy="420624"/>
          </a:xfrm>
          <a:prstGeom prst="rect">
            <a:avLst/>
          </a:prstGeom>
          <a:noFill/>
          <a:ln/>
        </p:spPr>
        <p:txBody>
          <a:bodyPr wrap="square" lIns="0" tIns="0" rIns="0" bIns="0" rtlCol="0" anchor="t"/>
          <a:lstStyle/>
          <a:p>
            <a:pPr indent="0" marL="0">
              <a:lnSpc>
                <a:spcPts val="1500"/>
              </a:lnSpc>
              <a:buNone/>
            </a:pPr>
            <a:r>
              <a:rPr lang="en-US" sz="1250" dirty="0">
                <a:solidFill>
                  <a:srgbClr val="241535"/>
                </a:solidFill>
                <a:latin typeface="Arial" pitchFamily="34" charset="0"/>
                <a:ea typeface="Arial" pitchFamily="34" charset="-122"/>
                <a:cs typeface="Arial" pitchFamily="34" charset="-120"/>
              </a:rPr>
              <a:t>What does induction mean?</a:t>
            </a:r>
            <a:endParaRPr lang="en-US" sz="1250" dirty="0"/>
          </a:p>
        </p:txBody>
      </p:sp>
      <p:sp>
        <p:nvSpPr>
          <p:cNvPr id="12" name="dq1_a"/>
          <p:cNvSpPr/>
          <p:nvPr/>
        </p:nvSpPr>
        <p:spPr>
          <a:xfrm>
            <a:off x="6708496" y="2761488"/>
            <a:ext cx="4797400" cy="329184"/>
          </a:xfrm>
          <a:prstGeom prst="roundRect">
            <a:avLst>
              <a:gd name="adj" fmla="val 22222"/>
            </a:avLst>
          </a:prstGeom>
          <a:solidFill>
            <a:srgbClr val="FDEEDC"/>
          </a:solidFill>
          <a:ln w="12700">
            <a:solidFill>
              <a:srgbClr val="F2A03D"/>
            </a:solidFill>
          </a:ln>
        </p:spPr>
        <p:txBody>
          <a:bodyPr wrap="square" lIns="762" tIns="762" rIns="762" bIns="762" rtlCol="0" anchor="ctr"/>
          <a:lstStyle/>
          <a:p>
            <a:pPr algn="l" indent="0" marL="0">
              <a:buNone/>
            </a:pPr>
            <a:r>
              <a:rPr lang="en-US" sz="1100" b="1" dirty="0">
                <a:solidFill>
                  <a:srgbClr val="4A2C6F"/>
                </a:solidFill>
                <a:latin typeface="Arial" pitchFamily="34" charset="0"/>
                <a:ea typeface="Arial" pitchFamily="34" charset="-122"/>
                <a:cs typeface="Arial" pitchFamily="34" charset="-120"/>
              </a:rPr>
              <a:t>One general conclusion, drawn from many observations.</a:t>
            </a:r>
            <a:endParaRPr lang="en-US" sz="1100" dirty="0"/>
          </a:p>
        </p:txBody>
      </p:sp>
      <p:sp>
        <p:nvSpPr>
          <p:cNvPr id="13" name="dq2_card"/>
          <p:cNvSpPr/>
          <p:nvPr/>
        </p:nvSpPr>
        <p:spPr>
          <a:xfrm>
            <a:off x="502920" y="3419856"/>
            <a:ext cx="5455768" cy="1024128"/>
          </a:xfrm>
          <a:prstGeom prst="roundRect">
            <a:avLst>
              <a:gd name="adj" fmla="val 12500"/>
            </a:avLst>
          </a:prstGeom>
          <a:solidFill>
            <a:srgbClr val="FFFFFF"/>
          </a:solidFill>
          <a:ln w="15875">
            <a:solidFill>
              <a:srgbClr val="E3DAF0"/>
            </a:solidFill>
            <a:prstDash val="solid"/>
          </a:ln>
        </p:spPr>
      </p:sp>
      <p:sp>
        <p:nvSpPr>
          <p:cNvPr id="14" name="dq2_n"/>
          <p:cNvSpPr txBox="1"/>
          <p:nvPr/>
        </p:nvSpPr>
        <p:spPr>
          <a:xfrm>
            <a:off x="649224" y="3529584"/>
            <a:ext cx="274320" cy="256032"/>
          </a:xfrm>
          <a:prstGeom prst="rect">
            <a:avLst/>
          </a:prstGeom>
          <a:noFill/>
          <a:ln/>
        </p:spPr>
        <p:txBody>
          <a:bodyPr wrap="square" lIns="0" tIns="0" rIns="0" bIns="0" rtlCol="0" anchor="ctr"/>
          <a:lstStyle/>
          <a:p>
            <a:pPr indent="0" marL="0">
              <a:buNone/>
            </a:pPr>
            <a:r>
              <a:rPr lang="en-US" sz="1300" b="1" dirty="0">
                <a:solidFill>
                  <a:srgbClr val="F2A03D"/>
                </a:solidFill>
                <a:latin typeface="Arial" pitchFamily="34" charset="0"/>
                <a:ea typeface="Arial" pitchFamily="34" charset="-122"/>
                <a:cs typeface="Arial" pitchFamily="34" charset="-120"/>
              </a:rPr>
              <a:t>3</a:t>
            </a:r>
            <a:endParaRPr lang="en-US" sz="1300" dirty="0"/>
          </a:p>
        </p:txBody>
      </p:sp>
      <p:sp>
        <p:nvSpPr>
          <p:cNvPr id="15" name="dq2_q"/>
          <p:cNvSpPr txBox="1"/>
          <p:nvPr/>
        </p:nvSpPr>
        <p:spPr>
          <a:xfrm>
            <a:off x="978408" y="3511296"/>
            <a:ext cx="4797400" cy="420624"/>
          </a:xfrm>
          <a:prstGeom prst="rect">
            <a:avLst/>
          </a:prstGeom>
          <a:noFill/>
          <a:ln/>
        </p:spPr>
        <p:txBody>
          <a:bodyPr wrap="square" lIns="0" tIns="0" rIns="0" bIns="0" rtlCol="0" anchor="t"/>
          <a:lstStyle/>
          <a:p>
            <a:pPr indent="0" marL="0">
              <a:lnSpc>
                <a:spcPts val="1500"/>
              </a:lnSpc>
              <a:buNone/>
            </a:pPr>
            <a:r>
              <a:rPr lang="en-US" sz="1250" dirty="0">
                <a:solidFill>
                  <a:srgbClr val="241535"/>
                </a:solidFill>
                <a:latin typeface="Arial" pitchFamily="34" charset="0"/>
                <a:ea typeface="Arial" pitchFamily="34" charset="-122"/>
                <a:cs typeface="Arial" pitchFamily="34" charset="-120"/>
              </a:rPr>
              <a:t>Write one thing you observed on the way to school.</a:t>
            </a:r>
            <a:endParaRPr lang="en-US" sz="1250" dirty="0"/>
          </a:p>
        </p:txBody>
      </p:sp>
      <p:sp>
        <p:nvSpPr>
          <p:cNvPr id="16" name="dq2_a"/>
          <p:cNvSpPr/>
          <p:nvPr/>
        </p:nvSpPr>
        <p:spPr>
          <a:xfrm>
            <a:off x="978408" y="3986784"/>
            <a:ext cx="4797400" cy="329184"/>
          </a:xfrm>
          <a:prstGeom prst="roundRect">
            <a:avLst>
              <a:gd name="adj" fmla="val 22222"/>
            </a:avLst>
          </a:prstGeom>
          <a:solidFill>
            <a:srgbClr val="FDEEDC"/>
          </a:solidFill>
          <a:ln w="12700">
            <a:solidFill>
              <a:srgbClr val="F2A03D"/>
            </a:solidFill>
          </a:ln>
        </p:spPr>
        <p:txBody>
          <a:bodyPr wrap="square" lIns="762" tIns="762" rIns="762" bIns="762" rtlCol="0" anchor="ctr"/>
          <a:lstStyle/>
          <a:p>
            <a:pPr algn="l" indent="0" marL="0">
              <a:buNone/>
            </a:pPr>
            <a:r>
              <a:rPr lang="en-US" sz="1100" b="1" dirty="0">
                <a:solidFill>
                  <a:srgbClr val="4A2C6F"/>
                </a:solidFill>
                <a:latin typeface="Arial" pitchFamily="34" charset="0"/>
                <a:ea typeface="Arial" pitchFamily="34" charset="-122"/>
                <a:cs typeface="Arial" pitchFamily="34" charset="-120"/>
              </a:rPr>
              <a:t>Anything you saw, heard or smelled yourself.</a:t>
            </a:r>
            <a:endParaRPr lang="en-US" sz="1100" dirty="0"/>
          </a:p>
        </p:txBody>
      </p:sp>
      <p:sp>
        <p:nvSpPr>
          <p:cNvPr id="17" name="dq3_card"/>
          <p:cNvSpPr/>
          <p:nvPr/>
        </p:nvSpPr>
        <p:spPr>
          <a:xfrm>
            <a:off x="6233008" y="3419856"/>
            <a:ext cx="5455768" cy="1024128"/>
          </a:xfrm>
          <a:prstGeom prst="roundRect">
            <a:avLst>
              <a:gd name="adj" fmla="val 12500"/>
            </a:avLst>
          </a:prstGeom>
          <a:solidFill>
            <a:srgbClr val="FFFFFF"/>
          </a:solidFill>
          <a:ln w="15875">
            <a:solidFill>
              <a:srgbClr val="E3DAF0"/>
            </a:solidFill>
            <a:prstDash val="solid"/>
          </a:ln>
        </p:spPr>
      </p:sp>
      <p:sp>
        <p:nvSpPr>
          <p:cNvPr id="18" name="dq3_n"/>
          <p:cNvSpPr txBox="1"/>
          <p:nvPr/>
        </p:nvSpPr>
        <p:spPr>
          <a:xfrm>
            <a:off x="6379312" y="3529584"/>
            <a:ext cx="274320" cy="256032"/>
          </a:xfrm>
          <a:prstGeom prst="rect">
            <a:avLst/>
          </a:prstGeom>
          <a:noFill/>
          <a:ln/>
        </p:spPr>
        <p:txBody>
          <a:bodyPr wrap="square" lIns="0" tIns="0" rIns="0" bIns="0" rtlCol="0" anchor="ctr"/>
          <a:lstStyle/>
          <a:p>
            <a:pPr indent="0" marL="0">
              <a:buNone/>
            </a:pPr>
            <a:r>
              <a:rPr lang="en-US" sz="1300" b="1" dirty="0">
                <a:solidFill>
                  <a:srgbClr val="F2A03D"/>
                </a:solidFill>
                <a:latin typeface="Arial" pitchFamily="34" charset="0"/>
                <a:ea typeface="Arial" pitchFamily="34" charset="-122"/>
                <a:cs typeface="Arial" pitchFamily="34" charset="-120"/>
              </a:rPr>
              <a:t>4</a:t>
            </a:r>
            <a:endParaRPr lang="en-US" sz="1300" dirty="0"/>
          </a:p>
        </p:txBody>
      </p:sp>
      <p:sp>
        <p:nvSpPr>
          <p:cNvPr id="19" name="dq3_q"/>
          <p:cNvSpPr txBox="1"/>
          <p:nvPr/>
        </p:nvSpPr>
        <p:spPr>
          <a:xfrm>
            <a:off x="6708496" y="3511296"/>
            <a:ext cx="4797400" cy="420624"/>
          </a:xfrm>
          <a:prstGeom prst="rect">
            <a:avLst/>
          </a:prstGeom>
          <a:noFill/>
          <a:ln/>
        </p:spPr>
        <p:txBody>
          <a:bodyPr wrap="square" lIns="0" tIns="0" rIns="0" bIns="0" rtlCol="0" anchor="t"/>
          <a:lstStyle/>
          <a:p>
            <a:pPr indent="0" marL="0">
              <a:lnSpc>
                <a:spcPts val="1500"/>
              </a:lnSpc>
              <a:buNone/>
            </a:pPr>
            <a:r>
              <a:rPr lang="en-US" sz="1250" dirty="0">
                <a:solidFill>
                  <a:srgbClr val="241535"/>
                </a:solidFill>
                <a:latin typeface="Arial" pitchFamily="34" charset="0"/>
                <a:ea typeface="Arial" pitchFamily="34" charset="-122"/>
                <a:cs typeface="Arial" pitchFamily="34" charset="-120"/>
              </a:rPr>
              <a:t>Give one question science cannot answer.</a:t>
            </a:r>
            <a:endParaRPr lang="en-US" sz="1250" dirty="0"/>
          </a:p>
        </p:txBody>
      </p:sp>
      <p:sp>
        <p:nvSpPr>
          <p:cNvPr id="20" name="dq3_a"/>
          <p:cNvSpPr/>
          <p:nvPr/>
        </p:nvSpPr>
        <p:spPr>
          <a:xfrm>
            <a:off x="6708496" y="3986784"/>
            <a:ext cx="4797400" cy="329184"/>
          </a:xfrm>
          <a:prstGeom prst="roundRect">
            <a:avLst>
              <a:gd name="adj" fmla="val 22222"/>
            </a:avLst>
          </a:prstGeom>
          <a:solidFill>
            <a:srgbClr val="FDEEDC"/>
          </a:solidFill>
          <a:ln w="12700">
            <a:solidFill>
              <a:srgbClr val="F2A03D"/>
            </a:solidFill>
          </a:ln>
        </p:spPr>
        <p:txBody>
          <a:bodyPr wrap="square" lIns="762" tIns="762" rIns="762" bIns="762" rtlCol="0" anchor="ctr"/>
          <a:lstStyle/>
          <a:p>
            <a:pPr algn="l" indent="0" marL="0">
              <a:buNone/>
            </a:pPr>
            <a:r>
              <a:rPr lang="en-US" sz="1100" b="1" dirty="0">
                <a:solidFill>
                  <a:srgbClr val="4A2C6F"/>
                </a:solidFill>
                <a:latin typeface="Arial" pitchFamily="34" charset="0"/>
                <a:ea typeface="Arial" pitchFamily="34" charset="-122"/>
                <a:cs typeface="Arial" pitchFamily="34" charset="-120"/>
              </a:rPr>
              <a:t>Anything about fairness, beauty or what we should do.</a:t>
            </a:r>
            <a:endParaRPr lang="en-US" sz="1100" dirty="0"/>
          </a:p>
        </p:txBody>
      </p:sp>
      <p:sp>
        <p:nvSpPr>
          <p:cNvPr id="21" name="dq4_card"/>
          <p:cNvSpPr/>
          <p:nvPr/>
        </p:nvSpPr>
        <p:spPr>
          <a:xfrm>
            <a:off x="502920" y="4645152"/>
            <a:ext cx="5455768" cy="1024128"/>
          </a:xfrm>
          <a:prstGeom prst="roundRect">
            <a:avLst>
              <a:gd name="adj" fmla="val 12500"/>
            </a:avLst>
          </a:prstGeom>
          <a:solidFill>
            <a:srgbClr val="FFFFFF"/>
          </a:solidFill>
          <a:ln w="15875">
            <a:solidFill>
              <a:srgbClr val="E3DAF0"/>
            </a:solidFill>
            <a:prstDash val="solid"/>
          </a:ln>
        </p:spPr>
      </p:sp>
      <p:sp>
        <p:nvSpPr>
          <p:cNvPr id="22" name="dq4_n"/>
          <p:cNvSpPr txBox="1"/>
          <p:nvPr/>
        </p:nvSpPr>
        <p:spPr>
          <a:xfrm>
            <a:off x="649224" y="4754880"/>
            <a:ext cx="274320" cy="256032"/>
          </a:xfrm>
          <a:prstGeom prst="rect">
            <a:avLst/>
          </a:prstGeom>
          <a:noFill/>
          <a:ln/>
        </p:spPr>
        <p:txBody>
          <a:bodyPr wrap="square" lIns="0" tIns="0" rIns="0" bIns="0" rtlCol="0" anchor="ctr"/>
          <a:lstStyle/>
          <a:p>
            <a:pPr indent="0" marL="0">
              <a:buNone/>
            </a:pPr>
            <a:r>
              <a:rPr lang="en-US" sz="1300" b="1" dirty="0">
                <a:solidFill>
                  <a:srgbClr val="F2A03D"/>
                </a:solidFill>
                <a:latin typeface="Arial" pitchFamily="34" charset="0"/>
                <a:ea typeface="Arial" pitchFamily="34" charset="-122"/>
                <a:cs typeface="Arial" pitchFamily="34" charset="-120"/>
              </a:rPr>
              <a:t>5</a:t>
            </a:r>
            <a:endParaRPr lang="en-US" sz="1300" dirty="0"/>
          </a:p>
        </p:txBody>
      </p:sp>
      <p:sp>
        <p:nvSpPr>
          <p:cNvPr id="23" name="dq4_q"/>
          <p:cNvSpPr txBox="1"/>
          <p:nvPr/>
        </p:nvSpPr>
        <p:spPr>
          <a:xfrm>
            <a:off x="978408" y="4736592"/>
            <a:ext cx="4797400" cy="420624"/>
          </a:xfrm>
          <a:prstGeom prst="rect">
            <a:avLst/>
          </a:prstGeom>
          <a:noFill/>
          <a:ln/>
        </p:spPr>
        <p:txBody>
          <a:bodyPr wrap="square" lIns="0" tIns="0" rIns="0" bIns="0" rtlCol="0" anchor="t"/>
          <a:lstStyle/>
          <a:p>
            <a:pPr indent="0" marL="0">
              <a:lnSpc>
                <a:spcPts val="1500"/>
              </a:lnSpc>
              <a:buNone/>
            </a:pPr>
            <a:r>
              <a:rPr lang="en-US" sz="1250" dirty="0">
                <a:solidFill>
                  <a:srgbClr val="241535"/>
                </a:solidFill>
                <a:latin typeface="Arial" pitchFamily="34" charset="0"/>
                <a:ea typeface="Arial" pitchFamily="34" charset="-122"/>
                <a:cs typeface="Arial" pitchFamily="34" charset="-120"/>
              </a:rPr>
              <a:t>Finish it: "All swans are ___". What is wrong with it?</a:t>
            </a:r>
            <a:endParaRPr lang="en-US" sz="1250" dirty="0"/>
          </a:p>
        </p:txBody>
      </p:sp>
      <p:sp>
        <p:nvSpPr>
          <p:cNvPr id="24" name="dq4_a"/>
          <p:cNvSpPr/>
          <p:nvPr/>
        </p:nvSpPr>
        <p:spPr>
          <a:xfrm>
            <a:off x="978408" y="5212080"/>
            <a:ext cx="4797400" cy="329184"/>
          </a:xfrm>
          <a:prstGeom prst="roundRect">
            <a:avLst>
              <a:gd name="adj" fmla="val 22222"/>
            </a:avLst>
          </a:prstGeom>
          <a:solidFill>
            <a:srgbClr val="FDEEDC"/>
          </a:solidFill>
          <a:ln w="12700">
            <a:solidFill>
              <a:srgbClr val="F2A03D"/>
            </a:solidFill>
          </a:ln>
        </p:spPr>
        <p:txBody>
          <a:bodyPr wrap="square" lIns="762" tIns="762" rIns="762" bIns="762" rtlCol="0" anchor="ctr"/>
          <a:lstStyle/>
          <a:p>
            <a:pPr algn="l" indent="0" marL="0">
              <a:buNone/>
            </a:pPr>
            <a:r>
              <a:rPr lang="en-US" sz="1100" b="1" dirty="0">
                <a:solidFill>
                  <a:srgbClr val="4A2C6F"/>
                </a:solidFill>
                <a:latin typeface="Arial" pitchFamily="34" charset="0"/>
                <a:ea typeface="Arial" pitchFamily="34" charset="-122"/>
                <a:cs typeface="Arial" pitchFamily="34" charset="-120"/>
              </a:rPr>
              <a:t>White. One black swan in Australia broke it.</a:t>
            </a:r>
            <a:endParaRPr lang="en-US" sz="1100" dirty="0"/>
          </a:p>
        </p:txBody>
      </p:sp>
      <p:sp>
        <p:nvSpPr>
          <p:cNvPr id="25" name="dq5_card"/>
          <p:cNvSpPr/>
          <p:nvPr/>
        </p:nvSpPr>
        <p:spPr>
          <a:xfrm>
            <a:off x="6233008" y="4645152"/>
            <a:ext cx="5455768" cy="1024128"/>
          </a:xfrm>
          <a:prstGeom prst="roundRect">
            <a:avLst>
              <a:gd name="adj" fmla="val 12500"/>
            </a:avLst>
          </a:prstGeom>
          <a:solidFill>
            <a:srgbClr val="FFFFFF"/>
          </a:solidFill>
          <a:ln w="15875">
            <a:solidFill>
              <a:srgbClr val="E3DAF0"/>
            </a:solidFill>
            <a:prstDash val="solid"/>
          </a:ln>
        </p:spPr>
      </p:sp>
      <p:sp>
        <p:nvSpPr>
          <p:cNvPr id="26" name="dq5_n"/>
          <p:cNvSpPr txBox="1"/>
          <p:nvPr/>
        </p:nvSpPr>
        <p:spPr>
          <a:xfrm>
            <a:off x="6379312" y="4754880"/>
            <a:ext cx="274320" cy="256032"/>
          </a:xfrm>
          <a:prstGeom prst="rect">
            <a:avLst/>
          </a:prstGeom>
          <a:noFill/>
          <a:ln/>
        </p:spPr>
        <p:txBody>
          <a:bodyPr wrap="square" lIns="0" tIns="0" rIns="0" bIns="0" rtlCol="0" anchor="ctr"/>
          <a:lstStyle/>
          <a:p>
            <a:pPr indent="0" marL="0">
              <a:buNone/>
            </a:pPr>
            <a:r>
              <a:rPr lang="en-US" sz="1300" b="1" dirty="0">
                <a:solidFill>
                  <a:srgbClr val="F2A03D"/>
                </a:solidFill>
                <a:latin typeface="Arial" pitchFamily="34" charset="0"/>
                <a:ea typeface="Arial" pitchFamily="34" charset="-122"/>
                <a:cs typeface="Arial" pitchFamily="34" charset="-120"/>
              </a:rPr>
              <a:t>6</a:t>
            </a:r>
            <a:endParaRPr lang="en-US" sz="1300" dirty="0"/>
          </a:p>
        </p:txBody>
      </p:sp>
      <p:sp>
        <p:nvSpPr>
          <p:cNvPr id="27" name="dq5_q"/>
          <p:cNvSpPr txBox="1"/>
          <p:nvPr/>
        </p:nvSpPr>
        <p:spPr>
          <a:xfrm>
            <a:off x="6708496" y="4736592"/>
            <a:ext cx="4797400" cy="420624"/>
          </a:xfrm>
          <a:prstGeom prst="rect">
            <a:avLst/>
          </a:prstGeom>
          <a:noFill/>
          <a:ln/>
        </p:spPr>
        <p:txBody>
          <a:bodyPr wrap="square" lIns="0" tIns="0" rIns="0" bIns="0" rtlCol="0" anchor="t"/>
          <a:lstStyle/>
          <a:p>
            <a:pPr indent="0" marL="0">
              <a:lnSpc>
                <a:spcPts val="1500"/>
              </a:lnSpc>
              <a:buNone/>
            </a:pPr>
            <a:r>
              <a:rPr lang="en-US" sz="1250" dirty="0">
                <a:solidFill>
                  <a:srgbClr val="241535"/>
                </a:solidFill>
                <a:latin typeface="Arial" pitchFamily="34" charset="0"/>
                <a:ea typeface="Arial" pitchFamily="34" charset="-122"/>
                <a:cs typeface="Arial" pitchFamily="34" charset="-120"/>
              </a:rPr>
              <a:t>What do you think the word "theory" means?</a:t>
            </a:r>
            <a:endParaRPr lang="en-US" sz="1250" dirty="0"/>
          </a:p>
        </p:txBody>
      </p:sp>
      <p:sp>
        <p:nvSpPr>
          <p:cNvPr id="28" name="dq5_a"/>
          <p:cNvSpPr/>
          <p:nvPr/>
        </p:nvSpPr>
        <p:spPr>
          <a:xfrm>
            <a:off x="6708496" y="5212080"/>
            <a:ext cx="4797400" cy="329184"/>
          </a:xfrm>
          <a:prstGeom prst="roundRect">
            <a:avLst>
              <a:gd name="adj" fmla="val 22222"/>
            </a:avLst>
          </a:prstGeom>
          <a:solidFill>
            <a:srgbClr val="FDEEDC"/>
          </a:solidFill>
          <a:ln w="12700">
            <a:solidFill>
              <a:srgbClr val="F2A03D"/>
            </a:solidFill>
          </a:ln>
        </p:spPr>
        <p:txBody>
          <a:bodyPr wrap="square" lIns="762" tIns="762" rIns="762" bIns="762" rtlCol="0" anchor="ctr"/>
          <a:lstStyle/>
          <a:p>
            <a:pPr algn="l" indent="0" marL="0">
              <a:buNone/>
            </a:pPr>
            <a:r>
              <a:rPr lang="en-US" sz="1100" b="1" dirty="0">
                <a:solidFill>
                  <a:srgbClr val="4A2C6F"/>
                </a:solidFill>
                <a:latin typeface="Arial" pitchFamily="34" charset="0"/>
                <a:ea typeface="Arial" pitchFamily="34" charset="-122"/>
                <a:cs typeface="Arial" pitchFamily="34" charset="-120"/>
              </a:rPr>
              <a:t>The answer will be revealed by the end of this lesson!</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wipe(right)">
                                      <p:cBhvr>
                                        <p:cTn id="4"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wipe(right)">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8"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right)">
                                      <p:cBhvr>
                                        <p:cTn id="14" dur="4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8"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right)">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22" presetClass="entr" presetSubtype="8"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right)">
                                      <p:cBhvr>
                                        <p:cTn id="24" dur="4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0" presetID="22" presetClass="entr" presetSubtype="8"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right)">
                                      <p:cBhvr>
                                        <p:cTn id="29"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HOOK · 4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Which one is just a guess?</a:t>
            </a:r>
            <a:endParaRPr lang="en-US" sz="3000" dirty="0"/>
          </a:p>
        </p:txBody>
      </p:sp>
      <p:grpSp>
        <p:nvGrpSpPr>
          <p:cNvPr id="23" name="hk0"/>
          <p:cNvGrpSpPr/>
          <p:nvPr/>
        </p:nvGrpSpPr>
        <p:grpSpPr>
          <a:xfrm>
            <a:off x="502920" y="2084832"/>
            <a:ext cx="3703320" cy="2103120"/>
            <a:chOff x="502920" y="2084832"/>
            <a:chExt cx="3703320" cy="2103120"/>
          </a:xfrm>
        </p:grpSpPr>
        <p:sp>
          <p:nvSpPr>
            <p:cNvPr id="4" name="hk0_bg"/>
            <p:cNvSpPr/>
            <p:nvPr/>
          </p:nvSpPr>
          <p:spPr>
            <a:xfrm>
              <a:off x="502920" y="2084832"/>
              <a:ext cx="3703320" cy="2103120"/>
            </a:xfrm>
            <a:prstGeom prst="roundRect">
              <a:avLst>
                <a:gd name="adj" fmla="val 6087"/>
              </a:avLst>
            </a:prstGeom>
            <a:solidFill>
              <a:srgbClr val="FFFFFF"/>
            </a:solidFill>
            <a:ln w="15875">
              <a:solidFill>
                <a:srgbClr val="E3DAF0"/>
              </a:solidFill>
              <a:prstDash val="solid"/>
            </a:ln>
          </p:spPr>
        </p:sp>
        <p:pic>
          <p:nvPicPr>
            <p:cNvPr id="5" name="hk0_icon" descr="/home/claude/build/img_y7/question_support.png">    </p:cNvPr>
            <p:cNvPicPr>
              <a:picLocks noChangeAspect="1"/>
            </p:cNvPicPr>
            <p:nvPr/>
          </p:nvPicPr>
          <p:blipFill>
            <a:blip r:embed="rId1"/>
            <a:stretch>
              <a:fillRect/>
            </a:stretch>
          </p:blipFill>
          <p:spPr>
            <a:xfrm>
              <a:off x="758952" y="2286000"/>
              <a:ext cx="585216" cy="585216"/>
            </a:xfrm>
            <a:prstGeom prst="rect">
              <a:avLst/>
            </a:prstGeom>
          </p:spPr>
        </p:pic>
        <p:sp>
          <p:nvSpPr>
            <p:cNvPr id="6" name="hk0_k"/>
            <p:cNvSpPr txBox="1"/>
            <p:nvPr/>
          </p:nvSpPr>
          <p:spPr>
            <a:xfrm>
              <a:off x="3337560" y="2286000"/>
              <a:ext cx="585216" cy="585216"/>
            </a:xfrm>
            <a:prstGeom prst="rect">
              <a:avLst/>
            </a:prstGeom>
            <a:noFill/>
            <a:ln/>
          </p:spPr>
          <p:txBody>
            <a:bodyPr wrap="square" lIns="0" tIns="0" rIns="0" bIns="0" rtlCol="0" anchor="ctr"/>
            <a:lstStyle/>
            <a:p>
              <a:pPr algn="r" indent="0" marL="0">
                <a:buNone/>
              </a:pPr>
              <a:r>
                <a:rPr lang="en-US" sz="2600" b="1" dirty="0">
                  <a:solidFill>
                    <a:srgbClr val="F2A03D"/>
                  </a:solidFill>
                  <a:latin typeface="Georgia" pitchFamily="34" charset="0"/>
                  <a:ea typeface="Georgia" pitchFamily="34" charset="-122"/>
                  <a:cs typeface="Georgia" pitchFamily="34" charset="-120"/>
                </a:rPr>
                <a:t>A</a:t>
              </a:r>
              <a:endParaRPr lang="en-US" sz="2600" dirty="0"/>
            </a:p>
          </p:txBody>
        </p:sp>
        <p:sp>
          <p:nvSpPr>
            <p:cNvPr id="7" name="hk0_t"/>
            <p:cNvSpPr txBox="1"/>
            <p:nvPr/>
          </p:nvSpPr>
          <p:spPr>
            <a:xfrm>
              <a:off x="758952" y="3017520"/>
              <a:ext cx="3200400" cy="786384"/>
            </a:xfrm>
            <a:prstGeom prst="rect">
              <a:avLst/>
            </a:prstGeom>
            <a:noFill/>
            <a:ln/>
          </p:spPr>
          <p:txBody>
            <a:bodyPr wrap="square" lIns="0" tIns="0" rIns="0" bIns="0" rtlCol="0" anchor="t"/>
            <a:lstStyle/>
            <a:p>
              <a:pPr indent="0" marL="0">
                <a:lnSpc>
                  <a:spcPts val="2000"/>
                </a:lnSpc>
                <a:buNone/>
              </a:pPr>
              <a:r>
                <a:rPr lang="en-US" sz="1400" dirty="0">
                  <a:solidFill>
                    <a:srgbClr val="241535"/>
                  </a:solidFill>
                  <a:latin typeface="Arial" pitchFamily="34" charset="0"/>
                  <a:ea typeface="Arial" pitchFamily="34" charset="-122"/>
                  <a:cs typeface="Arial" pitchFamily="34" charset="-120"/>
                </a:rPr>
                <a:t>"My theory is that Mr P sets a test every Friday."</a:t>
              </a:r>
              <a:endParaRPr lang="en-US" sz="1400" dirty="0"/>
            </a:p>
          </p:txBody>
        </p:sp>
      </p:grpSp>
      <p:grpSp>
        <p:nvGrpSpPr>
          <p:cNvPr id="24" name="hk1"/>
          <p:cNvGrpSpPr/>
          <p:nvPr/>
        </p:nvGrpSpPr>
        <p:grpSpPr>
          <a:xfrm>
            <a:off x="4480560" y="2084832"/>
            <a:ext cx="3703320" cy="2103120"/>
            <a:chOff x="4480560" y="2084832"/>
            <a:chExt cx="3703320" cy="2103120"/>
          </a:xfrm>
        </p:grpSpPr>
        <p:sp>
          <p:nvSpPr>
            <p:cNvPr id="8" name="hk1_bg"/>
            <p:cNvSpPr/>
            <p:nvPr/>
          </p:nvSpPr>
          <p:spPr>
            <a:xfrm>
              <a:off x="4480560" y="2084832"/>
              <a:ext cx="3703320" cy="2103120"/>
            </a:xfrm>
            <a:prstGeom prst="roundRect">
              <a:avLst>
                <a:gd name="adj" fmla="val 6087"/>
              </a:avLst>
            </a:prstGeom>
            <a:solidFill>
              <a:srgbClr val="FFFFFF"/>
            </a:solidFill>
            <a:ln w="15875">
              <a:solidFill>
                <a:srgbClr val="E3DAF0"/>
              </a:solidFill>
              <a:prstDash val="solid"/>
            </a:ln>
          </p:spPr>
        </p:sp>
        <p:pic>
          <p:nvPicPr>
            <p:cNvPr id="9" name="hk1_icon" descr="/home/claude/build/img_y7/microscope_support.png">    </p:cNvPr>
            <p:cNvPicPr>
              <a:picLocks noChangeAspect="1"/>
            </p:cNvPicPr>
            <p:nvPr/>
          </p:nvPicPr>
          <p:blipFill>
            <a:blip r:embed="rId2"/>
            <a:stretch>
              <a:fillRect/>
            </a:stretch>
          </p:blipFill>
          <p:spPr>
            <a:xfrm>
              <a:off x="4736592" y="2286000"/>
              <a:ext cx="585216" cy="585216"/>
            </a:xfrm>
            <a:prstGeom prst="rect">
              <a:avLst/>
            </a:prstGeom>
          </p:spPr>
        </p:pic>
        <p:sp>
          <p:nvSpPr>
            <p:cNvPr id="10" name="hk1_k"/>
            <p:cNvSpPr txBox="1"/>
            <p:nvPr/>
          </p:nvSpPr>
          <p:spPr>
            <a:xfrm>
              <a:off x="7315200" y="2286000"/>
              <a:ext cx="585216" cy="585216"/>
            </a:xfrm>
            <a:prstGeom prst="rect">
              <a:avLst/>
            </a:prstGeom>
            <a:noFill/>
            <a:ln/>
          </p:spPr>
          <p:txBody>
            <a:bodyPr wrap="square" lIns="0" tIns="0" rIns="0" bIns="0" rtlCol="0" anchor="ctr"/>
            <a:lstStyle/>
            <a:p>
              <a:pPr algn="r" indent="0" marL="0">
                <a:buNone/>
              </a:pPr>
              <a:r>
                <a:rPr lang="en-US" sz="2600" b="1" dirty="0">
                  <a:solidFill>
                    <a:srgbClr val="F2A03D"/>
                  </a:solidFill>
                  <a:latin typeface="Georgia" pitchFamily="34" charset="0"/>
                  <a:ea typeface="Georgia" pitchFamily="34" charset="-122"/>
                  <a:cs typeface="Georgia" pitchFamily="34" charset="-120"/>
                </a:rPr>
                <a:t>B</a:t>
              </a:r>
              <a:endParaRPr lang="en-US" sz="2600" dirty="0"/>
            </a:p>
          </p:txBody>
        </p:sp>
        <p:sp>
          <p:nvSpPr>
            <p:cNvPr id="11" name="hk1_t"/>
            <p:cNvSpPr txBox="1"/>
            <p:nvPr/>
          </p:nvSpPr>
          <p:spPr>
            <a:xfrm>
              <a:off x="4736592" y="3017520"/>
              <a:ext cx="3200400" cy="786384"/>
            </a:xfrm>
            <a:prstGeom prst="rect">
              <a:avLst/>
            </a:prstGeom>
            <a:noFill/>
            <a:ln/>
          </p:spPr>
          <p:txBody>
            <a:bodyPr wrap="square" lIns="0" tIns="0" rIns="0" bIns="0" rtlCol="0" anchor="t"/>
            <a:lstStyle/>
            <a:p>
              <a:pPr indent="0" marL="0">
                <a:lnSpc>
                  <a:spcPts val="2000"/>
                </a:lnSpc>
                <a:buNone/>
              </a:pPr>
              <a:r>
                <a:rPr lang="en-US" sz="1400" dirty="0">
                  <a:solidFill>
                    <a:srgbClr val="241535"/>
                  </a:solidFill>
                  <a:latin typeface="Arial" pitchFamily="34" charset="0"/>
                  <a:ea typeface="Arial" pitchFamily="34" charset="-122"/>
                  <a:cs typeface="Arial" pitchFamily="34" charset="-120"/>
                </a:rPr>
                <a:t>"The theory that every living thing is made of cells."</a:t>
              </a:r>
              <a:endParaRPr lang="en-US" sz="1400" dirty="0"/>
            </a:p>
          </p:txBody>
        </p:sp>
      </p:grpSp>
      <p:grpSp>
        <p:nvGrpSpPr>
          <p:cNvPr id="25" name="hook_opt0"/>
          <p:cNvGrpSpPr/>
          <p:nvPr/>
        </p:nvGrpSpPr>
        <p:grpSpPr>
          <a:xfrm>
            <a:off x="8549640" y="2212848"/>
            <a:ext cx="3139135" cy="512064"/>
            <a:chOff x="8549640" y="2212848"/>
            <a:chExt cx="3139135" cy="512064"/>
          </a:xfrm>
        </p:grpSpPr>
        <p:sp>
          <p:nvSpPr>
            <p:cNvPr id="12" name="hook_opt0_bg"/>
            <p:cNvSpPr/>
            <p:nvPr/>
          </p:nvSpPr>
          <p:spPr>
            <a:xfrm>
              <a:off x="8549640" y="2212848"/>
              <a:ext cx="3139135" cy="512064"/>
            </a:xfrm>
            <a:prstGeom prst="roundRect">
              <a:avLst>
                <a:gd name="adj" fmla="val 25000"/>
              </a:avLst>
            </a:prstGeom>
            <a:solidFill>
              <a:srgbClr val="FFFFFF"/>
            </a:solidFill>
            <a:ln w="15875">
              <a:solidFill>
                <a:srgbClr val="E3DAF0"/>
              </a:solidFill>
              <a:prstDash val="solid"/>
            </a:ln>
          </p:spPr>
        </p:sp>
        <p:sp>
          <p:nvSpPr>
            <p:cNvPr id="13" name="hook_opt0_k"/>
            <p:cNvSpPr txBox="1"/>
            <p:nvPr/>
          </p:nvSpPr>
          <p:spPr>
            <a:xfrm>
              <a:off x="8732520" y="2212848"/>
              <a:ext cx="292608" cy="512064"/>
            </a:xfrm>
            <a:prstGeom prst="rect">
              <a:avLst/>
            </a:prstGeom>
            <a:noFill/>
            <a:ln/>
          </p:spPr>
          <p:txBody>
            <a:bodyPr wrap="square" lIns="0" tIns="0" rIns="0" bIns="0" rtlCol="0" anchor="ctr"/>
            <a:lstStyle/>
            <a:p>
              <a:pPr indent="0" marL="0">
                <a:buNone/>
              </a:pPr>
              <a:r>
                <a:rPr lang="en-US" sz="1400" b="1" dirty="0">
                  <a:solidFill>
                    <a:srgbClr val="D94F6A"/>
                  </a:solidFill>
                  <a:latin typeface="Arial" pitchFamily="34" charset="0"/>
                  <a:ea typeface="Arial" pitchFamily="34" charset="-122"/>
                  <a:cs typeface="Arial" pitchFamily="34" charset="-120"/>
                </a:rPr>
                <a:t>A</a:t>
              </a:r>
              <a:endParaRPr lang="en-US" sz="1400" dirty="0"/>
            </a:p>
          </p:txBody>
        </p:sp>
        <p:sp>
          <p:nvSpPr>
            <p:cNvPr id="14" name="hook_opt0_t"/>
            <p:cNvSpPr txBox="1"/>
            <p:nvPr/>
          </p:nvSpPr>
          <p:spPr>
            <a:xfrm>
              <a:off x="9079992" y="2212848"/>
              <a:ext cx="2425903" cy="512064"/>
            </a:xfrm>
            <a:prstGeom prst="rect">
              <a:avLst/>
            </a:prstGeom>
            <a:noFill/>
            <a:ln/>
          </p:spPr>
          <p:txBody>
            <a:bodyPr wrap="square" lIns="0" tIns="0" rIns="0" bIns="0" rtlCol="0" anchor="ctr"/>
            <a:lstStyle/>
            <a:p>
              <a:pPr indent="0" marL="0">
                <a:buNone/>
              </a:pPr>
              <a:r>
                <a:rPr lang="en-US" sz="1250" dirty="0">
                  <a:solidFill>
                    <a:srgbClr val="241535"/>
                  </a:solidFill>
                  <a:latin typeface="Arial" pitchFamily="34" charset="0"/>
                  <a:ea typeface="Arial" pitchFamily="34" charset="-122"/>
                  <a:cs typeface="Arial" pitchFamily="34" charset="-120"/>
                </a:rPr>
                <a:t>A is a guess. B is not.</a:t>
              </a:r>
              <a:endParaRPr lang="en-US" sz="1250" dirty="0"/>
            </a:p>
          </p:txBody>
        </p:sp>
      </p:grpSp>
      <p:grpSp>
        <p:nvGrpSpPr>
          <p:cNvPr id="26" name="hook_opt1"/>
          <p:cNvGrpSpPr/>
          <p:nvPr/>
        </p:nvGrpSpPr>
        <p:grpSpPr>
          <a:xfrm>
            <a:off x="8549640" y="2852928"/>
            <a:ext cx="3139135" cy="512064"/>
            <a:chOff x="8549640" y="2852928"/>
            <a:chExt cx="3139135" cy="512064"/>
          </a:xfrm>
        </p:grpSpPr>
        <p:sp>
          <p:nvSpPr>
            <p:cNvPr id="15" name="hook_opt1_bg"/>
            <p:cNvSpPr/>
            <p:nvPr/>
          </p:nvSpPr>
          <p:spPr>
            <a:xfrm>
              <a:off x="8549640" y="2852928"/>
              <a:ext cx="3139135" cy="512064"/>
            </a:xfrm>
            <a:prstGeom prst="roundRect">
              <a:avLst>
                <a:gd name="adj" fmla="val 25000"/>
              </a:avLst>
            </a:prstGeom>
            <a:solidFill>
              <a:srgbClr val="FFFFFF"/>
            </a:solidFill>
            <a:ln w="15875">
              <a:solidFill>
                <a:srgbClr val="E3DAF0"/>
              </a:solidFill>
              <a:prstDash val="solid"/>
            </a:ln>
          </p:spPr>
        </p:sp>
        <p:sp>
          <p:nvSpPr>
            <p:cNvPr id="16" name="hook_opt1_k"/>
            <p:cNvSpPr txBox="1"/>
            <p:nvPr/>
          </p:nvSpPr>
          <p:spPr>
            <a:xfrm>
              <a:off x="8732520" y="2852928"/>
              <a:ext cx="292608" cy="512064"/>
            </a:xfrm>
            <a:prstGeom prst="rect">
              <a:avLst/>
            </a:prstGeom>
            <a:noFill/>
            <a:ln/>
          </p:spPr>
          <p:txBody>
            <a:bodyPr wrap="square" lIns="0" tIns="0" rIns="0" bIns="0" rtlCol="0" anchor="ctr"/>
            <a:lstStyle/>
            <a:p>
              <a:pPr indent="0" marL="0">
                <a:buNone/>
              </a:pPr>
              <a:r>
                <a:rPr lang="en-US" sz="1400" b="1" dirty="0">
                  <a:solidFill>
                    <a:srgbClr val="D94F6A"/>
                  </a:solidFill>
                  <a:latin typeface="Arial" pitchFamily="34" charset="0"/>
                  <a:ea typeface="Arial" pitchFamily="34" charset="-122"/>
                  <a:cs typeface="Arial" pitchFamily="34" charset="-120"/>
                </a:rPr>
                <a:t>B</a:t>
              </a:r>
              <a:endParaRPr lang="en-US" sz="1400" dirty="0"/>
            </a:p>
          </p:txBody>
        </p:sp>
        <p:sp>
          <p:nvSpPr>
            <p:cNvPr id="17" name="hook_opt1_t"/>
            <p:cNvSpPr txBox="1"/>
            <p:nvPr/>
          </p:nvSpPr>
          <p:spPr>
            <a:xfrm>
              <a:off x="9079992" y="2852928"/>
              <a:ext cx="2425903" cy="512064"/>
            </a:xfrm>
            <a:prstGeom prst="rect">
              <a:avLst/>
            </a:prstGeom>
            <a:noFill/>
            <a:ln/>
          </p:spPr>
          <p:txBody>
            <a:bodyPr wrap="square" lIns="0" tIns="0" rIns="0" bIns="0" rtlCol="0" anchor="ctr"/>
            <a:lstStyle/>
            <a:p>
              <a:pPr indent="0" marL="0">
                <a:buNone/>
              </a:pPr>
              <a:r>
                <a:rPr lang="en-US" sz="1250" dirty="0">
                  <a:solidFill>
                    <a:srgbClr val="241535"/>
                  </a:solidFill>
                  <a:latin typeface="Arial" pitchFamily="34" charset="0"/>
                  <a:ea typeface="Arial" pitchFamily="34" charset="-122"/>
                  <a:cs typeface="Arial" pitchFamily="34" charset="-120"/>
                </a:rPr>
                <a:t>B is a guess. A is not.</a:t>
              </a:r>
              <a:endParaRPr lang="en-US" sz="1250" dirty="0"/>
            </a:p>
          </p:txBody>
        </p:sp>
      </p:grpSp>
      <p:grpSp>
        <p:nvGrpSpPr>
          <p:cNvPr id="27" name="hook_opt2"/>
          <p:cNvGrpSpPr/>
          <p:nvPr/>
        </p:nvGrpSpPr>
        <p:grpSpPr>
          <a:xfrm>
            <a:off x="8549640" y="3493008"/>
            <a:ext cx="3139135" cy="512064"/>
            <a:chOff x="8549640" y="3493008"/>
            <a:chExt cx="3139135" cy="512064"/>
          </a:xfrm>
        </p:grpSpPr>
        <p:sp>
          <p:nvSpPr>
            <p:cNvPr id="18" name="hook_opt2_bg"/>
            <p:cNvSpPr/>
            <p:nvPr/>
          </p:nvSpPr>
          <p:spPr>
            <a:xfrm>
              <a:off x="8549640" y="3493008"/>
              <a:ext cx="3139135" cy="512064"/>
            </a:xfrm>
            <a:prstGeom prst="roundRect">
              <a:avLst>
                <a:gd name="adj" fmla="val 25000"/>
              </a:avLst>
            </a:prstGeom>
            <a:solidFill>
              <a:srgbClr val="FFFFFF"/>
            </a:solidFill>
            <a:ln w="15875">
              <a:solidFill>
                <a:srgbClr val="E3DAF0"/>
              </a:solidFill>
              <a:prstDash val="solid"/>
            </a:ln>
          </p:spPr>
        </p:sp>
        <p:sp>
          <p:nvSpPr>
            <p:cNvPr id="19" name="hook_opt2_k"/>
            <p:cNvSpPr txBox="1"/>
            <p:nvPr/>
          </p:nvSpPr>
          <p:spPr>
            <a:xfrm>
              <a:off x="8732520" y="3493008"/>
              <a:ext cx="292608" cy="512064"/>
            </a:xfrm>
            <a:prstGeom prst="rect">
              <a:avLst/>
            </a:prstGeom>
            <a:noFill/>
            <a:ln/>
          </p:spPr>
          <p:txBody>
            <a:bodyPr wrap="square" lIns="0" tIns="0" rIns="0" bIns="0" rtlCol="0" anchor="ctr"/>
            <a:lstStyle/>
            <a:p>
              <a:pPr indent="0" marL="0">
                <a:buNone/>
              </a:pPr>
              <a:r>
                <a:rPr lang="en-US" sz="1400" b="1" dirty="0">
                  <a:solidFill>
                    <a:srgbClr val="D94F6A"/>
                  </a:solidFill>
                  <a:latin typeface="Arial" pitchFamily="34" charset="0"/>
                  <a:ea typeface="Arial" pitchFamily="34" charset="-122"/>
                  <a:cs typeface="Arial" pitchFamily="34" charset="-120"/>
                </a:rPr>
                <a:t>C</a:t>
              </a:r>
              <a:endParaRPr lang="en-US" sz="1400" dirty="0"/>
            </a:p>
          </p:txBody>
        </p:sp>
        <p:sp>
          <p:nvSpPr>
            <p:cNvPr id="20" name="hook_opt2_t"/>
            <p:cNvSpPr txBox="1"/>
            <p:nvPr/>
          </p:nvSpPr>
          <p:spPr>
            <a:xfrm>
              <a:off x="9079992" y="3493008"/>
              <a:ext cx="2425903" cy="512064"/>
            </a:xfrm>
            <a:prstGeom prst="rect">
              <a:avLst/>
            </a:prstGeom>
            <a:noFill/>
            <a:ln/>
          </p:spPr>
          <p:txBody>
            <a:bodyPr wrap="square" lIns="0" tIns="0" rIns="0" bIns="0" rtlCol="0" anchor="ctr"/>
            <a:lstStyle/>
            <a:p>
              <a:pPr indent="0" marL="0">
                <a:buNone/>
              </a:pPr>
              <a:r>
                <a:rPr lang="en-US" sz="1250" dirty="0">
                  <a:solidFill>
                    <a:srgbClr val="241535"/>
                  </a:solidFill>
                  <a:latin typeface="Arial" pitchFamily="34" charset="0"/>
                  <a:ea typeface="Arial" pitchFamily="34" charset="-122"/>
                  <a:cs typeface="Arial" pitchFamily="34" charset="-120"/>
                </a:rPr>
                <a:t>Both are guesses.</a:t>
              </a:r>
              <a:endParaRPr lang="en-US" sz="1250" dirty="0"/>
            </a:p>
          </p:txBody>
        </p:sp>
      </p:grpSp>
      <p:sp>
        <p:nvSpPr>
          <p:cNvPr id="21" name="hook_line"/>
          <p:cNvSpPr txBox="1"/>
          <p:nvPr/>
        </p:nvSpPr>
        <p:spPr>
          <a:xfrm>
            <a:off x="502920" y="4425696"/>
            <a:ext cx="11185855" cy="402336"/>
          </a:xfrm>
          <a:prstGeom prst="rect">
            <a:avLst/>
          </a:prstGeom>
          <a:noFill/>
          <a:ln/>
        </p:spPr>
        <p:txBody>
          <a:bodyPr wrap="square" lIns="0" tIns="0" rIns="0" bIns="0" rtlCol="0" anchor="ctr"/>
          <a:lstStyle/>
          <a:p>
            <a:pPr indent="0" marL="0">
              <a:buNone/>
            </a:pPr>
            <a:r>
              <a:rPr lang="en-US" sz="1400" b="1" dirty="0">
                <a:solidFill>
                  <a:srgbClr val="4A2C6F"/>
                </a:solidFill>
                <a:latin typeface="Arial" pitchFamily="34" charset="0"/>
                <a:ea typeface="Arial" pitchFamily="34" charset="-122"/>
                <a:cs typeface="Arial" pitchFamily="34" charset="-120"/>
              </a:rPr>
              <a:t>Both sentences use the same word. They do not mean the same thing.</a:t>
            </a:r>
            <a:endParaRPr lang="en-US" sz="1400" dirty="0"/>
          </a:p>
        </p:txBody>
      </p:sp>
      <p:sp>
        <p:nvSpPr>
          <p:cNvPr id="22" name="footer_note"/>
          <p:cNvSpPr txBox="1"/>
          <p:nvPr/>
        </p:nvSpPr>
        <p:spPr>
          <a:xfrm>
            <a:off x="502920" y="6382512"/>
            <a:ext cx="11185855" cy="292608"/>
          </a:xfrm>
          <a:prstGeom prst="rect">
            <a:avLst/>
          </a:prstGeom>
          <a:noFill/>
          <a:ln/>
        </p:spPr>
        <p:txBody>
          <a:bodyPr wrap="square" lIns="0" tIns="0" rIns="0" bIns="0" rtlCol="0" anchor="ctr"/>
          <a:lstStyle/>
          <a:p>
            <a:pPr algn="l" indent="0" marL="0">
              <a:buNone/>
            </a:pPr>
            <a:r>
              <a:rPr lang="en-US" sz="1050" i="1" dirty="0">
                <a:solidFill>
                  <a:srgbClr val="6A6180"/>
                </a:solidFill>
                <a:latin typeface="Arial" pitchFamily="34" charset="0"/>
                <a:ea typeface="Arial" pitchFamily="34" charset="-122"/>
                <a:cs typeface="Arial" pitchFamily="34" charset="-120"/>
              </a:rPr>
              <a:t>Write your letter in the margin. We come back to this.</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3"/>
                                        </p:tgtEl>
                                        <p:attrNameLst>
                                          <p:attrName>style.visibility</p:attrName>
                                        </p:attrNameLst>
                                      </p:cBhvr>
                                      <p:to>
                                        <p:strVal val="visible"/>
                                      </p:to>
                                    </p:set>
                                    <p:animEffect transition="in" filter="fade">
                                      <p:cBhvr>
                                        <p:cTn id="4" dur="4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24"/>
                                        </p:tgtEl>
                                        <p:attrNameLst>
                                          <p:attrName>style.visibility</p:attrName>
                                        </p:attrNameLst>
                                      </p:cBhvr>
                                      <p:to>
                                        <p:strVal val="visible"/>
                                      </p:to>
                                    </p:set>
                                    <p:animEffect transition="in" filter="fade">
                                      <p:cBhvr>
                                        <p:cTn id="9" dur="400"/>
                                        <p:tgtEl>
                                          <p:spTgt spid="24"/>
                                        </p:tgtEl>
                                      </p:cBhvr>
                                    </p:animEffect>
                                  </p:childTnLst>
                                </p:cTn>
                              </p:par>
                            </p:childTnLst>
                          </p:cTn>
                        </p:par>
                      </p:childTnLst>
                    </p:cTn>
                  </p:par>
                  <p:par>
                    <p:cTn id="22" fill="hold">
                      <p:stCondLst>
                        <p:cond delay="indefinite"/>
                      </p:stCondLst>
                      <p:childTnLst>
                        <p:par>
                          <p:cTn id="23"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400"/>
                                        <p:tgtEl>
                                          <p:spTgt spid="25"/>
                                        </p:tgtEl>
                                      </p:cBhvr>
                                    </p:animEffect>
                                  </p:childTnLst>
                                </p:cTn>
                              </p:par>
                              <p:par>
                                <p:cTn id="18" presetID="10" presetClass="entr" presetSubtype="0" fill="hold" grpId="0" nodeType="withEffect">
                                  <p:stCondLst>
                                    <p:cond delay="15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par>
                                <p:cTn id="21" presetID="10" presetClass="entr" presetSubtype="0" fill="hold" grpId="0" nodeType="withEffect">
                                  <p:stCondLst>
                                    <p:cond delay="30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400"/>
                                        <p:tgtEl>
                                          <p:spTgt spid="27"/>
                                        </p:tgtEl>
                                      </p:cBhvr>
                                    </p:animEffect>
                                  </p:childTnLst>
                                </p:cTn>
                              </p:par>
                            </p:childTnLst>
                          </p:cTn>
                        </p:par>
                      </p:childTnLst>
                    </p:cTn>
                  </p:par>
                  <p:par>
                    <p:cTn id="27" fill="hold">
                      <p:stCondLst>
                        <p:cond delay="indefinite"/>
                      </p:stCondLst>
                      <p:childTnLst>
                        <p:par>
                          <p:cTn id="28" fill="hold">
                            <p:stCondLst>
                              <p:cond delay="0"/>
                            </p:stCondLst>
                            <p:childTnLst>
                              <p:par>
                                <p:cTn id="26" presetID="10"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I DO · 6 MIN</a:t>
            </a:r>
            <a:endParaRPr lang="en-US" sz="1100" dirty="0"/>
          </a:p>
        </p:txBody>
      </p:sp>
      <p:sp>
        <p:nvSpPr>
          <p:cNvPr id="3" name="keyword_strip"/>
          <p:cNvSpPr txBox="1"/>
          <p:nvPr/>
        </p:nvSpPr>
        <p:spPr>
          <a:xfrm>
            <a:off x="5836615" y="274320"/>
            <a:ext cx="5852160" cy="347472"/>
          </a:xfrm>
          <a:prstGeom prst="rect">
            <a:avLst/>
          </a:prstGeom>
          <a:noFill/>
          <a:ln/>
        </p:spPr>
        <p:txBody>
          <a:bodyPr wrap="square" lIns="0" tIns="0" rIns="0" bIns="0" rtlCol="0" anchor="ctr"/>
          <a:lstStyle/>
          <a:p>
            <a:pPr algn="r" indent="0" marL="0">
              <a:buNone/>
            </a:pPr>
            <a:r>
              <a:rPr lang="en-US" sz="1150" b="1" i="1" dirty="0">
                <a:solidFill>
                  <a:srgbClr val="2BA6A0"/>
                </a:solidFill>
                <a:latin typeface="Arial" pitchFamily="34" charset="0"/>
                <a:ea typeface="Arial" pitchFamily="34" charset="-122"/>
                <a:cs typeface="Arial" pitchFamily="34" charset="-120"/>
              </a:rPr>
              <a:t>scientific law</a:t>
            </a:r>
            <a:endParaRPr lang="en-US" sz="1150" dirty="0"/>
          </a:p>
        </p:txBody>
      </p:sp>
      <p:sp>
        <p:nvSpPr>
          <p:cNvPr id="4"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A law says WHAT happens</a:t>
            </a:r>
            <a:endParaRPr lang="en-US" sz="3000" dirty="0"/>
          </a:p>
        </p:txBody>
      </p:sp>
      <p:grpSp>
        <p:nvGrpSpPr>
          <p:cNvPr id="26" name="lp_def"/>
          <p:cNvGrpSpPr/>
          <p:nvPr/>
        </p:nvGrpSpPr>
        <p:grpSpPr>
          <a:xfrm>
            <a:off x="502920" y="2048256"/>
            <a:ext cx="11185855" cy="822960"/>
            <a:chOff x="502920" y="2048256"/>
            <a:chExt cx="11185855" cy="822960"/>
          </a:xfrm>
        </p:grpSpPr>
        <p:pic>
          <p:nvPicPr>
            <p:cNvPr id="5" name="law_icon" descr="/home/claude/build/img_y7/ruler_support.png">    </p:cNvPr>
            <p:cNvPicPr>
              <a:picLocks noChangeAspect="1"/>
            </p:cNvPicPr>
            <p:nvPr/>
          </p:nvPicPr>
          <p:blipFill>
            <a:blip r:embed="rId1"/>
            <a:stretch>
              <a:fillRect/>
            </a:stretch>
          </p:blipFill>
          <p:spPr>
            <a:xfrm>
              <a:off x="502920" y="2048256"/>
              <a:ext cx="822960" cy="822960"/>
            </a:xfrm>
            <a:prstGeom prst="rect">
              <a:avLst/>
            </a:prstGeom>
          </p:spPr>
        </p:pic>
        <p:sp>
          <p:nvSpPr>
            <p:cNvPr id="6" name="law_def"/>
            <p:cNvSpPr txBox="1"/>
            <p:nvPr/>
          </p:nvSpPr>
          <p:spPr>
            <a:xfrm>
              <a:off x="1545336" y="2048256"/>
              <a:ext cx="10143439" cy="822960"/>
            </a:xfrm>
            <a:prstGeom prst="rect">
              <a:avLst/>
            </a:prstGeom>
            <a:noFill/>
            <a:ln/>
          </p:spPr>
          <p:txBody>
            <a:bodyPr wrap="square" lIns="0" tIns="0" rIns="0" bIns="0" rtlCol="0" anchor="ctr"/>
            <a:lstStyle/>
            <a:p>
              <a:pPr indent="0" marL="0">
                <a:lnSpc>
                  <a:spcPts val="2800"/>
                </a:lnSpc>
                <a:buNone/>
              </a:pPr>
              <a:r>
                <a:rPr lang="en-US" sz="2200" b="1" dirty="0">
                  <a:solidFill>
                    <a:srgbClr val="4A2C6F"/>
                  </a:solidFill>
                  <a:latin typeface="Georgia" pitchFamily="34" charset="0"/>
                  <a:ea typeface="Georgia" pitchFamily="34" charset="-122"/>
                  <a:cs typeface="Georgia" pitchFamily="34" charset="-120"/>
                </a:rPr>
                <a:t>A scientific law describes what always happens under the same conditions.</a:t>
              </a:r>
              <a:endParaRPr lang="en-US" sz="2200" dirty="0"/>
            </a:p>
          </p:txBody>
        </p:sp>
      </p:grpSp>
      <p:grpSp>
        <p:nvGrpSpPr>
          <p:cNvPr id="27" name="lp0"/>
          <p:cNvGrpSpPr/>
          <p:nvPr/>
        </p:nvGrpSpPr>
        <p:grpSpPr>
          <a:xfrm>
            <a:off x="502920" y="3108960"/>
            <a:ext cx="3570122" cy="1152144"/>
            <a:chOff x="502920" y="3108960"/>
            <a:chExt cx="3570122" cy="1152144"/>
          </a:xfrm>
        </p:grpSpPr>
        <p:sp>
          <p:nvSpPr>
            <p:cNvPr id="7" name="lp0_bg"/>
            <p:cNvSpPr/>
            <p:nvPr/>
          </p:nvSpPr>
          <p:spPr>
            <a:xfrm>
              <a:off x="502920" y="3108960"/>
              <a:ext cx="3570122" cy="1152144"/>
            </a:xfrm>
            <a:prstGeom prst="roundRect">
              <a:avLst>
                <a:gd name="adj" fmla="val 11111"/>
              </a:avLst>
            </a:prstGeom>
            <a:solidFill>
              <a:srgbClr val="FFFFFF"/>
            </a:solidFill>
            <a:ln w="15875">
              <a:solidFill>
                <a:srgbClr val="E3DAF0"/>
              </a:solidFill>
              <a:prstDash val="solid"/>
            </a:ln>
          </p:spPr>
        </p:sp>
        <p:sp>
          <p:nvSpPr>
            <p:cNvPr id="8" name="lp0_h"/>
            <p:cNvSpPr txBox="1"/>
            <p:nvPr/>
          </p:nvSpPr>
          <p:spPr>
            <a:xfrm>
              <a:off x="704088" y="3255264"/>
              <a:ext cx="3167786" cy="310896"/>
            </a:xfrm>
            <a:prstGeom prst="rect">
              <a:avLst/>
            </a:prstGeom>
            <a:noFill/>
            <a:ln/>
          </p:spPr>
          <p:txBody>
            <a:bodyPr wrap="square" lIns="0" tIns="0" rIns="0" bIns="0" rtlCol="0" anchor="ctr"/>
            <a:lstStyle/>
            <a:p>
              <a:pPr indent="0" marL="0">
                <a:buNone/>
              </a:pPr>
              <a:r>
                <a:rPr lang="en-US" sz="1350" b="1" dirty="0">
                  <a:solidFill>
                    <a:srgbClr val="2BA6A0"/>
                  </a:solidFill>
                  <a:latin typeface="Arial" pitchFamily="34" charset="0"/>
                  <a:ea typeface="Arial" pitchFamily="34" charset="-122"/>
                  <a:cs typeface="Arial" pitchFamily="34" charset="-120"/>
                </a:rPr>
                <a:t>It describes.</a:t>
              </a:r>
              <a:endParaRPr lang="en-US" sz="1350" dirty="0"/>
            </a:p>
          </p:txBody>
        </p:sp>
        <p:sp>
          <p:nvSpPr>
            <p:cNvPr id="9" name="lp0_b"/>
            <p:cNvSpPr txBox="1"/>
            <p:nvPr/>
          </p:nvSpPr>
          <p:spPr>
            <a:xfrm>
              <a:off x="704088" y="3584448"/>
              <a:ext cx="3167786" cy="585216"/>
            </a:xfrm>
            <a:prstGeom prst="rect">
              <a:avLst/>
            </a:prstGeom>
            <a:noFill/>
            <a:ln/>
          </p:spPr>
          <p:txBody>
            <a:bodyPr wrap="square" lIns="0" tIns="0" rIns="0" bIns="0" rtlCol="0" anchor="t"/>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It tells you what you will see. It never tells you why.</a:t>
              </a:r>
              <a:endParaRPr lang="en-US" sz="1200" dirty="0"/>
            </a:p>
          </p:txBody>
        </p:sp>
      </p:grpSp>
      <p:grpSp>
        <p:nvGrpSpPr>
          <p:cNvPr id="29" name="lp1"/>
          <p:cNvGrpSpPr/>
          <p:nvPr/>
        </p:nvGrpSpPr>
        <p:grpSpPr>
          <a:xfrm>
            <a:off x="4310786" y="3108960"/>
            <a:ext cx="3570122" cy="1152144"/>
            <a:chOff x="4310786" y="3108960"/>
            <a:chExt cx="3570122" cy="1152144"/>
          </a:xfrm>
        </p:grpSpPr>
        <p:sp>
          <p:nvSpPr>
            <p:cNvPr id="10" name="lp1_bg"/>
            <p:cNvSpPr/>
            <p:nvPr/>
          </p:nvSpPr>
          <p:spPr>
            <a:xfrm>
              <a:off x="4310786" y="3108960"/>
              <a:ext cx="3570122" cy="1152144"/>
            </a:xfrm>
            <a:prstGeom prst="roundRect">
              <a:avLst>
                <a:gd name="adj" fmla="val 11111"/>
              </a:avLst>
            </a:prstGeom>
            <a:solidFill>
              <a:srgbClr val="FFFFFF"/>
            </a:solidFill>
            <a:ln w="15875">
              <a:solidFill>
                <a:srgbClr val="E3DAF0"/>
              </a:solidFill>
              <a:prstDash val="solid"/>
            </a:ln>
          </p:spPr>
        </p:sp>
        <p:sp>
          <p:nvSpPr>
            <p:cNvPr id="11" name="lp1_h"/>
            <p:cNvSpPr txBox="1"/>
            <p:nvPr/>
          </p:nvSpPr>
          <p:spPr>
            <a:xfrm>
              <a:off x="4511954" y="3255264"/>
              <a:ext cx="3167786" cy="310896"/>
            </a:xfrm>
            <a:prstGeom prst="rect">
              <a:avLst/>
            </a:prstGeom>
            <a:noFill/>
            <a:ln/>
          </p:spPr>
          <p:txBody>
            <a:bodyPr wrap="square" lIns="0" tIns="0" rIns="0" bIns="0" rtlCol="0" anchor="ctr"/>
            <a:lstStyle/>
            <a:p>
              <a:pPr indent="0" marL="0">
                <a:buNone/>
              </a:pPr>
              <a:r>
                <a:rPr lang="en-US" sz="1350" b="1" dirty="0">
                  <a:solidFill>
                    <a:srgbClr val="2BA6A0"/>
                  </a:solidFill>
                  <a:latin typeface="Arial" pitchFamily="34" charset="0"/>
                  <a:ea typeface="Arial" pitchFamily="34" charset="-122"/>
                  <a:cs typeface="Arial" pitchFamily="34" charset="-120"/>
                </a:rPr>
                <a:t>It is short.</a:t>
              </a:r>
              <a:endParaRPr lang="en-US" sz="1350" dirty="0"/>
            </a:p>
          </p:txBody>
        </p:sp>
        <p:sp>
          <p:nvSpPr>
            <p:cNvPr id="12" name="lp1_b"/>
            <p:cNvSpPr txBox="1"/>
            <p:nvPr/>
          </p:nvSpPr>
          <p:spPr>
            <a:xfrm>
              <a:off x="4511954" y="3584448"/>
              <a:ext cx="3167786" cy="585216"/>
            </a:xfrm>
            <a:prstGeom prst="rect">
              <a:avLst/>
            </a:prstGeom>
            <a:noFill/>
            <a:ln/>
          </p:spPr>
          <p:txBody>
            <a:bodyPr wrap="square" lIns="0" tIns="0" rIns="0" bIns="0" rtlCol="0" anchor="t"/>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Often one sentence. Often an equation.</a:t>
              </a:r>
              <a:endParaRPr lang="en-US" sz="1200" dirty="0"/>
            </a:p>
          </p:txBody>
        </p:sp>
      </p:grpSp>
      <p:grpSp>
        <p:nvGrpSpPr>
          <p:cNvPr id="31" name="lp2"/>
          <p:cNvGrpSpPr/>
          <p:nvPr/>
        </p:nvGrpSpPr>
        <p:grpSpPr>
          <a:xfrm>
            <a:off x="8118653" y="3108960"/>
            <a:ext cx="3570122" cy="1152144"/>
            <a:chOff x="8118653" y="3108960"/>
            <a:chExt cx="3570122" cy="1152144"/>
          </a:xfrm>
        </p:grpSpPr>
        <p:sp>
          <p:nvSpPr>
            <p:cNvPr id="13" name="lp2_bg"/>
            <p:cNvSpPr/>
            <p:nvPr/>
          </p:nvSpPr>
          <p:spPr>
            <a:xfrm>
              <a:off x="8118653" y="3108960"/>
              <a:ext cx="3570122" cy="1152144"/>
            </a:xfrm>
            <a:prstGeom prst="roundRect">
              <a:avLst>
                <a:gd name="adj" fmla="val 11111"/>
              </a:avLst>
            </a:prstGeom>
            <a:solidFill>
              <a:srgbClr val="FFFFFF"/>
            </a:solidFill>
            <a:ln w="15875">
              <a:solidFill>
                <a:srgbClr val="E3DAF0"/>
              </a:solidFill>
              <a:prstDash val="solid"/>
            </a:ln>
          </p:spPr>
        </p:sp>
        <p:sp>
          <p:nvSpPr>
            <p:cNvPr id="14" name="lp2_h"/>
            <p:cNvSpPr txBox="1"/>
            <p:nvPr/>
          </p:nvSpPr>
          <p:spPr>
            <a:xfrm>
              <a:off x="8319821" y="3255264"/>
              <a:ext cx="3167786" cy="310896"/>
            </a:xfrm>
            <a:prstGeom prst="rect">
              <a:avLst/>
            </a:prstGeom>
            <a:noFill/>
            <a:ln/>
          </p:spPr>
          <p:txBody>
            <a:bodyPr wrap="square" lIns="0" tIns="0" rIns="0" bIns="0" rtlCol="0" anchor="ctr"/>
            <a:lstStyle/>
            <a:p>
              <a:pPr indent="0" marL="0">
                <a:buNone/>
              </a:pPr>
              <a:r>
                <a:rPr lang="en-US" sz="1350" b="1" dirty="0">
                  <a:solidFill>
                    <a:srgbClr val="2BA6A0"/>
                  </a:solidFill>
                  <a:latin typeface="Arial" pitchFamily="34" charset="0"/>
                  <a:ea typeface="Arial" pitchFamily="34" charset="-122"/>
                  <a:cs typeface="Arial" pitchFamily="34" charset="-120"/>
                </a:rPr>
                <a:t>It holds every time.</a:t>
              </a:r>
              <a:endParaRPr lang="en-US" sz="1350" dirty="0"/>
            </a:p>
          </p:txBody>
        </p:sp>
        <p:sp>
          <p:nvSpPr>
            <p:cNvPr id="15" name="lp2_b"/>
            <p:cNvSpPr txBox="1"/>
            <p:nvPr/>
          </p:nvSpPr>
          <p:spPr>
            <a:xfrm>
              <a:off x="8319821" y="3584448"/>
              <a:ext cx="3167786" cy="585216"/>
            </a:xfrm>
            <a:prstGeom prst="rect">
              <a:avLst/>
            </a:prstGeom>
            <a:noFill/>
            <a:ln/>
          </p:spPr>
          <p:txBody>
            <a:bodyPr wrap="square" lIns="0" tIns="0" rIns="0" bIns="0" rtlCol="0" anchor="t"/>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Same conditions, same result. No exceptions.</a:t>
              </a:r>
              <a:endParaRPr lang="en-US" sz="1200" dirty="0"/>
            </a:p>
          </p:txBody>
        </p:sp>
      </p:grpSp>
      <p:sp>
        <p:nvSpPr>
          <p:cNvPr id="16" name="law_eg_h"/>
          <p:cNvSpPr txBox="1"/>
          <p:nvPr/>
        </p:nvSpPr>
        <p:spPr>
          <a:xfrm>
            <a:off x="502920" y="4480560"/>
            <a:ext cx="2743200" cy="292608"/>
          </a:xfrm>
          <a:prstGeom prst="rect">
            <a:avLst/>
          </a:prstGeom>
          <a:noFill/>
          <a:ln/>
        </p:spPr>
        <p:txBody>
          <a:bodyPr wrap="square" lIns="0" tIns="0" rIns="0" bIns="0" rtlCol="0" anchor="ctr"/>
          <a:lstStyle/>
          <a:p>
            <a:pPr indent="0" marL="0">
              <a:buNone/>
            </a:pPr>
            <a:r>
              <a:rPr lang="en-US" sz="1200" b="1" spc="100" kern="0" dirty="0">
                <a:solidFill>
                  <a:srgbClr val="4A2C6F"/>
                </a:solidFill>
                <a:latin typeface="Arial" pitchFamily="34" charset="0"/>
                <a:ea typeface="Arial" pitchFamily="34" charset="-122"/>
                <a:cs typeface="Arial" pitchFamily="34" charset="-120"/>
              </a:rPr>
              <a:t>Three laws</a:t>
            </a:r>
            <a:endParaRPr lang="en-US" sz="1200" dirty="0"/>
          </a:p>
        </p:txBody>
      </p:sp>
      <p:grpSp>
        <p:nvGrpSpPr>
          <p:cNvPr id="28" name="le0"/>
          <p:cNvGrpSpPr/>
          <p:nvPr/>
        </p:nvGrpSpPr>
        <p:grpSpPr>
          <a:xfrm>
            <a:off x="502920" y="4828032"/>
            <a:ext cx="3570122" cy="841248"/>
            <a:chOff x="502920" y="4828032"/>
            <a:chExt cx="3570122" cy="841248"/>
          </a:xfrm>
        </p:grpSpPr>
        <p:sp>
          <p:nvSpPr>
            <p:cNvPr id="17" name="le0_bg"/>
            <p:cNvSpPr/>
            <p:nvPr/>
          </p:nvSpPr>
          <p:spPr>
            <a:xfrm>
              <a:off x="502920" y="4828032"/>
              <a:ext cx="3570122" cy="841248"/>
            </a:xfrm>
            <a:prstGeom prst="roundRect">
              <a:avLst>
                <a:gd name="adj" fmla="val 15217"/>
              </a:avLst>
            </a:prstGeom>
            <a:solidFill>
              <a:srgbClr val="E8F6F5"/>
            </a:solidFill>
            <a:ln w="15875">
              <a:solidFill>
                <a:srgbClr val="2BA6A0"/>
              </a:solidFill>
              <a:prstDash val="solid"/>
            </a:ln>
          </p:spPr>
        </p:sp>
        <p:pic>
          <p:nvPicPr>
            <p:cNvPr id="18" name="le0_icon" descr="/home/claude/build/img_y7/thermometer_support.png">    </p:cNvPr>
            <p:cNvPicPr>
              <a:picLocks noChangeAspect="1"/>
            </p:cNvPicPr>
            <p:nvPr/>
          </p:nvPicPr>
          <p:blipFill>
            <a:blip r:embed="rId2"/>
            <a:stretch>
              <a:fillRect/>
            </a:stretch>
          </p:blipFill>
          <p:spPr>
            <a:xfrm>
              <a:off x="704088" y="5047488"/>
              <a:ext cx="402336" cy="402336"/>
            </a:xfrm>
            <a:prstGeom prst="rect">
              <a:avLst/>
            </a:prstGeom>
          </p:spPr>
        </p:pic>
        <p:sp>
          <p:nvSpPr>
            <p:cNvPr id="19" name="le0_t"/>
            <p:cNvSpPr txBox="1"/>
            <p:nvPr/>
          </p:nvSpPr>
          <p:spPr>
            <a:xfrm>
              <a:off x="1234440" y="4828032"/>
              <a:ext cx="2637434" cy="841248"/>
            </a:xfrm>
            <a:prstGeom prst="rect">
              <a:avLst/>
            </a:prstGeom>
            <a:noFill/>
            <a:ln/>
          </p:spPr>
          <p:txBody>
            <a:bodyPr wrap="square" lIns="0" tIns="0" rIns="0" bIns="0" rtlCol="0" anchor="ctr"/>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Water boils at 100 °C at sea level.</a:t>
              </a:r>
              <a:endParaRPr lang="en-US" sz="1200" dirty="0"/>
            </a:p>
          </p:txBody>
        </p:sp>
      </p:grpSp>
      <p:grpSp>
        <p:nvGrpSpPr>
          <p:cNvPr id="30" name="le1"/>
          <p:cNvGrpSpPr/>
          <p:nvPr/>
        </p:nvGrpSpPr>
        <p:grpSpPr>
          <a:xfrm>
            <a:off x="4310786" y="4828032"/>
            <a:ext cx="3570122" cy="841248"/>
            <a:chOff x="4310786" y="4828032"/>
            <a:chExt cx="3570122" cy="841248"/>
          </a:xfrm>
        </p:grpSpPr>
        <p:sp>
          <p:nvSpPr>
            <p:cNvPr id="20" name="le1_bg"/>
            <p:cNvSpPr/>
            <p:nvPr/>
          </p:nvSpPr>
          <p:spPr>
            <a:xfrm>
              <a:off x="4310786" y="4828032"/>
              <a:ext cx="3570122" cy="841248"/>
            </a:xfrm>
            <a:prstGeom prst="roundRect">
              <a:avLst>
                <a:gd name="adj" fmla="val 15217"/>
              </a:avLst>
            </a:prstGeom>
            <a:solidFill>
              <a:srgbClr val="E8F6F5"/>
            </a:solidFill>
            <a:ln w="15875">
              <a:solidFill>
                <a:srgbClr val="2BA6A0"/>
              </a:solidFill>
              <a:prstDash val="solid"/>
            </a:ln>
          </p:spPr>
        </p:sp>
        <p:pic>
          <p:nvPicPr>
            <p:cNvPr id="21" name="le1_icon" descr="/home/claude/build/img_y7/magnet_support.png">    </p:cNvPr>
            <p:cNvPicPr>
              <a:picLocks noChangeAspect="1"/>
            </p:cNvPicPr>
            <p:nvPr/>
          </p:nvPicPr>
          <p:blipFill>
            <a:blip r:embed="rId3"/>
            <a:stretch>
              <a:fillRect/>
            </a:stretch>
          </p:blipFill>
          <p:spPr>
            <a:xfrm>
              <a:off x="4511954" y="5047488"/>
              <a:ext cx="402336" cy="402336"/>
            </a:xfrm>
            <a:prstGeom prst="rect">
              <a:avLst/>
            </a:prstGeom>
          </p:spPr>
        </p:pic>
        <p:sp>
          <p:nvSpPr>
            <p:cNvPr id="22" name="le1_t"/>
            <p:cNvSpPr txBox="1"/>
            <p:nvPr/>
          </p:nvSpPr>
          <p:spPr>
            <a:xfrm>
              <a:off x="5042306" y="4828032"/>
              <a:ext cx="2637434" cy="841248"/>
            </a:xfrm>
            <a:prstGeom prst="rect">
              <a:avLst/>
            </a:prstGeom>
            <a:noFill/>
            <a:ln/>
          </p:spPr>
          <p:txBody>
            <a:bodyPr wrap="square" lIns="0" tIns="0" rIns="0" bIns="0" rtlCol="0" anchor="ctr"/>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Two north poles push each other apart.</a:t>
              </a:r>
              <a:endParaRPr lang="en-US" sz="1200" dirty="0"/>
            </a:p>
          </p:txBody>
        </p:sp>
      </p:grpSp>
      <p:grpSp>
        <p:nvGrpSpPr>
          <p:cNvPr id="32" name="le2"/>
          <p:cNvGrpSpPr/>
          <p:nvPr/>
        </p:nvGrpSpPr>
        <p:grpSpPr>
          <a:xfrm>
            <a:off x="8118653" y="4828032"/>
            <a:ext cx="3570122" cy="841248"/>
            <a:chOff x="8118653" y="4828032"/>
            <a:chExt cx="3570122" cy="841248"/>
          </a:xfrm>
        </p:grpSpPr>
        <p:sp>
          <p:nvSpPr>
            <p:cNvPr id="23" name="le2_bg"/>
            <p:cNvSpPr/>
            <p:nvPr/>
          </p:nvSpPr>
          <p:spPr>
            <a:xfrm>
              <a:off x="8118653" y="4828032"/>
              <a:ext cx="3570122" cy="841248"/>
            </a:xfrm>
            <a:prstGeom prst="roundRect">
              <a:avLst>
                <a:gd name="adj" fmla="val 15217"/>
              </a:avLst>
            </a:prstGeom>
            <a:solidFill>
              <a:srgbClr val="E8F6F5"/>
            </a:solidFill>
            <a:ln w="15875">
              <a:solidFill>
                <a:srgbClr val="2BA6A0"/>
              </a:solidFill>
              <a:prstDash val="solid"/>
            </a:ln>
          </p:spPr>
        </p:sp>
        <p:pic>
          <p:nvPicPr>
            <p:cNvPr id="24" name="le2_icon" descr="/home/claude/build/img_y7/apple_support.png">    </p:cNvPr>
            <p:cNvPicPr>
              <a:picLocks noChangeAspect="1"/>
            </p:cNvPicPr>
            <p:nvPr/>
          </p:nvPicPr>
          <p:blipFill>
            <a:blip r:embed="rId4"/>
            <a:stretch>
              <a:fillRect/>
            </a:stretch>
          </p:blipFill>
          <p:spPr>
            <a:xfrm>
              <a:off x="8319821" y="5047488"/>
              <a:ext cx="402336" cy="402336"/>
            </a:xfrm>
            <a:prstGeom prst="rect">
              <a:avLst/>
            </a:prstGeom>
          </p:spPr>
        </p:pic>
        <p:sp>
          <p:nvSpPr>
            <p:cNvPr id="25" name="le2_t"/>
            <p:cNvSpPr txBox="1"/>
            <p:nvPr/>
          </p:nvSpPr>
          <p:spPr>
            <a:xfrm>
              <a:off x="8850173" y="4828032"/>
              <a:ext cx="2637434" cy="841248"/>
            </a:xfrm>
            <a:prstGeom prst="rect">
              <a:avLst/>
            </a:prstGeom>
            <a:noFill/>
            <a:ln/>
          </p:spPr>
          <p:txBody>
            <a:bodyPr wrap="square" lIns="0" tIns="0" rIns="0" bIns="0" rtlCol="0" anchor="ctr"/>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Everything falls at the same rate in a vacuum.</a:t>
              </a:r>
              <a:endParaRPr lang="en-US" sz="12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6"/>
                                        </p:tgtEl>
                                        <p:attrNameLst>
                                          <p:attrName>style.visibility</p:attrName>
                                        </p:attrNameLst>
                                      </p:cBhvr>
                                      <p:to>
                                        <p:strVal val="visible"/>
                                      </p:to>
                                    </p:set>
                                    <p:animEffect transition="in" filter="fade">
                                      <p:cBhvr>
                                        <p:cTn id="4" dur="4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27"/>
                                        </p:tgtEl>
                                        <p:attrNameLst>
                                          <p:attrName>style.visibility</p:attrName>
                                        </p:attrNameLst>
                                      </p:cBhvr>
                                      <p:to>
                                        <p:strVal val="visible"/>
                                      </p:to>
                                    </p:set>
                                    <p:animEffect transition="in" filter="fade">
                                      <p:cBhvr>
                                        <p:cTn id="9" dur="400"/>
                                        <p:tgtEl>
                                          <p:spTgt spid="27"/>
                                        </p:tgtEl>
                                      </p:cBhvr>
                                    </p:animEffect>
                                  </p:childTnLst>
                                </p:cTn>
                              </p:par>
                              <p:par>
                                <p:cTn id="13" presetID="10" presetClass="entr" presetSubtype="0" fill="hold" grpId="0" nodeType="withEffect">
                                  <p:stCondLst>
                                    <p:cond delay="15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par>
                                <p:cTn id="16" presetID="10" presetClass="entr" presetSubtype="0" fill="hold" grpId="0" nodeType="withEffect">
                                  <p:stCondLst>
                                    <p:cond delay="30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400"/>
                                        <p:tgtEl>
                                          <p:spTgt spid="31"/>
                                        </p:tgtEl>
                                      </p:cBhvr>
                                    </p:animEffect>
                                  </p:childTnLst>
                                </p:cTn>
                              </p:par>
                            </p:childTnLst>
                          </p:cTn>
                        </p:par>
                      </p:childTnLst>
                    </p:cTn>
                  </p:par>
                  <p:par>
                    <p:cTn id="22" fill="hold">
                      <p:stCondLst>
                        <p:cond delay="indefinite"/>
                      </p:stCondLst>
                      <p:childTnLst>
                        <p:par>
                          <p:cTn id="23" fill="hold">
                            <p:stCondLst>
                              <p:cond delay="0"/>
                            </p:stCondLst>
                            <p:childTnLst>
                              <p:par>
                                <p:cTn id="21"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00"/>
                                        <p:tgtEl>
                                          <p:spTgt spid="16"/>
                                        </p:tgtEl>
                                      </p:cBhvr>
                                    </p:animEffect>
                                  </p:childTnLst>
                                </p:cTn>
                              </p:par>
                            </p:childTnLst>
                          </p:cTn>
                        </p:par>
                      </p:childTnLst>
                    </p:cTn>
                  </p:par>
                  <p:par>
                    <p:cTn id="33" fill="hold">
                      <p:stCondLst>
                        <p:cond delay="indefinite"/>
                      </p:stCondLst>
                      <p:childTnLst>
                        <p:par>
                          <p:cTn id="34" fill="hold">
                            <p:stCondLst>
                              <p:cond delay="0"/>
                            </p:stCondLst>
                            <p:childTnLst>
                              <p:par>
                                <p:cTn id="26" presetID="10"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00"/>
                                        <p:tgtEl>
                                          <p:spTgt spid="28"/>
                                        </p:tgtEl>
                                      </p:cBhvr>
                                    </p:animEffect>
                                  </p:childTnLst>
                                </p:cTn>
                              </p:par>
                              <p:par>
                                <p:cTn id="29" presetID="10" presetClass="entr" presetSubtype="0" fill="hold" grpId="0" nodeType="withEffect">
                                  <p:stCondLst>
                                    <p:cond delay="15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400"/>
                                        <p:tgtEl>
                                          <p:spTgt spid="30"/>
                                        </p:tgtEl>
                                      </p:cBhvr>
                                    </p:animEffect>
                                  </p:childTnLst>
                                </p:cTn>
                              </p:par>
                              <p:par>
                                <p:cTn id="32" presetID="10" presetClass="entr" presetSubtype="0" fill="hold" grpId="0" nodeType="withEffect">
                                  <p:stCondLst>
                                    <p:cond delay="30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I DO · 6 MIN</a:t>
            </a:r>
            <a:endParaRPr lang="en-US" sz="1100" dirty="0"/>
          </a:p>
        </p:txBody>
      </p:sp>
      <p:sp>
        <p:nvSpPr>
          <p:cNvPr id="3" name="keyword_strip"/>
          <p:cNvSpPr txBox="1"/>
          <p:nvPr/>
        </p:nvSpPr>
        <p:spPr>
          <a:xfrm>
            <a:off x="5836615" y="274320"/>
            <a:ext cx="5852160" cy="347472"/>
          </a:xfrm>
          <a:prstGeom prst="rect">
            <a:avLst/>
          </a:prstGeom>
          <a:noFill/>
          <a:ln/>
        </p:spPr>
        <p:txBody>
          <a:bodyPr wrap="square" lIns="0" tIns="0" rIns="0" bIns="0" rtlCol="0" anchor="ctr"/>
          <a:lstStyle/>
          <a:p>
            <a:pPr algn="r" indent="0" marL="0">
              <a:buNone/>
            </a:pPr>
            <a:r>
              <a:rPr lang="en-US" sz="1150" b="1" i="1" dirty="0">
                <a:solidFill>
                  <a:srgbClr val="2BA6A0"/>
                </a:solidFill>
                <a:latin typeface="Arial" pitchFamily="34" charset="0"/>
                <a:ea typeface="Arial" pitchFamily="34" charset="-122"/>
                <a:cs typeface="Arial" pitchFamily="34" charset="-120"/>
              </a:rPr>
              <a:t>scientific theory</a:t>
            </a:r>
            <a:endParaRPr lang="en-US" sz="1150" dirty="0"/>
          </a:p>
        </p:txBody>
      </p:sp>
      <p:sp>
        <p:nvSpPr>
          <p:cNvPr id="4"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A theory says WHY it happens</a:t>
            </a:r>
            <a:endParaRPr lang="en-US" sz="3000" dirty="0"/>
          </a:p>
        </p:txBody>
      </p:sp>
      <p:grpSp>
        <p:nvGrpSpPr>
          <p:cNvPr id="26" name="tp_def"/>
          <p:cNvGrpSpPr/>
          <p:nvPr/>
        </p:nvGrpSpPr>
        <p:grpSpPr>
          <a:xfrm>
            <a:off x="502920" y="2048256"/>
            <a:ext cx="11185855" cy="822960"/>
            <a:chOff x="502920" y="2048256"/>
            <a:chExt cx="11185855" cy="822960"/>
          </a:xfrm>
        </p:grpSpPr>
        <p:pic>
          <p:nvPicPr>
            <p:cNvPr id="5" name="th_icon" descr="/home/claude/build/img_y7/lightbulb_accent.png">    </p:cNvPr>
            <p:cNvPicPr>
              <a:picLocks noChangeAspect="1"/>
            </p:cNvPicPr>
            <p:nvPr/>
          </p:nvPicPr>
          <p:blipFill>
            <a:blip r:embed="rId1"/>
            <a:stretch>
              <a:fillRect/>
            </a:stretch>
          </p:blipFill>
          <p:spPr>
            <a:xfrm>
              <a:off x="502920" y="2048256"/>
              <a:ext cx="822960" cy="822960"/>
            </a:xfrm>
            <a:prstGeom prst="rect">
              <a:avLst/>
            </a:prstGeom>
          </p:spPr>
        </p:pic>
        <p:sp>
          <p:nvSpPr>
            <p:cNvPr id="6" name="th_def"/>
            <p:cNvSpPr txBox="1"/>
            <p:nvPr/>
          </p:nvSpPr>
          <p:spPr>
            <a:xfrm>
              <a:off x="1545336" y="2048256"/>
              <a:ext cx="10143439" cy="822960"/>
            </a:xfrm>
            <a:prstGeom prst="rect">
              <a:avLst/>
            </a:prstGeom>
            <a:noFill/>
            <a:ln/>
          </p:spPr>
          <p:txBody>
            <a:bodyPr wrap="square" lIns="0" tIns="0" rIns="0" bIns="0" rtlCol="0" anchor="ctr"/>
            <a:lstStyle/>
            <a:p>
              <a:pPr indent="0" marL="0">
                <a:lnSpc>
                  <a:spcPts val="2800"/>
                </a:lnSpc>
                <a:buNone/>
              </a:pPr>
              <a:r>
                <a:rPr lang="en-US" sz="2200" b="1" dirty="0">
                  <a:solidFill>
                    <a:srgbClr val="4A2C6F"/>
                  </a:solidFill>
                  <a:latin typeface="Georgia" pitchFamily="34" charset="0"/>
                  <a:ea typeface="Georgia" pitchFamily="34" charset="-122"/>
                  <a:cs typeface="Georgia" pitchFamily="34" charset="-120"/>
                </a:rPr>
                <a:t>A scientific theory is a big explanation, backed by a huge amount of evidence.</a:t>
              </a:r>
              <a:endParaRPr lang="en-US" sz="2200" dirty="0"/>
            </a:p>
          </p:txBody>
        </p:sp>
      </p:grpSp>
      <p:grpSp>
        <p:nvGrpSpPr>
          <p:cNvPr id="27" name="tp0"/>
          <p:cNvGrpSpPr/>
          <p:nvPr/>
        </p:nvGrpSpPr>
        <p:grpSpPr>
          <a:xfrm>
            <a:off x="502920" y="3108960"/>
            <a:ext cx="3570122" cy="1152144"/>
            <a:chOff x="502920" y="3108960"/>
            <a:chExt cx="3570122" cy="1152144"/>
          </a:xfrm>
        </p:grpSpPr>
        <p:sp>
          <p:nvSpPr>
            <p:cNvPr id="7" name="tp0_bg"/>
            <p:cNvSpPr/>
            <p:nvPr/>
          </p:nvSpPr>
          <p:spPr>
            <a:xfrm>
              <a:off x="502920" y="3108960"/>
              <a:ext cx="3570122" cy="1152144"/>
            </a:xfrm>
            <a:prstGeom prst="roundRect">
              <a:avLst>
                <a:gd name="adj" fmla="val 11111"/>
              </a:avLst>
            </a:prstGeom>
            <a:solidFill>
              <a:srgbClr val="FFFFFF"/>
            </a:solidFill>
            <a:ln w="15875">
              <a:solidFill>
                <a:srgbClr val="E3DAF0"/>
              </a:solidFill>
              <a:prstDash val="solid"/>
            </a:ln>
          </p:spPr>
        </p:sp>
        <p:sp>
          <p:nvSpPr>
            <p:cNvPr id="8" name="tp0_h"/>
            <p:cNvSpPr txBox="1"/>
            <p:nvPr/>
          </p:nvSpPr>
          <p:spPr>
            <a:xfrm>
              <a:off x="704088" y="3255264"/>
              <a:ext cx="3167786" cy="310896"/>
            </a:xfrm>
            <a:prstGeom prst="rect">
              <a:avLst/>
            </a:prstGeom>
            <a:noFill/>
            <a:ln/>
          </p:spPr>
          <p:txBody>
            <a:bodyPr wrap="square" lIns="0" tIns="0" rIns="0" bIns="0" rtlCol="0" anchor="ctr"/>
            <a:lstStyle/>
            <a:p>
              <a:pPr indent="0" marL="0">
                <a:buNone/>
              </a:pPr>
              <a:r>
                <a:rPr lang="en-US" sz="1350" b="1" dirty="0">
                  <a:solidFill>
                    <a:srgbClr val="F2A03D"/>
                  </a:solidFill>
                  <a:latin typeface="Arial" pitchFamily="34" charset="0"/>
                  <a:ea typeface="Arial" pitchFamily="34" charset="-122"/>
                  <a:cs typeface="Arial" pitchFamily="34" charset="-120"/>
                </a:rPr>
                <a:t>It explains.</a:t>
              </a:r>
              <a:endParaRPr lang="en-US" sz="1350" dirty="0"/>
            </a:p>
          </p:txBody>
        </p:sp>
        <p:sp>
          <p:nvSpPr>
            <p:cNvPr id="9" name="tp0_b"/>
            <p:cNvSpPr txBox="1"/>
            <p:nvPr/>
          </p:nvSpPr>
          <p:spPr>
            <a:xfrm>
              <a:off x="704088" y="3584448"/>
              <a:ext cx="3167786" cy="585216"/>
            </a:xfrm>
            <a:prstGeom prst="rect">
              <a:avLst/>
            </a:prstGeom>
            <a:noFill/>
            <a:ln/>
          </p:spPr>
          <p:txBody>
            <a:bodyPr wrap="square" lIns="0" tIns="0" rIns="0" bIns="0" rtlCol="0" anchor="t"/>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It tells you why the law is true.</a:t>
              </a:r>
              <a:endParaRPr lang="en-US" sz="1200" dirty="0"/>
            </a:p>
          </p:txBody>
        </p:sp>
      </p:grpSp>
      <p:grpSp>
        <p:nvGrpSpPr>
          <p:cNvPr id="29" name="tp1"/>
          <p:cNvGrpSpPr/>
          <p:nvPr/>
        </p:nvGrpSpPr>
        <p:grpSpPr>
          <a:xfrm>
            <a:off x="4310786" y="3108960"/>
            <a:ext cx="3570122" cy="1152144"/>
            <a:chOff x="4310786" y="3108960"/>
            <a:chExt cx="3570122" cy="1152144"/>
          </a:xfrm>
        </p:grpSpPr>
        <p:sp>
          <p:nvSpPr>
            <p:cNvPr id="10" name="tp1_bg"/>
            <p:cNvSpPr/>
            <p:nvPr/>
          </p:nvSpPr>
          <p:spPr>
            <a:xfrm>
              <a:off x="4310786" y="3108960"/>
              <a:ext cx="3570122" cy="1152144"/>
            </a:xfrm>
            <a:prstGeom prst="roundRect">
              <a:avLst>
                <a:gd name="adj" fmla="val 11111"/>
              </a:avLst>
            </a:prstGeom>
            <a:solidFill>
              <a:srgbClr val="FFFFFF"/>
            </a:solidFill>
            <a:ln w="15875">
              <a:solidFill>
                <a:srgbClr val="E3DAF0"/>
              </a:solidFill>
              <a:prstDash val="solid"/>
            </a:ln>
          </p:spPr>
        </p:sp>
        <p:sp>
          <p:nvSpPr>
            <p:cNvPr id="11" name="tp1_h"/>
            <p:cNvSpPr txBox="1"/>
            <p:nvPr/>
          </p:nvSpPr>
          <p:spPr>
            <a:xfrm>
              <a:off x="4511954" y="3255264"/>
              <a:ext cx="3167786" cy="310896"/>
            </a:xfrm>
            <a:prstGeom prst="rect">
              <a:avLst/>
            </a:prstGeom>
            <a:noFill/>
            <a:ln/>
          </p:spPr>
          <p:txBody>
            <a:bodyPr wrap="square" lIns="0" tIns="0" rIns="0" bIns="0" rtlCol="0" anchor="ctr"/>
            <a:lstStyle/>
            <a:p>
              <a:pPr indent="0" marL="0">
                <a:buNone/>
              </a:pPr>
              <a:r>
                <a:rPr lang="en-US" sz="1350" b="1" dirty="0">
                  <a:solidFill>
                    <a:srgbClr val="F2A03D"/>
                  </a:solidFill>
                  <a:latin typeface="Arial" pitchFamily="34" charset="0"/>
                  <a:ea typeface="Arial" pitchFamily="34" charset="-122"/>
                  <a:cs typeface="Arial" pitchFamily="34" charset="-120"/>
                </a:rPr>
                <a:t>It is big.</a:t>
              </a:r>
              <a:endParaRPr lang="en-US" sz="1350" dirty="0"/>
            </a:p>
          </p:txBody>
        </p:sp>
        <p:sp>
          <p:nvSpPr>
            <p:cNvPr id="12" name="tp1_b"/>
            <p:cNvSpPr txBox="1"/>
            <p:nvPr/>
          </p:nvSpPr>
          <p:spPr>
            <a:xfrm>
              <a:off x="4511954" y="3584448"/>
              <a:ext cx="3167786" cy="585216"/>
            </a:xfrm>
            <a:prstGeom prst="rect">
              <a:avLst/>
            </a:prstGeom>
            <a:noFill/>
            <a:ln/>
          </p:spPr>
          <p:txBody>
            <a:bodyPr wrap="square" lIns="0" tIns="0" rIns="0" bIns="0" rtlCol="0" anchor="t"/>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One theory explains hundreds of different things at once.</a:t>
              </a:r>
              <a:endParaRPr lang="en-US" sz="1200" dirty="0"/>
            </a:p>
          </p:txBody>
        </p:sp>
      </p:grpSp>
      <p:grpSp>
        <p:nvGrpSpPr>
          <p:cNvPr id="31" name="tp2"/>
          <p:cNvGrpSpPr/>
          <p:nvPr/>
        </p:nvGrpSpPr>
        <p:grpSpPr>
          <a:xfrm>
            <a:off x="8118653" y="3108960"/>
            <a:ext cx="3570122" cy="1152144"/>
            <a:chOff x="8118653" y="3108960"/>
            <a:chExt cx="3570122" cy="1152144"/>
          </a:xfrm>
        </p:grpSpPr>
        <p:sp>
          <p:nvSpPr>
            <p:cNvPr id="13" name="tp2_bg"/>
            <p:cNvSpPr/>
            <p:nvPr/>
          </p:nvSpPr>
          <p:spPr>
            <a:xfrm>
              <a:off x="8118653" y="3108960"/>
              <a:ext cx="3570122" cy="1152144"/>
            </a:xfrm>
            <a:prstGeom prst="roundRect">
              <a:avLst>
                <a:gd name="adj" fmla="val 11111"/>
              </a:avLst>
            </a:prstGeom>
            <a:solidFill>
              <a:srgbClr val="FFFFFF"/>
            </a:solidFill>
            <a:ln w="15875">
              <a:solidFill>
                <a:srgbClr val="E3DAF0"/>
              </a:solidFill>
              <a:prstDash val="solid"/>
            </a:ln>
          </p:spPr>
        </p:sp>
        <p:sp>
          <p:nvSpPr>
            <p:cNvPr id="14" name="tp2_h"/>
            <p:cNvSpPr txBox="1"/>
            <p:nvPr/>
          </p:nvSpPr>
          <p:spPr>
            <a:xfrm>
              <a:off x="8319821" y="3255264"/>
              <a:ext cx="3167786" cy="310896"/>
            </a:xfrm>
            <a:prstGeom prst="rect">
              <a:avLst/>
            </a:prstGeom>
            <a:noFill/>
            <a:ln/>
          </p:spPr>
          <p:txBody>
            <a:bodyPr wrap="square" lIns="0" tIns="0" rIns="0" bIns="0" rtlCol="0" anchor="ctr"/>
            <a:lstStyle/>
            <a:p>
              <a:pPr indent="0" marL="0">
                <a:buNone/>
              </a:pPr>
              <a:r>
                <a:rPr lang="en-US" sz="1350" b="1" dirty="0">
                  <a:solidFill>
                    <a:srgbClr val="F2A03D"/>
                  </a:solidFill>
                  <a:latin typeface="Arial" pitchFamily="34" charset="0"/>
                  <a:ea typeface="Arial" pitchFamily="34" charset="-122"/>
                  <a:cs typeface="Arial" pitchFamily="34" charset="-120"/>
                </a:rPr>
                <a:t>It can improve.</a:t>
              </a:r>
              <a:endParaRPr lang="en-US" sz="1350" dirty="0"/>
            </a:p>
          </p:txBody>
        </p:sp>
        <p:sp>
          <p:nvSpPr>
            <p:cNvPr id="15" name="tp2_b"/>
            <p:cNvSpPr txBox="1"/>
            <p:nvPr/>
          </p:nvSpPr>
          <p:spPr>
            <a:xfrm>
              <a:off x="8319821" y="3584448"/>
              <a:ext cx="3167786" cy="585216"/>
            </a:xfrm>
            <a:prstGeom prst="rect">
              <a:avLst/>
            </a:prstGeom>
            <a:noFill/>
            <a:ln/>
          </p:spPr>
          <p:txBody>
            <a:bodyPr wrap="square" lIns="0" tIns="0" rIns="0" bIns="0" rtlCol="0" anchor="t"/>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New evidence sharpens it. It does not get thrown out lightly.</a:t>
              </a:r>
              <a:endParaRPr lang="en-US" sz="1200" dirty="0"/>
            </a:p>
          </p:txBody>
        </p:sp>
      </p:grpSp>
      <p:sp>
        <p:nvSpPr>
          <p:cNvPr id="16" name="th_eg_h"/>
          <p:cNvSpPr txBox="1"/>
          <p:nvPr/>
        </p:nvSpPr>
        <p:spPr>
          <a:xfrm>
            <a:off x="502920" y="4480560"/>
            <a:ext cx="2743200" cy="292608"/>
          </a:xfrm>
          <a:prstGeom prst="rect">
            <a:avLst/>
          </a:prstGeom>
          <a:noFill/>
          <a:ln/>
        </p:spPr>
        <p:txBody>
          <a:bodyPr wrap="square" lIns="0" tIns="0" rIns="0" bIns="0" rtlCol="0" anchor="ctr"/>
          <a:lstStyle/>
          <a:p>
            <a:pPr indent="0" marL="0">
              <a:buNone/>
            </a:pPr>
            <a:r>
              <a:rPr lang="en-US" sz="1200" b="1" spc="100" kern="0" dirty="0">
                <a:solidFill>
                  <a:srgbClr val="4A2C6F"/>
                </a:solidFill>
                <a:latin typeface="Arial" pitchFamily="34" charset="0"/>
                <a:ea typeface="Arial" pitchFamily="34" charset="-122"/>
                <a:cs typeface="Arial" pitchFamily="34" charset="-120"/>
              </a:rPr>
              <a:t>Three theories</a:t>
            </a:r>
            <a:endParaRPr lang="en-US" sz="1200" dirty="0"/>
          </a:p>
        </p:txBody>
      </p:sp>
      <p:grpSp>
        <p:nvGrpSpPr>
          <p:cNvPr id="28" name="te0"/>
          <p:cNvGrpSpPr/>
          <p:nvPr/>
        </p:nvGrpSpPr>
        <p:grpSpPr>
          <a:xfrm>
            <a:off x="502920" y="4828032"/>
            <a:ext cx="3570122" cy="841248"/>
            <a:chOff x="502920" y="4828032"/>
            <a:chExt cx="3570122" cy="841248"/>
          </a:xfrm>
        </p:grpSpPr>
        <p:sp>
          <p:nvSpPr>
            <p:cNvPr id="17" name="te0_bg"/>
            <p:cNvSpPr/>
            <p:nvPr/>
          </p:nvSpPr>
          <p:spPr>
            <a:xfrm>
              <a:off x="502920" y="4828032"/>
              <a:ext cx="3570122" cy="841248"/>
            </a:xfrm>
            <a:prstGeom prst="roundRect">
              <a:avLst>
                <a:gd name="adj" fmla="val 15217"/>
              </a:avLst>
            </a:prstGeom>
            <a:solidFill>
              <a:srgbClr val="FDEEDC"/>
            </a:solidFill>
            <a:ln w="15875">
              <a:solidFill>
                <a:srgbClr val="F2A03D"/>
              </a:solidFill>
              <a:prstDash val="solid"/>
            </a:ln>
          </p:spPr>
        </p:sp>
        <p:pic>
          <p:nvPicPr>
            <p:cNvPr id="18" name="te0_icon" descr="/home/claude/build/img_y7/atom_accent.png">    </p:cNvPr>
            <p:cNvPicPr>
              <a:picLocks noChangeAspect="1"/>
            </p:cNvPicPr>
            <p:nvPr/>
          </p:nvPicPr>
          <p:blipFill>
            <a:blip r:embed="rId2"/>
            <a:stretch>
              <a:fillRect/>
            </a:stretch>
          </p:blipFill>
          <p:spPr>
            <a:xfrm>
              <a:off x="704088" y="5047488"/>
              <a:ext cx="402336" cy="402336"/>
            </a:xfrm>
            <a:prstGeom prst="rect">
              <a:avLst/>
            </a:prstGeom>
          </p:spPr>
        </p:pic>
        <p:sp>
          <p:nvSpPr>
            <p:cNvPr id="19" name="te0_t"/>
            <p:cNvSpPr txBox="1"/>
            <p:nvPr/>
          </p:nvSpPr>
          <p:spPr>
            <a:xfrm>
              <a:off x="1234440" y="4828032"/>
              <a:ext cx="2637434" cy="841248"/>
            </a:xfrm>
            <a:prstGeom prst="rect">
              <a:avLst/>
            </a:prstGeom>
            <a:noFill/>
            <a:ln/>
          </p:spPr>
          <p:txBody>
            <a:bodyPr wrap="square" lIns="0" tIns="0" rIns="0" bIns="0" rtlCol="0" anchor="ctr"/>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Everything is made of tiny particles that never stop moving.</a:t>
              </a:r>
              <a:endParaRPr lang="en-US" sz="1200" dirty="0"/>
            </a:p>
          </p:txBody>
        </p:sp>
      </p:grpSp>
      <p:grpSp>
        <p:nvGrpSpPr>
          <p:cNvPr id="30" name="te1"/>
          <p:cNvGrpSpPr/>
          <p:nvPr/>
        </p:nvGrpSpPr>
        <p:grpSpPr>
          <a:xfrm>
            <a:off x="4310786" y="4828032"/>
            <a:ext cx="3570122" cy="841248"/>
            <a:chOff x="4310786" y="4828032"/>
            <a:chExt cx="3570122" cy="841248"/>
          </a:xfrm>
        </p:grpSpPr>
        <p:sp>
          <p:nvSpPr>
            <p:cNvPr id="20" name="te1_bg"/>
            <p:cNvSpPr/>
            <p:nvPr/>
          </p:nvSpPr>
          <p:spPr>
            <a:xfrm>
              <a:off x="4310786" y="4828032"/>
              <a:ext cx="3570122" cy="841248"/>
            </a:xfrm>
            <a:prstGeom prst="roundRect">
              <a:avLst>
                <a:gd name="adj" fmla="val 15217"/>
              </a:avLst>
            </a:prstGeom>
            <a:solidFill>
              <a:srgbClr val="FDEEDC"/>
            </a:solidFill>
            <a:ln w="15875">
              <a:solidFill>
                <a:srgbClr val="F2A03D"/>
              </a:solidFill>
              <a:prstDash val="solid"/>
            </a:ln>
          </p:spPr>
        </p:sp>
        <p:pic>
          <p:nvPicPr>
            <p:cNvPr id="21" name="te1_icon" descr="/home/claude/build/img_y7/microscope_accent.png">    </p:cNvPr>
            <p:cNvPicPr>
              <a:picLocks noChangeAspect="1"/>
            </p:cNvPicPr>
            <p:nvPr/>
          </p:nvPicPr>
          <p:blipFill>
            <a:blip r:embed="rId3"/>
            <a:stretch>
              <a:fillRect/>
            </a:stretch>
          </p:blipFill>
          <p:spPr>
            <a:xfrm>
              <a:off x="4511954" y="5047488"/>
              <a:ext cx="402336" cy="402336"/>
            </a:xfrm>
            <a:prstGeom prst="rect">
              <a:avLst/>
            </a:prstGeom>
          </p:spPr>
        </p:pic>
        <p:sp>
          <p:nvSpPr>
            <p:cNvPr id="22" name="te1_t"/>
            <p:cNvSpPr txBox="1"/>
            <p:nvPr/>
          </p:nvSpPr>
          <p:spPr>
            <a:xfrm>
              <a:off x="5042306" y="4828032"/>
              <a:ext cx="2637434" cy="841248"/>
            </a:xfrm>
            <a:prstGeom prst="rect">
              <a:avLst/>
            </a:prstGeom>
            <a:noFill/>
            <a:ln/>
          </p:spPr>
          <p:txBody>
            <a:bodyPr wrap="square" lIns="0" tIns="0" rIns="0" bIns="0" rtlCol="0" anchor="ctr"/>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Every living thing is made of cells.</a:t>
              </a:r>
              <a:endParaRPr lang="en-US" sz="1200" dirty="0"/>
            </a:p>
          </p:txBody>
        </p:sp>
      </p:grpSp>
      <p:grpSp>
        <p:nvGrpSpPr>
          <p:cNvPr id="32" name="te2"/>
          <p:cNvGrpSpPr/>
          <p:nvPr/>
        </p:nvGrpSpPr>
        <p:grpSpPr>
          <a:xfrm>
            <a:off x="8118653" y="4828032"/>
            <a:ext cx="3570122" cy="841248"/>
            <a:chOff x="8118653" y="4828032"/>
            <a:chExt cx="3570122" cy="841248"/>
          </a:xfrm>
        </p:grpSpPr>
        <p:sp>
          <p:nvSpPr>
            <p:cNvPr id="23" name="te2_bg"/>
            <p:cNvSpPr/>
            <p:nvPr/>
          </p:nvSpPr>
          <p:spPr>
            <a:xfrm>
              <a:off x="8118653" y="4828032"/>
              <a:ext cx="3570122" cy="841248"/>
            </a:xfrm>
            <a:prstGeom prst="roundRect">
              <a:avLst>
                <a:gd name="adj" fmla="val 15217"/>
              </a:avLst>
            </a:prstGeom>
            <a:solidFill>
              <a:srgbClr val="FDEEDC"/>
            </a:solidFill>
            <a:ln w="15875">
              <a:solidFill>
                <a:srgbClr val="F2A03D"/>
              </a:solidFill>
              <a:prstDash val="solid"/>
            </a:ln>
          </p:spPr>
        </p:sp>
        <p:pic>
          <p:nvPicPr>
            <p:cNvPr id="24" name="te2_icon" descr="/home/claude/build/img_y7/seedling_accent.png">    </p:cNvPr>
            <p:cNvPicPr>
              <a:picLocks noChangeAspect="1"/>
            </p:cNvPicPr>
            <p:nvPr/>
          </p:nvPicPr>
          <p:blipFill>
            <a:blip r:embed="rId4"/>
            <a:stretch>
              <a:fillRect/>
            </a:stretch>
          </p:blipFill>
          <p:spPr>
            <a:xfrm>
              <a:off x="8319821" y="5047488"/>
              <a:ext cx="402336" cy="402336"/>
            </a:xfrm>
            <a:prstGeom prst="rect">
              <a:avLst/>
            </a:prstGeom>
          </p:spPr>
        </p:pic>
        <p:sp>
          <p:nvSpPr>
            <p:cNvPr id="25" name="te2_t"/>
            <p:cNvSpPr txBox="1"/>
            <p:nvPr/>
          </p:nvSpPr>
          <p:spPr>
            <a:xfrm>
              <a:off x="8850173" y="4828032"/>
              <a:ext cx="2637434" cy="841248"/>
            </a:xfrm>
            <a:prstGeom prst="rect">
              <a:avLst/>
            </a:prstGeom>
            <a:noFill/>
            <a:ln/>
          </p:spPr>
          <p:txBody>
            <a:bodyPr wrap="square" lIns="0" tIns="0" rIns="0" bIns="0" rtlCol="0" anchor="ctr"/>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Living things change over many generations.</a:t>
              </a:r>
              <a:endParaRPr lang="en-US" sz="12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6"/>
                                        </p:tgtEl>
                                        <p:attrNameLst>
                                          <p:attrName>style.visibility</p:attrName>
                                        </p:attrNameLst>
                                      </p:cBhvr>
                                      <p:to>
                                        <p:strVal val="visible"/>
                                      </p:to>
                                    </p:set>
                                    <p:animEffect transition="in" filter="fade">
                                      <p:cBhvr>
                                        <p:cTn id="4" dur="4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27"/>
                                        </p:tgtEl>
                                        <p:attrNameLst>
                                          <p:attrName>style.visibility</p:attrName>
                                        </p:attrNameLst>
                                      </p:cBhvr>
                                      <p:to>
                                        <p:strVal val="visible"/>
                                      </p:to>
                                    </p:set>
                                    <p:animEffect transition="in" filter="fade">
                                      <p:cBhvr>
                                        <p:cTn id="9" dur="400"/>
                                        <p:tgtEl>
                                          <p:spTgt spid="27"/>
                                        </p:tgtEl>
                                      </p:cBhvr>
                                    </p:animEffect>
                                  </p:childTnLst>
                                </p:cTn>
                              </p:par>
                              <p:par>
                                <p:cTn id="13" presetID="10" presetClass="entr" presetSubtype="0" fill="hold" grpId="0" nodeType="withEffect">
                                  <p:stCondLst>
                                    <p:cond delay="15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par>
                                <p:cTn id="16" presetID="10" presetClass="entr" presetSubtype="0" fill="hold" grpId="0" nodeType="withEffect">
                                  <p:stCondLst>
                                    <p:cond delay="30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400"/>
                                        <p:tgtEl>
                                          <p:spTgt spid="31"/>
                                        </p:tgtEl>
                                      </p:cBhvr>
                                    </p:animEffect>
                                  </p:childTnLst>
                                </p:cTn>
                              </p:par>
                            </p:childTnLst>
                          </p:cTn>
                        </p:par>
                      </p:childTnLst>
                    </p:cTn>
                  </p:par>
                  <p:par>
                    <p:cTn id="22" fill="hold">
                      <p:stCondLst>
                        <p:cond delay="indefinite"/>
                      </p:stCondLst>
                      <p:childTnLst>
                        <p:par>
                          <p:cTn id="23" fill="hold">
                            <p:stCondLst>
                              <p:cond delay="0"/>
                            </p:stCondLst>
                            <p:childTnLst>
                              <p:par>
                                <p:cTn id="21"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00"/>
                                        <p:tgtEl>
                                          <p:spTgt spid="16"/>
                                        </p:tgtEl>
                                      </p:cBhvr>
                                    </p:animEffect>
                                  </p:childTnLst>
                                </p:cTn>
                              </p:par>
                            </p:childTnLst>
                          </p:cTn>
                        </p:par>
                      </p:childTnLst>
                    </p:cTn>
                  </p:par>
                  <p:par>
                    <p:cTn id="33" fill="hold">
                      <p:stCondLst>
                        <p:cond delay="indefinite"/>
                      </p:stCondLst>
                      <p:childTnLst>
                        <p:par>
                          <p:cTn id="34" fill="hold">
                            <p:stCondLst>
                              <p:cond delay="0"/>
                            </p:stCondLst>
                            <p:childTnLst>
                              <p:par>
                                <p:cTn id="26" presetID="10"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00"/>
                                        <p:tgtEl>
                                          <p:spTgt spid="28"/>
                                        </p:tgtEl>
                                      </p:cBhvr>
                                    </p:animEffect>
                                  </p:childTnLst>
                                </p:cTn>
                              </p:par>
                              <p:par>
                                <p:cTn id="29" presetID="10" presetClass="entr" presetSubtype="0" fill="hold" grpId="0" nodeType="withEffect">
                                  <p:stCondLst>
                                    <p:cond delay="15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400"/>
                                        <p:tgtEl>
                                          <p:spTgt spid="30"/>
                                        </p:tgtEl>
                                      </p:cBhvr>
                                    </p:animEffect>
                                  </p:childTnLst>
                                </p:cTn>
                              </p:par>
                              <p:par>
                                <p:cTn id="32" presetID="10" presetClass="entr" presetSubtype="0" fill="hold" grpId="0" nodeType="withEffect">
                                  <p:stCondLst>
                                    <p:cond delay="30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I DO · 6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The mistake almost everyone makes</a:t>
            </a:r>
            <a:endParaRPr lang="en-US" sz="3000" dirty="0"/>
          </a:p>
        </p:txBody>
      </p:sp>
      <p:sp>
        <p:nvSpPr>
          <p:cNvPr id="4" name="mk_claim"/>
          <p:cNvSpPr/>
          <p:nvPr/>
        </p:nvSpPr>
        <p:spPr>
          <a:xfrm>
            <a:off x="502920" y="2048256"/>
            <a:ext cx="11185855" cy="676656"/>
          </a:xfrm>
          <a:prstGeom prst="roundRect">
            <a:avLst>
              <a:gd name="adj" fmla="val 16216"/>
            </a:avLst>
          </a:prstGeom>
          <a:solidFill>
            <a:srgbClr val="FCEDF0"/>
          </a:solidFill>
          <a:ln w="22860">
            <a:solidFill>
              <a:srgbClr val="D94F6A"/>
            </a:solidFill>
          </a:ln>
        </p:spPr>
        <p:txBody>
          <a:bodyPr wrap="square" lIns="1016" tIns="1016" rIns="1016" bIns="1016" rtlCol="0" anchor="ctr"/>
          <a:lstStyle/>
          <a:p>
            <a:pPr algn="ctr" indent="0" marL="0">
              <a:buNone/>
            </a:pPr>
            <a:r>
              <a:rPr lang="en-US" sz="1900" b="1" dirty="0">
                <a:solidFill>
                  <a:srgbClr val="D94F6A"/>
                </a:solidFill>
                <a:latin typeface="Georgia" pitchFamily="34" charset="0"/>
                <a:ea typeface="Georgia" pitchFamily="34" charset="-122"/>
                <a:cs typeface="Georgia" pitchFamily="34" charset="-120"/>
              </a:rPr>
              <a:t>"A theory is just a guess, and when it is proved it becomes a law."</a:t>
            </a:r>
            <a:endParaRPr lang="en-US" sz="1900" dirty="0"/>
          </a:p>
        </p:txBody>
      </p:sp>
      <p:sp>
        <p:nvSpPr>
          <p:cNvPr id="5" name="mk_verdict"/>
          <p:cNvSpPr txBox="1"/>
          <p:nvPr/>
        </p:nvSpPr>
        <p:spPr>
          <a:xfrm>
            <a:off x="502920" y="2834640"/>
            <a:ext cx="11185855" cy="347472"/>
          </a:xfrm>
          <a:prstGeom prst="rect">
            <a:avLst/>
          </a:prstGeom>
          <a:noFill/>
          <a:ln/>
        </p:spPr>
        <p:txBody>
          <a:bodyPr wrap="square" lIns="0" tIns="0" rIns="0" bIns="0" rtlCol="0" anchor="ctr"/>
          <a:lstStyle/>
          <a:p>
            <a:pPr algn="ctr" indent="0" marL="0">
              <a:buNone/>
            </a:pPr>
            <a:r>
              <a:rPr lang="en-US" sz="1500" b="1" dirty="0">
                <a:solidFill>
                  <a:srgbClr val="4A2C6F"/>
                </a:solidFill>
                <a:latin typeface="Arial" pitchFamily="34" charset="0"/>
                <a:ea typeface="Arial" pitchFamily="34" charset="-122"/>
                <a:cs typeface="Arial" pitchFamily="34" charset="-120"/>
              </a:rPr>
              <a:t>Both halves are wrong.</a:t>
            </a:r>
            <a:endParaRPr lang="en-US" sz="1500" dirty="0"/>
          </a:p>
        </p:txBody>
      </p:sp>
      <p:grpSp>
        <p:nvGrpSpPr>
          <p:cNvPr id="20" name="mk0"/>
          <p:cNvGrpSpPr/>
          <p:nvPr/>
        </p:nvGrpSpPr>
        <p:grpSpPr>
          <a:xfrm>
            <a:off x="502920" y="3291840"/>
            <a:ext cx="5349240" cy="1554480"/>
            <a:chOff x="502920" y="3291840"/>
            <a:chExt cx="5349240" cy="1554480"/>
          </a:xfrm>
        </p:grpSpPr>
        <p:sp>
          <p:nvSpPr>
            <p:cNvPr id="6" name="mk0_bg"/>
            <p:cNvSpPr/>
            <p:nvPr/>
          </p:nvSpPr>
          <p:spPr>
            <a:xfrm>
              <a:off x="502920" y="3291840"/>
              <a:ext cx="5349240" cy="1554480"/>
            </a:xfrm>
            <a:prstGeom prst="roundRect">
              <a:avLst>
                <a:gd name="adj" fmla="val 8235"/>
              </a:avLst>
            </a:prstGeom>
            <a:solidFill>
              <a:srgbClr val="FFFFFF"/>
            </a:solidFill>
            <a:ln w="15875">
              <a:solidFill>
                <a:srgbClr val="E3DAF0"/>
              </a:solidFill>
              <a:prstDash val="solid"/>
            </a:ln>
          </p:spPr>
        </p:sp>
        <p:sp>
          <p:nvSpPr>
            <p:cNvPr id="7" name="mk0_tag"/>
            <p:cNvSpPr txBox="1"/>
            <p:nvPr/>
          </p:nvSpPr>
          <p:spPr>
            <a:xfrm>
              <a:off x="722376" y="3438144"/>
              <a:ext cx="4910328" cy="256032"/>
            </a:xfrm>
            <a:prstGeom prst="rect">
              <a:avLst/>
            </a:prstGeom>
            <a:noFill/>
            <a:ln/>
          </p:spPr>
          <p:txBody>
            <a:bodyPr wrap="square" lIns="0" tIns="0" rIns="0" bIns="0" rtlCol="0" anchor="ctr"/>
            <a:lstStyle/>
            <a:p>
              <a:pPr indent="0" marL="0">
                <a:buNone/>
              </a:pPr>
              <a:r>
                <a:rPr lang="en-US" sz="1050" b="1" spc="110" kern="0" dirty="0">
                  <a:solidFill>
                    <a:srgbClr val="D94F6A"/>
                  </a:solidFill>
                  <a:latin typeface="Arial" pitchFamily="34" charset="0"/>
                  <a:ea typeface="Arial" pitchFamily="34" charset="-122"/>
                  <a:cs typeface="Arial" pitchFamily="34" charset="-120"/>
                </a:rPr>
                <a:t>HALF ONE</a:t>
              </a:r>
              <a:endParaRPr lang="en-US" sz="1050" dirty="0"/>
            </a:p>
          </p:txBody>
        </p:sp>
        <p:sp>
          <p:nvSpPr>
            <p:cNvPr id="8" name="mk0_w"/>
            <p:cNvSpPr txBox="1"/>
            <p:nvPr/>
          </p:nvSpPr>
          <p:spPr>
            <a:xfrm>
              <a:off x="722376" y="3712464"/>
              <a:ext cx="4910328" cy="310896"/>
            </a:xfrm>
            <a:prstGeom prst="rect">
              <a:avLst/>
            </a:prstGeom>
            <a:noFill/>
            <a:ln/>
          </p:spPr>
          <p:txBody>
            <a:bodyPr wrap="square" lIns="0" tIns="0" rIns="0" bIns="0" rtlCol="0" anchor="ctr"/>
            <a:lstStyle/>
            <a:p>
              <a:pPr indent="0" marL="0">
                <a:buNone/>
              </a:pPr>
              <a:r>
                <a:rPr lang="en-US" sz="1300" b="1" dirty="0">
                  <a:solidFill>
                    <a:srgbClr val="D94F6A"/>
                  </a:solidFill>
                  <a:latin typeface="Arial" pitchFamily="34" charset="0"/>
                  <a:ea typeface="Arial" pitchFamily="34" charset="-122"/>
                  <a:cs typeface="Arial" pitchFamily="34" charset="-120"/>
                </a:rPr>
                <a:t>"A theory is just a guess."</a:t>
              </a:r>
              <a:endParaRPr lang="en-US" sz="1300" dirty="0"/>
            </a:p>
          </p:txBody>
        </p:sp>
        <p:sp>
          <p:nvSpPr>
            <p:cNvPr id="9" name="mk0_r"/>
            <p:cNvSpPr txBox="1"/>
            <p:nvPr/>
          </p:nvSpPr>
          <p:spPr>
            <a:xfrm>
              <a:off x="722376" y="4059936"/>
              <a:ext cx="4910328" cy="694944"/>
            </a:xfrm>
            <a:prstGeom prst="rect">
              <a:avLst/>
            </a:prstGeom>
            <a:noFill/>
            <a:ln/>
          </p:spPr>
          <p:txBody>
            <a:bodyPr wrap="square" lIns="0" tIns="0" rIns="0" bIns="0" rtlCol="0" anchor="t"/>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That is the everyday word, the one in "conspiracy theory". The science word means the opposite: the best-evidenced kind of idea there is.</a:t>
              </a:r>
              <a:endParaRPr lang="en-US" sz="1200" dirty="0"/>
            </a:p>
          </p:txBody>
        </p:sp>
      </p:grpSp>
      <p:grpSp>
        <p:nvGrpSpPr>
          <p:cNvPr id="21" name="mk1"/>
          <p:cNvGrpSpPr/>
          <p:nvPr/>
        </p:nvGrpSpPr>
        <p:grpSpPr>
          <a:xfrm>
            <a:off x="6217920" y="3291840"/>
            <a:ext cx="5349240" cy="1554480"/>
            <a:chOff x="6217920" y="3291840"/>
            <a:chExt cx="5349240" cy="1554480"/>
          </a:xfrm>
        </p:grpSpPr>
        <p:sp>
          <p:nvSpPr>
            <p:cNvPr id="10" name="mk1_bg"/>
            <p:cNvSpPr/>
            <p:nvPr/>
          </p:nvSpPr>
          <p:spPr>
            <a:xfrm>
              <a:off x="6217920" y="3291840"/>
              <a:ext cx="5349240" cy="1554480"/>
            </a:xfrm>
            <a:prstGeom prst="roundRect">
              <a:avLst>
                <a:gd name="adj" fmla="val 8235"/>
              </a:avLst>
            </a:prstGeom>
            <a:solidFill>
              <a:srgbClr val="FFFFFF"/>
            </a:solidFill>
            <a:ln w="15875">
              <a:solidFill>
                <a:srgbClr val="E3DAF0"/>
              </a:solidFill>
              <a:prstDash val="solid"/>
            </a:ln>
          </p:spPr>
        </p:sp>
        <p:sp>
          <p:nvSpPr>
            <p:cNvPr id="11" name="mk1_tag"/>
            <p:cNvSpPr txBox="1"/>
            <p:nvPr/>
          </p:nvSpPr>
          <p:spPr>
            <a:xfrm>
              <a:off x="6437376" y="3438144"/>
              <a:ext cx="4910328" cy="256032"/>
            </a:xfrm>
            <a:prstGeom prst="rect">
              <a:avLst/>
            </a:prstGeom>
            <a:noFill/>
            <a:ln/>
          </p:spPr>
          <p:txBody>
            <a:bodyPr wrap="square" lIns="0" tIns="0" rIns="0" bIns="0" rtlCol="0" anchor="ctr"/>
            <a:lstStyle/>
            <a:p>
              <a:pPr indent="0" marL="0">
                <a:buNone/>
              </a:pPr>
              <a:r>
                <a:rPr lang="en-US" sz="1050" b="1" spc="110" kern="0" dirty="0">
                  <a:solidFill>
                    <a:srgbClr val="D94F6A"/>
                  </a:solidFill>
                  <a:latin typeface="Arial" pitchFamily="34" charset="0"/>
                  <a:ea typeface="Arial" pitchFamily="34" charset="-122"/>
                  <a:cs typeface="Arial" pitchFamily="34" charset="-120"/>
                </a:rPr>
                <a:t>HALF TWO</a:t>
              </a:r>
              <a:endParaRPr lang="en-US" sz="1050" dirty="0"/>
            </a:p>
          </p:txBody>
        </p:sp>
        <p:sp>
          <p:nvSpPr>
            <p:cNvPr id="12" name="mk1_w"/>
            <p:cNvSpPr txBox="1"/>
            <p:nvPr/>
          </p:nvSpPr>
          <p:spPr>
            <a:xfrm>
              <a:off x="6437376" y="3712464"/>
              <a:ext cx="4910328" cy="310896"/>
            </a:xfrm>
            <a:prstGeom prst="rect">
              <a:avLst/>
            </a:prstGeom>
            <a:noFill/>
            <a:ln/>
          </p:spPr>
          <p:txBody>
            <a:bodyPr wrap="square" lIns="0" tIns="0" rIns="0" bIns="0" rtlCol="0" anchor="ctr"/>
            <a:lstStyle/>
            <a:p>
              <a:pPr indent="0" marL="0">
                <a:buNone/>
              </a:pPr>
              <a:r>
                <a:rPr lang="en-US" sz="1300" b="1" dirty="0">
                  <a:solidFill>
                    <a:srgbClr val="D94F6A"/>
                  </a:solidFill>
                  <a:latin typeface="Arial" pitchFamily="34" charset="0"/>
                  <a:ea typeface="Arial" pitchFamily="34" charset="-122"/>
                  <a:cs typeface="Arial" pitchFamily="34" charset="-120"/>
                </a:rPr>
                <a:t>"It becomes a law once it is proved."</a:t>
              </a:r>
              <a:endParaRPr lang="en-US" sz="1300" dirty="0"/>
            </a:p>
          </p:txBody>
        </p:sp>
        <p:sp>
          <p:nvSpPr>
            <p:cNvPr id="13" name="mk1_r"/>
            <p:cNvSpPr txBox="1"/>
            <p:nvPr/>
          </p:nvSpPr>
          <p:spPr>
            <a:xfrm>
              <a:off x="6437376" y="4059936"/>
              <a:ext cx="4910328" cy="694944"/>
            </a:xfrm>
            <a:prstGeom prst="rect">
              <a:avLst/>
            </a:prstGeom>
            <a:noFill/>
            <a:ln/>
          </p:spPr>
          <p:txBody>
            <a:bodyPr wrap="square" lIns="0" tIns="0" rIns="0" bIns="0" rtlCol="0" anchor="t"/>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Never happens. A law describes and a theory explains. More evidence does not turn an explanation into a description.</a:t>
              </a:r>
              <a:endParaRPr lang="en-US" sz="1200" dirty="0"/>
            </a:p>
          </p:txBody>
        </p:sp>
      </p:grpSp>
      <p:grpSp>
        <p:nvGrpSpPr>
          <p:cNvPr id="22" name="mk_strip"/>
          <p:cNvGrpSpPr/>
          <p:nvPr/>
        </p:nvGrpSpPr>
        <p:grpSpPr>
          <a:xfrm>
            <a:off x="3576676" y="5102352"/>
            <a:ext cx="5038344" cy="457200"/>
            <a:chOff x="3576676" y="5102352"/>
            <a:chExt cx="5038344" cy="457200"/>
          </a:xfrm>
        </p:grpSpPr>
        <p:pic>
          <p:nvPicPr>
            <p:cNvPr id="14" name="mk_ruler" descr="/home/claude/build/img_y7/ruler_support.png">    </p:cNvPr>
            <p:cNvPicPr>
              <a:picLocks noChangeAspect="1"/>
            </p:cNvPicPr>
            <p:nvPr/>
          </p:nvPicPr>
          <p:blipFill>
            <a:blip r:embed="rId1"/>
            <a:stretch>
              <a:fillRect/>
            </a:stretch>
          </p:blipFill>
          <p:spPr>
            <a:xfrm>
              <a:off x="3576676" y="5102352"/>
              <a:ext cx="457200" cy="457200"/>
            </a:xfrm>
            <a:prstGeom prst="rect">
              <a:avLst/>
            </a:prstGeom>
          </p:spPr>
        </p:pic>
        <p:sp>
          <p:nvSpPr>
            <p:cNvPr id="15" name="mk_lawlab"/>
            <p:cNvSpPr txBox="1"/>
            <p:nvPr/>
          </p:nvSpPr>
          <p:spPr>
            <a:xfrm>
              <a:off x="4180180" y="5102352"/>
              <a:ext cx="1417320" cy="457200"/>
            </a:xfrm>
            <a:prstGeom prst="rect">
              <a:avLst/>
            </a:prstGeom>
            <a:noFill/>
            <a:ln/>
          </p:spPr>
          <p:txBody>
            <a:bodyPr wrap="square" lIns="0" tIns="0" rIns="0" bIns="0" rtlCol="0" anchor="ctr"/>
            <a:lstStyle/>
            <a:p>
              <a:pPr indent="0" marL="0">
                <a:buNone/>
              </a:pPr>
              <a:r>
                <a:rPr lang="en-US" sz="1350" b="1" dirty="0">
                  <a:solidFill>
                    <a:srgbClr val="2BA6A0"/>
                  </a:solidFill>
                  <a:latin typeface="Arial" pitchFamily="34" charset="0"/>
                  <a:ea typeface="Arial" pitchFamily="34" charset="-122"/>
                  <a:cs typeface="Arial" pitchFamily="34" charset="-120"/>
                </a:rPr>
                <a:t>LAW  ·  what</a:t>
              </a:r>
              <a:endParaRPr lang="en-US" sz="1350" dirty="0"/>
            </a:p>
          </p:txBody>
        </p:sp>
        <p:sp>
          <p:nvSpPr>
            <p:cNvPr id="16" name="mk_neq"/>
            <p:cNvSpPr txBox="1"/>
            <p:nvPr/>
          </p:nvSpPr>
          <p:spPr>
            <a:xfrm>
              <a:off x="5743804" y="5102352"/>
              <a:ext cx="475488" cy="457200"/>
            </a:xfrm>
            <a:prstGeom prst="rect">
              <a:avLst/>
            </a:prstGeom>
            <a:noFill/>
            <a:ln/>
          </p:spPr>
          <p:txBody>
            <a:bodyPr wrap="square" lIns="0" tIns="0" rIns="0" bIns="0" rtlCol="0" anchor="ctr"/>
            <a:lstStyle/>
            <a:p>
              <a:pPr algn="ctr" indent="0" marL="0">
                <a:buNone/>
              </a:pPr>
              <a:r>
                <a:rPr lang="en-US" sz="2600" b="1" dirty="0">
                  <a:solidFill>
                    <a:srgbClr val="D94F6A"/>
                  </a:solidFill>
                  <a:latin typeface="Georgia" pitchFamily="34" charset="0"/>
                  <a:ea typeface="Georgia" pitchFamily="34" charset="-122"/>
                  <a:cs typeface="Georgia" pitchFamily="34" charset="-120"/>
                </a:rPr>
                <a:t>≠</a:t>
              </a:r>
              <a:endParaRPr lang="en-US" sz="2600" dirty="0"/>
            </a:p>
          </p:txBody>
        </p:sp>
        <p:pic>
          <p:nvPicPr>
            <p:cNvPr id="17" name="mk_bulb" descr="/home/claude/build/img_y7/lightbulb_accent.png">    </p:cNvPr>
            <p:cNvPicPr>
              <a:picLocks noChangeAspect="1"/>
            </p:cNvPicPr>
            <p:nvPr/>
          </p:nvPicPr>
          <p:blipFill>
            <a:blip r:embed="rId2"/>
            <a:stretch>
              <a:fillRect/>
            </a:stretch>
          </p:blipFill>
          <p:spPr>
            <a:xfrm>
              <a:off x="6365596" y="5102352"/>
              <a:ext cx="457200" cy="457200"/>
            </a:xfrm>
            <a:prstGeom prst="rect">
              <a:avLst/>
            </a:prstGeom>
          </p:spPr>
        </p:pic>
        <p:sp>
          <p:nvSpPr>
            <p:cNvPr id="18" name="mk_thlab"/>
            <p:cNvSpPr txBox="1"/>
            <p:nvPr/>
          </p:nvSpPr>
          <p:spPr>
            <a:xfrm>
              <a:off x="6969100" y="5102352"/>
              <a:ext cx="1645920" cy="457200"/>
            </a:xfrm>
            <a:prstGeom prst="rect">
              <a:avLst/>
            </a:prstGeom>
            <a:noFill/>
            <a:ln/>
          </p:spPr>
          <p:txBody>
            <a:bodyPr wrap="square" lIns="0" tIns="0" rIns="0" bIns="0" rtlCol="0" anchor="ctr"/>
            <a:lstStyle/>
            <a:p>
              <a:pPr indent="0" marL="0">
                <a:buNone/>
              </a:pPr>
              <a:r>
                <a:rPr lang="en-US" sz="1350" b="1" dirty="0">
                  <a:solidFill>
                    <a:srgbClr val="F2A03D"/>
                  </a:solidFill>
                  <a:latin typeface="Arial" pitchFamily="34" charset="0"/>
                  <a:ea typeface="Arial" pitchFamily="34" charset="-122"/>
                  <a:cs typeface="Arial" pitchFamily="34" charset="-120"/>
                </a:rPr>
                <a:t>THEORY  ·  why</a:t>
              </a:r>
              <a:endParaRPr lang="en-US" sz="1350" dirty="0"/>
            </a:p>
          </p:txBody>
        </p:sp>
      </p:grpSp>
      <p:sp>
        <p:nvSpPr>
          <p:cNvPr id="19" name="mk_close"/>
          <p:cNvSpPr txBox="1"/>
          <p:nvPr/>
        </p:nvSpPr>
        <p:spPr>
          <a:xfrm>
            <a:off x="502920" y="5687568"/>
            <a:ext cx="11185855" cy="310896"/>
          </a:xfrm>
          <a:prstGeom prst="rect">
            <a:avLst/>
          </a:prstGeom>
          <a:noFill/>
          <a:ln/>
        </p:spPr>
        <p:txBody>
          <a:bodyPr wrap="square" lIns="0" tIns="0" rIns="0" bIns="0" rtlCol="0" anchor="ctr"/>
          <a:lstStyle/>
          <a:p>
            <a:pPr algn="ctr" indent="0" marL="0">
              <a:buNone/>
            </a:pPr>
            <a:r>
              <a:rPr lang="en-US" sz="1300" b="1" dirty="0">
                <a:solidFill>
                  <a:srgbClr val="4A2C6F"/>
                </a:solidFill>
                <a:latin typeface="Arial" pitchFamily="34" charset="0"/>
                <a:ea typeface="Arial" pitchFamily="34" charset="-122"/>
                <a:cs typeface="Arial" pitchFamily="34" charset="-120"/>
              </a:rPr>
              <a:t>Different jobs. Neither turns into the other.</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400"/>
                                        <p:tgtEl>
                                          <p:spTgt spid="4"/>
                                        </p:tgtEl>
                                      </p:cBhvr>
                                    </p:animEffect>
                                  </p:childTnLst>
                                </p:cTn>
                              </p:par>
                            </p:childTnLst>
                          </p:cTn>
                        </p:par>
                      </p:childTnLst>
                    </p:cTn>
                  </p:par>
                  <p:par>
                    <p:cTn id="12" fill="hold">
                      <p:stCondLst>
                        <p:cond delay="indefinite"/>
                      </p:stCondLst>
                      <p:childTnLst>
                        <p:par>
                          <p:cTn id="13" fill="hold">
                            <p:stCondLst>
                              <p:cond delay="0"/>
                            </p:stCondLst>
                            <p:childTnLst>
                              <p:par>
                                <p:cTn id="11" presetID="23" presetClass="entr" presetSubtype="16" fill="hold" grpId="0" nodeType="click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00"/>
                                        <p:tgtEl>
                                          <p:spTgt spid="5"/>
                                        </p:tgtEl>
                                      </p:cBhvr>
                                    </p:animEffect>
                                    <p:animScale>
                                      <p:cBhvr>
                                        <p:cTn id="10" dur="400" fill="hold"/>
                                        <p:tgtEl>
                                          <p:spTgt spid="5"/>
                                        </p:tgtEl>
                                      </p:cBhvr>
                                      <p:from x="0" y="0"/>
                                      <p:to x="100000" y="100000"/>
                                    </p:animScale>
                                  </p:childTnLst>
                                </p:cTn>
                              </p:par>
                            </p:childTnLst>
                          </p:cTn>
                        </p:par>
                      </p:childTnLst>
                    </p:cTn>
                  </p:par>
                  <p:par>
                    <p:cTn id="17" fill="hold">
                      <p:stCondLst>
                        <p:cond delay="indefinite"/>
                      </p:stCondLst>
                      <p:childTnLst>
                        <p:par>
                          <p:cTn id="18" fill="hold">
                            <p:stCondLst>
                              <p:cond delay="0"/>
                            </p:stCondLst>
                            <p:childTnLst>
                              <p:par>
                                <p:cTn id="16" presetID="10"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1" presetID="10" presetClass="entr" presetSubtype="0"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6" presetID="10"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4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1"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2286000"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WE DO · 6 MIN</a:t>
            </a:r>
            <a:endParaRPr lang="en-US" sz="1100" dirty="0"/>
          </a:p>
        </p:txBody>
      </p:sp>
      <p:sp>
        <p:nvSpPr>
          <p:cNvPr id="3" name="keyword_strip"/>
          <p:cNvSpPr txBox="1"/>
          <p:nvPr/>
        </p:nvSpPr>
        <p:spPr>
          <a:xfrm>
            <a:off x="5836615" y="274320"/>
            <a:ext cx="5852160" cy="347472"/>
          </a:xfrm>
          <a:prstGeom prst="rect">
            <a:avLst/>
          </a:prstGeom>
          <a:noFill/>
          <a:ln/>
        </p:spPr>
        <p:txBody>
          <a:bodyPr wrap="square" lIns="0" tIns="0" rIns="0" bIns="0" rtlCol="0" anchor="ctr"/>
          <a:lstStyle/>
          <a:p>
            <a:pPr algn="r" indent="0" marL="0">
              <a:buNone/>
            </a:pPr>
            <a:r>
              <a:rPr lang="en-US" sz="1150" b="1" i="1" dirty="0">
                <a:solidFill>
                  <a:srgbClr val="2BA6A0"/>
                </a:solidFill>
                <a:latin typeface="Arial" pitchFamily="34" charset="0"/>
                <a:ea typeface="Arial" pitchFamily="34" charset="-122"/>
                <a:cs typeface="Arial" pitchFamily="34" charset="-120"/>
              </a:rPr>
              <a:t>law   ·   theory</a:t>
            </a:r>
            <a:endParaRPr lang="en-US" sz="1150" dirty="0"/>
          </a:p>
        </p:txBody>
      </p:sp>
      <p:sp>
        <p:nvSpPr>
          <p:cNvPr id="4"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Which is it?</a:t>
            </a:r>
            <a:endParaRPr lang="en-US" sz="3000" dirty="0"/>
          </a:p>
        </p:txBody>
      </p:sp>
      <p:sp>
        <p:nvSpPr>
          <p:cNvPr id="5" name="wd_intro"/>
          <p:cNvSpPr txBox="1"/>
          <p:nvPr/>
        </p:nvSpPr>
        <p:spPr>
          <a:xfrm>
            <a:off x="502920" y="1554480"/>
            <a:ext cx="10058400" cy="310896"/>
          </a:xfrm>
          <a:prstGeom prst="rect">
            <a:avLst/>
          </a:prstGeom>
          <a:noFill/>
          <a:ln/>
        </p:spPr>
        <p:txBody>
          <a:bodyPr wrap="square" lIns="0" tIns="0" rIns="0" bIns="0" rtlCol="0" anchor="ctr"/>
          <a:lstStyle/>
          <a:p>
            <a:pPr indent="0" marL="0">
              <a:buNone/>
            </a:pPr>
            <a:r>
              <a:rPr lang="en-US" sz="1300" dirty="0">
                <a:solidFill>
                  <a:srgbClr val="6A6180"/>
                </a:solidFill>
                <a:latin typeface="Arial" pitchFamily="34" charset="0"/>
                <a:ea typeface="Arial" pitchFamily="34" charset="-122"/>
                <a:cs typeface="Arial" pitchFamily="34" charset="-120"/>
              </a:rPr>
              <a:t>Whiteboards. Write L for law or T for theory. Hold them up together.</a:t>
            </a:r>
            <a:endParaRPr lang="en-US" sz="1300" dirty="0"/>
          </a:p>
        </p:txBody>
      </p:sp>
      <p:sp>
        <p:nvSpPr>
          <p:cNvPr id="6" name="wr0_bg"/>
          <p:cNvSpPr/>
          <p:nvPr/>
        </p:nvSpPr>
        <p:spPr>
          <a:xfrm>
            <a:off x="502920" y="2235708"/>
            <a:ext cx="11185855" cy="566928"/>
          </a:xfrm>
          <a:prstGeom prst="roundRect">
            <a:avLst>
              <a:gd name="adj" fmla="val 22581"/>
            </a:avLst>
          </a:prstGeom>
          <a:solidFill>
            <a:srgbClr val="FFFFFF"/>
          </a:solidFill>
          <a:ln w="15875">
            <a:solidFill>
              <a:srgbClr val="E3DAF0"/>
            </a:solidFill>
            <a:prstDash val="solid"/>
          </a:ln>
        </p:spPr>
      </p:sp>
      <p:pic>
        <p:nvPicPr>
          <p:cNvPr id="7" name="wr0_icon" descr="/home/claude/build/img_y7/thermometer_support.png">    </p:cNvPr>
          <p:cNvPicPr>
            <a:picLocks noChangeAspect="1"/>
          </p:cNvPicPr>
          <p:nvPr/>
        </p:nvPicPr>
        <p:blipFill>
          <a:blip r:embed="rId1"/>
          <a:stretch>
            <a:fillRect/>
          </a:stretch>
        </p:blipFill>
        <p:spPr>
          <a:xfrm>
            <a:off x="704088" y="2354580"/>
            <a:ext cx="329184" cy="329184"/>
          </a:xfrm>
          <a:prstGeom prst="rect">
            <a:avLst/>
          </a:prstGeom>
        </p:spPr>
      </p:pic>
      <p:sp>
        <p:nvSpPr>
          <p:cNvPr id="8" name="wr0_q"/>
          <p:cNvSpPr txBox="1"/>
          <p:nvPr/>
        </p:nvSpPr>
        <p:spPr>
          <a:xfrm>
            <a:off x="1179576" y="2235708"/>
            <a:ext cx="4343400" cy="566928"/>
          </a:xfrm>
          <a:prstGeom prst="rect">
            <a:avLst/>
          </a:prstGeom>
          <a:noFill/>
          <a:ln/>
        </p:spPr>
        <p:txBody>
          <a:bodyPr wrap="square" lIns="0" tIns="0" rIns="0" bIns="0" rtlCol="0" anchor="ctr"/>
          <a:lstStyle/>
          <a:p>
            <a:pPr indent="0" marL="0">
              <a:lnSpc>
                <a:spcPts val="1500"/>
              </a:lnSpc>
              <a:buNone/>
            </a:pPr>
            <a:r>
              <a:rPr lang="en-US" sz="1200" dirty="0">
                <a:solidFill>
                  <a:srgbClr val="241535"/>
                </a:solidFill>
                <a:latin typeface="Arial" pitchFamily="34" charset="0"/>
                <a:ea typeface="Arial" pitchFamily="34" charset="-122"/>
                <a:cs typeface="Arial" pitchFamily="34" charset="-120"/>
              </a:rPr>
              <a:t>Water boils at 100 °C at sea level.</a:t>
            </a:r>
            <a:endParaRPr lang="en-US" sz="1200" dirty="0"/>
          </a:p>
        </p:txBody>
      </p:sp>
      <p:sp>
        <p:nvSpPr>
          <p:cNvPr id="9" name="wr0_v"/>
          <p:cNvSpPr/>
          <p:nvPr/>
        </p:nvSpPr>
        <p:spPr>
          <a:xfrm>
            <a:off x="5678424" y="2308860"/>
            <a:ext cx="475488" cy="420624"/>
          </a:xfrm>
          <a:prstGeom prst="roundRect">
            <a:avLst>
              <a:gd name="adj" fmla="val 19565"/>
            </a:avLst>
          </a:prstGeom>
          <a:solidFill>
            <a:srgbClr val="E8F6F5"/>
          </a:solidFill>
          <a:ln w="17780">
            <a:solidFill>
              <a:srgbClr val="2BA6A0"/>
            </a:solidFill>
          </a:ln>
        </p:spPr>
        <p:txBody>
          <a:bodyPr wrap="square" lIns="0" tIns="0" rIns="0" bIns="0" rtlCol="0" anchor="ctr"/>
          <a:lstStyle/>
          <a:p>
            <a:pPr algn="ctr" indent="0" marL="0">
              <a:buNone/>
            </a:pPr>
            <a:r>
              <a:rPr lang="en-US" sz="1400" b="1" dirty="0">
                <a:solidFill>
                  <a:srgbClr val="2BA6A0"/>
                </a:solidFill>
                <a:latin typeface="Arial" pitchFamily="34" charset="0"/>
                <a:ea typeface="Arial" pitchFamily="34" charset="-122"/>
                <a:cs typeface="Arial" pitchFamily="34" charset="-120"/>
              </a:rPr>
              <a:t>L</a:t>
            </a:r>
            <a:endParaRPr lang="en-US" sz="1400" dirty="0"/>
          </a:p>
        </p:txBody>
      </p:sp>
      <p:sp>
        <p:nvSpPr>
          <p:cNvPr id="10" name="wr0_w"/>
          <p:cNvSpPr txBox="1"/>
          <p:nvPr/>
        </p:nvSpPr>
        <p:spPr>
          <a:xfrm>
            <a:off x="6373368" y="2235708"/>
            <a:ext cx="5315407" cy="566928"/>
          </a:xfrm>
          <a:prstGeom prst="rect">
            <a:avLst/>
          </a:prstGeom>
          <a:noFill/>
          <a:ln/>
        </p:spPr>
        <p:txBody>
          <a:bodyPr wrap="square" lIns="0" tIns="0" rIns="0" bIns="0" rtlCol="0" anchor="ctr"/>
          <a:lstStyle/>
          <a:p>
            <a:pPr indent="0" marL="0">
              <a:lnSpc>
                <a:spcPts val="1400"/>
              </a:lnSpc>
              <a:buNone/>
            </a:pPr>
            <a:r>
              <a:rPr lang="en-US" sz="1100" dirty="0">
                <a:solidFill>
                  <a:srgbClr val="6A6180"/>
                </a:solidFill>
                <a:latin typeface="Arial" pitchFamily="34" charset="0"/>
                <a:ea typeface="Arial" pitchFamily="34" charset="-122"/>
                <a:cs typeface="Arial" pitchFamily="34" charset="-120"/>
              </a:rPr>
              <a:t>It says what happens. No explanation anywhere in it.</a:t>
            </a:r>
            <a:endParaRPr lang="en-US" sz="1100" dirty="0"/>
          </a:p>
        </p:txBody>
      </p:sp>
      <p:sp>
        <p:nvSpPr>
          <p:cNvPr id="11" name="wr1_bg"/>
          <p:cNvSpPr/>
          <p:nvPr/>
        </p:nvSpPr>
        <p:spPr>
          <a:xfrm>
            <a:off x="502920" y="2912364"/>
            <a:ext cx="11185855" cy="566928"/>
          </a:xfrm>
          <a:prstGeom prst="roundRect">
            <a:avLst>
              <a:gd name="adj" fmla="val 22581"/>
            </a:avLst>
          </a:prstGeom>
          <a:solidFill>
            <a:srgbClr val="FFFFFF"/>
          </a:solidFill>
          <a:ln w="15875">
            <a:solidFill>
              <a:srgbClr val="E3DAF0"/>
            </a:solidFill>
            <a:prstDash val="solid"/>
          </a:ln>
        </p:spPr>
      </p:sp>
      <p:pic>
        <p:nvPicPr>
          <p:cNvPr id="12" name="wr1_icon" descr="/home/claude/build/img_y7/microscope_accent.png">    </p:cNvPr>
          <p:cNvPicPr>
            <a:picLocks noChangeAspect="1"/>
          </p:cNvPicPr>
          <p:nvPr/>
        </p:nvPicPr>
        <p:blipFill>
          <a:blip r:embed="rId2"/>
          <a:stretch>
            <a:fillRect/>
          </a:stretch>
        </p:blipFill>
        <p:spPr>
          <a:xfrm>
            <a:off x="704088" y="3031236"/>
            <a:ext cx="329184" cy="329184"/>
          </a:xfrm>
          <a:prstGeom prst="rect">
            <a:avLst/>
          </a:prstGeom>
        </p:spPr>
      </p:pic>
      <p:sp>
        <p:nvSpPr>
          <p:cNvPr id="13" name="wr1_q"/>
          <p:cNvSpPr txBox="1"/>
          <p:nvPr/>
        </p:nvSpPr>
        <p:spPr>
          <a:xfrm>
            <a:off x="1179576" y="2912364"/>
            <a:ext cx="4343400" cy="566928"/>
          </a:xfrm>
          <a:prstGeom prst="rect">
            <a:avLst/>
          </a:prstGeom>
          <a:noFill/>
          <a:ln/>
        </p:spPr>
        <p:txBody>
          <a:bodyPr wrap="square" lIns="0" tIns="0" rIns="0" bIns="0" rtlCol="0" anchor="ctr"/>
          <a:lstStyle/>
          <a:p>
            <a:pPr indent="0" marL="0">
              <a:lnSpc>
                <a:spcPts val="1500"/>
              </a:lnSpc>
              <a:buNone/>
            </a:pPr>
            <a:r>
              <a:rPr lang="en-US" sz="1200" dirty="0">
                <a:solidFill>
                  <a:srgbClr val="241535"/>
                </a:solidFill>
                <a:latin typeface="Arial" pitchFamily="34" charset="0"/>
                <a:ea typeface="Arial" pitchFamily="34" charset="-122"/>
                <a:cs typeface="Arial" pitchFamily="34" charset="-120"/>
              </a:rPr>
              <a:t>Every living thing is made of cells.</a:t>
            </a:r>
            <a:endParaRPr lang="en-US" sz="1200" dirty="0"/>
          </a:p>
        </p:txBody>
      </p:sp>
      <p:sp>
        <p:nvSpPr>
          <p:cNvPr id="14" name="wr1_v"/>
          <p:cNvSpPr/>
          <p:nvPr/>
        </p:nvSpPr>
        <p:spPr>
          <a:xfrm>
            <a:off x="5678424" y="2985516"/>
            <a:ext cx="475488" cy="420624"/>
          </a:xfrm>
          <a:prstGeom prst="roundRect">
            <a:avLst>
              <a:gd name="adj" fmla="val 19565"/>
            </a:avLst>
          </a:prstGeom>
          <a:solidFill>
            <a:srgbClr val="FDEEDC"/>
          </a:solidFill>
          <a:ln w="17780">
            <a:solidFill>
              <a:srgbClr val="F2A03D"/>
            </a:solidFill>
          </a:ln>
        </p:spPr>
        <p:txBody>
          <a:bodyPr wrap="square" lIns="0" tIns="0" rIns="0" bIns="0" rtlCol="0" anchor="ctr"/>
          <a:lstStyle/>
          <a:p>
            <a:pPr algn="ctr" indent="0" marL="0">
              <a:buNone/>
            </a:pPr>
            <a:r>
              <a:rPr lang="en-US" sz="1400" b="1" dirty="0">
                <a:solidFill>
                  <a:srgbClr val="F2A03D"/>
                </a:solidFill>
                <a:latin typeface="Arial" pitchFamily="34" charset="0"/>
                <a:ea typeface="Arial" pitchFamily="34" charset="-122"/>
                <a:cs typeface="Arial" pitchFamily="34" charset="-120"/>
              </a:rPr>
              <a:t>T</a:t>
            </a:r>
            <a:endParaRPr lang="en-US" sz="1400" dirty="0"/>
          </a:p>
        </p:txBody>
      </p:sp>
      <p:sp>
        <p:nvSpPr>
          <p:cNvPr id="15" name="wr1_w"/>
          <p:cNvSpPr txBox="1"/>
          <p:nvPr/>
        </p:nvSpPr>
        <p:spPr>
          <a:xfrm>
            <a:off x="6373368" y="2912364"/>
            <a:ext cx="5315407" cy="566928"/>
          </a:xfrm>
          <a:prstGeom prst="rect">
            <a:avLst/>
          </a:prstGeom>
          <a:noFill/>
          <a:ln/>
        </p:spPr>
        <p:txBody>
          <a:bodyPr wrap="square" lIns="0" tIns="0" rIns="0" bIns="0" rtlCol="0" anchor="ctr"/>
          <a:lstStyle/>
          <a:p>
            <a:pPr indent="0" marL="0">
              <a:lnSpc>
                <a:spcPts val="1400"/>
              </a:lnSpc>
              <a:buNone/>
            </a:pPr>
            <a:r>
              <a:rPr lang="en-US" sz="1100" dirty="0">
                <a:solidFill>
                  <a:srgbClr val="6A6180"/>
                </a:solidFill>
                <a:latin typeface="Arial" pitchFamily="34" charset="0"/>
                <a:ea typeface="Arial" pitchFamily="34" charset="-122"/>
                <a:cs typeface="Arial" pitchFamily="34" charset="-120"/>
              </a:rPr>
              <a:t>A big explanation covering every organism there is.</a:t>
            </a:r>
            <a:endParaRPr lang="en-US" sz="1100" dirty="0"/>
          </a:p>
        </p:txBody>
      </p:sp>
      <p:sp>
        <p:nvSpPr>
          <p:cNvPr id="16" name="wr2_bg"/>
          <p:cNvSpPr/>
          <p:nvPr/>
        </p:nvSpPr>
        <p:spPr>
          <a:xfrm>
            <a:off x="502920" y="3589020"/>
            <a:ext cx="11185855" cy="566928"/>
          </a:xfrm>
          <a:prstGeom prst="roundRect">
            <a:avLst>
              <a:gd name="adj" fmla="val 22581"/>
            </a:avLst>
          </a:prstGeom>
          <a:solidFill>
            <a:srgbClr val="FFFFFF"/>
          </a:solidFill>
          <a:ln w="15875">
            <a:solidFill>
              <a:srgbClr val="E3DAF0"/>
            </a:solidFill>
            <a:prstDash val="solid"/>
          </a:ln>
        </p:spPr>
      </p:sp>
      <p:pic>
        <p:nvPicPr>
          <p:cNvPr id="17" name="wr2_icon" descr="/home/claude/build/img_y7/apple_support.png">    </p:cNvPr>
          <p:cNvPicPr>
            <a:picLocks noChangeAspect="1"/>
          </p:cNvPicPr>
          <p:nvPr/>
        </p:nvPicPr>
        <p:blipFill>
          <a:blip r:embed="rId3"/>
          <a:stretch>
            <a:fillRect/>
          </a:stretch>
        </p:blipFill>
        <p:spPr>
          <a:xfrm>
            <a:off x="704088" y="3707892"/>
            <a:ext cx="329184" cy="329184"/>
          </a:xfrm>
          <a:prstGeom prst="rect">
            <a:avLst/>
          </a:prstGeom>
        </p:spPr>
      </p:pic>
      <p:sp>
        <p:nvSpPr>
          <p:cNvPr id="18" name="wr2_q"/>
          <p:cNvSpPr txBox="1"/>
          <p:nvPr/>
        </p:nvSpPr>
        <p:spPr>
          <a:xfrm>
            <a:off x="1179576" y="3589020"/>
            <a:ext cx="4343400" cy="566928"/>
          </a:xfrm>
          <a:prstGeom prst="rect">
            <a:avLst/>
          </a:prstGeom>
          <a:noFill/>
          <a:ln/>
        </p:spPr>
        <p:txBody>
          <a:bodyPr wrap="square" lIns="0" tIns="0" rIns="0" bIns="0" rtlCol="0" anchor="ctr"/>
          <a:lstStyle/>
          <a:p>
            <a:pPr indent="0" marL="0">
              <a:lnSpc>
                <a:spcPts val="1500"/>
              </a:lnSpc>
              <a:buNone/>
            </a:pPr>
            <a:r>
              <a:rPr lang="en-US" sz="1200" dirty="0">
                <a:solidFill>
                  <a:srgbClr val="241535"/>
                </a:solidFill>
                <a:latin typeface="Arial" pitchFamily="34" charset="0"/>
                <a:ea typeface="Arial" pitchFamily="34" charset="-122"/>
                <a:cs typeface="Arial" pitchFamily="34" charset="-120"/>
              </a:rPr>
              <a:t>Two objects pull on each other with a force you can work out.</a:t>
            </a:r>
            <a:endParaRPr lang="en-US" sz="1200" dirty="0"/>
          </a:p>
        </p:txBody>
      </p:sp>
      <p:sp>
        <p:nvSpPr>
          <p:cNvPr id="19" name="wr2_v"/>
          <p:cNvSpPr/>
          <p:nvPr/>
        </p:nvSpPr>
        <p:spPr>
          <a:xfrm>
            <a:off x="5678424" y="3662172"/>
            <a:ext cx="475488" cy="420624"/>
          </a:xfrm>
          <a:prstGeom prst="roundRect">
            <a:avLst>
              <a:gd name="adj" fmla="val 19565"/>
            </a:avLst>
          </a:prstGeom>
          <a:solidFill>
            <a:srgbClr val="E8F6F5"/>
          </a:solidFill>
          <a:ln w="17780">
            <a:solidFill>
              <a:srgbClr val="2BA6A0"/>
            </a:solidFill>
          </a:ln>
        </p:spPr>
        <p:txBody>
          <a:bodyPr wrap="square" lIns="0" tIns="0" rIns="0" bIns="0" rtlCol="0" anchor="ctr"/>
          <a:lstStyle/>
          <a:p>
            <a:pPr algn="ctr" indent="0" marL="0">
              <a:buNone/>
            </a:pPr>
            <a:r>
              <a:rPr lang="en-US" sz="1400" b="1" dirty="0">
                <a:solidFill>
                  <a:srgbClr val="2BA6A0"/>
                </a:solidFill>
                <a:latin typeface="Arial" pitchFamily="34" charset="0"/>
                <a:ea typeface="Arial" pitchFamily="34" charset="-122"/>
                <a:cs typeface="Arial" pitchFamily="34" charset="-120"/>
              </a:rPr>
              <a:t>L</a:t>
            </a:r>
            <a:endParaRPr lang="en-US" sz="1400" dirty="0"/>
          </a:p>
        </p:txBody>
      </p:sp>
      <p:sp>
        <p:nvSpPr>
          <p:cNvPr id="20" name="wr2_w"/>
          <p:cNvSpPr txBox="1"/>
          <p:nvPr/>
        </p:nvSpPr>
        <p:spPr>
          <a:xfrm>
            <a:off x="6373368" y="3589020"/>
            <a:ext cx="5315407" cy="566928"/>
          </a:xfrm>
          <a:prstGeom prst="rect">
            <a:avLst/>
          </a:prstGeom>
          <a:noFill/>
          <a:ln/>
        </p:spPr>
        <p:txBody>
          <a:bodyPr wrap="square" lIns="0" tIns="0" rIns="0" bIns="0" rtlCol="0" anchor="ctr"/>
          <a:lstStyle/>
          <a:p>
            <a:pPr indent="0" marL="0">
              <a:lnSpc>
                <a:spcPts val="1400"/>
              </a:lnSpc>
              <a:buNone/>
            </a:pPr>
            <a:r>
              <a:rPr lang="en-US" sz="1100" dirty="0">
                <a:solidFill>
                  <a:srgbClr val="6A6180"/>
                </a:solidFill>
                <a:latin typeface="Arial" pitchFamily="34" charset="0"/>
                <a:ea typeface="Arial" pitchFamily="34" charset="-122"/>
                <a:cs typeface="Arial" pitchFamily="34" charset="-120"/>
              </a:rPr>
              <a:t>Describes and predicts. Still does not say why.</a:t>
            </a:r>
            <a:endParaRPr lang="en-US" sz="1100" dirty="0"/>
          </a:p>
        </p:txBody>
      </p:sp>
      <p:sp>
        <p:nvSpPr>
          <p:cNvPr id="21" name="wr3_bg"/>
          <p:cNvSpPr/>
          <p:nvPr/>
        </p:nvSpPr>
        <p:spPr>
          <a:xfrm>
            <a:off x="502920" y="4265676"/>
            <a:ext cx="11185855" cy="566928"/>
          </a:xfrm>
          <a:prstGeom prst="roundRect">
            <a:avLst>
              <a:gd name="adj" fmla="val 22581"/>
            </a:avLst>
          </a:prstGeom>
          <a:solidFill>
            <a:srgbClr val="FFFFFF"/>
          </a:solidFill>
          <a:ln w="15875">
            <a:solidFill>
              <a:srgbClr val="E3DAF0"/>
            </a:solidFill>
            <a:prstDash val="solid"/>
          </a:ln>
        </p:spPr>
      </p:sp>
      <p:pic>
        <p:nvPicPr>
          <p:cNvPr id="22" name="wr3_icon" descr="/home/claude/build/img_y7/atom_accent.png">    </p:cNvPr>
          <p:cNvPicPr>
            <a:picLocks noChangeAspect="1"/>
          </p:cNvPicPr>
          <p:nvPr/>
        </p:nvPicPr>
        <p:blipFill>
          <a:blip r:embed="rId4"/>
          <a:stretch>
            <a:fillRect/>
          </a:stretch>
        </p:blipFill>
        <p:spPr>
          <a:xfrm>
            <a:off x="704088" y="4384548"/>
            <a:ext cx="329184" cy="329184"/>
          </a:xfrm>
          <a:prstGeom prst="rect">
            <a:avLst/>
          </a:prstGeom>
        </p:spPr>
      </p:pic>
      <p:sp>
        <p:nvSpPr>
          <p:cNvPr id="23" name="wr3_q"/>
          <p:cNvSpPr txBox="1"/>
          <p:nvPr/>
        </p:nvSpPr>
        <p:spPr>
          <a:xfrm>
            <a:off x="1179576" y="4265676"/>
            <a:ext cx="4343400" cy="566928"/>
          </a:xfrm>
          <a:prstGeom prst="rect">
            <a:avLst/>
          </a:prstGeom>
          <a:noFill/>
          <a:ln/>
        </p:spPr>
        <p:txBody>
          <a:bodyPr wrap="square" lIns="0" tIns="0" rIns="0" bIns="0" rtlCol="0" anchor="ctr"/>
          <a:lstStyle/>
          <a:p>
            <a:pPr indent="0" marL="0">
              <a:lnSpc>
                <a:spcPts val="1500"/>
              </a:lnSpc>
              <a:buNone/>
            </a:pPr>
            <a:r>
              <a:rPr lang="en-US" sz="1200" dirty="0">
                <a:solidFill>
                  <a:srgbClr val="241535"/>
                </a:solidFill>
                <a:latin typeface="Arial" pitchFamily="34" charset="0"/>
                <a:ea typeface="Arial" pitchFamily="34" charset="-122"/>
                <a:cs typeface="Arial" pitchFamily="34" charset="-120"/>
              </a:rPr>
              <a:t>Everything is made of tiny particles that never stop moving.</a:t>
            </a:r>
            <a:endParaRPr lang="en-US" sz="1200" dirty="0"/>
          </a:p>
        </p:txBody>
      </p:sp>
      <p:sp>
        <p:nvSpPr>
          <p:cNvPr id="24" name="wr3_v"/>
          <p:cNvSpPr/>
          <p:nvPr/>
        </p:nvSpPr>
        <p:spPr>
          <a:xfrm>
            <a:off x="5678424" y="4338828"/>
            <a:ext cx="475488" cy="420624"/>
          </a:xfrm>
          <a:prstGeom prst="roundRect">
            <a:avLst>
              <a:gd name="adj" fmla="val 19565"/>
            </a:avLst>
          </a:prstGeom>
          <a:solidFill>
            <a:srgbClr val="FDEEDC"/>
          </a:solidFill>
          <a:ln w="17780">
            <a:solidFill>
              <a:srgbClr val="F2A03D"/>
            </a:solidFill>
          </a:ln>
        </p:spPr>
        <p:txBody>
          <a:bodyPr wrap="square" lIns="0" tIns="0" rIns="0" bIns="0" rtlCol="0" anchor="ctr"/>
          <a:lstStyle/>
          <a:p>
            <a:pPr algn="ctr" indent="0" marL="0">
              <a:buNone/>
            </a:pPr>
            <a:r>
              <a:rPr lang="en-US" sz="1400" b="1" dirty="0">
                <a:solidFill>
                  <a:srgbClr val="F2A03D"/>
                </a:solidFill>
                <a:latin typeface="Arial" pitchFamily="34" charset="0"/>
                <a:ea typeface="Arial" pitchFamily="34" charset="-122"/>
                <a:cs typeface="Arial" pitchFamily="34" charset="-120"/>
              </a:rPr>
              <a:t>T</a:t>
            </a:r>
            <a:endParaRPr lang="en-US" sz="1400" dirty="0"/>
          </a:p>
        </p:txBody>
      </p:sp>
      <p:sp>
        <p:nvSpPr>
          <p:cNvPr id="25" name="wr3_w"/>
          <p:cNvSpPr txBox="1"/>
          <p:nvPr/>
        </p:nvSpPr>
        <p:spPr>
          <a:xfrm>
            <a:off x="6373368" y="4265676"/>
            <a:ext cx="5315407" cy="566928"/>
          </a:xfrm>
          <a:prstGeom prst="rect">
            <a:avLst/>
          </a:prstGeom>
          <a:noFill/>
          <a:ln/>
        </p:spPr>
        <p:txBody>
          <a:bodyPr wrap="square" lIns="0" tIns="0" rIns="0" bIns="0" rtlCol="0" anchor="ctr"/>
          <a:lstStyle/>
          <a:p>
            <a:pPr indent="0" marL="0">
              <a:lnSpc>
                <a:spcPts val="1400"/>
              </a:lnSpc>
              <a:buNone/>
            </a:pPr>
            <a:r>
              <a:rPr lang="en-US" sz="1100" dirty="0">
                <a:solidFill>
                  <a:srgbClr val="6A6180"/>
                </a:solidFill>
                <a:latin typeface="Arial" pitchFamily="34" charset="0"/>
                <a:ea typeface="Arial" pitchFamily="34" charset="-122"/>
                <a:cs typeface="Arial" pitchFamily="34" charset="-120"/>
              </a:rPr>
              <a:t>Explains boiling, melting, smells and pressure, all at once.</a:t>
            </a:r>
            <a:endParaRPr lang="en-US" sz="1100" dirty="0"/>
          </a:p>
        </p:txBody>
      </p:sp>
      <p:sp>
        <p:nvSpPr>
          <p:cNvPr id="26" name="wr4_bg"/>
          <p:cNvSpPr/>
          <p:nvPr/>
        </p:nvSpPr>
        <p:spPr>
          <a:xfrm>
            <a:off x="502920" y="4942332"/>
            <a:ext cx="11185855" cy="566928"/>
          </a:xfrm>
          <a:prstGeom prst="roundRect">
            <a:avLst>
              <a:gd name="adj" fmla="val 22581"/>
            </a:avLst>
          </a:prstGeom>
          <a:solidFill>
            <a:srgbClr val="FFFFFF"/>
          </a:solidFill>
          <a:ln w="15875">
            <a:solidFill>
              <a:srgbClr val="E3DAF0"/>
            </a:solidFill>
            <a:prstDash val="solid"/>
          </a:ln>
        </p:spPr>
      </p:sp>
      <p:pic>
        <p:nvPicPr>
          <p:cNvPr id="27" name="wr4_icon" descr="/home/claude/build/img_y7/magnet_support.png">    </p:cNvPr>
          <p:cNvPicPr>
            <a:picLocks noChangeAspect="1"/>
          </p:cNvPicPr>
          <p:nvPr/>
        </p:nvPicPr>
        <p:blipFill>
          <a:blip r:embed="rId5"/>
          <a:stretch>
            <a:fillRect/>
          </a:stretch>
        </p:blipFill>
        <p:spPr>
          <a:xfrm>
            <a:off x="704088" y="5061204"/>
            <a:ext cx="329184" cy="329184"/>
          </a:xfrm>
          <a:prstGeom prst="rect">
            <a:avLst/>
          </a:prstGeom>
        </p:spPr>
      </p:pic>
      <p:sp>
        <p:nvSpPr>
          <p:cNvPr id="28" name="wr4_q"/>
          <p:cNvSpPr txBox="1"/>
          <p:nvPr/>
        </p:nvSpPr>
        <p:spPr>
          <a:xfrm>
            <a:off x="1179576" y="4942332"/>
            <a:ext cx="4343400" cy="566928"/>
          </a:xfrm>
          <a:prstGeom prst="rect">
            <a:avLst/>
          </a:prstGeom>
          <a:noFill/>
          <a:ln/>
        </p:spPr>
        <p:txBody>
          <a:bodyPr wrap="square" lIns="0" tIns="0" rIns="0" bIns="0" rtlCol="0" anchor="ctr"/>
          <a:lstStyle/>
          <a:p>
            <a:pPr indent="0" marL="0">
              <a:lnSpc>
                <a:spcPts val="1500"/>
              </a:lnSpc>
              <a:buNone/>
            </a:pPr>
            <a:r>
              <a:rPr lang="en-US" sz="1200" dirty="0">
                <a:solidFill>
                  <a:srgbClr val="241535"/>
                </a:solidFill>
                <a:latin typeface="Arial" pitchFamily="34" charset="0"/>
                <a:ea typeface="Arial" pitchFamily="34" charset="-122"/>
                <a:cs typeface="Arial" pitchFamily="34" charset="-120"/>
              </a:rPr>
              <a:t>Two north poles push each other apart.</a:t>
            </a:r>
            <a:endParaRPr lang="en-US" sz="1200" dirty="0"/>
          </a:p>
        </p:txBody>
      </p:sp>
      <p:sp>
        <p:nvSpPr>
          <p:cNvPr id="29" name="wr4_v"/>
          <p:cNvSpPr/>
          <p:nvPr/>
        </p:nvSpPr>
        <p:spPr>
          <a:xfrm>
            <a:off x="5678424" y="5015484"/>
            <a:ext cx="475488" cy="420624"/>
          </a:xfrm>
          <a:prstGeom prst="roundRect">
            <a:avLst>
              <a:gd name="adj" fmla="val 19565"/>
            </a:avLst>
          </a:prstGeom>
          <a:solidFill>
            <a:srgbClr val="E8F6F5"/>
          </a:solidFill>
          <a:ln w="17780">
            <a:solidFill>
              <a:srgbClr val="2BA6A0"/>
            </a:solidFill>
          </a:ln>
        </p:spPr>
        <p:txBody>
          <a:bodyPr wrap="square" lIns="0" tIns="0" rIns="0" bIns="0" rtlCol="0" anchor="ctr"/>
          <a:lstStyle/>
          <a:p>
            <a:pPr algn="ctr" indent="0" marL="0">
              <a:buNone/>
            </a:pPr>
            <a:r>
              <a:rPr lang="en-US" sz="1400" b="1" dirty="0">
                <a:solidFill>
                  <a:srgbClr val="2BA6A0"/>
                </a:solidFill>
                <a:latin typeface="Arial" pitchFamily="34" charset="0"/>
                <a:ea typeface="Arial" pitchFamily="34" charset="-122"/>
                <a:cs typeface="Arial" pitchFamily="34" charset="-120"/>
              </a:rPr>
              <a:t>L</a:t>
            </a:r>
            <a:endParaRPr lang="en-US" sz="1400" dirty="0"/>
          </a:p>
        </p:txBody>
      </p:sp>
      <p:sp>
        <p:nvSpPr>
          <p:cNvPr id="30" name="wr4_w"/>
          <p:cNvSpPr txBox="1"/>
          <p:nvPr/>
        </p:nvSpPr>
        <p:spPr>
          <a:xfrm>
            <a:off x="6373368" y="4942332"/>
            <a:ext cx="5315407" cy="566928"/>
          </a:xfrm>
          <a:prstGeom prst="rect">
            <a:avLst/>
          </a:prstGeom>
          <a:noFill/>
          <a:ln/>
        </p:spPr>
        <p:txBody>
          <a:bodyPr wrap="square" lIns="0" tIns="0" rIns="0" bIns="0" rtlCol="0" anchor="ctr"/>
          <a:lstStyle/>
          <a:p>
            <a:pPr indent="0" marL="0">
              <a:lnSpc>
                <a:spcPts val="1400"/>
              </a:lnSpc>
              <a:buNone/>
            </a:pPr>
            <a:r>
              <a:rPr lang="en-US" sz="1100" dirty="0">
                <a:solidFill>
                  <a:srgbClr val="6A6180"/>
                </a:solidFill>
                <a:latin typeface="Arial" pitchFamily="34" charset="0"/>
                <a:ea typeface="Arial" pitchFamily="34" charset="-122"/>
                <a:cs typeface="Arial" pitchFamily="34" charset="-120"/>
              </a:rPr>
              <a:t>What happens, every time, with no exceptions.</a:t>
            </a:r>
            <a:endParaRPr lang="en-US" sz="1100" dirty="0"/>
          </a:p>
        </p:txBody>
      </p:sp>
      <p:sp>
        <p:nvSpPr>
          <p:cNvPr id="31" name="wr5_bg"/>
          <p:cNvSpPr/>
          <p:nvPr/>
        </p:nvSpPr>
        <p:spPr>
          <a:xfrm>
            <a:off x="502920" y="5618988"/>
            <a:ext cx="11185855" cy="566928"/>
          </a:xfrm>
          <a:prstGeom prst="roundRect">
            <a:avLst>
              <a:gd name="adj" fmla="val 22581"/>
            </a:avLst>
          </a:prstGeom>
          <a:solidFill>
            <a:srgbClr val="FFFFFF"/>
          </a:solidFill>
          <a:ln w="15875">
            <a:solidFill>
              <a:srgbClr val="E3DAF0"/>
            </a:solidFill>
            <a:prstDash val="solid"/>
          </a:ln>
        </p:spPr>
      </p:sp>
      <p:pic>
        <p:nvPicPr>
          <p:cNvPr id="32" name="wr5_icon" descr="/home/claude/build/img_y7/seedling_accent.png">    </p:cNvPr>
          <p:cNvPicPr>
            <a:picLocks noChangeAspect="1"/>
          </p:cNvPicPr>
          <p:nvPr/>
        </p:nvPicPr>
        <p:blipFill>
          <a:blip r:embed="rId6"/>
          <a:stretch>
            <a:fillRect/>
          </a:stretch>
        </p:blipFill>
        <p:spPr>
          <a:xfrm>
            <a:off x="704088" y="5737860"/>
            <a:ext cx="329184" cy="329184"/>
          </a:xfrm>
          <a:prstGeom prst="rect">
            <a:avLst/>
          </a:prstGeom>
        </p:spPr>
      </p:pic>
      <p:sp>
        <p:nvSpPr>
          <p:cNvPr id="33" name="wr5_q"/>
          <p:cNvSpPr txBox="1"/>
          <p:nvPr/>
        </p:nvSpPr>
        <p:spPr>
          <a:xfrm>
            <a:off x="1179576" y="5618988"/>
            <a:ext cx="4343400" cy="566928"/>
          </a:xfrm>
          <a:prstGeom prst="rect">
            <a:avLst/>
          </a:prstGeom>
          <a:noFill/>
          <a:ln/>
        </p:spPr>
        <p:txBody>
          <a:bodyPr wrap="square" lIns="0" tIns="0" rIns="0" bIns="0" rtlCol="0" anchor="ctr"/>
          <a:lstStyle/>
          <a:p>
            <a:pPr indent="0" marL="0">
              <a:lnSpc>
                <a:spcPts val="1500"/>
              </a:lnSpc>
              <a:buNone/>
            </a:pPr>
            <a:r>
              <a:rPr lang="en-US" sz="1200" dirty="0">
                <a:solidFill>
                  <a:srgbClr val="241535"/>
                </a:solidFill>
                <a:latin typeface="Arial" pitchFamily="34" charset="0"/>
                <a:ea typeface="Arial" pitchFamily="34" charset="-122"/>
                <a:cs typeface="Arial" pitchFamily="34" charset="-120"/>
              </a:rPr>
              <a:t>Living things change over many generations to suit where they live.</a:t>
            </a:r>
            <a:endParaRPr lang="en-US" sz="1200" dirty="0"/>
          </a:p>
        </p:txBody>
      </p:sp>
      <p:sp>
        <p:nvSpPr>
          <p:cNvPr id="34" name="wr5_v"/>
          <p:cNvSpPr/>
          <p:nvPr/>
        </p:nvSpPr>
        <p:spPr>
          <a:xfrm>
            <a:off x="5678424" y="5692140"/>
            <a:ext cx="475488" cy="420624"/>
          </a:xfrm>
          <a:prstGeom prst="roundRect">
            <a:avLst>
              <a:gd name="adj" fmla="val 19565"/>
            </a:avLst>
          </a:prstGeom>
          <a:solidFill>
            <a:srgbClr val="FDEEDC"/>
          </a:solidFill>
          <a:ln w="17780">
            <a:solidFill>
              <a:srgbClr val="F2A03D"/>
            </a:solidFill>
          </a:ln>
        </p:spPr>
        <p:txBody>
          <a:bodyPr wrap="square" lIns="0" tIns="0" rIns="0" bIns="0" rtlCol="0" anchor="ctr"/>
          <a:lstStyle/>
          <a:p>
            <a:pPr algn="ctr" indent="0" marL="0">
              <a:buNone/>
            </a:pPr>
            <a:r>
              <a:rPr lang="en-US" sz="1400" b="1" dirty="0">
                <a:solidFill>
                  <a:srgbClr val="F2A03D"/>
                </a:solidFill>
                <a:latin typeface="Arial" pitchFamily="34" charset="0"/>
                <a:ea typeface="Arial" pitchFamily="34" charset="-122"/>
                <a:cs typeface="Arial" pitchFamily="34" charset="-120"/>
              </a:rPr>
              <a:t>T</a:t>
            </a:r>
            <a:endParaRPr lang="en-US" sz="1400" dirty="0"/>
          </a:p>
        </p:txBody>
      </p:sp>
      <p:sp>
        <p:nvSpPr>
          <p:cNvPr id="35" name="wr5_w"/>
          <p:cNvSpPr txBox="1"/>
          <p:nvPr/>
        </p:nvSpPr>
        <p:spPr>
          <a:xfrm>
            <a:off x="6373368" y="5618988"/>
            <a:ext cx="5315407" cy="566928"/>
          </a:xfrm>
          <a:prstGeom prst="rect">
            <a:avLst/>
          </a:prstGeom>
          <a:noFill/>
          <a:ln/>
        </p:spPr>
        <p:txBody>
          <a:bodyPr wrap="square" lIns="0" tIns="0" rIns="0" bIns="0" rtlCol="0" anchor="ctr"/>
          <a:lstStyle/>
          <a:p>
            <a:pPr indent="0" marL="0">
              <a:lnSpc>
                <a:spcPts val="1400"/>
              </a:lnSpc>
              <a:buNone/>
            </a:pPr>
            <a:r>
              <a:rPr lang="en-US" sz="1100" dirty="0">
                <a:solidFill>
                  <a:srgbClr val="6A6180"/>
                </a:solidFill>
                <a:latin typeface="Arial" pitchFamily="34" charset="0"/>
                <a:ea typeface="Arial" pitchFamily="34" charset="-122"/>
                <a:cs typeface="Arial" pitchFamily="34" charset="-120"/>
              </a:rPr>
              <a:t>An explanation built from fossils, breeding and DNA.</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animScale>
                                      <p:cBhvr>
                                        <p:cTn id="5" dur="400" fill="hold"/>
                                        <p:tgtEl>
                                          <p:spTgt spid="9"/>
                                        </p:tgtEl>
                                      </p:cBhvr>
                                      <p:from x="0" y="0"/>
                                      <p:to x="100000" y="100000"/>
                                    </p:animScale>
                                  </p:childTnLst>
                                </p:cTn>
                              </p:par>
                            </p:childTnLst>
                          </p:cTn>
                        </p:par>
                      </p:childTnLst>
                    </p:cTn>
                  </p:par>
                  <p:par>
                    <p:cTn id="12" fill="hold">
                      <p:stCondLst>
                        <p:cond delay="indefinite"/>
                      </p:stCondLst>
                      <p:childTnLst>
                        <p:par>
                          <p:cTn id="13" fill="hold">
                            <p:stCondLst>
                              <p:cond delay="0"/>
                            </p:stCondLst>
                            <p:childTnLst>
                              <p:par>
                                <p:cTn id="11"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childTnLst>
                          </p:cTn>
                        </p:par>
                      </p:childTnLst>
                    </p:cTn>
                  </p:par>
                  <p:par>
                    <p:cTn id="18" fill="hold">
                      <p:stCondLst>
                        <p:cond delay="indefinite"/>
                      </p:stCondLst>
                      <p:childTnLst>
                        <p:par>
                          <p:cTn id="19" fill="hold">
                            <p:stCondLst>
                              <p:cond delay="0"/>
                            </p:stCondLst>
                            <p:childTnLst>
                              <p:par>
                                <p:cTn id="17" presetID="23" presetClass="entr" presetSubtype="16"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00"/>
                                        <p:tgtEl>
                                          <p:spTgt spid="14"/>
                                        </p:tgtEl>
                                      </p:cBhvr>
                                    </p:animEffect>
                                    <p:animScale>
                                      <p:cBhvr>
                                        <p:cTn id="16" dur="400" fill="hold"/>
                                        <p:tgtEl>
                                          <p:spTgt spid="14"/>
                                        </p:tgtEl>
                                      </p:cBhvr>
                                      <p:from x="0" y="0"/>
                                      <p:to x="100000" y="100000"/>
                                    </p:animScale>
                                  </p:childTnLst>
                                </p:cTn>
                              </p:par>
                            </p:childTnLst>
                          </p:cTn>
                        </p:par>
                      </p:childTnLst>
                    </p:cTn>
                  </p:par>
                  <p:par>
                    <p:cTn id="23" fill="hold">
                      <p:stCondLst>
                        <p:cond delay="indefinite"/>
                      </p:stCondLst>
                      <p:childTnLst>
                        <p:par>
                          <p:cTn id="24" fill="hold">
                            <p:stCondLst>
                              <p:cond delay="0"/>
                            </p:stCondLst>
                            <p:childTnLst>
                              <p:par>
                                <p:cTn id="22"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childTnLst>
                          </p:cTn>
                        </p:par>
                      </p:childTnLst>
                    </p:cTn>
                  </p:par>
                  <p:par>
                    <p:cTn id="29" fill="hold">
                      <p:stCondLst>
                        <p:cond delay="indefinite"/>
                      </p:stCondLst>
                      <p:childTnLst>
                        <p:par>
                          <p:cTn id="30" fill="hold">
                            <p:stCondLst>
                              <p:cond delay="0"/>
                            </p:stCondLst>
                            <p:childTnLst>
                              <p:par>
                                <p:cTn id="28" presetID="23" presetClass="entr" presetSubtype="16"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400"/>
                                        <p:tgtEl>
                                          <p:spTgt spid="19"/>
                                        </p:tgtEl>
                                      </p:cBhvr>
                                    </p:animEffect>
                                    <p:animScale>
                                      <p:cBhvr>
                                        <p:cTn id="27" dur="400" fill="hold"/>
                                        <p:tgtEl>
                                          <p:spTgt spid="19"/>
                                        </p:tgtEl>
                                      </p:cBhvr>
                                      <p:from x="0" y="0"/>
                                      <p:to x="100000" y="100000"/>
                                    </p:animScale>
                                  </p:childTnLst>
                                </p:cTn>
                              </p:par>
                            </p:childTnLst>
                          </p:cTn>
                        </p:par>
                      </p:childTnLst>
                    </p:cTn>
                  </p:par>
                  <p:par>
                    <p:cTn id="34" fill="hold">
                      <p:stCondLst>
                        <p:cond delay="indefinite"/>
                      </p:stCondLst>
                      <p:childTnLst>
                        <p:par>
                          <p:cTn id="35" fill="hold">
                            <p:stCondLst>
                              <p:cond delay="0"/>
                            </p:stCondLst>
                            <p:childTnLst>
                              <p:par>
                                <p:cTn id="33" presetID="10"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00"/>
                                        <p:tgtEl>
                                          <p:spTgt spid="20"/>
                                        </p:tgtEl>
                                      </p:cBhvr>
                                    </p:animEffect>
                                  </p:childTnLst>
                                </p:cTn>
                              </p:par>
                            </p:childTnLst>
                          </p:cTn>
                        </p:par>
                      </p:childTnLst>
                    </p:cTn>
                  </p:par>
                  <p:par>
                    <p:cTn id="40" fill="hold">
                      <p:stCondLst>
                        <p:cond delay="indefinite"/>
                      </p:stCondLst>
                      <p:childTnLst>
                        <p:par>
                          <p:cTn id="41" fill="hold">
                            <p:stCondLst>
                              <p:cond delay="0"/>
                            </p:stCondLst>
                            <p:childTnLst>
                              <p:par>
                                <p:cTn id="39" presetID="23" presetClass="entr" presetSubtype="16"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animScale>
                                      <p:cBhvr>
                                        <p:cTn id="38" dur="400" fill="hold"/>
                                        <p:tgtEl>
                                          <p:spTgt spid="24"/>
                                        </p:tgtEl>
                                      </p:cBhvr>
                                      <p:from x="0" y="0"/>
                                      <p:to x="100000" y="100000"/>
                                    </p:animScale>
                                  </p:childTnLst>
                                </p:cTn>
                              </p:par>
                            </p:childTnLst>
                          </p:cTn>
                        </p:par>
                      </p:childTnLst>
                    </p:cTn>
                  </p:par>
                  <p:par>
                    <p:cTn id="45" fill="hold">
                      <p:stCondLst>
                        <p:cond delay="indefinite"/>
                      </p:stCondLst>
                      <p:childTnLst>
                        <p:par>
                          <p:cTn id="46" fill="hold">
                            <p:stCondLst>
                              <p:cond delay="0"/>
                            </p:stCondLst>
                            <p:childTnLst>
                              <p:par>
                                <p:cTn id="44"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4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0" presetID="23" presetClass="entr" presetSubtype="16" fill="hold" grpId="0"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400"/>
                                        <p:tgtEl>
                                          <p:spTgt spid="29"/>
                                        </p:tgtEl>
                                      </p:cBhvr>
                                    </p:animEffect>
                                    <p:animScale>
                                      <p:cBhvr>
                                        <p:cTn id="49" dur="400" fill="hold"/>
                                        <p:tgtEl>
                                          <p:spTgt spid="29"/>
                                        </p:tgtEl>
                                      </p:cBhvr>
                                      <p:from x="0" y="0"/>
                                      <p:to x="100000" y="100000"/>
                                    </p:animScale>
                                  </p:childTnLst>
                                </p:cTn>
                              </p:par>
                            </p:childTnLst>
                          </p:cTn>
                        </p:par>
                      </p:childTnLst>
                    </p:cTn>
                  </p:par>
                  <p:par>
                    <p:cTn id="56" fill="hold">
                      <p:stCondLst>
                        <p:cond delay="indefinite"/>
                      </p:stCondLst>
                      <p:childTnLst>
                        <p:par>
                          <p:cTn id="57" fill="hold">
                            <p:stCondLst>
                              <p:cond delay="0"/>
                            </p:stCondLst>
                            <p:childTnLst>
                              <p:par>
                                <p:cTn id="55" presetID="10" presetClass="entr" presetSubtype="0"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400"/>
                                        <p:tgtEl>
                                          <p:spTgt spid="30"/>
                                        </p:tgtEl>
                                      </p:cBhvr>
                                    </p:animEffect>
                                  </p:childTnLst>
                                </p:cTn>
                              </p:par>
                            </p:childTnLst>
                          </p:cTn>
                        </p:par>
                      </p:childTnLst>
                    </p:cTn>
                  </p:par>
                  <p:par>
                    <p:cTn id="62" fill="hold">
                      <p:stCondLst>
                        <p:cond delay="indefinite"/>
                      </p:stCondLst>
                      <p:childTnLst>
                        <p:par>
                          <p:cTn id="63" fill="hold">
                            <p:stCondLst>
                              <p:cond delay="0"/>
                            </p:stCondLst>
                            <p:childTnLst>
                              <p:par>
                                <p:cTn id="61" presetID="23" presetClass="entr" presetSubtype="16" fill="hold" grpId="0" nodeType="click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400"/>
                                        <p:tgtEl>
                                          <p:spTgt spid="34"/>
                                        </p:tgtEl>
                                      </p:cBhvr>
                                    </p:animEffect>
                                    <p:animScale>
                                      <p:cBhvr>
                                        <p:cTn id="60" dur="400" fill="hold"/>
                                        <p:tgtEl>
                                          <p:spTgt spid="34"/>
                                        </p:tgtEl>
                                      </p:cBhvr>
                                      <p:from x="0" y="0"/>
                                      <p:to x="100000" y="100000"/>
                                    </p:animScale>
                                  </p:childTnLst>
                                </p:cTn>
                              </p:par>
                            </p:childTnLst>
                          </p:cTn>
                        </p:par>
                      </p:childTnLst>
                    </p:cTn>
                  </p:par>
                  <p:par>
                    <p:cTn id="67" fill="hold">
                      <p:stCondLst>
                        <p:cond delay="indefinite"/>
                      </p:stCondLst>
                      <p:childTnLst>
                        <p:par>
                          <p:cTn id="68" fill="hold">
                            <p:stCondLst>
                              <p:cond delay="0"/>
                            </p:stCondLst>
                            <p:childTnLst>
                              <p:par>
                                <p:cTn id="66" presetID="10" presetClass="entr" presetSubtype="0" fill="hold" grpId="0" nodeType="click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2578608"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CONTEXT · 4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One mountain, one law, one theory</a:t>
            </a:r>
            <a:endParaRPr lang="en-US" sz="3000" dirty="0"/>
          </a:p>
        </p:txBody>
      </p:sp>
      <p:sp>
        <p:nvSpPr>
          <p:cNvPr id="4" name="di_intro"/>
          <p:cNvSpPr txBox="1"/>
          <p:nvPr/>
        </p:nvSpPr>
        <p:spPr>
          <a:xfrm>
            <a:off x="502920" y="1554480"/>
            <a:ext cx="10424160" cy="310896"/>
          </a:xfrm>
          <a:prstGeom prst="rect">
            <a:avLst/>
          </a:prstGeom>
          <a:noFill/>
          <a:ln/>
        </p:spPr>
        <p:txBody>
          <a:bodyPr wrap="square" lIns="0" tIns="0" rIns="0" bIns="0" rtlCol="0" anchor="ctr"/>
          <a:lstStyle/>
          <a:p>
            <a:pPr indent="0" marL="0">
              <a:buNone/>
            </a:pPr>
            <a:r>
              <a:rPr lang="en-US" sz="1300" dirty="0">
                <a:solidFill>
                  <a:srgbClr val="6A6180"/>
                </a:solidFill>
                <a:latin typeface="Arial" pitchFamily="34" charset="0"/>
                <a:ea typeface="Arial" pitchFamily="34" charset="-122"/>
                <a:cs typeface="Arial" pitchFamily="34" charset="-120"/>
              </a:rPr>
              <a:t>Doi Inthanon in Chiang Mai is the highest point in Thailand: 2,565 m.</a:t>
            </a:r>
            <a:endParaRPr lang="en-US" sz="1300" dirty="0"/>
          </a:p>
        </p:txBody>
      </p:sp>
      <p:pic>
        <p:nvPicPr>
          <p:cNvPr id="5" name="di_mtn" descr="/home/claude/build/img_y7/mountain_dark.png">    </p:cNvPr>
          <p:cNvPicPr>
            <a:picLocks noChangeAspect="1"/>
          </p:cNvPicPr>
          <p:nvPr/>
        </p:nvPicPr>
        <p:blipFill>
          <a:blip r:embed="rId1"/>
          <a:stretch>
            <a:fillRect/>
          </a:stretch>
        </p:blipFill>
        <p:spPr>
          <a:xfrm>
            <a:off x="502920" y="2121408"/>
            <a:ext cx="1188720" cy="1188720"/>
          </a:xfrm>
          <a:prstGeom prst="rect">
            <a:avLst/>
          </a:prstGeom>
        </p:spPr>
      </p:pic>
      <p:grpSp>
        <p:nvGrpSpPr>
          <p:cNvPr id="18" name="di_head"/>
          <p:cNvGrpSpPr/>
          <p:nvPr/>
        </p:nvGrpSpPr>
        <p:grpSpPr>
          <a:xfrm>
            <a:off x="1965960" y="2121408"/>
            <a:ext cx="4754880" cy="1536192"/>
            <a:chOff x="1965960" y="2121408"/>
            <a:chExt cx="4754880" cy="1536192"/>
          </a:xfrm>
        </p:grpSpPr>
        <p:sp>
          <p:nvSpPr>
            <p:cNvPr id="6" name="di_fact"/>
            <p:cNvSpPr txBox="1"/>
            <p:nvPr/>
          </p:nvSpPr>
          <p:spPr>
            <a:xfrm>
              <a:off x="1965960" y="2121408"/>
              <a:ext cx="4754880" cy="1188720"/>
            </a:xfrm>
            <a:prstGeom prst="rect">
              <a:avLst/>
            </a:prstGeom>
            <a:noFill/>
            <a:ln/>
          </p:spPr>
          <p:txBody>
            <a:bodyPr wrap="square" lIns="0" tIns="0" rIns="0" bIns="0" rtlCol="0" anchor="ctr"/>
            <a:lstStyle/>
            <a:p>
              <a:pPr indent="0" marL="0">
                <a:lnSpc>
                  <a:spcPts val="2700"/>
                </a:lnSpc>
                <a:buNone/>
              </a:pPr>
              <a:r>
                <a:rPr lang="en-US" sz="2100" b="1" dirty="0">
                  <a:solidFill>
                    <a:srgbClr val="4A2C6F"/>
                  </a:solidFill>
                  <a:latin typeface="Georgia" pitchFamily="34" charset="0"/>
                  <a:ea typeface="Georgia" pitchFamily="34" charset="-122"/>
                  <a:cs typeface="Georgia" pitchFamily="34" charset="-120"/>
                </a:rPr>
                <a:t>At the top, water boils at about 92 °C.</a:t>
              </a:r>
              <a:endParaRPr lang="en-US" sz="2100" dirty="0"/>
            </a:p>
          </p:txBody>
        </p:sp>
        <p:sp>
          <p:nvSpPr>
            <p:cNvPr id="7" name="di_note"/>
            <p:cNvSpPr txBox="1"/>
            <p:nvPr/>
          </p:nvSpPr>
          <p:spPr>
            <a:xfrm>
              <a:off x="1965960" y="3346704"/>
              <a:ext cx="4754880" cy="310896"/>
            </a:xfrm>
            <a:prstGeom prst="rect">
              <a:avLst/>
            </a:prstGeom>
            <a:noFill/>
            <a:ln/>
          </p:spPr>
          <p:txBody>
            <a:bodyPr wrap="square" lIns="0" tIns="0" rIns="0" bIns="0" rtlCol="0" anchor="ctr"/>
            <a:lstStyle/>
            <a:p>
              <a:pPr indent="0" marL="0">
                <a:buNone/>
              </a:pPr>
              <a:r>
                <a:rPr lang="en-US" sz="1200" i="1" dirty="0">
                  <a:solidFill>
                    <a:srgbClr val="6A6180"/>
                  </a:solidFill>
                  <a:latin typeface="Arial" pitchFamily="34" charset="0"/>
                  <a:ea typeface="Arial" pitchFamily="34" charset="-122"/>
                  <a:cs typeface="Arial" pitchFamily="34" charset="-120"/>
                </a:rPr>
                <a:t>Your noodles take longer. Your tea is never quite hot enough.</a:t>
              </a:r>
              <a:endParaRPr lang="en-US" sz="1200" dirty="0"/>
            </a:p>
          </p:txBody>
        </p:sp>
      </p:grpSp>
      <p:grpSp>
        <p:nvGrpSpPr>
          <p:cNvPr id="19" name="di0"/>
          <p:cNvGrpSpPr/>
          <p:nvPr/>
        </p:nvGrpSpPr>
        <p:grpSpPr>
          <a:xfrm>
            <a:off x="502920" y="3931920"/>
            <a:ext cx="5349240" cy="1517904"/>
            <a:chOff x="502920" y="3931920"/>
            <a:chExt cx="5349240" cy="1517904"/>
          </a:xfrm>
        </p:grpSpPr>
        <p:sp>
          <p:nvSpPr>
            <p:cNvPr id="8" name="di0_bg"/>
            <p:cNvSpPr/>
            <p:nvPr/>
          </p:nvSpPr>
          <p:spPr>
            <a:xfrm>
              <a:off x="502920" y="3931920"/>
              <a:ext cx="5349240" cy="1517904"/>
            </a:xfrm>
            <a:prstGeom prst="roundRect">
              <a:avLst>
                <a:gd name="adj" fmla="val 8434"/>
              </a:avLst>
            </a:prstGeom>
            <a:solidFill>
              <a:srgbClr val="E8F6F5"/>
            </a:solidFill>
            <a:ln w="20320">
              <a:solidFill>
                <a:srgbClr val="2BA6A0"/>
              </a:solidFill>
              <a:prstDash val="solid"/>
            </a:ln>
          </p:spPr>
        </p:sp>
        <p:pic>
          <p:nvPicPr>
            <p:cNvPr id="9" name="di0_icon" descr="/home/claude/build/img_y7/ruler_support.png">    </p:cNvPr>
            <p:cNvPicPr>
              <a:picLocks noChangeAspect="1"/>
            </p:cNvPicPr>
            <p:nvPr/>
          </p:nvPicPr>
          <p:blipFill>
            <a:blip r:embed="rId2"/>
            <a:stretch>
              <a:fillRect/>
            </a:stretch>
          </p:blipFill>
          <p:spPr>
            <a:xfrm>
              <a:off x="740664" y="4133088"/>
              <a:ext cx="420624" cy="420624"/>
            </a:xfrm>
            <a:prstGeom prst="rect">
              <a:avLst/>
            </a:prstGeom>
          </p:spPr>
        </p:pic>
        <p:sp>
          <p:nvSpPr>
            <p:cNvPr id="10" name="di0_tag"/>
            <p:cNvSpPr txBox="1"/>
            <p:nvPr/>
          </p:nvSpPr>
          <p:spPr>
            <a:xfrm>
              <a:off x="1289304" y="4133088"/>
              <a:ext cx="2743200" cy="420624"/>
            </a:xfrm>
            <a:prstGeom prst="rect">
              <a:avLst/>
            </a:prstGeom>
            <a:noFill/>
            <a:ln/>
          </p:spPr>
          <p:txBody>
            <a:bodyPr wrap="square" lIns="0" tIns="0" rIns="0" bIns="0" rtlCol="0" anchor="ctr"/>
            <a:lstStyle/>
            <a:p>
              <a:pPr indent="0" marL="0">
                <a:buNone/>
              </a:pPr>
              <a:r>
                <a:rPr lang="en-US" sz="1250" b="1" spc="110" kern="0" dirty="0">
                  <a:solidFill>
                    <a:srgbClr val="2BA6A0"/>
                  </a:solidFill>
                  <a:latin typeface="Arial" pitchFamily="34" charset="0"/>
                  <a:ea typeface="Arial" pitchFamily="34" charset="-122"/>
                  <a:cs typeface="Arial" pitchFamily="34" charset="-120"/>
                </a:rPr>
                <a:t>THE LAW</a:t>
              </a:r>
              <a:endParaRPr lang="en-US" sz="1250" dirty="0"/>
            </a:p>
          </p:txBody>
        </p:sp>
        <p:sp>
          <p:nvSpPr>
            <p:cNvPr id="11" name="di0_b"/>
            <p:cNvSpPr txBox="1"/>
            <p:nvPr/>
          </p:nvSpPr>
          <p:spPr>
            <a:xfrm>
              <a:off x="740664" y="4645152"/>
              <a:ext cx="4873752" cy="713232"/>
            </a:xfrm>
            <a:prstGeom prst="rect">
              <a:avLst/>
            </a:prstGeom>
            <a:noFill/>
            <a:ln/>
          </p:spPr>
          <p:txBody>
            <a:bodyPr wrap="square" lIns="0" tIns="0" rIns="0" bIns="0" rtlCol="0" anchor="t"/>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Water boils at 100 °C at sea level, and lower as you go up. The law gives you the number for any height. It does not tell you why.</a:t>
              </a:r>
              <a:endParaRPr lang="en-US" sz="1200" dirty="0"/>
            </a:p>
          </p:txBody>
        </p:sp>
      </p:grpSp>
      <p:grpSp>
        <p:nvGrpSpPr>
          <p:cNvPr id="20" name="di1"/>
          <p:cNvGrpSpPr/>
          <p:nvPr/>
        </p:nvGrpSpPr>
        <p:grpSpPr>
          <a:xfrm>
            <a:off x="6217920" y="3931920"/>
            <a:ext cx="5349240" cy="1517904"/>
            <a:chOff x="6217920" y="3931920"/>
            <a:chExt cx="5349240" cy="1517904"/>
          </a:xfrm>
        </p:grpSpPr>
        <p:sp>
          <p:nvSpPr>
            <p:cNvPr id="12" name="di1_bg"/>
            <p:cNvSpPr/>
            <p:nvPr/>
          </p:nvSpPr>
          <p:spPr>
            <a:xfrm>
              <a:off x="6217920" y="3931920"/>
              <a:ext cx="5349240" cy="1517904"/>
            </a:xfrm>
            <a:prstGeom prst="roundRect">
              <a:avLst>
                <a:gd name="adj" fmla="val 8434"/>
              </a:avLst>
            </a:prstGeom>
            <a:solidFill>
              <a:srgbClr val="FDEEDC"/>
            </a:solidFill>
            <a:ln w="20320">
              <a:solidFill>
                <a:srgbClr val="F2A03D"/>
              </a:solidFill>
              <a:prstDash val="solid"/>
            </a:ln>
          </p:spPr>
        </p:sp>
        <p:pic>
          <p:nvPicPr>
            <p:cNvPr id="13" name="di1_icon" descr="/home/claude/build/img_y7/lightbulb_accent.png">    </p:cNvPr>
            <p:cNvPicPr>
              <a:picLocks noChangeAspect="1"/>
            </p:cNvPicPr>
            <p:nvPr/>
          </p:nvPicPr>
          <p:blipFill>
            <a:blip r:embed="rId3"/>
            <a:stretch>
              <a:fillRect/>
            </a:stretch>
          </p:blipFill>
          <p:spPr>
            <a:xfrm>
              <a:off x="6455664" y="4133088"/>
              <a:ext cx="420624" cy="420624"/>
            </a:xfrm>
            <a:prstGeom prst="rect">
              <a:avLst/>
            </a:prstGeom>
          </p:spPr>
        </p:pic>
        <p:sp>
          <p:nvSpPr>
            <p:cNvPr id="14" name="di1_tag"/>
            <p:cNvSpPr txBox="1"/>
            <p:nvPr/>
          </p:nvSpPr>
          <p:spPr>
            <a:xfrm>
              <a:off x="7004304" y="4133088"/>
              <a:ext cx="2743200" cy="420624"/>
            </a:xfrm>
            <a:prstGeom prst="rect">
              <a:avLst/>
            </a:prstGeom>
            <a:noFill/>
            <a:ln/>
          </p:spPr>
          <p:txBody>
            <a:bodyPr wrap="square" lIns="0" tIns="0" rIns="0" bIns="0" rtlCol="0" anchor="ctr"/>
            <a:lstStyle/>
            <a:p>
              <a:pPr indent="0" marL="0">
                <a:buNone/>
              </a:pPr>
              <a:r>
                <a:rPr lang="en-US" sz="1250" b="1" spc="110" kern="0" dirty="0">
                  <a:solidFill>
                    <a:srgbClr val="F2A03D"/>
                  </a:solidFill>
                  <a:latin typeface="Arial" pitchFamily="34" charset="0"/>
                  <a:ea typeface="Arial" pitchFamily="34" charset="-122"/>
                  <a:cs typeface="Arial" pitchFamily="34" charset="-120"/>
                </a:rPr>
                <a:t>THE THEORY</a:t>
              </a:r>
              <a:endParaRPr lang="en-US" sz="1250" dirty="0"/>
            </a:p>
          </p:txBody>
        </p:sp>
        <p:sp>
          <p:nvSpPr>
            <p:cNvPr id="15" name="di1_b"/>
            <p:cNvSpPr txBox="1"/>
            <p:nvPr/>
          </p:nvSpPr>
          <p:spPr>
            <a:xfrm>
              <a:off x="6455664" y="4645152"/>
              <a:ext cx="4873752" cy="713232"/>
            </a:xfrm>
            <a:prstGeom prst="rect">
              <a:avLst/>
            </a:prstGeom>
            <a:noFill/>
            <a:ln/>
          </p:spPr>
          <p:txBody>
            <a:bodyPr wrap="square" lIns="0" tIns="0" rIns="0" bIns="0" rtlCol="0" anchor="t"/>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Particle theory says why. Higher up there is less air pushing down, so particles need less energy to escape the liquid.</a:t>
              </a:r>
              <a:endParaRPr lang="en-US" sz="1200" dirty="0"/>
            </a:p>
          </p:txBody>
        </p:sp>
      </p:grpSp>
      <p:sp>
        <p:nvSpPr>
          <p:cNvPr id="16" name="di_close"/>
          <p:cNvSpPr txBox="1"/>
          <p:nvPr/>
        </p:nvSpPr>
        <p:spPr>
          <a:xfrm>
            <a:off x="502920" y="5596128"/>
            <a:ext cx="11185855" cy="365760"/>
          </a:xfrm>
          <a:prstGeom prst="rect">
            <a:avLst/>
          </a:prstGeom>
          <a:noFill/>
          <a:ln/>
        </p:spPr>
        <p:txBody>
          <a:bodyPr wrap="square" lIns="0" tIns="0" rIns="0" bIns="0" rtlCol="0" anchor="ctr"/>
          <a:lstStyle/>
          <a:p>
            <a:pPr algn="ctr" indent="0" marL="0">
              <a:buNone/>
            </a:pPr>
            <a:r>
              <a:rPr lang="en-US" sz="1350" b="1" dirty="0">
                <a:solidFill>
                  <a:srgbClr val="4A2C6F"/>
                </a:solidFill>
                <a:latin typeface="Arial" pitchFamily="34" charset="0"/>
                <a:ea typeface="Arial" pitchFamily="34" charset="-122"/>
                <a:cs typeface="Arial" pitchFamily="34" charset="-120"/>
              </a:rPr>
              <a:t>The law tells you the tea will be cooler. The theory tells you why, and works on a mountain nobody has measured yet.</a:t>
            </a:r>
            <a:endParaRPr lang="en-US" sz="1350" dirty="0"/>
          </a:p>
        </p:txBody>
      </p:sp>
      <p:sp>
        <p:nvSpPr>
          <p:cNvPr id="17" name="footer_note"/>
          <p:cNvSpPr txBox="1"/>
          <p:nvPr/>
        </p:nvSpPr>
        <p:spPr>
          <a:xfrm>
            <a:off x="502920" y="6382512"/>
            <a:ext cx="11185855" cy="292608"/>
          </a:xfrm>
          <a:prstGeom prst="rect">
            <a:avLst/>
          </a:prstGeom>
          <a:noFill/>
          <a:ln/>
        </p:spPr>
        <p:txBody>
          <a:bodyPr wrap="square" lIns="0" tIns="0" rIns="0" bIns="0" rtlCol="0" anchor="ctr"/>
          <a:lstStyle/>
          <a:p>
            <a:pPr algn="l" indent="0" marL="0">
              <a:buNone/>
            </a:pPr>
            <a:r>
              <a:rPr lang="en-US" sz="1050" i="1" dirty="0">
                <a:solidFill>
                  <a:srgbClr val="6A6180"/>
                </a:solidFill>
                <a:latin typeface="Arial" pitchFamily="34" charset="0"/>
                <a:ea typeface="Arial" pitchFamily="34" charset="-122"/>
                <a:cs typeface="Arial" pitchFamily="34" charset="-120"/>
              </a:rPr>
              <a:t>Doi Inthanon 2,565 m. Boiling point calculated from the pressure at that height: about 92 °C.</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8"/>
                                        </p:tgtEl>
                                        <p:attrNameLst>
                                          <p:attrName>style.visibility</p:attrName>
                                        </p:attrNameLst>
                                      </p:cBhvr>
                                      <p:to>
                                        <p:strVal val="visible"/>
                                      </p:to>
                                    </p:set>
                                    <p:animEffect transition="in" filter="fade">
                                      <p:cBhvr>
                                        <p:cTn id="4"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4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2432304"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YOU DO · 8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Your turn</a:t>
            </a:r>
            <a:endParaRPr lang="en-US" sz="3000" dirty="0"/>
          </a:p>
        </p:txBody>
      </p:sp>
      <p:sp>
        <p:nvSpPr>
          <p:cNvPr id="4" name="yd_intro"/>
          <p:cNvSpPr txBox="1"/>
          <p:nvPr/>
        </p:nvSpPr>
        <p:spPr>
          <a:xfrm>
            <a:off x="502920" y="1554480"/>
            <a:ext cx="10058400" cy="310896"/>
          </a:xfrm>
          <a:prstGeom prst="rect">
            <a:avLst/>
          </a:prstGeom>
          <a:noFill/>
          <a:ln/>
        </p:spPr>
        <p:txBody>
          <a:bodyPr wrap="square" lIns="0" tIns="0" rIns="0" bIns="0" rtlCol="0" anchor="ctr"/>
          <a:lstStyle/>
          <a:p>
            <a:pPr indent="0" marL="0">
              <a:buNone/>
            </a:pPr>
            <a:r>
              <a:rPr lang="en-US" sz="1300" dirty="0">
                <a:solidFill>
                  <a:srgbClr val="6A6180"/>
                </a:solidFill>
                <a:latin typeface="Arial" pitchFamily="34" charset="0"/>
                <a:ea typeface="Arial" pitchFamily="34" charset="-122"/>
                <a:cs typeface="Arial" pitchFamily="34" charset="-120"/>
              </a:rPr>
              <a:t>Worksheet, sections A to C. Start where you like.</a:t>
            </a:r>
            <a:endParaRPr lang="en-US" sz="1300" dirty="0"/>
          </a:p>
        </p:txBody>
      </p:sp>
      <p:sp>
        <p:nvSpPr>
          <p:cNvPr id="5" name="t0_bg"/>
          <p:cNvSpPr/>
          <p:nvPr/>
        </p:nvSpPr>
        <p:spPr>
          <a:xfrm>
            <a:off x="502920" y="2194560"/>
            <a:ext cx="3545738" cy="1645920"/>
          </a:xfrm>
          <a:prstGeom prst="roundRect">
            <a:avLst>
              <a:gd name="adj" fmla="val 7778"/>
            </a:avLst>
          </a:prstGeom>
          <a:solidFill>
            <a:srgbClr val="FCEDF0"/>
          </a:solidFill>
          <a:ln w="15875">
            <a:solidFill>
              <a:srgbClr val="D94F6A"/>
            </a:solidFill>
            <a:prstDash val="solid"/>
          </a:ln>
        </p:spPr>
      </p:sp>
      <p:sp>
        <p:nvSpPr>
          <p:cNvPr id="6" name="t0_h"/>
          <p:cNvSpPr txBox="1"/>
          <p:nvPr/>
        </p:nvSpPr>
        <p:spPr>
          <a:xfrm>
            <a:off x="722376" y="2340864"/>
            <a:ext cx="3106826" cy="329184"/>
          </a:xfrm>
          <a:prstGeom prst="rect">
            <a:avLst/>
          </a:prstGeom>
          <a:noFill/>
          <a:ln/>
        </p:spPr>
        <p:txBody>
          <a:bodyPr wrap="square" lIns="0" tIns="0" rIns="0" bIns="0" rtlCol="0" anchor="ctr"/>
          <a:lstStyle/>
          <a:p>
            <a:pPr indent="0" marL="0">
              <a:buNone/>
            </a:pPr>
            <a:r>
              <a:rPr lang="en-US" sz="1600" b="1" spc="120" kern="0" dirty="0">
                <a:solidFill>
                  <a:srgbClr val="D94F6A"/>
                </a:solidFill>
                <a:latin typeface="Arial" pitchFamily="34" charset="0"/>
                <a:ea typeface="Arial" pitchFamily="34" charset="-122"/>
                <a:cs typeface="Arial" pitchFamily="34" charset="-120"/>
              </a:rPr>
              <a:t>BRONZE</a:t>
            </a:r>
            <a:endParaRPr lang="en-US" sz="1600" dirty="0"/>
          </a:p>
        </p:txBody>
      </p:sp>
      <p:sp>
        <p:nvSpPr>
          <p:cNvPr id="7" name="t0_s"/>
          <p:cNvSpPr txBox="1"/>
          <p:nvPr/>
        </p:nvSpPr>
        <p:spPr>
          <a:xfrm>
            <a:off x="722376" y="2688336"/>
            <a:ext cx="3106826" cy="274320"/>
          </a:xfrm>
          <a:prstGeom prst="rect">
            <a:avLst/>
          </a:prstGeom>
          <a:noFill/>
          <a:ln/>
        </p:spPr>
        <p:txBody>
          <a:bodyPr wrap="square" lIns="0" tIns="0" rIns="0" bIns="0" rtlCol="0" anchor="ctr"/>
          <a:lstStyle/>
          <a:p>
            <a:pPr indent="0" marL="0">
              <a:buNone/>
            </a:pPr>
            <a:r>
              <a:rPr lang="en-US" sz="1250" b="1" dirty="0">
                <a:solidFill>
                  <a:srgbClr val="241535"/>
                </a:solidFill>
                <a:latin typeface="Arial" pitchFamily="34" charset="0"/>
                <a:ea typeface="Arial" pitchFamily="34" charset="-122"/>
                <a:cs typeface="Arial" pitchFamily="34" charset="-120"/>
              </a:rPr>
              <a:t>Fluency</a:t>
            </a:r>
            <a:endParaRPr lang="en-US" sz="1250" dirty="0"/>
          </a:p>
        </p:txBody>
      </p:sp>
      <p:sp>
        <p:nvSpPr>
          <p:cNvPr id="8" name="t0_b"/>
          <p:cNvSpPr txBox="1"/>
          <p:nvPr/>
        </p:nvSpPr>
        <p:spPr>
          <a:xfrm>
            <a:off x="722376" y="2980944"/>
            <a:ext cx="3106826" cy="694944"/>
          </a:xfrm>
          <a:prstGeom prst="rect">
            <a:avLst/>
          </a:prstGeom>
          <a:noFill/>
          <a:ln/>
        </p:spPr>
        <p:txBody>
          <a:bodyPr wrap="square" lIns="0" tIns="0" rIns="0" bIns="0" rtlCol="0" anchor="t"/>
          <a:lstStyle/>
          <a:p>
            <a:pPr indent="0" marL="0">
              <a:lnSpc>
                <a:spcPts val="1600"/>
              </a:lnSpc>
              <a:buNone/>
            </a:pPr>
            <a:r>
              <a:rPr lang="en-US" sz="1200" dirty="0">
                <a:solidFill>
                  <a:srgbClr val="6A6180"/>
                </a:solidFill>
                <a:latin typeface="Arial" pitchFamily="34" charset="0"/>
                <a:ea typeface="Arial" pitchFamily="34" charset="-122"/>
                <a:cs typeface="Arial" pitchFamily="34" charset="-120"/>
              </a:rPr>
              <a:t>Definitions and sorting.</a:t>
            </a:r>
            <a:endParaRPr lang="en-US" sz="1200" dirty="0"/>
          </a:p>
        </p:txBody>
      </p:sp>
      <p:sp>
        <p:nvSpPr>
          <p:cNvPr id="9" name="t1_bg"/>
          <p:cNvSpPr/>
          <p:nvPr/>
        </p:nvSpPr>
        <p:spPr>
          <a:xfrm>
            <a:off x="4322978" y="2194560"/>
            <a:ext cx="3545738" cy="1645920"/>
          </a:xfrm>
          <a:prstGeom prst="roundRect">
            <a:avLst>
              <a:gd name="adj" fmla="val 7778"/>
            </a:avLst>
          </a:prstGeom>
          <a:solidFill>
            <a:srgbClr val="F3F1F6"/>
          </a:solidFill>
          <a:ln w="15875">
            <a:solidFill>
              <a:srgbClr val="6A6180"/>
            </a:solidFill>
            <a:prstDash val="solid"/>
          </a:ln>
        </p:spPr>
      </p:sp>
      <p:sp>
        <p:nvSpPr>
          <p:cNvPr id="10" name="t1_h"/>
          <p:cNvSpPr txBox="1"/>
          <p:nvPr/>
        </p:nvSpPr>
        <p:spPr>
          <a:xfrm>
            <a:off x="4542434" y="2340864"/>
            <a:ext cx="3106826" cy="329184"/>
          </a:xfrm>
          <a:prstGeom prst="rect">
            <a:avLst/>
          </a:prstGeom>
          <a:noFill/>
          <a:ln/>
        </p:spPr>
        <p:txBody>
          <a:bodyPr wrap="square" lIns="0" tIns="0" rIns="0" bIns="0" rtlCol="0" anchor="ctr"/>
          <a:lstStyle/>
          <a:p>
            <a:pPr indent="0" marL="0">
              <a:buNone/>
            </a:pPr>
            <a:r>
              <a:rPr lang="en-US" sz="1600" b="1" spc="120" kern="0" dirty="0">
                <a:solidFill>
                  <a:srgbClr val="6A6180"/>
                </a:solidFill>
                <a:latin typeface="Arial" pitchFamily="34" charset="0"/>
                <a:ea typeface="Arial" pitchFamily="34" charset="-122"/>
                <a:cs typeface="Arial" pitchFamily="34" charset="-120"/>
              </a:rPr>
              <a:t>SILVER</a:t>
            </a:r>
            <a:endParaRPr lang="en-US" sz="1600" dirty="0"/>
          </a:p>
        </p:txBody>
      </p:sp>
      <p:sp>
        <p:nvSpPr>
          <p:cNvPr id="11" name="t1_s"/>
          <p:cNvSpPr txBox="1"/>
          <p:nvPr/>
        </p:nvSpPr>
        <p:spPr>
          <a:xfrm>
            <a:off x="4542434" y="2688336"/>
            <a:ext cx="3106826" cy="274320"/>
          </a:xfrm>
          <a:prstGeom prst="rect">
            <a:avLst/>
          </a:prstGeom>
          <a:noFill/>
          <a:ln/>
        </p:spPr>
        <p:txBody>
          <a:bodyPr wrap="square" lIns="0" tIns="0" rIns="0" bIns="0" rtlCol="0" anchor="ctr"/>
          <a:lstStyle/>
          <a:p>
            <a:pPr indent="0" marL="0">
              <a:buNone/>
            </a:pPr>
            <a:r>
              <a:rPr lang="en-US" sz="1250" b="1" dirty="0">
                <a:solidFill>
                  <a:srgbClr val="241535"/>
                </a:solidFill>
                <a:latin typeface="Arial" pitchFamily="34" charset="0"/>
                <a:ea typeface="Arial" pitchFamily="34" charset="-122"/>
                <a:cs typeface="Arial" pitchFamily="34" charset="-120"/>
              </a:rPr>
              <a:t>Mixed practice</a:t>
            </a:r>
            <a:endParaRPr lang="en-US" sz="1250" dirty="0"/>
          </a:p>
        </p:txBody>
      </p:sp>
      <p:sp>
        <p:nvSpPr>
          <p:cNvPr id="12" name="t1_b"/>
          <p:cNvSpPr txBox="1"/>
          <p:nvPr/>
        </p:nvSpPr>
        <p:spPr>
          <a:xfrm>
            <a:off x="4542434" y="2980944"/>
            <a:ext cx="3106826" cy="694944"/>
          </a:xfrm>
          <a:prstGeom prst="rect">
            <a:avLst/>
          </a:prstGeom>
          <a:noFill/>
          <a:ln/>
        </p:spPr>
        <p:txBody>
          <a:bodyPr wrap="square" lIns="0" tIns="0" rIns="0" bIns="0" rtlCol="0" anchor="t"/>
          <a:lstStyle/>
          <a:p>
            <a:pPr indent="0" marL="0">
              <a:lnSpc>
                <a:spcPts val="1600"/>
              </a:lnSpc>
              <a:buNone/>
            </a:pPr>
            <a:r>
              <a:rPr lang="en-US" sz="1200" dirty="0">
                <a:solidFill>
                  <a:srgbClr val="6A6180"/>
                </a:solidFill>
                <a:latin typeface="Arial" pitchFamily="34" charset="0"/>
                <a:ea typeface="Arial" pitchFamily="34" charset="-122"/>
                <a:cs typeface="Arial" pitchFamily="34" charset="-120"/>
              </a:rPr>
              <a:t>Sort harder ones and say why.</a:t>
            </a:r>
            <a:endParaRPr lang="en-US" sz="1200" dirty="0"/>
          </a:p>
        </p:txBody>
      </p:sp>
      <p:sp>
        <p:nvSpPr>
          <p:cNvPr id="13" name="t2_bg"/>
          <p:cNvSpPr/>
          <p:nvPr/>
        </p:nvSpPr>
        <p:spPr>
          <a:xfrm>
            <a:off x="8143037" y="2194560"/>
            <a:ext cx="3545738" cy="1645920"/>
          </a:xfrm>
          <a:prstGeom prst="roundRect">
            <a:avLst>
              <a:gd name="adj" fmla="val 7778"/>
            </a:avLst>
          </a:prstGeom>
          <a:solidFill>
            <a:srgbClr val="FDEEDC"/>
          </a:solidFill>
          <a:ln w="15875">
            <a:solidFill>
              <a:srgbClr val="F2A03D"/>
            </a:solidFill>
            <a:prstDash val="solid"/>
          </a:ln>
        </p:spPr>
      </p:sp>
      <p:sp>
        <p:nvSpPr>
          <p:cNvPr id="14" name="t2_h"/>
          <p:cNvSpPr txBox="1"/>
          <p:nvPr/>
        </p:nvSpPr>
        <p:spPr>
          <a:xfrm>
            <a:off x="8362493" y="2340864"/>
            <a:ext cx="3106826" cy="329184"/>
          </a:xfrm>
          <a:prstGeom prst="rect">
            <a:avLst/>
          </a:prstGeom>
          <a:noFill/>
          <a:ln/>
        </p:spPr>
        <p:txBody>
          <a:bodyPr wrap="square" lIns="0" tIns="0" rIns="0" bIns="0" rtlCol="0" anchor="ctr"/>
          <a:lstStyle/>
          <a:p>
            <a:pPr indent="0" marL="0">
              <a:buNone/>
            </a:pPr>
            <a:r>
              <a:rPr lang="en-US" sz="1600" b="1" spc="120" kern="0" dirty="0">
                <a:solidFill>
                  <a:srgbClr val="F2A03D"/>
                </a:solidFill>
                <a:latin typeface="Arial" pitchFamily="34" charset="0"/>
                <a:ea typeface="Arial" pitchFamily="34" charset="-122"/>
                <a:cs typeface="Arial" pitchFamily="34" charset="-120"/>
              </a:rPr>
              <a:t>GOLD</a:t>
            </a:r>
            <a:endParaRPr lang="en-US" sz="1600" dirty="0"/>
          </a:p>
        </p:txBody>
      </p:sp>
      <p:sp>
        <p:nvSpPr>
          <p:cNvPr id="15" name="t2_s"/>
          <p:cNvSpPr txBox="1"/>
          <p:nvPr/>
        </p:nvSpPr>
        <p:spPr>
          <a:xfrm>
            <a:off x="8362493" y="2688336"/>
            <a:ext cx="3106826" cy="274320"/>
          </a:xfrm>
          <a:prstGeom prst="rect">
            <a:avLst/>
          </a:prstGeom>
          <a:noFill/>
          <a:ln/>
        </p:spPr>
        <p:txBody>
          <a:bodyPr wrap="square" lIns="0" tIns="0" rIns="0" bIns="0" rtlCol="0" anchor="ctr"/>
          <a:lstStyle/>
          <a:p>
            <a:pPr indent="0" marL="0">
              <a:buNone/>
            </a:pPr>
            <a:r>
              <a:rPr lang="en-US" sz="1250" b="1" dirty="0">
                <a:solidFill>
                  <a:srgbClr val="241535"/>
                </a:solidFill>
                <a:latin typeface="Arial" pitchFamily="34" charset="0"/>
                <a:ea typeface="Arial" pitchFamily="34" charset="-122"/>
                <a:cs typeface="Arial" pitchFamily="34" charset="-120"/>
              </a:rPr>
              <a:t>Reasoning</a:t>
            </a:r>
            <a:endParaRPr lang="en-US" sz="1250" dirty="0"/>
          </a:p>
        </p:txBody>
      </p:sp>
      <p:sp>
        <p:nvSpPr>
          <p:cNvPr id="16" name="t2_b"/>
          <p:cNvSpPr txBox="1"/>
          <p:nvPr/>
        </p:nvSpPr>
        <p:spPr>
          <a:xfrm>
            <a:off x="8362493" y="2980944"/>
            <a:ext cx="3106826" cy="694944"/>
          </a:xfrm>
          <a:prstGeom prst="rect">
            <a:avLst/>
          </a:prstGeom>
          <a:noFill/>
          <a:ln/>
        </p:spPr>
        <p:txBody>
          <a:bodyPr wrap="square" lIns="0" tIns="0" rIns="0" bIns="0" rtlCol="0" anchor="t"/>
          <a:lstStyle/>
          <a:p>
            <a:pPr indent="0" marL="0">
              <a:lnSpc>
                <a:spcPts val="1600"/>
              </a:lnSpc>
              <a:buNone/>
            </a:pPr>
            <a:r>
              <a:rPr lang="en-US" sz="1200" dirty="0">
                <a:solidFill>
                  <a:srgbClr val="6A6180"/>
                </a:solidFill>
                <a:latin typeface="Arial" pitchFamily="34" charset="0"/>
                <a:ea typeface="Arial" pitchFamily="34" charset="-122"/>
                <a:cs typeface="Arial" pitchFamily="34" charset="-120"/>
              </a:rPr>
              <a:t>Explain in full sentences. This is essay practice.</a:t>
            </a:r>
            <a:endParaRPr lang="en-US" sz="1200" dirty="0"/>
          </a:p>
        </p:txBody>
      </p:sp>
      <p:sp>
        <p:nvSpPr>
          <p:cNvPr id="17" name="gem_bg"/>
          <p:cNvSpPr/>
          <p:nvPr/>
        </p:nvSpPr>
        <p:spPr>
          <a:xfrm>
            <a:off x="502920" y="4114800"/>
            <a:ext cx="11185855" cy="1133856"/>
          </a:xfrm>
          <a:prstGeom prst="roundRect">
            <a:avLst>
              <a:gd name="adj" fmla="val 11290"/>
            </a:avLst>
          </a:prstGeom>
          <a:solidFill>
            <a:srgbClr val="E8F6F5"/>
          </a:solidFill>
          <a:ln w="15875">
            <a:solidFill>
              <a:srgbClr val="2BA6A0"/>
            </a:solidFill>
            <a:prstDash val="solid"/>
          </a:ln>
        </p:spPr>
      </p:sp>
      <p:sp>
        <p:nvSpPr>
          <p:cNvPr id="18" name="gem_h"/>
          <p:cNvSpPr txBox="1"/>
          <p:nvPr/>
        </p:nvSpPr>
        <p:spPr>
          <a:xfrm>
            <a:off x="758952" y="4242816"/>
            <a:ext cx="8229600" cy="292608"/>
          </a:xfrm>
          <a:prstGeom prst="rect">
            <a:avLst/>
          </a:prstGeom>
          <a:noFill/>
          <a:ln/>
        </p:spPr>
        <p:txBody>
          <a:bodyPr wrap="square" lIns="0" tIns="0" rIns="0" bIns="0" rtlCol="0" anchor="ctr"/>
          <a:lstStyle/>
          <a:p>
            <a:pPr indent="0" marL="0">
              <a:buNone/>
            </a:pPr>
            <a:r>
              <a:rPr lang="en-US" sz="1350" b="1" dirty="0">
                <a:solidFill>
                  <a:srgbClr val="4A2C6F"/>
                </a:solidFill>
                <a:latin typeface="Arial" pitchFamily="34" charset="0"/>
                <a:ea typeface="Arial" pitchFamily="34" charset="-122"/>
                <a:cs typeface="Arial" pitchFamily="34" charset="-120"/>
              </a:rPr>
              <a:t>Finished early? Use Gemini properly.</a:t>
            </a:r>
            <a:endParaRPr lang="en-US" sz="1350" dirty="0"/>
          </a:p>
        </p:txBody>
      </p:sp>
      <p:sp>
        <p:nvSpPr>
          <p:cNvPr id="19" name="gem_t"/>
          <p:cNvSpPr txBox="1"/>
          <p:nvPr/>
        </p:nvSpPr>
        <p:spPr>
          <a:xfrm>
            <a:off x="758952" y="4553712"/>
            <a:ext cx="10673791" cy="621792"/>
          </a:xfrm>
          <a:prstGeom prst="rect">
            <a:avLst/>
          </a:prstGeom>
          <a:noFill/>
          <a:ln/>
        </p:spPr>
        <p:txBody>
          <a:bodyPr wrap="square" lIns="0" tIns="0" rIns="0" bIns="0" rtlCol="0" anchor="t"/>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Three prompts on the last page of your worksheet. They quiz you, check your sorting, and mark your Gold answer. None of them writes an answer for you, and I can tell. Check what it says against your notes.</a:t>
            </a:r>
            <a:endParaRPr lang="en-US" sz="1200" dirty="0"/>
          </a:p>
        </p:txBody>
      </p:sp>
      <p:sp>
        <p:nvSpPr>
          <p:cNvPr id="20" name="yd_rag"/>
          <p:cNvSpPr txBox="1"/>
          <p:nvPr/>
        </p:nvSpPr>
        <p:spPr>
          <a:xfrm>
            <a:off x="502920" y="6291072"/>
            <a:ext cx="11185855" cy="310896"/>
          </a:xfrm>
          <a:prstGeom prst="rect">
            <a:avLst/>
          </a:prstGeom>
          <a:noFill/>
          <a:ln/>
        </p:spPr>
        <p:txBody>
          <a:bodyPr wrap="square" lIns="0" tIns="0" rIns="0" bIns="0" rtlCol="0" anchor="ctr"/>
          <a:lstStyle/>
          <a:p>
            <a:pPr indent="0" marL="0">
              <a:buNone/>
            </a:pPr>
            <a:r>
              <a:rPr lang="en-US" sz="1200" b="1" dirty="0">
                <a:solidFill>
                  <a:srgbClr val="D94F6A"/>
                </a:solidFill>
                <a:latin typeface="Arial" pitchFamily="34" charset="0"/>
                <a:ea typeface="Arial" pitchFamily="34" charset="-122"/>
                <a:cs typeface="Arial" pitchFamily="34" charset="-120"/>
              </a:rPr>
              <a:t>RAG grid, front page — fill in the "end of lesson" column before you pack away.</a:t>
            </a:r>
            <a:endParaRPr lang="en-US" sz="12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A2C6F"/>
        </a:solidFill>
      </p:bgPr>
    </p:bg>
    <p:spTree>
      <p:nvGrpSpPr>
        <p:cNvPr id="1" name=""/>
        <p:cNvGrpSpPr/>
        <p:nvPr/>
      </p:nvGrpSpPr>
      <p:grpSpPr>
        <a:xfrm>
          <a:off x="0" y="0"/>
          <a:ext cx="0" cy="0"/>
          <a:chOff x="0" y="0"/>
          <a:chExt cx="0" cy="0"/>
        </a:xfrm>
      </p:grpSpPr>
      <p:sp>
        <p:nvSpPr>
          <p:cNvPr id="2" name="phase_pill"/>
          <p:cNvSpPr/>
          <p:nvPr/>
        </p:nvSpPr>
        <p:spPr>
          <a:xfrm>
            <a:off x="502920" y="274320"/>
            <a:ext cx="2578608" cy="347472"/>
          </a:xfrm>
          <a:prstGeom prst="roundRect">
            <a:avLst>
              <a:gd name="adj" fmla="val 50000"/>
            </a:avLst>
          </a:prstGeom>
          <a:solidFill>
            <a:srgbClr val="F2A03D"/>
          </a:solidFill>
          <a:ln/>
        </p:spPr>
        <p:txBody>
          <a:bodyPr wrap="square" lIns="0" tIns="0" rIns="0" bIns="0" rtlCol="0" anchor="ctr"/>
          <a:lstStyle/>
          <a:p>
            <a:pPr algn="ctr" indent="0" marL="0">
              <a:buNone/>
            </a:pPr>
            <a:r>
              <a:rPr lang="en-US" sz="1100" b="1" spc="110" kern="0" dirty="0">
                <a:solidFill>
                  <a:srgbClr val="4A2C6F"/>
                </a:solidFill>
                <a:latin typeface="Arial" pitchFamily="34" charset="0"/>
                <a:ea typeface="Arial" pitchFamily="34" charset="-122"/>
                <a:cs typeface="Arial" pitchFamily="34" charset="-120"/>
              </a:rPr>
              <a:t>PLENARY · 3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F7F4FB"/>
                </a:solidFill>
                <a:latin typeface="Georgia" pitchFamily="34" charset="0"/>
                <a:ea typeface="Georgia" pitchFamily="34" charset="-122"/>
                <a:cs typeface="Georgia" pitchFamily="34" charset="-120"/>
              </a:rPr>
              <a:t>True or false?</a:t>
            </a:r>
            <a:endParaRPr lang="en-US" sz="3000" dirty="0"/>
          </a:p>
        </p:txBody>
      </p:sp>
      <p:sp>
        <p:nvSpPr>
          <p:cNvPr id="4" name="pl_intro"/>
          <p:cNvSpPr txBox="1"/>
          <p:nvPr/>
        </p:nvSpPr>
        <p:spPr>
          <a:xfrm>
            <a:off x="502920" y="1554480"/>
            <a:ext cx="7315200" cy="310896"/>
          </a:xfrm>
          <a:prstGeom prst="rect">
            <a:avLst/>
          </a:prstGeom>
          <a:noFill/>
          <a:ln/>
        </p:spPr>
        <p:txBody>
          <a:bodyPr wrap="square" lIns="0" tIns="0" rIns="0" bIns="0" rtlCol="0" anchor="ctr"/>
          <a:lstStyle/>
          <a:p>
            <a:pPr indent="0" marL="0">
              <a:buNone/>
            </a:pPr>
            <a:r>
              <a:rPr lang="en-US" sz="1300" dirty="0">
                <a:solidFill>
                  <a:srgbClr val="E3DAF0"/>
                </a:solidFill>
                <a:latin typeface="Arial" pitchFamily="34" charset="0"/>
                <a:ea typeface="Arial" pitchFamily="34" charset="-122"/>
                <a:cs typeface="Arial" pitchFamily="34" charset="-120"/>
              </a:rPr>
              <a:t>Stand up for TRUE. Stay sitting for FALSE.</a:t>
            </a:r>
            <a:endParaRPr lang="en-US" sz="1300" dirty="0"/>
          </a:p>
        </p:txBody>
      </p:sp>
      <p:pic>
        <p:nvPicPr>
          <p:cNvPr id="5" name="pl_ruler" descr="/home/claude/build/img_y7/ruler_tint.png">    </p:cNvPr>
          <p:cNvPicPr>
            <a:picLocks noChangeAspect="1"/>
          </p:cNvPicPr>
          <p:nvPr/>
        </p:nvPicPr>
        <p:blipFill>
          <a:blip r:embed="rId1"/>
          <a:stretch>
            <a:fillRect/>
          </a:stretch>
        </p:blipFill>
        <p:spPr>
          <a:xfrm>
            <a:off x="10332720" y="804672"/>
            <a:ext cx="475488" cy="475488"/>
          </a:xfrm>
          <a:prstGeom prst="rect">
            <a:avLst/>
          </a:prstGeom>
        </p:spPr>
      </p:pic>
      <p:pic>
        <p:nvPicPr>
          <p:cNvPr id="6" name="pl_bulb" descr="/home/claude/build/img_y7/lightbulb_accent.png">    </p:cNvPr>
          <p:cNvPicPr>
            <a:picLocks noChangeAspect="1"/>
          </p:cNvPicPr>
          <p:nvPr/>
        </p:nvPicPr>
        <p:blipFill>
          <a:blip r:embed="rId2"/>
          <a:stretch>
            <a:fillRect/>
          </a:stretch>
        </p:blipFill>
        <p:spPr>
          <a:xfrm>
            <a:off x="11119104" y="804672"/>
            <a:ext cx="475488" cy="475488"/>
          </a:xfrm>
          <a:prstGeom prst="rect">
            <a:avLst/>
          </a:prstGeom>
        </p:spPr>
      </p:pic>
      <p:grpSp>
        <p:nvGrpSpPr>
          <p:cNvPr id="28" name="pq0_stmt"/>
          <p:cNvGrpSpPr/>
          <p:nvPr/>
        </p:nvGrpSpPr>
        <p:grpSpPr>
          <a:xfrm>
            <a:off x="502920" y="2304288"/>
            <a:ext cx="6309360" cy="566928"/>
            <a:chOff x="502920" y="2304288"/>
            <a:chExt cx="6309360" cy="566928"/>
          </a:xfrm>
        </p:grpSpPr>
        <p:sp>
          <p:nvSpPr>
            <p:cNvPr id="7" name="pq0_bg"/>
            <p:cNvSpPr/>
            <p:nvPr/>
          </p:nvSpPr>
          <p:spPr>
            <a:xfrm>
              <a:off x="502920" y="2304288"/>
              <a:ext cx="6309360" cy="566928"/>
            </a:xfrm>
            <a:prstGeom prst="roundRect">
              <a:avLst>
                <a:gd name="adj" fmla="val 16129"/>
              </a:avLst>
            </a:prstGeom>
            <a:solidFill>
              <a:srgbClr val="5C3A85"/>
            </a:solidFill>
            <a:ln w="12700">
              <a:solidFill>
                <a:srgbClr val="6B4E96"/>
              </a:solidFill>
              <a:prstDash val="solid"/>
            </a:ln>
          </p:spPr>
        </p:sp>
        <p:sp>
          <p:nvSpPr>
            <p:cNvPr id="8" name="pq0_q"/>
            <p:cNvSpPr txBox="1"/>
            <p:nvPr/>
          </p:nvSpPr>
          <p:spPr>
            <a:xfrm>
              <a:off x="704088" y="2304288"/>
              <a:ext cx="5943600" cy="566928"/>
            </a:xfrm>
            <a:prstGeom prst="rect">
              <a:avLst/>
            </a:prstGeom>
            <a:noFill/>
            <a:ln/>
          </p:spPr>
          <p:txBody>
            <a:bodyPr wrap="square" lIns="0" tIns="0" rIns="0" bIns="0" rtlCol="0" anchor="ctr"/>
            <a:lstStyle/>
            <a:p>
              <a:pPr indent="0" marL="0">
                <a:buNone/>
              </a:pPr>
              <a:r>
                <a:rPr lang="en-US" sz="1250" dirty="0">
                  <a:solidFill>
                    <a:srgbClr val="F7F4FB"/>
                  </a:solidFill>
                  <a:latin typeface="Arial" pitchFamily="34" charset="0"/>
                  <a:ea typeface="Arial" pitchFamily="34" charset="-122"/>
                  <a:cs typeface="Arial" pitchFamily="34" charset="-120"/>
                </a:rPr>
                <a:t>1. A theory is a scientific guess.</a:t>
              </a:r>
              <a:endParaRPr lang="en-US" sz="1250" dirty="0"/>
            </a:p>
          </p:txBody>
        </p:sp>
      </p:grpSp>
      <p:sp>
        <p:nvSpPr>
          <p:cNvPr id="9" name="pq0_v"/>
          <p:cNvSpPr txBox="1"/>
          <p:nvPr/>
        </p:nvSpPr>
        <p:spPr>
          <a:xfrm>
            <a:off x="7040880" y="2304288"/>
            <a:ext cx="868680" cy="566928"/>
          </a:xfrm>
          <a:prstGeom prst="rect">
            <a:avLst/>
          </a:prstGeom>
          <a:noFill/>
          <a:ln/>
        </p:spPr>
        <p:txBody>
          <a:bodyPr wrap="square" lIns="0" tIns="0" rIns="0" bIns="0" rtlCol="0" anchor="ctr"/>
          <a:lstStyle/>
          <a:p>
            <a:pPr indent="0" marL="0">
              <a:buNone/>
            </a:pPr>
            <a:r>
              <a:rPr lang="en-US" sz="1250" b="1" spc="80" kern="0" dirty="0">
                <a:solidFill>
                  <a:srgbClr val="F2A03D"/>
                </a:solidFill>
                <a:latin typeface="Arial" pitchFamily="34" charset="0"/>
                <a:ea typeface="Arial" pitchFamily="34" charset="-122"/>
                <a:cs typeface="Arial" pitchFamily="34" charset="-120"/>
              </a:rPr>
              <a:t>FALSE</a:t>
            </a:r>
            <a:endParaRPr lang="en-US" sz="1250" dirty="0"/>
          </a:p>
        </p:txBody>
      </p:sp>
      <p:sp>
        <p:nvSpPr>
          <p:cNvPr id="10" name="pq0_w"/>
          <p:cNvSpPr txBox="1"/>
          <p:nvPr/>
        </p:nvSpPr>
        <p:spPr>
          <a:xfrm>
            <a:off x="7955280" y="2304288"/>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E3DAF0"/>
                </a:solidFill>
                <a:latin typeface="Arial" pitchFamily="34" charset="0"/>
                <a:ea typeface="Arial" pitchFamily="34" charset="-122"/>
                <a:cs typeface="Arial" pitchFamily="34" charset="-120"/>
              </a:rPr>
              <a:t>It is the best-evidenced kind of idea there is.</a:t>
            </a:r>
            <a:endParaRPr lang="en-US" sz="1050" dirty="0"/>
          </a:p>
        </p:txBody>
      </p:sp>
      <p:grpSp>
        <p:nvGrpSpPr>
          <p:cNvPr id="29" name="pq1_stmt"/>
          <p:cNvGrpSpPr/>
          <p:nvPr/>
        </p:nvGrpSpPr>
        <p:grpSpPr>
          <a:xfrm>
            <a:off x="502920" y="3017520"/>
            <a:ext cx="6309360" cy="566928"/>
            <a:chOff x="502920" y="3017520"/>
            <a:chExt cx="6309360" cy="566928"/>
          </a:xfrm>
        </p:grpSpPr>
        <p:sp>
          <p:nvSpPr>
            <p:cNvPr id="11" name="pq1_bg"/>
            <p:cNvSpPr/>
            <p:nvPr/>
          </p:nvSpPr>
          <p:spPr>
            <a:xfrm>
              <a:off x="502920" y="3017520"/>
              <a:ext cx="6309360" cy="566928"/>
            </a:xfrm>
            <a:prstGeom prst="roundRect">
              <a:avLst>
                <a:gd name="adj" fmla="val 16129"/>
              </a:avLst>
            </a:prstGeom>
            <a:solidFill>
              <a:srgbClr val="5C3A85"/>
            </a:solidFill>
            <a:ln w="12700">
              <a:solidFill>
                <a:srgbClr val="6B4E96"/>
              </a:solidFill>
              <a:prstDash val="solid"/>
            </a:ln>
          </p:spPr>
        </p:sp>
        <p:sp>
          <p:nvSpPr>
            <p:cNvPr id="12" name="pq1_q"/>
            <p:cNvSpPr txBox="1"/>
            <p:nvPr/>
          </p:nvSpPr>
          <p:spPr>
            <a:xfrm>
              <a:off x="704088" y="3017520"/>
              <a:ext cx="5943600" cy="566928"/>
            </a:xfrm>
            <a:prstGeom prst="rect">
              <a:avLst/>
            </a:prstGeom>
            <a:noFill/>
            <a:ln/>
          </p:spPr>
          <p:txBody>
            <a:bodyPr wrap="square" lIns="0" tIns="0" rIns="0" bIns="0" rtlCol="0" anchor="ctr"/>
            <a:lstStyle/>
            <a:p>
              <a:pPr indent="0" marL="0">
                <a:buNone/>
              </a:pPr>
              <a:r>
                <a:rPr lang="en-US" sz="1250" dirty="0">
                  <a:solidFill>
                    <a:srgbClr val="F7F4FB"/>
                  </a:solidFill>
                  <a:latin typeface="Arial" pitchFamily="34" charset="0"/>
                  <a:ea typeface="Arial" pitchFamily="34" charset="-122"/>
                  <a:cs typeface="Arial" pitchFamily="34" charset="-120"/>
                </a:rPr>
                <a:t>2. A law tells you what happens, not why.</a:t>
              </a:r>
              <a:endParaRPr lang="en-US" sz="1250" dirty="0"/>
            </a:p>
          </p:txBody>
        </p:sp>
      </p:grpSp>
      <p:sp>
        <p:nvSpPr>
          <p:cNvPr id="13" name="pq1_v"/>
          <p:cNvSpPr txBox="1"/>
          <p:nvPr/>
        </p:nvSpPr>
        <p:spPr>
          <a:xfrm>
            <a:off x="7040880" y="3017520"/>
            <a:ext cx="868680" cy="566928"/>
          </a:xfrm>
          <a:prstGeom prst="rect">
            <a:avLst/>
          </a:prstGeom>
          <a:noFill/>
          <a:ln/>
        </p:spPr>
        <p:txBody>
          <a:bodyPr wrap="square" lIns="0" tIns="0" rIns="0" bIns="0" rtlCol="0" anchor="ctr"/>
          <a:lstStyle/>
          <a:p>
            <a:pPr indent="0" marL="0">
              <a:buNone/>
            </a:pPr>
            <a:r>
              <a:rPr lang="en-US" sz="1250" b="1" spc="80" kern="0" dirty="0">
                <a:solidFill>
                  <a:srgbClr val="2BA6A0"/>
                </a:solidFill>
                <a:latin typeface="Arial" pitchFamily="34" charset="0"/>
                <a:ea typeface="Arial" pitchFamily="34" charset="-122"/>
                <a:cs typeface="Arial" pitchFamily="34" charset="-120"/>
              </a:rPr>
              <a:t>TRUE</a:t>
            </a:r>
            <a:endParaRPr lang="en-US" sz="1250" dirty="0"/>
          </a:p>
        </p:txBody>
      </p:sp>
      <p:sp>
        <p:nvSpPr>
          <p:cNvPr id="14" name="pq1_w"/>
          <p:cNvSpPr txBox="1"/>
          <p:nvPr/>
        </p:nvSpPr>
        <p:spPr>
          <a:xfrm>
            <a:off x="7955280" y="3017520"/>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E3DAF0"/>
                </a:solidFill>
                <a:latin typeface="Arial" pitchFamily="34" charset="0"/>
                <a:ea typeface="Arial" pitchFamily="34" charset="-122"/>
                <a:cs typeface="Arial" pitchFamily="34" charset="-120"/>
              </a:rPr>
              <a:t>Describing is its whole job.</a:t>
            </a:r>
            <a:endParaRPr lang="en-US" sz="1050" dirty="0"/>
          </a:p>
        </p:txBody>
      </p:sp>
      <p:grpSp>
        <p:nvGrpSpPr>
          <p:cNvPr id="30" name="pq2_stmt"/>
          <p:cNvGrpSpPr/>
          <p:nvPr/>
        </p:nvGrpSpPr>
        <p:grpSpPr>
          <a:xfrm>
            <a:off x="502920" y="3730752"/>
            <a:ext cx="6309360" cy="566928"/>
            <a:chOff x="502920" y="3730752"/>
            <a:chExt cx="6309360" cy="566928"/>
          </a:xfrm>
        </p:grpSpPr>
        <p:sp>
          <p:nvSpPr>
            <p:cNvPr id="15" name="pq2_bg"/>
            <p:cNvSpPr/>
            <p:nvPr/>
          </p:nvSpPr>
          <p:spPr>
            <a:xfrm>
              <a:off x="502920" y="3730752"/>
              <a:ext cx="6309360" cy="566928"/>
            </a:xfrm>
            <a:prstGeom prst="roundRect">
              <a:avLst>
                <a:gd name="adj" fmla="val 16129"/>
              </a:avLst>
            </a:prstGeom>
            <a:solidFill>
              <a:srgbClr val="5C3A85"/>
            </a:solidFill>
            <a:ln w="12700">
              <a:solidFill>
                <a:srgbClr val="6B4E96"/>
              </a:solidFill>
              <a:prstDash val="solid"/>
            </a:ln>
          </p:spPr>
        </p:sp>
        <p:sp>
          <p:nvSpPr>
            <p:cNvPr id="16" name="pq2_q"/>
            <p:cNvSpPr txBox="1"/>
            <p:nvPr/>
          </p:nvSpPr>
          <p:spPr>
            <a:xfrm>
              <a:off x="704088" y="3730752"/>
              <a:ext cx="5943600" cy="566928"/>
            </a:xfrm>
            <a:prstGeom prst="rect">
              <a:avLst/>
            </a:prstGeom>
            <a:noFill/>
            <a:ln/>
          </p:spPr>
          <p:txBody>
            <a:bodyPr wrap="square" lIns="0" tIns="0" rIns="0" bIns="0" rtlCol="0" anchor="ctr"/>
            <a:lstStyle/>
            <a:p>
              <a:pPr indent="0" marL="0">
                <a:buNone/>
              </a:pPr>
              <a:r>
                <a:rPr lang="en-US" sz="1250" dirty="0">
                  <a:solidFill>
                    <a:srgbClr val="F7F4FB"/>
                  </a:solidFill>
                  <a:latin typeface="Arial" pitchFamily="34" charset="0"/>
                  <a:ea typeface="Arial" pitchFamily="34" charset="-122"/>
                  <a:cs typeface="Arial" pitchFamily="34" charset="-120"/>
                </a:rPr>
                <a:t>3. A theory becomes a law once there is enough evidence.</a:t>
              </a:r>
              <a:endParaRPr lang="en-US" sz="1250" dirty="0"/>
            </a:p>
          </p:txBody>
        </p:sp>
      </p:grpSp>
      <p:sp>
        <p:nvSpPr>
          <p:cNvPr id="17" name="pq2_v"/>
          <p:cNvSpPr txBox="1"/>
          <p:nvPr/>
        </p:nvSpPr>
        <p:spPr>
          <a:xfrm>
            <a:off x="7040880" y="3730752"/>
            <a:ext cx="868680" cy="566928"/>
          </a:xfrm>
          <a:prstGeom prst="rect">
            <a:avLst/>
          </a:prstGeom>
          <a:noFill/>
          <a:ln/>
        </p:spPr>
        <p:txBody>
          <a:bodyPr wrap="square" lIns="0" tIns="0" rIns="0" bIns="0" rtlCol="0" anchor="ctr"/>
          <a:lstStyle/>
          <a:p>
            <a:pPr indent="0" marL="0">
              <a:buNone/>
            </a:pPr>
            <a:r>
              <a:rPr lang="en-US" sz="1250" b="1" spc="80" kern="0" dirty="0">
                <a:solidFill>
                  <a:srgbClr val="F2A03D"/>
                </a:solidFill>
                <a:latin typeface="Arial" pitchFamily="34" charset="0"/>
                <a:ea typeface="Arial" pitchFamily="34" charset="-122"/>
                <a:cs typeface="Arial" pitchFamily="34" charset="-120"/>
              </a:rPr>
              <a:t>FALSE</a:t>
            </a:r>
            <a:endParaRPr lang="en-US" sz="1250" dirty="0"/>
          </a:p>
        </p:txBody>
      </p:sp>
      <p:sp>
        <p:nvSpPr>
          <p:cNvPr id="18" name="pq2_w"/>
          <p:cNvSpPr txBox="1"/>
          <p:nvPr/>
        </p:nvSpPr>
        <p:spPr>
          <a:xfrm>
            <a:off x="7955280" y="3730752"/>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E3DAF0"/>
                </a:solidFill>
                <a:latin typeface="Arial" pitchFamily="34" charset="0"/>
                <a:ea typeface="Arial" pitchFamily="34" charset="-122"/>
                <a:cs typeface="Arial" pitchFamily="34" charset="-120"/>
              </a:rPr>
              <a:t>Different jobs. Neither turns into the other.</a:t>
            </a:r>
            <a:endParaRPr lang="en-US" sz="1050" dirty="0"/>
          </a:p>
        </p:txBody>
      </p:sp>
      <p:grpSp>
        <p:nvGrpSpPr>
          <p:cNvPr id="31" name="pq3_stmt"/>
          <p:cNvGrpSpPr/>
          <p:nvPr/>
        </p:nvGrpSpPr>
        <p:grpSpPr>
          <a:xfrm>
            <a:off x="502920" y="4443984"/>
            <a:ext cx="6309360" cy="566928"/>
            <a:chOff x="502920" y="4443984"/>
            <a:chExt cx="6309360" cy="566928"/>
          </a:xfrm>
        </p:grpSpPr>
        <p:sp>
          <p:nvSpPr>
            <p:cNvPr id="19" name="pq3_bg"/>
            <p:cNvSpPr/>
            <p:nvPr/>
          </p:nvSpPr>
          <p:spPr>
            <a:xfrm>
              <a:off x="502920" y="4443984"/>
              <a:ext cx="6309360" cy="566928"/>
            </a:xfrm>
            <a:prstGeom prst="roundRect">
              <a:avLst>
                <a:gd name="adj" fmla="val 16129"/>
              </a:avLst>
            </a:prstGeom>
            <a:solidFill>
              <a:srgbClr val="5C3A85"/>
            </a:solidFill>
            <a:ln w="12700">
              <a:solidFill>
                <a:srgbClr val="6B4E96"/>
              </a:solidFill>
              <a:prstDash val="solid"/>
            </a:ln>
          </p:spPr>
        </p:sp>
        <p:sp>
          <p:nvSpPr>
            <p:cNvPr id="20" name="pq3_q"/>
            <p:cNvSpPr txBox="1"/>
            <p:nvPr/>
          </p:nvSpPr>
          <p:spPr>
            <a:xfrm>
              <a:off x="704088" y="4443984"/>
              <a:ext cx="5943600" cy="566928"/>
            </a:xfrm>
            <a:prstGeom prst="rect">
              <a:avLst/>
            </a:prstGeom>
            <a:noFill/>
            <a:ln/>
          </p:spPr>
          <p:txBody>
            <a:bodyPr wrap="square" lIns="0" tIns="0" rIns="0" bIns="0" rtlCol="0" anchor="ctr"/>
            <a:lstStyle/>
            <a:p>
              <a:pPr indent="0" marL="0">
                <a:buNone/>
              </a:pPr>
              <a:r>
                <a:rPr lang="en-US" sz="1250" dirty="0">
                  <a:solidFill>
                    <a:srgbClr val="F7F4FB"/>
                  </a:solidFill>
                  <a:latin typeface="Arial" pitchFamily="34" charset="0"/>
                  <a:ea typeface="Arial" pitchFamily="34" charset="-122"/>
                  <a:cs typeface="Arial" pitchFamily="34" charset="-120"/>
                </a:rPr>
                <a:t>4. "Water boils at 100 °C at sea level" is a law.</a:t>
              </a:r>
              <a:endParaRPr lang="en-US" sz="1250" dirty="0"/>
            </a:p>
          </p:txBody>
        </p:sp>
      </p:grpSp>
      <p:sp>
        <p:nvSpPr>
          <p:cNvPr id="21" name="pq3_v"/>
          <p:cNvSpPr txBox="1"/>
          <p:nvPr/>
        </p:nvSpPr>
        <p:spPr>
          <a:xfrm>
            <a:off x="7040880" y="4443984"/>
            <a:ext cx="868680" cy="566928"/>
          </a:xfrm>
          <a:prstGeom prst="rect">
            <a:avLst/>
          </a:prstGeom>
          <a:noFill/>
          <a:ln/>
        </p:spPr>
        <p:txBody>
          <a:bodyPr wrap="square" lIns="0" tIns="0" rIns="0" bIns="0" rtlCol="0" anchor="ctr"/>
          <a:lstStyle/>
          <a:p>
            <a:pPr indent="0" marL="0">
              <a:buNone/>
            </a:pPr>
            <a:r>
              <a:rPr lang="en-US" sz="1250" b="1" spc="80" kern="0" dirty="0">
                <a:solidFill>
                  <a:srgbClr val="2BA6A0"/>
                </a:solidFill>
                <a:latin typeface="Arial" pitchFamily="34" charset="0"/>
                <a:ea typeface="Arial" pitchFamily="34" charset="-122"/>
                <a:cs typeface="Arial" pitchFamily="34" charset="-120"/>
              </a:rPr>
              <a:t>TRUE</a:t>
            </a:r>
            <a:endParaRPr lang="en-US" sz="1250" dirty="0"/>
          </a:p>
        </p:txBody>
      </p:sp>
      <p:sp>
        <p:nvSpPr>
          <p:cNvPr id="22" name="pq3_w"/>
          <p:cNvSpPr txBox="1"/>
          <p:nvPr/>
        </p:nvSpPr>
        <p:spPr>
          <a:xfrm>
            <a:off x="7955280" y="4443984"/>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E3DAF0"/>
                </a:solidFill>
                <a:latin typeface="Arial" pitchFamily="34" charset="0"/>
                <a:ea typeface="Arial" pitchFamily="34" charset="-122"/>
                <a:cs typeface="Arial" pitchFamily="34" charset="-120"/>
              </a:rPr>
              <a:t>What happens, every time, same conditions.</a:t>
            </a:r>
            <a:endParaRPr lang="en-US" sz="1050" dirty="0"/>
          </a:p>
        </p:txBody>
      </p:sp>
      <p:grpSp>
        <p:nvGrpSpPr>
          <p:cNvPr id="32" name="pq4_stmt"/>
          <p:cNvGrpSpPr/>
          <p:nvPr/>
        </p:nvGrpSpPr>
        <p:grpSpPr>
          <a:xfrm>
            <a:off x="502920" y="5157216"/>
            <a:ext cx="6309360" cy="566928"/>
            <a:chOff x="502920" y="5157216"/>
            <a:chExt cx="6309360" cy="566928"/>
          </a:xfrm>
        </p:grpSpPr>
        <p:sp>
          <p:nvSpPr>
            <p:cNvPr id="23" name="pq4_bg"/>
            <p:cNvSpPr/>
            <p:nvPr/>
          </p:nvSpPr>
          <p:spPr>
            <a:xfrm>
              <a:off x="502920" y="5157216"/>
              <a:ext cx="6309360" cy="566928"/>
            </a:xfrm>
            <a:prstGeom prst="roundRect">
              <a:avLst>
                <a:gd name="adj" fmla="val 16129"/>
              </a:avLst>
            </a:prstGeom>
            <a:solidFill>
              <a:srgbClr val="5C3A85"/>
            </a:solidFill>
            <a:ln w="12700">
              <a:solidFill>
                <a:srgbClr val="6B4E96"/>
              </a:solidFill>
              <a:prstDash val="solid"/>
            </a:ln>
          </p:spPr>
        </p:sp>
        <p:sp>
          <p:nvSpPr>
            <p:cNvPr id="24" name="pq4_q"/>
            <p:cNvSpPr txBox="1"/>
            <p:nvPr/>
          </p:nvSpPr>
          <p:spPr>
            <a:xfrm>
              <a:off x="704088" y="5157216"/>
              <a:ext cx="5943600" cy="566928"/>
            </a:xfrm>
            <a:prstGeom prst="rect">
              <a:avLst/>
            </a:prstGeom>
            <a:noFill/>
            <a:ln/>
          </p:spPr>
          <p:txBody>
            <a:bodyPr wrap="square" lIns="0" tIns="0" rIns="0" bIns="0" rtlCol="0" anchor="ctr"/>
            <a:lstStyle/>
            <a:p>
              <a:pPr indent="0" marL="0">
                <a:buNone/>
              </a:pPr>
              <a:r>
                <a:rPr lang="en-US" sz="1250" dirty="0">
                  <a:solidFill>
                    <a:srgbClr val="F7F4FB"/>
                  </a:solidFill>
                  <a:latin typeface="Arial" pitchFamily="34" charset="0"/>
                  <a:ea typeface="Arial" pitchFamily="34" charset="-122"/>
                  <a:cs typeface="Arial" pitchFamily="34" charset="-120"/>
                </a:rPr>
                <a:t>5. A theory can be improved when new evidence turns up.</a:t>
              </a:r>
              <a:endParaRPr lang="en-US" sz="1250" dirty="0"/>
            </a:p>
          </p:txBody>
        </p:sp>
      </p:grpSp>
      <p:sp>
        <p:nvSpPr>
          <p:cNvPr id="25" name="pq4_v"/>
          <p:cNvSpPr txBox="1"/>
          <p:nvPr/>
        </p:nvSpPr>
        <p:spPr>
          <a:xfrm>
            <a:off x="7040880" y="5157216"/>
            <a:ext cx="868680" cy="566928"/>
          </a:xfrm>
          <a:prstGeom prst="rect">
            <a:avLst/>
          </a:prstGeom>
          <a:noFill/>
          <a:ln/>
        </p:spPr>
        <p:txBody>
          <a:bodyPr wrap="square" lIns="0" tIns="0" rIns="0" bIns="0" rtlCol="0" anchor="ctr"/>
          <a:lstStyle/>
          <a:p>
            <a:pPr indent="0" marL="0">
              <a:buNone/>
            </a:pPr>
            <a:r>
              <a:rPr lang="en-US" sz="1250" b="1" spc="80" kern="0" dirty="0">
                <a:solidFill>
                  <a:srgbClr val="2BA6A0"/>
                </a:solidFill>
                <a:latin typeface="Arial" pitchFamily="34" charset="0"/>
                <a:ea typeface="Arial" pitchFamily="34" charset="-122"/>
                <a:cs typeface="Arial" pitchFamily="34" charset="-120"/>
              </a:rPr>
              <a:t>TRUE</a:t>
            </a:r>
            <a:endParaRPr lang="en-US" sz="1250" dirty="0"/>
          </a:p>
        </p:txBody>
      </p:sp>
      <p:sp>
        <p:nvSpPr>
          <p:cNvPr id="26" name="pq4_w"/>
          <p:cNvSpPr txBox="1"/>
          <p:nvPr/>
        </p:nvSpPr>
        <p:spPr>
          <a:xfrm>
            <a:off x="7955280" y="5157216"/>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E3DAF0"/>
                </a:solidFill>
                <a:latin typeface="Arial" pitchFamily="34" charset="0"/>
                <a:ea typeface="Arial" pitchFamily="34" charset="-122"/>
                <a:cs typeface="Arial" pitchFamily="34" charset="-120"/>
              </a:rPr>
              <a:t>Improved, not thrown away.</a:t>
            </a:r>
            <a:endParaRPr lang="en-US" sz="1050" dirty="0"/>
          </a:p>
        </p:txBody>
      </p:sp>
      <p:sp>
        <p:nvSpPr>
          <p:cNvPr id="27" name="pl_next"/>
          <p:cNvSpPr txBox="1"/>
          <p:nvPr/>
        </p:nvSpPr>
        <p:spPr>
          <a:xfrm>
            <a:off x="502920" y="6181344"/>
            <a:ext cx="11185855" cy="384048"/>
          </a:xfrm>
          <a:prstGeom prst="rect">
            <a:avLst/>
          </a:prstGeom>
          <a:noFill/>
          <a:ln/>
        </p:spPr>
        <p:txBody>
          <a:bodyPr wrap="square" lIns="0" tIns="0" rIns="0" bIns="0" rtlCol="0" anchor="ctr"/>
          <a:lstStyle/>
          <a:p>
            <a:pPr indent="0" marL="0">
              <a:buNone/>
            </a:pPr>
            <a:r>
              <a:rPr lang="en-US" sz="1300" b="1" i="1" dirty="0">
                <a:solidFill>
                  <a:srgbClr val="F2A03D"/>
                </a:solidFill>
                <a:latin typeface="Arial" pitchFamily="34" charset="0"/>
                <a:ea typeface="Arial" pitchFamily="34" charset="-122"/>
                <a:cs typeface="Arial" pitchFamily="34" charset="-120"/>
              </a:rPr>
              <a:t>Next lesson: the people who found all this — and the ones whose names went missing.</a:t>
            </a:r>
            <a:endParaRPr lang="en-US" sz="13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8"/>
                                        </p:tgtEl>
                                        <p:attrNameLst>
                                          <p:attrName>style.visibility</p:attrName>
                                        </p:attrNameLst>
                                      </p:cBhvr>
                                      <p:to>
                                        <p:strVal val="visible"/>
                                      </p:to>
                                    </p:set>
                                    <p:animEffect transition="in" filter="fade">
                                      <p:cBhvr>
                                        <p:cTn id="4" dur="400"/>
                                        <p:tgtEl>
                                          <p:spTgt spid="28"/>
                                        </p:tgtEl>
                                      </p:cBhvr>
                                    </p:animEffect>
                                  </p:childTnLst>
                                </p:cTn>
                              </p:par>
                            </p:childTnLst>
                          </p:cTn>
                        </p:par>
                      </p:childTnLst>
                    </p:cTn>
                  </p:par>
                  <p:par>
                    <p:cTn id="15" fill="hold">
                      <p:stCondLst>
                        <p:cond delay="indefinite"/>
                      </p:stCondLst>
                      <p:childTnLst>
                        <p:par>
                          <p:cTn id="16" fill="hold">
                            <p:stCondLst>
                              <p:cond delay="0"/>
                            </p:stCondLst>
                            <p:childTnLst>
                              <p:par>
                                <p:cTn id="11" presetID="23" presetClass="entr" presetSubtype="16" fill="hold" grpId="0" nodeType="click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400"/>
                                        <p:tgtEl>
                                          <p:spTgt spid="9"/>
                                        </p:tgtEl>
                                      </p:cBhvr>
                                    </p:animEffect>
                                    <p:animScale>
                                      <p:cBhvr>
                                        <p:cTn id="10" dur="400" fill="hold"/>
                                        <p:tgtEl>
                                          <p:spTgt spid="9"/>
                                        </p:tgtEl>
                                      </p:cBhvr>
                                      <p:from x="0" y="0"/>
                                      <p:to x="100000" y="100000"/>
                                    </p:animScale>
                                  </p:childTnLst>
                                </p:cTn>
                              </p:par>
                              <p:par>
                                <p:cTn id="14" presetID="10" presetClass="entr" presetSubtype="0" fill="hold" grpId="0" nodeType="withEffect">
                                  <p:stCondLst>
                                    <p:cond delay="15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9" presetID="10" presetClass="entr" presetSubtype="0" fill="hold" grpId="0"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400"/>
                                        <p:tgtEl>
                                          <p:spTgt spid="29"/>
                                        </p:tgtEl>
                                      </p:cBhvr>
                                    </p:animEffect>
                                  </p:childTnLst>
                                </p:cTn>
                              </p:par>
                            </p:childTnLst>
                          </p:cTn>
                        </p:par>
                      </p:childTnLst>
                    </p:cTn>
                  </p:par>
                  <p:par>
                    <p:cTn id="29" fill="hold">
                      <p:stCondLst>
                        <p:cond delay="indefinite"/>
                      </p:stCondLst>
                      <p:childTnLst>
                        <p:par>
                          <p:cTn id="30" fill="hold">
                            <p:stCondLst>
                              <p:cond delay="0"/>
                            </p:stCondLst>
                            <p:childTnLst>
                              <p:par>
                                <p:cTn id="25" presetID="23" presetClass="entr" presetSubtype="16"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animScale>
                                      <p:cBhvr>
                                        <p:cTn id="24" dur="400" fill="hold"/>
                                        <p:tgtEl>
                                          <p:spTgt spid="13"/>
                                        </p:tgtEl>
                                      </p:cBhvr>
                                      <p:from x="0" y="0"/>
                                      <p:to x="100000" y="100000"/>
                                    </p:animScale>
                                  </p:childTnLst>
                                </p:cTn>
                              </p:par>
                              <p:par>
                                <p:cTn id="28" presetID="10" presetClass="entr" presetSubtype="0" fill="hold" grpId="0" nodeType="withEffect">
                                  <p:stCondLst>
                                    <p:cond delay="15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33" presetID="10" presetClass="entr" presetSubtype="0"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childTnLst>
                          </p:cTn>
                        </p:par>
                      </p:childTnLst>
                    </p:cTn>
                  </p:par>
                  <p:par>
                    <p:cTn id="43" fill="hold">
                      <p:stCondLst>
                        <p:cond delay="indefinite"/>
                      </p:stCondLst>
                      <p:childTnLst>
                        <p:par>
                          <p:cTn id="44" fill="hold">
                            <p:stCondLst>
                              <p:cond delay="0"/>
                            </p:stCondLst>
                            <p:childTnLst>
                              <p:par>
                                <p:cTn id="39" presetID="23" presetClass="entr" presetSubtype="16"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00"/>
                                        <p:tgtEl>
                                          <p:spTgt spid="17"/>
                                        </p:tgtEl>
                                      </p:cBhvr>
                                    </p:animEffect>
                                    <p:animScale>
                                      <p:cBhvr>
                                        <p:cTn id="38" dur="400" fill="hold"/>
                                        <p:tgtEl>
                                          <p:spTgt spid="17"/>
                                        </p:tgtEl>
                                      </p:cBhvr>
                                      <p:from x="0" y="0"/>
                                      <p:to x="100000" y="100000"/>
                                    </p:animScale>
                                  </p:childTnLst>
                                </p:cTn>
                              </p:par>
                              <p:par>
                                <p:cTn id="42" presetID="10" presetClass="entr" presetSubtype="0" fill="hold" grpId="0" nodeType="withEffect">
                                  <p:stCondLst>
                                    <p:cond delay="15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47" presetID="10" presetClass="entr" presetSubtype="0" fill="hold" grpId="0" nodeType="click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400"/>
                                        <p:tgtEl>
                                          <p:spTgt spid="31"/>
                                        </p:tgtEl>
                                      </p:cBhvr>
                                    </p:animEffect>
                                  </p:childTnLst>
                                </p:cTn>
                              </p:par>
                            </p:childTnLst>
                          </p:cTn>
                        </p:par>
                      </p:childTnLst>
                    </p:cTn>
                  </p:par>
                  <p:par>
                    <p:cTn id="57" fill="hold">
                      <p:stCondLst>
                        <p:cond delay="indefinite"/>
                      </p:stCondLst>
                      <p:childTnLst>
                        <p:par>
                          <p:cTn id="58" fill="hold">
                            <p:stCondLst>
                              <p:cond delay="0"/>
                            </p:stCondLst>
                            <p:childTnLst>
                              <p:par>
                                <p:cTn id="53" presetID="23" presetClass="entr" presetSubtype="16"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400"/>
                                        <p:tgtEl>
                                          <p:spTgt spid="21"/>
                                        </p:tgtEl>
                                      </p:cBhvr>
                                    </p:animEffect>
                                    <p:animScale>
                                      <p:cBhvr>
                                        <p:cTn id="52" dur="400" fill="hold"/>
                                        <p:tgtEl>
                                          <p:spTgt spid="21"/>
                                        </p:tgtEl>
                                      </p:cBhvr>
                                      <p:from x="0" y="0"/>
                                      <p:to x="100000" y="100000"/>
                                    </p:animScale>
                                  </p:childTnLst>
                                </p:cTn>
                              </p:par>
                              <p:par>
                                <p:cTn id="56" presetID="10" presetClass="entr" presetSubtype="0" fill="hold" grpId="0" nodeType="withEffect">
                                  <p:stCondLst>
                                    <p:cond delay="15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00"/>
                                        <p:tgtEl>
                                          <p:spTgt spid="22"/>
                                        </p:tgtEl>
                                      </p:cBhvr>
                                    </p:animEffect>
                                  </p:childTnLst>
                                </p:cTn>
                              </p:par>
                            </p:childTnLst>
                          </p:cTn>
                        </p:par>
                      </p:childTnLst>
                    </p:cTn>
                  </p:par>
                  <p:par>
                    <p:cTn id="62" fill="hold">
                      <p:stCondLst>
                        <p:cond delay="indefinite"/>
                      </p:stCondLst>
                      <p:childTnLst>
                        <p:par>
                          <p:cTn id="63" fill="hold">
                            <p:stCondLst>
                              <p:cond delay="0"/>
                            </p:stCondLst>
                            <p:childTnLst>
                              <p:par>
                                <p:cTn id="61" presetID="10" presetClass="entr" presetSubtype="0" fill="hold" grpId="0" nodeType="click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400"/>
                                        <p:tgtEl>
                                          <p:spTgt spid="32"/>
                                        </p:tgtEl>
                                      </p:cBhvr>
                                    </p:animEffect>
                                  </p:childTnLst>
                                </p:cTn>
                              </p:par>
                            </p:childTnLst>
                          </p:cTn>
                        </p:par>
                      </p:childTnLst>
                    </p:cTn>
                  </p:par>
                  <p:par>
                    <p:cTn id="71" fill="hold">
                      <p:stCondLst>
                        <p:cond delay="indefinite"/>
                      </p:stCondLst>
                      <p:childTnLst>
                        <p:par>
                          <p:cTn id="72" fill="hold">
                            <p:stCondLst>
                              <p:cond delay="0"/>
                            </p:stCondLst>
                            <p:childTnLst>
                              <p:par>
                                <p:cTn id="67" presetID="23" presetClass="entr" presetSubtype="16" fill="hold" grpId="0" nodeType="click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400"/>
                                        <p:tgtEl>
                                          <p:spTgt spid="25"/>
                                        </p:tgtEl>
                                      </p:cBhvr>
                                    </p:animEffect>
                                    <p:animScale>
                                      <p:cBhvr>
                                        <p:cTn id="66" dur="400" fill="hold"/>
                                        <p:tgtEl>
                                          <p:spTgt spid="25"/>
                                        </p:tgtEl>
                                      </p:cBhvr>
                                      <p:from x="0" y="0"/>
                                      <p:to x="100000" y="100000"/>
                                    </p:animScale>
                                  </p:childTnLst>
                                </p:cTn>
                              </p:par>
                              <p:par>
                                <p:cTn id="70" presetID="10" presetClass="entr" presetSubtype="0" fill="hold" grpId="0" nodeType="withEffect">
                                  <p:stCondLst>
                                    <p:cond delay="15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childTnLst>
                          </p:cTn>
                        </p:par>
                      </p:childTnLst>
                    </p:cTn>
                  </p:par>
                  <p:par>
                    <p:cTn id="76" fill="hold">
                      <p:stCondLst>
                        <p:cond delay="indefinite"/>
                      </p:stCondLst>
                      <p:childTnLst>
                        <p:par>
                          <p:cTn id="77" fill="hold">
                            <p:stCondLst>
                              <p:cond delay="0"/>
                            </p:stCondLst>
                            <p:childTnLst>
                              <p:par>
                                <p:cTn id="75" presetID="10" presetClass="entr" presetSubtype="0" fill="hold" grpId="0"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A2C6F"/>
        </a:solidFill>
      </p:bgPr>
    </p:bg>
    <p:spTree>
      <p:nvGrpSpPr>
        <p:cNvPr id="1" name=""/>
        <p:cNvGrpSpPr/>
        <p:nvPr/>
      </p:nvGrpSpPr>
      <p:grpSpPr>
        <a:xfrm>
          <a:off x="0" y="0"/>
          <a:ext cx="0" cy="0"/>
          <a:chOff x="0" y="0"/>
          <a:chExt cx="0" cy="0"/>
        </a:xfrm>
      </p:grpSpPr>
      <p:sp>
        <p:nvSpPr>
          <p:cNvPr id="2"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F7F4FB"/>
                </a:solidFill>
                <a:latin typeface="Georgia" pitchFamily="34" charset="0"/>
                <a:ea typeface="Georgia" pitchFamily="34" charset="-122"/>
                <a:cs typeface="Georgia" pitchFamily="34" charset="-120"/>
              </a:rPr>
              <a:t>Credits and sources</a:t>
            </a:r>
            <a:endParaRPr lang="en-US" sz="3000" dirty="0"/>
          </a:p>
        </p:txBody>
      </p:sp>
      <p:sp>
        <p:nvSpPr>
          <p:cNvPr id="3" name="cred0_a"/>
          <p:cNvSpPr txBox="1"/>
          <p:nvPr/>
        </p:nvSpPr>
        <p:spPr>
          <a:xfrm>
            <a:off x="502920" y="1792224"/>
            <a:ext cx="5760720" cy="310896"/>
          </a:xfrm>
          <a:prstGeom prst="rect">
            <a:avLst/>
          </a:prstGeom>
          <a:noFill/>
          <a:ln/>
        </p:spPr>
        <p:txBody>
          <a:bodyPr wrap="square" lIns="0" tIns="0" rIns="0" bIns="0" rtlCol="0" anchor="ctr"/>
          <a:lstStyle/>
          <a:p>
            <a:pPr indent="0" marL="0">
              <a:buNone/>
            </a:pPr>
            <a:r>
              <a:rPr lang="en-US" sz="1150" b="1" spc="110" kern="0" dirty="0">
                <a:solidFill>
                  <a:srgbClr val="F2A03D"/>
                </a:solidFill>
                <a:latin typeface="Arial" pitchFamily="34" charset="0"/>
                <a:ea typeface="Arial" pitchFamily="34" charset="-122"/>
                <a:cs typeface="Arial" pitchFamily="34" charset="-120"/>
              </a:rPr>
              <a:t>SOURCES</a:t>
            </a:r>
            <a:endParaRPr lang="en-US" sz="1150" dirty="0"/>
          </a:p>
        </p:txBody>
      </p:sp>
      <p:sp>
        <p:nvSpPr>
          <p:cNvPr id="4" name="cred1_a"/>
          <p:cNvSpPr txBox="1"/>
          <p:nvPr/>
        </p:nvSpPr>
        <p:spPr>
          <a:xfrm>
            <a:off x="502920" y="2176272"/>
            <a:ext cx="5760720" cy="310896"/>
          </a:xfrm>
          <a:prstGeom prst="rect">
            <a:avLst/>
          </a:prstGeom>
          <a:noFill/>
          <a:ln/>
        </p:spPr>
        <p:txBody>
          <a:bodyPr wrap="square" lIns="0" tIns="0" rIns="0" bIns="0" rtlCol="0" anchor="ctr"/>
          <a:lstStyle/>
          <a:p>
            <a:pPr indent="0" marL="0">
              <a:buNone/>
            </a:pPr>
            <a:r>
              <a:rPr lang="en-US" sz="1150" dirty="0">
                <a:solidFill>
                  <a:srgbClr val="F7F4FB"/>
                </a:solidFill>
                <a:latin typeface="Arial" pitchFamily="34" charset="0"/>
                <a:ea typeface="Arial" pitchFamily="34" charset="-122"/>
                <a:cs typeface="Arial" pitchFamily="34" charset="-120"/>
              </a:rPr>
              <a:t>Definitions of scientific law and scientific theory</a:t>
            </a:r>
            <a:endParaRPr lang="en-US" sz="1150" dirty="0"/>
          </a:p>
        </p:txBody>
      </p:sp>
      <p:sp>
        <p:nvSpPr>
          <p:cNvPr id="5" name="cred1_b"/>
          <p:cNvSpPr txBox="1"/>
          <p:nvPr/>
        </p:nvSpPr>
        <p:spPr>
          <a:xfrm>
            <a:off x="6446520" y="2176272"/>
            <a:ext cx="5242255" cy="310896"/>
          </a:xfrm>
          <a:prstGeom prst="rect">
            <a:avLst/>
          </a:prstGeom>
          <a:noFill/>
          <a:ln/>
        </p:spPr>
        <p:txBody>
          <a:bodyPr wrap="square" lIns="0" tIns="0" rIns="0" bIns="0" rtlCol="0" anchor="ctr"/>
          <a:lstStyle/>
          <a:p>
            <a:pPr indent="0" marL="0">
              <a:buNone/>
            </a:pPr>
            <a:r>
              <a:rPr lang="en-US" sz="1050" dirty="0">
                <a:solidFill>
                  <a:srgbClr val="E3DAF0"/>
                </a:solidFill>
                <a:latin typeface="Arial" pitchFamily="34" charset="0"/>
                <a:ea typeface="Arial" pitchFamily="34" charset="-122"/>
                <a:cs typeface="Arial" pitchFamily="34" charset="-120"/>
              </a:rPr>
              <a:t>CK-12 Lesson 1.1 What Is Science? · unit vocabulary list</a:t>
            </a:r>
            <a:endParaRPr lang="en-US" sz="1050" dirty="0"/>
          </a:p>
        </p:txBody>
      </p:sp>
      <p:sp>
        <p:nvSpPr>
          <p:cNvPr id="6" name="cred2_a"/>
          <p:cNvSpPr txBox="1"/>
          <p:nvPr/>
        </p:nvSpPr>
        <p:spPr>
          <a:xfrm>
            <a:off x="502920" y="2560320"/>
            <a:ext cx="5760720" cy="310896"/>
          </a:xfrm>
          <a:prstGeom prst="rect">
            <a:avLst/>
          </a:prstGeom>
          <a:noFill/>
          <a:ln/>
        </p:spPr>
        <p:txBody>
          <a:bodyPr wrap="square" lIns="0" tIns="0" rIns="0" bIns="0" rtlCol="0" anchor="ctr"/>
          <a:lstStyle/>
          <a:p>
            <a:pPr indent="0" marL="0">
              <a:buNone/>
            </a:pPr>
            <a:r>
              <a:rPr lang="en-US" sz="1150" dirty="0">
                <a:solidFill>
                  <a:srgbClr val="F7F4FB"/>
                </a:solidFill>
                <a:latin typeface="Arial" pitchFamily="34" charset="0"/>
                <a:ea typeface="Arial" pitchFamily="34" charset="-122"/>
                <a:cs typeface="Arial" pitchFamily="34" charset="-120"/>
              </a:rPr>
              <a:t>Doi Inthanon, 2,565 m — highest point in Thailand</a:t>
            </a:r>
            <a:endParaRPr lang="en-US" sz="1150" dirty="0"/>
          </a:p>
        </p:txBody>
      </p:sp>
      <p:sp>
        <p:nvSpPr>
          <p:cNvPr id="7" name="cred2_b"/>
          <p:cNvSpPr txBox="1"/>
          <p:nvPr/>
        </p:nvSpPr>
        <p:spPr>
          <a:xfrm>
            <a:off x="6446520" y="2560320"/>
            <a:ext cx="5242255" cy="310896"/>
          </a:xfrm>
          <a:prstGeom prst="rect">
            <a:avLst/>
          </a:prstGeom>
          <a:noFill/>
          <a:ln/>
        </p:spPr>
        <p:txBody>
          <a:bodyPr wrap="square" lIns="0" tIns="0" rIns="0" bIns="0" rtlCol="0" anchor="ctr"/>
          <a:lstStyle/>
          <a:p>
            <a:pPr indent="0" marL="0">
              <a:buNone/>
            </a:pPr>
            <a:r>
              <a:rPr lang="en-US" sz="1050" dirty="0">
                <a:solidFill>
                  <a:srgbClr val="E3DAF0"/>
                </a:solidFill>
                <a:latin typeface="Arial" pitchFamily="34" charset="0"/>
                <a:ea typeface="Arial" pitchFamily="34" charset="-122"/>
                <a:cs typeface="Arial" pitchFamily="34" charset="-120"/>
              </a:rPr>
              <a:t>Chom Thong District, Chiang Mai Province</a:t>
            </a:r>
            <a:endParaRPr lang="en-US" sz="1050" dirty="0"/>
          </a:p>
        </p:txBody>
      </p:sp>
      <p:sp>
        <p:nvSpPr>
          <p:cNvPr id="8" name="cred3_a"/>
          <p:cNvSpPr txBox="1"/>
          <p:nvPr/>
        </p:nvSpPr>
        <p:spPr>
          <a:xfrm>
            <a:off x="502920" y="2944368"/>
            <a:ext cx="5760720" cy="310896"/>
          </a:xfrm>
          <a:prstGeom prst="rect">
            <a:avLst/>
          </a:prstGeom>
          <a:noFill/>
          <a:ln/>
        </p:spPr>
        <p:txBody>
          <a:bodyPr wrap="square" lIns="0" tIns="0" rIns="0" bIns="0" rtlCol="0" anchor="ctr"/>
          <a:lstStyle/>
          <a:p>
            <a:pPr indent="0" marL="0">
              <a:buNone/>
            </a:pPr>
            <a:r>
              <a:rPr lang="en-US" sz="1150" dirty="0">
                <a:solidFill>
                  <a:srgbClr val="F7F4FB"/>
                </a:solidFill>
                <a:latin typeface="Arial" pitchFamily="34" charset="0"/>
                <a:ea typeface="Arial" pitchFamily="34" charset="-122"/>
                <a:cs typeface="Arial" pitchFamily="34" charset="-120"/>
              </a:rPr>
              <a:t>Boiling point at that height, about 92 °C</a:t>
            </a:r>
            <a:endParaRPr lang="en-US" sz="1150" dirty="0"/>
          </a:p>
        </p:txBody>
      </p:sp>
      <p:sp>
        <p:nvSpPr>
          <p:cNvPr id="9" name="cred3_b"/>
          <p:cNvSpPr txBox="1"/>
          <p:nvPr/>
        </p:nvSpPr>
        <p:spPr>
          <a:xfrm>
            <a:off x="6446520" y="2944368"/>
            <a:ext cx="5242255" cy="310896"/>
          </a:xfrm>
          <a:prstGeom prst="rect">
            <a:avLst/>
          </a:prstGeom>
          <a:noFill/>
          <a:ln/>
        </p:spPr>
        <p:txBody>
          <a:bodyPr wrap="square" lIns="0" tIns="0" rIns="0" bIns="0" rtlCol="0" anchor="ctr"/>
          <a:lstStyle/>
          <a:p>
            <a:pPr indent="0" marL="0">
              <a:buNone/>
            </a:pPr>
            <a:r>
              <a:rPr lang="en-US" sz="1050" dirty="0">
                <a:solidFill>
                  <a:srgbClr val="E3DAF0"/>
                </a:solidFill>
                <a:latin typeface="Arial" pitchFamily="34" charset="0"/>
                <a:ea typeface="Arial" pitchFamily="34" charset="-122"/>
                <a:cs typeface="Arial" pitchFamily="34" charset="-120"/>
              </a:rPr>
              <a:t>Calculated from atmospheric pressure at 2,565 m (about 74 kPa)</a:t>
            </a:r>
            <a:endParaRPr lang="en-US" sz="1050" dirty="0"/>
          </a:p>
        </p:txBody>
      </p:sp>
      <p:sp>
        <p:nvSpPr>
          <p:cNvPr id="10" name="cred4_a"/>
          <p:cNvSpPr txBox="1"/>
          <p:nvPr/>
        </p:nvSpPr>
        <p:spPr>
          <a:xfrm>
            <a:off x="502920" y="3328416"/>
            <a:ext cx="5760720" cy="310896"/>
          </a:xfrm>
          <a:prstGeom prst="rect">
            <a:avLst/>
          </a:prstGeom>
          <a:noFill/>
          <a:ln/>
        </p:spPr>
        <p:txBody>
          <a:bodyPr wrap="square" lIns="0" tIns="0" rIns="0" bIns="0" rtlCol="0" anchor="ctr"/>
          <a:lstStyle/>
          <a:p>
            <a:pPr indent="0" marL="0">
              <a:buNone/>
            </a:pPr>
            <a:r>
              <a:rPr lang="en-US" sz="1150" dirty="0">
                <a:solidFill>
                  <a:srgbClr val="F7F4FB"/>
                </a:solidFill>
                <a:latin typeface="Arial" pitchFamily="34" charset="0"/>
                <a:ea typeface="Arial" pitchFamily="34" charset="-122"/>
                <a:cs typeface="Arial" pitchFamily="34" charset="-120"/>
              </a:rPr>
              <a:t>Cell theory: observations since the 1600s</a:t>
            </a:r>
            <a:endParaRPr lang="en-US" sz="1150" dirty="0"/>
          </a:p>
        </p:txBody>
      </p:sp>
      <p:sp>
        <p:nvSpPr>
          <p:cNvPr id="11" name="cred4_b"/>
          <p:cNvSpPr txBox="1"/>
          <p:nvPr/>
        </p:nvSpPr>
        <p:spPr>
          <a:xfrm>
            <a:off x="6446520" y="3328416"/>
            <a:ext cx="5242255" cy="310896"/>
          </a:xfrm>
          <a:prstGeom prst="rect">
            <a:avLst/>
          </a:prstGeom>
          <a:noFill/>
          <a:ln/>
        </p:spPr>
        <p:txBody>
          <a:bodyPr wrap="square" lIns="0" tIns="0" rIns="0" bIns="0" rtlCol="0" anchor="ctr"/>
          <a:lstStyle/>
          <a:p>
            <a:pPr indent="0" marL="0">
              <a:buNone/>
            </a:pPr>
            <a:r>
              <a:rPr lang="en-US" sz="1050" dirty="0">
                <a:solidFill>
                  <a:srgbClr val="E3DAF0"/>
                </a:solidFill>
                <a:latin typeface="Arial" pitchFamily="34" charset="0"/>
                <a:ea typeface="Arial" pitchFamily="34" charset="-122"/>
                <a:cs typeface="Arial" pitchFamily="34" charset="-120"/>
              </a:rPr>
              <a:t>No living thing has ever been found that is not made of cells</a:t>
            </a:r>
            <a:endParaRPr lang="en-US" sz="1050" dirty="0"/>
          </a:p>
        </p:txBody>
      </p:sp>
      <p:sp>
        <p:nvSpPr>
          <p:cNvPr id="12" name="cred5_a"/>
          <p:cNvSpPr txBox="1"/>
          <p:nvPr/>
        </p:nvSpPr>
        <p:spPr>
          <a:xfrm>
            <a:off x="502920" y="3712464"/>
            <a:ext cx="5760720" cy="310896"/>
          </a:xfrm>
          <a:prstGeom prst="rect">
            <a:avLst/>
          </a:prstGeom>
          <a:noFill/>
          <a:ln/>
        </p:spPr>
        <p:txBody>
          <a:bodyPr wrap="square" lIns="0" tIns="0" rIns="0" bIns="0" rtlCol="0" anchor="ctr"/>
          <a:lstStyle/>
          <a:p>
            <a:pPr indent="0" marL="0">
              <a:buNone/>
            </a:pPr>
            <a:r>
              <a:rPr lang="en-US" sz="1150" b="1" spc="110" kern="0" dirty="0">
                <a:solidFill>
                  <a:srgbClr val="F2A03D"/>
                </a:solidFill>
                <a:latin typeface="Arial" pitchFamily="34" charset="0"/>
                <a:ea typeface="Arial" pitchFamily="34" charset="-122"/>
                <a:cs typeface="Arial" pitchFamily="34" charset="-120"/>
              </a:rPr>
              <a:t>ICONS</a:t>
            </a:r>
            <a:endParaRPr lang="en-US" sz="1150" dirty="0"/>
          </a:p>
        </p:txBody>
      </p:sp>
      <p:sp>
        <p:nvSpPr>
          <p:cNvPr id="13" name="cred6_a"/>
          <p:cNvSpPr txBox="1"/>
          <p:nvPr/>
        </p:nvSpPr>
        <p:spPr>
          <a:xfrm>
            <a:off x="502920" y="4096512"/>
            <a:ext cx="5760720" cy="310896"/>
          </a:xfrm>
          <a:prstGeom prst="rect">
            <a:avLst/>
          </a:prstGeom>
          <a:noFill/>
          <a:ln/>
        </p:spPr>
        <p:txBody>
          <a:bodyPr wrap="square" lIns="0" tIns="0" rIns="0" bIns="0" rtlCol="0" anchor="ctr"/>
          <a:lstStyle/>
          <a:p>
            <a:pPr indent="0" marL="0">
              <a:buNone/>
            </a:pPr>
            <a:r>
              <a:rPr lang="en-US" sz="1150" dirty="0">
                <a:solidFill>
                  <a:srgbClr val="F7F4FB"/>
                </a:solidFill>
                <a:latin typeface="Arial" pitchFamily="34" charset="0"/>
                <a:ea typeface="Arial" pitchFamily="34" charset="-122"/>
                <a:cs typeface="Arial" pitchFamily="34" charset="-120"/>
              </a:rPr>
              <a:t>All icons from Font Awesome and Game Icons via react-icons</a:t>
            </a:r>
            <a:endParaRPr lang="en-US" sz="1150" dirty="0"/>
          </a:p>
        </p:txBody>
      </p:sp>
      <p:sp>
        <p:nvSpPr>
          <p:cNvPr id="14" name="cred6_b"/>
          <p:cNvSpPr txBox="1"/>
          <p:nvPr/>
        </p:nvSpPr>
        <p:spPr>
          <a:xfrm>
            <a:off x="6446520" y="4096512"/>
            <a:ext cx="5242255" cy="310896"/>
          </a:xfrm>
          <a:prstGeom prst="rect">
            <a:avLst/>
          </a:prstGeom>
          <a:noFill/>
          <a:ln/>
        </p:spPr>
        <p:txBody>
          <a:bodyPr wrap="square" lIns="0" tIns="0" rIns="0" bIns="0" rtlCol="0" anchor="ctr"/>
          <a:lstStyle/>
          <a:p>
            <a:pPr indent="0" marL="0">
              <a:buNone/>
            </a:pPr>
            <a:r>
              <a:rPr lang="en-US" sz="1050" dirty="0">
                <a:solidFill>
                  <a:srgbClr val="E3DAF0"/>
                </a:solidFill>
                <a:latin typeface="Arial" pitchFamily="34" charset="0"/>
                <a:ea typeface="Arial" pitchFamily="34" charset="-122"/>
                <a:cs typeface="Arial" pitchFamily="34" charset="-120"/>
              </a:rPr>
              <a:t>Recoloured to the unit palette and rendered at 512 px</a:t>
            </a:r>
            <a:endParaRPr lang="en-US" sz="10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Y7 Science — Theory or law?</dc:title>
  <dc:subject>Y7 Unit 1 · CK-12 1.1 · Lesson 2 of 4</dc:subject>
  <dc:creator>Chuka</dc:creator>
  <cp:lastModifiedBy>Chuka</cp:lastModifiedBy>
  <cp:revision>1</cp:revision>
  <dcterms:created xsi:type="dcterms:W3CDTF">2026-09-14T22:11:33Z</dcterms:created>
  <dcterms:modified xsi:type="dcterms:W3CDTF">2026-09-14T22:11:33Z</dcterms:modified>
</cp:coreProperties>
</file>