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media/media5.mp4" ContentType="video/unknown"/>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8 minutes. Six clicks.</a:t>
            </a:r>
          </a:p>
          <a:p>
            <a:pPr/>
          </a:p>
          <a:p>
            <a:pPr/>
            <a:r>
              <a:t>Q1 TO Q3 ARE THE THING THEY FOUND HARD: how long soil and coal take to form. Ask all three before revealing any. Soil: a few hundred to about a thousand years for a few centimetres. Coal: millions of years. Q3 puts them side by side. If the room says soil is faster, agree, then say "but faster than millions of years is still centuries." That is the sentence to fix in their heads.</a:t>
            </a:r>
          </a:p>
          <a:p>
            <a:pPr/>
          </a:p>
          <a:p>
            <a:pPr/>
            <a:r>
              <a:t>Q4 IS LAST LESSON'S THESIS, in one line. If it is shaky, spend the saved time here.</a:t>
            </a:r>
          </a:p>
          <a:p>
            <a:pPr/>
          </a:p>
          <a:p>
            <a:pPr/>
            <a:r>
              <a:t>Q5 AND Q6 ARE INTUITIVE, NOT TAUGHT YET. Accept any reasonable answer. They are priming today's erosion and practical.</a:t>
            </a:r>
          </a:p>
          <a:p>
            <a:pPr/>
          </a:p>
          <a:p>
            <a:pPr/>
            <a:r>
              <a:t>THIS LESSON IS 8 MINUTES OF DO NOW, NOT 10, to make room for the practical. TAUGHT IDENTICALLY TO 9G AND 9I. 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a:t>
            </a:r>
          </a:p>
          <a:p>
            <a:pPr/>
          </a:p>
          <a:p>
            <a:pPr/>
            <a:r>
              <a:t>THE BANNER IS THE LESSON, AND THE FIX FOR THE HARD IDEA. Soil takes centuries to make. Erosion can take it in years. Say it slowly. It comes back on I Do 2 and on the last slide.</a:t>
            </a:r>
          </a:p>
          <a:p>
            <a:pPr/>
          </a:p>
          <a:p>
            <a:pPr/>
            <a:r>
              <a:t>MENTION THE PRACTICAL NOW. "We test erosion today, with two trays of soil." It is the reason to pay attention in the next ten minutes.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p>
            <a:pPr/>
            <a:r>
              <a:t>HOOK. 2 minutes. Four clicks.</a:t>
            </a:r>
          </a:p>
          <a:p>
            <a:pPr/>
          </a:p>
          <a:p>
            <a:pPr/>
            <a:r>
              <a:t>Hands up for each. Tally on the board. Expect a split between A and C, and a few for B.</a:t>
            </a:r>
          </a:p>
          <a:p>
            <a:pPr/>
          </a:p>
          <a:p>
            <a:pPr/>
            <a:r>
              <a:t>DO NOT REVEAL THE ANSWER HERE. Say "keep your vote, we will come back to it".</a:t>
            </a:r>
          </a:p>
          <a:p>
            <a:pPr/>
          </a:p>
          <a:p>
            <a:pPr/>
            <a:r>
              <a:t>ANSWER, FOR YOU: A. A wheat crop takes months. A few centimetres of soil takes roughly a few hundred to about a thousand years. Coal takes millions of years. This is the ordering they found hard, so it is the Hook this time, not a new idea.</a:t>
            </a:r>
          </a:p>
          <a:p>
            <a:pPr/>
          </a:p>
          <a:p>
            <a:pPr/>
            <a:r>
              <a:t>C IS THE TEMPTING WRONG ONE. Some will feel a crop must take longer than soil "because it is alive". The gap between months and centuries is the point.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hape 144"/>
          <p:cNvSpPr/>
          <p:nvPr>
            <p:ph type="sldImg"/>
          </p:nvPr>
        </p:nvSpPr>
        <p:spPr>
          <a:prstGeom prst="rect">
            <a:avLst/>
          </a:prstGeom>
        </p:spPr>
        <p:txBody>
          <a:bodyPr/>
          <a:lstStyle/>
          <a:p>
            <a:pPr/>
          </a:p>
        </p:txBody>
      </p:sp>
      <p:sp>
        <p:nvSpPr>
          <p:cNvPr id="145" name="Shape 145"/>
          <p:cNvSpPr/>
          <p:nvPr>
            <p:ph type="body" sz="quarter" idx="1"/>
          </p:nvPr>
        </p:nvSpPr>
        <p:spPr>
          <a:prstGeom prst="rect">
            <a:avLst/>
          </a:prstGeom>
        </p:spPr>
        <p:txBody>
          <a:bodyPr/>
          <a:lstStyle/>
          <a:p>
            <a:pPr/>
            <a:r>
              <a:t>I DO. 3 minutes. Five clicks: the definition, three cards, then the banner.</a:t>
            </a:r>
          </a:p>
          <a:p>
            <a:pPr/>
          </a:p>
          <a:p>
            <a:pPr/>
            <a:r>
              <a:t>THE DEFINITION HAS TWO PARTS: worn away AND carried off. Erosion is not just soil loosening, it is soil leaving. Say "carried off" and sweep a hand away.</a:t>
            </a:r>
          </a:p>
          <a:p>
            <a:pPr/>
          </a:p>
          <a:p>
            <a:pPr/>
            <a:r>
              <a:t>WATER AND WIND ARE THE TWO YOU NEED. Ice and gravity also move soil, mention them in one breath if someone asks, no more.</a:t>
            </a:r>
          </a:p>
          <a:p>
            <a:pPr/>
          </a:p>
          <a:p>
            <a:pPr/>
            <a:r>
              <a:t>THE THIRD CARD IS THE POINT OF THE PRACTICAL. Roots and leaves protect soil. You are about to test that. Say "predict which tray loses more soil" and leave it hanging.</a:t>
            </a:r>
          </a:p>
          <a:p>
            <a:pPr/>
          </a:p>
          <a:p>
            <a:pPr/>
            <a:r>
              <a:t>THE BANNER: erosion always happens, slowly. What farming changes is the speed. That is objective 3, set up 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PRACTICAL. 10 minutes including the comparison. Four clicks: the two trays, the steps, the fair-test line, then "usually".</a:t>
            </a:r>
          </a:p>
          <a:p>
            <a:pPr/>
          </a:p>
          <a:p>
            <a:pPr/>
            <a:r>
              <a:t>BEFORE THE LESSON (5 minutes): two shallow trays, the same depth of soil in each (about 2 cm, pressed down the same). Cut the turf or lay the leaves to cover tray B fully. Tip both trays to the same slope, a book under the same end of each, and set a catch pot at the low end of each, with a lip or a folded card gutter so the runoff goes into the pot. Fill two jugs with the same amount of water.</a:t>
            </a:r>
          </a:p>
          <a:p>
            <a:pPr/>
          </a:p>
          <a:p>
            <a:pPr/>
            <a:r>
              <a:t>IF YOU HAVE ONE SET, run it as a demonstration with two student volunteers pouring, and the class watching and predicting. If you have several sets, groups run it and the class compares. Either way the plan below fits ten minutes.</a:t>
            </a:r>
          </a:p>
          <a:p>
            <a:pPr/>
          </a:p>
          <a:p>
            <a:pPr/>
            <a:r>
              <a:t>TIMING. 2 minutes: show the setup, predict (hands up for A or B, tally). 3 minutes: pour. Same jug height, same speed, both trays at once if two people can. 3 minutes: look at the pots and compare, colour of the runoff first, then how much soil. 2 minutes: click the "usually" line, then talk through why.</a:t>
            </a:r>
          </a:p>
          <a:p>
            <a:pPr/>
          </a:p>
          <a:p>
            <a:pPr/>
            <a:r>
              <a:t>THE FAIR TEST LINE MATTERS. Same soil, same slope, same water: only the cover changes. This is the fair-test idea from earlier in the course, applied. If a group pours faster on one tray, that is the moment to say so.</a:t>
            </a:r>
          </a:p>
          <a:p>
            <a:pPr/>
          </a:p>
          <a:p>
            <a:pPr/>
            <a:r>
              <a:t>THE RESULT IS USUALLY CLEAR BUT NOT ALWAYS. The bare tray gives muddy runoff with soil in the pot. The covered tray runs clearer. If your result is muddy on both, the turf is too thin or the pour too hard: that is a real thing to discuss (roots need time and thickness), not a failed practical. Do not click "usually" if the class result disagrees. Talk about why.</a:t>
            </a:r>
          </a:p>
          <a:p>
            <a:pPr/>
          </a:p>
          <a:p>
            <a:pPr/>
            <a:r>
              <a:t>WHY IT WORKS: leaves take the force of the drops, roots hold the soil, and the plants slow the water so it carries less. Point at tray B and say "cover", at tray A and say "bare".</a:t>
            </a:r>
          </a:p>
          <a:p>
            <a:pPr/>
          </a:p>
          <a:p>
            <a:pPr/>
            <a:r>
              <a:t>CLEAR UP: soil in a bin, not the sink. Wipe the floor.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I DO. 3 minutes. Three clicks: the three farming causes, the chain, then the banner.</a:t>
            </a:r>
          </a:p>
          <a:p>
            <a:pPr/>
          </a:p>
          <a:p>
            <a:pPr/>
            <a:r>
              <a:t>THE CHAIN IS OBJECTIVE 3 IN FOUR BOXES. Farming removes plant cover, soil is left bare, wind and water erode it, and in a dry area the land turns desert-like. Point at each box and link it to the tray practical: "this is tray A".</a:t>
            </a:r>
          </a:p>
          <a:p>
            <a:pPr/>
          </a:p>
          <a:p>
            <a:pPr/>
            <a:r>
              <a:t>DESERTIFICATION IS NOT A DESERT SPREADING BY ITSELF. It is the UN definition, land degradation in dry areas from climate variation AND human activity, and the human causes are overgrazing, over-cultivation, deforestation and poor irrigation. Say that plainly, it is the misconception on the next slide. Drought makes it worse, but farming can start it.</a:t>
            </a:r>
          </a:p>
          <a:p>
            <a:pPr/>
          </a:p>
          <a:p>
            <a:pPr/>
            <a:r>
              <a:t>BOTH ARE THE SAME CAUSE, SHOWN TWICE. Take the cover off and erosion happens everywhere it is bare, and in dry places the loss of soil goes on until the land is desert-like. Do not present them as two unrelated problems.</a:t>
            </a:r>
          </a:p>
          <a:p>
            <a:pPr/>
          </a:p>
          <a:p>
            <a:pPr/>
            <a:r>
              <a:t>THE BANNER IS THE HARD IDEA AGAIN. A few centimetres of soil took a few hundred to about a thousand years. A season of bad practice can lose it. Say "centuries" and "years" out loud, with the hand gesture: wide arm for centuries, one finger for years.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hape 275"/>
          <p:cNvSpPr/>
          <p:nvPr>
            <p:ph type="sldImg"/>
          </p:nvPr>
        </p:nvSpPr>
        <p:spPr>
          <a:prstGeom prst="rect">
            <a:avLst/>
          </a:prstGeom>
        </p:spPr>
        <p:txBody>
          <a:bodyPr/>
          <a:lstStyle/>
          <a:p>
            <a:pPr/>
          </a:p>
        </p:txBody>
      </p:sp>
      <p:sp>
        <p:nvSpPr>
          <p:cNvPr id="276" name="Shape 276"/>
          <p:cNvSpPr/>
          <p:nvPr>
            <p:ph type="body" sz="quarter" idx="1"/>
          </p:nvPr>
        </p:nvSpPr>
        <p:spPr>
          <a:prstGeom prst="rect">
            <a:avLst/>
          </a:prstGeom>
        </p:spPr>
        <p:txBody>
          <a:bodyPr/>
          <a:lstStyle/>
          <a:p>
            <a:pPr/>
            <a:r>
              <a:t>WE DO. 5 minutes. Four clicks. Take answers from the room first.</a:t>
            </a:r>
          </a:p>
          <a:p>
            <a:pPr/>
          </a:p>
          <a:p>
            <a:pPr/>
            <a:r>
              <a:t>ROW 1 IS OBJECTIVE 1. Erosion is not a desert thing. The tray practical was on ordinary soil.</a:t>
            </a:r>
          </a:p>
          <a:p>
            <a:pPr/>
          </a:p>
          <a:p>
            <a:pPr/>
            <a:r>
              <a:t>ROW 2 IS OBJECTIVE 2 AND THE COMMON WRONG PICTURE. Desertification is not an advancing wall of sand. It is degradation of dry land, with climate and human causes together.</a:t>
            </a:r>
          </a:p>
          <a:p>
            <a:pPr/>
          </a:p>
          <a:p>
            <a:pPr/>
            <a:r>
              <a:t>ROW 3 IS THE TIMESCALE ROW, for the thing they found hard. Ask for both numbers before you click: soil, coal.</a:t>
            </a:r>
          </a:p>
          <a:p>
            <a:pPr/>
          </a:p>
          <a:p>
            <a:pPr/>
            <a:r>
              <a:t>ROW 4 IS OBJECTIVE 3. Point back at tray A: the soil was still there before the water, and then it was not.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301"/>
          <p:cNvSpPr/>
          <p:nvPr>
            <p:ph type="sldImg"/>
          </p:nvPr>
        </p:nvSpPr>
        <p:spPr>
          <a:prstGeom prst="rect">
            <a:avLst/>
          </a:prstGeom>
        </p:spPr>
        <p:txBody>
          <a:bodyPr/>
          <a:lstStyle/>
          <a:p>
            <a:pPr/>
          </a:p>
        </p:txBody>
      </p:sp>
      <p:sp>
        <p:nvSpPr>
          <p:cNvPr id="302" name="Shape 302"/>
          <p:cNvSpPr/>
          <p:nvPr>
            <p:ph type="body" sz="quarter" idx="1"/>
          </p:nvPr>
        </p:nvSpPr>
        <p:spPr>
          <a:prstGeom prst="rect">
            <a:avLst/>
          </a:prstGeom>
        </p:spPr>
        <p:txBody>
          <a:bodyPr/>
          <a:lstStyle/>
          <a:p>
            <a:pPr/>
            <a:r>
              <a:t>YOU DO. 12 minutes. Four clicks.</a:t>
            </a:r>
          </a:p>
          <a:p>
            <a:pPr/>
          </a:p>
          <a:p>
            <a:pPr/>
            <a:r>
              <a:t>THE TRAY RESULTS TABLE COMES FIRST, while the practical is fresh: colour of the runoff and soil in the pot for tray A and tray B. It takes two minutes and Silver Q5 and Q6 depend on it.</a:t>
            </a:r>
          </a:p>
          <a:p>
            <a:pPr/>
          </a:p>
          <a:p>
            <a:pPr/>
            <a:r>
              <a:t>CIRCULATE WITH ONE QUESTION: "which tray, and how do you know?" Then, for anyone on Gold: "how long would that soil take to come back?"</a:t>
            </a:r>
          </a:p>
          <a:p>
            <a:pPr/>
          </a:p>
          <a:p>
            <a:pPr/>
            <a:r>
              <a:t>WHERE THEY WILL STALL: Gold Q10, judging the claim that the trays are only a small model. Judging a claim was hard last unit too, so nudge with "what stayed the same?" and "does the pattern match a real field?".</a:t>
            </a:r>
          </a:p>
          <a:p>
            <a:pPr/>
          </a:p>
          <a:p>
            <a:pPr/>
            <a:r>
              <a:t>THIS IS A 12-MINUTE YOU DO, not the usual 14. The practical took the difference. 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Shape 349"/>
          <p:cNvSpPr/>
          <p:nvPr>
            <p:ph type="sldImg"/>
          </p:nvPr>
        </p:nvSpPr>
        <p:spPr>
          <a:prstGeom prst="rect">
            <a:avLst/>
          </a:prstGeom>
        </p:spPr>
        <p:txBody>
          <a:bodyPr/>
          <a:lstStyle/>
          <a:p>
            <a:pPr/>
          </a:p>
        </p:txBody>
      </p:sp>
      <p:sp>
        <p:nvSpPr>
          <p:cNvPr id="350" name="Shape 350"/>
          <p:cNvSpPr/>
          <p:nvPr>
            <p:ph type="body" sz="quarter" idx="1"/>
          </p:nvPr>
        </p:nvSpPr>
        <p:spPr>
          <a:prstGeom prst="rect">
            <a:avLst/>
          </a:prstGeom>
        </p:spPr>
        <p:txBody>
          <a:bodyPr/>
          <a:lstStyle/>
          <a:p>
            <a:pPr/>
            <a:r>
              <a:t>ANSWERS. 3 minutes. Five clicks, two at a time. They mark their own in a different colour.</a:t>
            </a:r>
          </a:p>
          <a:p>
            <a:pPr/>
          </a:p>
          <a:p>
            <a:pPr/>
            <a:r>
              <a:t>Q5 DEPENDS ON THE CLASS RESULT. The model answer is the usual one, tray A. If your trays gave a different result, mark against what the class saw and say so.</a:t>
            </a:r>
          </a:p>
          <a:p>
            <a:pPr/>
          </a:p>
          <a:p>
            <a:pPr/>
            <a:r>
              <a:t>Q8, Q9 AND Q10 ARE THE REAL TEST. Take two or three out loud. Q9 is the timescale idea in a farmer's shoes: the hard one, so listen for both numbers, centuries and years.</a:t>
            </a:r>
          </a:p>
          <a:p>
            <a:pPr/>
          </a:p>
          <a:p>
            <a:pPr/>
            <a:r>
              <a:t>Q10 HAS NO SINGLE ANSWER. Accept any judgement that says what was fair (same slope, soil and water) and what was limited (small, quick, one soil).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8" name="Shape 378"/>
          <p:cNvSpPr/>
          <p:nvPr>
            <p:ph type="sldImg"/>
          </p:nvPr>
        </p:nvSpPr>
        <p:spPr>
          <a:prstGeom prst="rect">
            <a:avLst/>
          </a:prstGeom>
        </p:spPr>
        <p:txBody>
          <a:bodyPr/>
          <a:lstStyle/>
          <a:p>
            <a:pPr/>
          </a:p>
        </p:txBody>
      </p:sp>
      <p:sp>
        <p:nvSpPr>
          <p:cNvPr id="379" name="Shape 379"/>
          <p:cNvSpPr/>
          <p:nvPr>
            <p:ph type="body" sz="quarter" idx="1"/>
          </p:nvPr>
        </p:nvSpPr>
        <p:spPr>
          <a:prstGeom prst="rect">
            <a:avLst/>
          </a:prstGeom>
        </p:spPr>
        <p:txBody>
          <a:bodyPr/>
          <a:lstStyle/>
          <a:p>
            <a:pPr/>
            <a:r>
              <a:t>PLENARY. 3 minutes. Six clicks.</a:t>
            </a:r>
          </a:p>
          <a:p>
            <a:pPr/>
          </a:p>
          <a:p>
            <a:pPr/>
            <a:r>
              <a:t>Q2 IS OBJECTIVE 2 AND THE MISCONCEPTION. If it splits the room, that is the first five minutes of next lesson.</a:t>
            </a:r>
          </a:p>
          <a:p>
            <a:pPr/>
          </a:p>
          <a:p>
            <a:pPr/>
            <a:r>
              <a:t>Q4 IS THE HARD IDEA, asked plainly. If anyone says TRUE, ask for the two numbers: soil, coal.</a:t>
            </a:r>
          </a:p>
          <a:p>
            <a:pPr/>
          </a:p>
          <a:p>
            <a:pPr/>
            <a:r>
              <a:t>Q3 LINKS BACK TO THE TRAYS. Ask "how do you know?" and take "we saw it".</a:t>
            </a:r>
          </a:p>
          <a:p>
            <a:pPr/>
          </a:p>
          <a:p>
            <a:pPr/>
            <a:r>
              <a:t>The closing line is the Today banner, word for word. That repetition is deliberate.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03197" cy="329185"/>
            <a:chOff x="0" y="0"/>
            <a:chExt cx="1803196" cy="329184"/>
          </a:xfrm>
        </p:grpSpPr>
        <p:sp>
          <p:nvSpPr>
            <p:cNvPr id="21" name="Rounded Rectangle"/>
            <p:cNvSpPr/>
            <p:nvPr/>
          </p:nvSpPr>
          <p:spPr>
            <a:xfrm>
              <a:off x="0" y="0"/>
              <a:ext cx="1803197"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2" name="DO NOW · 8 MIN"/>
            <p:cNvSpPr txBox="1"/>
            <p:nvPr/>
          </p:nvSpPr>
          <p:spPr>
            <a:xfrm>
              <a:off x="42850" y="90677"/>
              <a:ext cx="17174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8 MIN</a:t>
              </a:r>
            </a:p>
          </p:txBody>
        </p:sp>
      </p:grpSp>
      <p:sp>
        <p:nvSpPr>
          <p:cNvPr id="24" name="lesson_title"/>
          <p:cNvSpPr txBox="1"/>
          <p:nvPr/>
        </p:nvSpPr>
        <p:spPr>
          <a:xfrm>
            <a:off x="3291840" y="331470"/>
            <a:ext cx="5669281"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400">
                <a:solidFill>
                  <a:srgbClr val="3D2B1F"/>
                </a:solidFill>
                <a:latin typeface="Georgia"/>
                <a:ea typeface="Georgia"/>
                <a:cs typeface="Georgia"/>
                <a:sym typeface="Georgia"/>
              </a:defRPr>
            </a:lvl1pPr>
          </a:lstStyle>
          <a:p>
            <a:pPr/>
            <a:r>
              <a:t>Losing The Soil</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6B5A48"/>
                </a:solidFill>
                <a:latin typeface="Arial"/>
                <a:ea typeface="Arial"/>
                <a:cs typeface="Arial"/>
                <a:sym typeface="Arial"/>
              </a:defRPr>
            </a:lvl1pPr>
          </a:lstStyle>
          <a:p>
            <a:pPr/>
            <a:r>
              <a:t>Thursday 1 October 2026</a:t>
            </a:r>
          </a:p>
        </p:txBody>
      </p:sp>
      <p:sp>
        <p:nvSpPr>
          <p:cNvPr id="26" name="rule"/>
          <p:cNvSpPr/>
          <p:nvPr/>
        </p:nvSpPr>
        <p:spPr>
          <a:xfrm>
            <a:off x="1170432" y="896111"/>
            <a:ext cx="10472623" cy="36577"/>
          </a:xfrm>
          <a:prstGeom prst="rect">
            <a:avLst/>
          </a:prstGeom>
          <a:solidFill>
            <a:srgbClr val="C99A3D"/>
          </a:solidFill>
          <a:ln w="12700">
            <a:solidFill>
              <a:srgbClr val="C99A3D"/>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298447"/>
            <a:ext cx="384048" cy="384049"/>
          </a:xfrm>
          <a:prstGeom prst="ellipse">
            <a:avLst/>
          </a:prstGeom>
          <a:solidFill>
            <a:srgbClr val="C99A3D"/>
          </a:solidFill>
          <a:ln w="12700">
            <a:solidFill>
              <a:srgbClr val="C99A3D"/>
            </a:solidFill>
          </a:ln>
        </p:spPr>
        <p:txBody>
          <a:bodyPr lIns="45719" rIns="45719"/>
          <a:lstStyle/>
          <a:p>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30" name="d0_q"/>
          <p:cNvSpPr txBox="1"/>
          <p:nvPr/>
        </p:nvSpPr>
        <p:spPr>
          <a:xfrm>
            <a:off x="1901951"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how long it takes to form a few centimetres of soil.</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32" name="A few hundred to about a thousand year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A few hundred to about a thousand years.</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298447"/>
            <a:ext cx="384049" cy="384049"/>
          </a:xfrm>
          <a:prstGeom prst="ellipse">
            <a:avLst/>
          </a:prstGeom>
          <a:solidFill>
            <a:srgbClr val="C99A3D"/>
          </a:solidFill>
          <a:ln w="12700">
            <a:solidFill>
              <a:srgbClr val="C99A3D"/>
            </a:solidFill>
          </a:ln>
        </p:spPr>
        <p:txBody>
          <a:bodyPr lIns="45719" rIns="45719"/>
          <a:lstStyle/>
          <a:p>
            <a:pPr/>
          </a:p>
        </p:txBody>
      </p:sp>
      <p:sp>
        <p:nvSpPr>
          <p:cNvPr id="36" name="d1_num"/>
          <p:cNvSpPr txBox="1"/>
          <p:nvPr/>
        </p:nvSpPr>
        <p:spPr>
          <a:xfrm>
            <a:off x="6745072" y="1388871"/>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37" name="d1_q"/>
          <p:cNvSpPr txBox="1"/>
          <p:nvPr/>
        </p:nvSpPr>
        <p:spPr>
          <a:xfrm>
            <a:off x="7275424"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roughly how long coal takes to form.</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39" name="Millions of year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Millions of years.</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2962655"/>
            <a:ext cx="384048" cy="384049"/>
          </a:xfrm>
          <a:prstGeom prst="ellipse">
            <a:avLst/>
          </a:prstGeom>
          <a:solidFill>
            <a:srgbClr val="C99A3D"/>
          </a:solidFill>
          <a:ln w="12700">
            <a:solidFill>
              <a:srgbClr val="C99A3D"/>
            </a:solidFill>
          </a:ln>
        </p:spPr>
        <p:txBody>
          <a:bodyPr lIns="45719" rIns="45719"/>
          <a:lstStyle/>
          <a:p>
            <a:pPr/>
          </a:p>
        </p:txBody>
      </p:sp>
      <p:sp>
        <p:nvSpPr>
          <p:cNvPr id="43" name="d2_num"/>
          <p:cNvSpPr txBox="1"/>
          <p:nvPr/>
        </p:nvSpPr>
        <p:spPr>
          <a:xfrm>
            <a:off x="1371600" y="30530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44" name="d2_q"/>
          <p:cNvSpPr txBox="1"/>
          <p:nvPr/>
        </p:nvSpPr>
        <p:spPr>
          <a:xfrm>
            <a:off x="1901951"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Does soil form faster or slower than coal?</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46" name="Faster; it takes centuries. Coal takes millions of year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Faster; it takes centuries. Coal takes millions of years.</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2962655"/>
            <a:ext cx="384049" cy="384049"/>
          </a:xfrm>
          <a:prstGeom prst="ellipse">
            <a:avLst/>
          </a:prstGeom>
          <a:solidFill>
            <a:srgbClr val="C99A3D"/>
          </a:solidFill>
          <a:ln w="12700">
            <a:solidFill>
              <a:srgbClr val="C99A3D"/>
            </a:solidFill>
          </a:ln>
        </p:spPr>
        <p:txBody>
          <a:bodyPr lIns="45719" rIns="45719"/>
          <a:lstStyle/>
          <a:p>
            <a:pPr/>
          </a:p>
        </p:txBody>
      </p:sp>
      <p:sp>
        <p:nvSpPr>
          <p:cNvPr id="50" name="d3_num"/>
          <p:cNvSpPr txBox="1"/>
          <p:nvPr/>
        </p:nvSpPr>
        <p:spPr>
          <a:xfrm>
            <a:off x="6745072" y="30530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51" name="d3_q"/>
          <p:cNvSpPr txBox="1"/>
          <p:nvPr/>
        </p:nvSpPr>
        <p:spPr>
          <a:xfrm>
            <a:off x="7275424"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why soil counts as non-renewable on a human timescale.</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53" name="It replenishes far slower than it is lost."/>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It replenishes far slower than it is lost.</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626864"/>
            <a:ext cx="384048" cy="384049"/>
          </a:xfrm>
          <a:prstGeom prst="ellipse">
            <a:avLst/>
          </a:prstGeom>
          <a:solidFill>
            <a:srgbClr val="C99A3D"/>
          </a:solidFill>
          <a:ln w="12700">
            <a:solidFill>
              <a:srgbClr val="C99A3D"/>
            </a:solidFill>
          </a:ln>
        </p:spPr>
        <p:txBody>
          <a:bodyPr lIns="45719" rIns="45719"/>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what happens to bare soil when heavy rain falls.</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60" name="Some of it is washed away."/>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Some of it is washed away.</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626864"/>
            <a:ext cx="384049" cy="384049"/>
          </a:xfrm>
          <a:prstGeom prst="ellipse">
            <a:avLst/>
          </a:prstGeom>
          <a:solidFill>
            <a:srgbClr val="C99A3D"/>
          </a:solidFill>
          <a:ln w="12700">
            <a:solidFill>
              <a:srgbClr val="C99A3D"/>
            </a:solidFill>
          </a:ln>
        </p:spPr>
        <p:txBody>
          <a:bodyPr lIns="45719" rIns="45719"/>
          <a:lstStyle/>
          <a:p>
            <a:pPr/>
          </a:p>
        </p:txBody>
      </p:sp>
      <p:sp>
        <p:nvSpPr>
          <p:cNvPr id="64" name="d5_num"/>
          <p:cNvSpPr txBox="1"/>
          <p:nvPr/>
        </p:nvSpPr>
        <p:spPr>
          <a:xfrm>
            <a:off x="6745072" y="47172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6</a:t>
            </a:r>
          </a:p>
        </p:txBody>
      </p:sp>
      <p:sp>
        <p:nvSpPr>
          <p:cNvPr id="65" name="d5_q"/>
          <p:cNvSpPr txBox="1"/>
          <p:nvPr/>
        </p:nvSpPr>
        <p:spPr>
          <a:xfrm>
            <a:off x="7275424"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State one thing that stops soil washing away.</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200"/>
              </a:pPr>
            </a:p>
          </p:txBody>
        </p:sp>
        <p:sp>
          <p:nvSpPr>
            <p:cNvPr id="67" name="Plants and their roots."/>
            <p:cNvSpPr txBox="1"/>
            <p:nvPr/>
          </p:nvSpPr>
          <p:spPr>
            <a:xfrm>
              <a:off x="35035" y="132032"/>
              <a:ext cx="4626746"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3D2B1F"/>
                  </a:solidFill>
                  <a:latin typeface="Arial"/>
                  <a:ea typeface="Arial"/>
                  <a:cs typeface="Arial"/>
                  <a:sym typeface="Arial"/>
                </a:defRPr>
              </a:lvl1pPr>
            </a:lstStyle>
            <a:p>
              <a:pPr/>
              <a:r>
                <a:t>Plants and their roots.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48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33" grpId="2"/>
      <p:bldP build="whole" bldLvl="1" animBg="1" rev="0" advAuto="0" spid="40" grpId="3"/>
      <p:bldP build="whole" bldLvl="1" animBg="1" rev="0" advAuto="0" spid="61" grpId="6"/>
      <p:bldP build="whole" bldLvl="1" animBg="1" rev="0" advAuto="0" spid="68" grpId="7"/>
      <p:bldP build="whole" bldLvl="1" animBg="1" rev="0" advAuto="0" spid="47" grpId="4"/>
      <p:bldP build="whole" bldLvl="1" animBg="1" rev="0" advAuto="0" spid="54" grpId="5"/>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Today</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Describe what erosion is and what causes it.</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Describe what desertification is.</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Explain how farming can cause both.</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p>
          </p:txBody>
        </p:sp>
        <p:sp>
          <p:nvSpPr>
            <p:cNvPr id="93" name="Centuries to make. Years to lose."/>
            <p:cNvSpPr txBox="1"/>
            <p:nvPr/>
          </p:nvSpPr>
          <p:spPr>
            <a:xfrm>
              <a:off x="36901" y="189159"/>
              <a:ext cx="10398821" cy="261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a:solidFill>
                    <a:srgbClr val="C99A3D"/>
                  </a:solidFill>
                  <a:latin typeface="Arial"/>
                  <a:ea typeface="Arial"/>
                  <a:cs typeface="Arial"/>
                  <a:sym typeface="Arial"/>
                </a:defRPr>
              </a:lvl1pPr>
            </a:lstStyle>
            <a:p>
              <a:pPr/>
              <a:r>
                <a:t>Centuries to make. Years to lose.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1" grpId="2"/>
      <p:bldP build="whole" bldLvl="1" animBg="1" rev="0" advAuto="0" spid="91" grpId="4"/>
      <p:bldP build="whole" bldLvl="1" animBg="1" rev="0" advAuto="0" spid="86" grpId="3"/>
      <p:bldP build="whole" bldLvl="1" animBg="1" rev="0" advAuto="0" spid="94"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59315"/>
            <a:ext cx="10472623" cy="4234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400"/>
              </a:lnSpc>
              <a:defRPr b="1" sz="2800">
                <a:solidFill>
                  <a:srgbClr val="3D2B1F"/>
                </a:solidFill>
                <a:latin typeface="Georgia"/>
                <a:ea typeface="Georgia"/>
                <a:cs typeface="Georgia"/>
                <a:sym typeface="Georgia"/>
              </a:defRPr>
            </a:lvl1pPr>
          </a:lstStyle>
          <a:p>
            <a:pPr/>
            <a:r>
              <a:t>Which order goes from quickest to slowest to form?</a:t>
            </a:r>
          </a:p>
        </p:txBody>
      </p:sp>
      <p:grpSp>
        <p:nvGrpSpPr>
          <p:cNvPr id="106" name="h0"/>
          <p:cNvGrpSpPr/>
          <p:nvPr/>
        </p:nvGrpSpPr>
        <p:grpSpPr>
          <a:xfrm>
            <a:off x="1170432" y="2487167"/>
            <a:ext cx="3307994" cy="1737361"/>
            <a:chOff x="0" y="0"/>
            <a:chExt cx="3307993" cy="1737360"/>
          </a:xfrm>
        </p:grpSpPr>
        <p:sp>
          <p:nvSpPr>
            <p:cNvPr id="103" name="h0_bg"/>
            <p:cNvSpPr/>
            <p:nvPr/>
          </p:nvSpPr>
          <p:spPr>
            <a:xfrm>
              <a:off x="0" y="0"/>
              <a:ext cx="3307994" cy="1737361"/>
            </a:xfrm>
            <a:prstGeom prst="roundRect">
              <a:avLst>
                <a:gd name="adj" fmla="val 526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4"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A</a:t>
              </a:r>
            </a:p>
          </p:txBody>
        </p:sp>
        <p:sp>
          <p:nvSpPr>
            <p:cNvPr id="105" name="h0_t"/>
            <p:cNvSpPr txBox="1"/>
            <p:nvPr/>
          </p:nvSpPr>
          <p:spPr>
            <a:xfrm>
              <a:off x="256032" y="658368"/>
              <a:ext cx="2795930" cy="5017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3D2B1F"/>
                  </a:solidFill>
                  <a:latin typeface="Georgia"/>
                  <a:ea typeface="Georgia"/>
                  <a:cs typeface="Georgia"/>
                  <a:sym typeface="Georgia"/>
                </a:defRPr>
              </a:lvl1pPr>
            </a:lstStyle>
            <a:p>
              <a:pPr/>
              <a:r>
                <a:t>A wheat crop, then a few cm of soil, then coal.</a:t>
              </a:r>
            </a:p>
          </p:txBody>
        </p:sp>
      </p:grpSp>
      <p:grpSp>
        <p:nvGrpSpPr>
          <p:cNvPr id="110" name="h1"/>
          <p:cNvGrpSpPr/>
          <p:nvPr/>
        </p:nvGrpSpPr>
        <p:grpSpPr>
          <a:xfrm>
            <a:off x="4752745" y="2487167"/>
            <a:ext cx="3307995" cy="1737361"/>
            <a:chOff x="0" y="0"/>
            <a:chExt cx="3307993" cy="1737360"/>
          </a:xfrm>
        </p:grpSpPr>
        <p:sp>
          <p:nvSpPr>
            <p:cNvPr id="107" name="h1_bg"/>
            <p:cNvSpPr/>
            <p:nvPr/>
          </p:nvSpPr>
          <p:spPr>
            <a:xfrm>
              <a:off x="0" y="0"/>
              <a:ext cx="3307994" cy="1737361"/>
            </a:xfrm>
            <a:prstGeom prst="roundRect">
              <a:avLst>
                <a:gd name="adj" fmla="val 526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8"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B</a:t>
              </a:r>
            </a:p>
          </p:txBody>
        </p:sp>
        <p:sp>
          <p:nvSpPr>
            <p:cNvPr id="109" name="h1_t"/>
            <p:cNvSpPr txBox="1"/>
            <p:nvPr/>
          </p:nvSpPr>
          <p:spPr>
            <a:xfrm>
              <a:off x="256032" y="658368"/>
              <a:ext cx="2795930" cy="5017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3D2B1F"/>
                  </a:solidFill>
                  <a:latin typeface="Georgia"/>
                  <a:ea typeface="Georgia"/>
                  <a:cs typeface="Georgia"/>
                  <a:sym typeface="Georgia"/>
                </a:defRPr>
              </a:lvl1pPr>
            </a:lstStyle>
            <a:p>
              <a:pPr/>
              <a:r>
                <a:t>Coal, then a few cm of soil, then a wheat crop.</a:t>
              </a:r>
            </a:p>
          </p:txBody>
        </p:sp>
      </p:grpSp>
      <p:grpSp>
        <p:nvGrpSpPr>
          <p:cNvPr id="114" name="h2"/>
          <p:cNvGrpSpPr/>
          <p:nvPr/>
        </p:nvGrpSpPr>
        <p:grpSpPr>
          <a:xfrm>
            <a:off x="8335061" y="2487167"/>
            <a:ext cx="3307994" cy="1737361"/>
            <a:chOff x="0" y="0"/>
            <a:chExt cx="3307993" cy="1737360"/>
          </a:xfrm>
        </p:grpSpPr>
        <p:sp>
          <p:nvSpPr>
            <p:cNvPr id="111" name="h2_bg"/>
            <p:cNvSpPr/>
            <p:nvPr/>
          </p:nvSpPr>
          <p:spPr>
            <a:xfrm>
              <a:off x="0" y="0"/>
              <a:ext cx="3307994" cy="1737361"/>
            </a:xfrm>
            <a:prstGeom prst="roundRect">
              <a:avLst>
                <a:gd name="adj" fmla="val 526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2"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C</a:t>
              </a:r>
            </a:p>
          </p:txBody>
        </p:sp>
        <p:sp>
          <p:nvSpPr>
            <p:cNvPr id="113" name="h2_t"/>
            <p:cNvSpPr txBox="1"/>
            <p:nvPr/>
          </p:nvSpPr>
          <p:spPr>
            <a:xfrm>
              <a:off x="256032" y="658368"/>
              <a:ext cx="2795930" cy="5017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3D2B1F"/>
                  </a:solidFill>
                  <a:latin typeface="Georgia"/>
                  <a:ea typeface="Georgia"/>
                  <a:cs typeface="Georgia"/>
                  <a:sym typeface="Georgia"/>
                </a:defRPr>
              </a:lvl1pPr>
            </a:lstStyle>
            <a:p>
              <a:pPr/>
              <a:r>
                <a:t>A few cm of soil, then a wheat crop, then coal.</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6"/>
                                        </p:tgtEl>
                                        <p:attrNameLst>
                                          <p:attrName>style.visibility</p:attrName>
                                        </p:attrNameLst>
                                      </p:cBhvr>
                                      <p:to>
                                        <p:strVal val="visible"/>
                                      </p:to>
                                    </p:set>
                                    <p:animEffect filter="fade" transition="in">
                                      <p:cBhvr>
                                        <p:cTn id="11" dur="400"/>
                                        <p:tgtEl>
                                          <p:spTgt spid="106"/>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0"/>
                                        </p:tgtEl>
                                        <p:attrNameLst>
                                          <p:attrName>style.visibility</p:attrName>
                                        </p:attrNameLst>
                                      </p:cBhvr>
                                      <p:to>
                                        <p:strVal val="visible"/>
                                      </p:to>
                                    </p:set>
                                    <p:animEffect filter="fade" transition="in">
                                      <p:cBhvr>
                                        <p:cTn id="15" dur="400"/>
                                        <p:tgtEl>
                                          <p:spTgt spid="110"/>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4"/>
                                        </p:tgtEl>
                                        <p:attrNameLst>
                                          <p:attrName>style.visibility</p:attrName>
                                        </p:attrNameLst>
                                      </p:cBhvr>
                                      <p:to>
                                        <p:strVal val="visible"/>
                                      </p:to>
                                    </p:set>
                                    <p:animEffect filter="fade" transition="in">
                                      <p:cBhvr>
                                        <p:cTn id="19" dur="4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4" grpId="4"/>
      <p:bldP build="whole" bldLvl="1" animBg="1" rev="0" advAuto="0" spid="106" grpId="2"/>
      <p:bldP build="whole" bldLvl="1" animBg="1" rev="0" advAuto="0" spid="110"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1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1" name="phase_pill"/>
          <p:cNvGrpSpPr/>
          <p:nvPr/>
        </p:nvGrpSpPr>
        <p:grpSpPr>
          <a:xfrm>
            <a:off x="1170432" y="310895"/>
            <a:ext cx="1623975" cy="329185"/>
            <a:chOff x="0" y="0"/>
            <a:chExt cx="1623974" cy="329184"/>
          </a:xfrm>
        </p:grpSpPr>
        <p:sp>
          <p:nvSpPr>
            <p:cNvPr id="11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20"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2"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What erosion is</a:t>
            </a:r>
          </a:p>
        </p:txBody>
      </p:sp>
      <p:grpSp>
        <p:nvGrpSpPr>
          <p:cNvPr id="125" name="def"/>
          <p:cNvGrpSpPr/>
          <p:nvPr/>
        </p:nvGrpSpPr>
        <p:grpSpPr>
          <a:xfrm>
            <a:off x="1170432" y="1965960"/>
            <a:ext cx="10472623" cy="868681"/>
            <a:chOff x="0" y="0"/>
            <a:chExt cx="10472622" cy="868680"/>
          </a:xfrm>
        </p:grpSpPr>
        <p:sp>
          <p:nvSpPr>
            <p:cNvPr id="123" name="def_bg"/>
            <p:cNvSpPr/>
            <p:nvPr/>
          </p:nvSpPr>
          <p:spPr>
            <a:xfrm>
              <a:off x="0" y="0"/>
              <a:ext cx="10472623" cy="868681"/>
            </a:xfrm>
            <a:prstGeom prst="roundRect">
              <a:avLst>
                <a:gd name="adj" fmla="val 1052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4" name="def_t"/>
            <p:cNvSpPr txBox="1"/>
            <p:nvPr/>
          </p:nvSpPr>
          <p:spPr>
            <a:xfrm>
              <a:off x="274319" y="304729"/>
              <a:ext cx="9923984"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3D2B1F"/>
                  </a:solidFill>
                  <a:latin typeface="Arial"/>
                  <a:ea typeface="Arial"/>
                  <a:cs typeface="Arial"/>
                  <a:sym typeface="Arial"/>
                </a:defRPr>
              </a:lvl1pPr>
            </a:lstStyle>
            <a:p>
              <a:pPr/>
              <a:r>
                <a:t>Erosion is soil being worn away and carried off by water or wind.</a:t>
              </a:r>
            </a:p>
          </p:txBody>
        </p:sp>
      </p:grpSp>
      <p:grpSp>
        <p:nvGrpSpPr>
          <p:cNvPr id="130" name="er0"/>
          <p:cNvGrpSpPr/>
          <p:nvPr/>
        </p:nvGrpSpPr>
        <p:grpSpPr>
          <a:xfrm>
            <a:off x="1170432" y="3035807"/>
            <a:ext cx="3344570" cy="2240281"/>
            <a:chOff x="0" y="0"/>
            <a:chExt cx="3344569" cy="2240279"/>
          </a:xfrm>
        </p:grpSpPr>
        <p:sp>
          <p:nvSpPr>
            <p:cNvPr id="126" name="er0_bg"/>
            <p:cNvSpPr/>
            <p:nvPr/>
          </p:nvSpPr>
          <p:spPr>
            <a:xfrm>
              <a:off x="0" y="0"/>
              <a:ext cx="3344570" cy="2240280"/>
            </a:xfrm>
            <a:prstGeom prst="roundRect">
              <a:avLst>
                <a:gd name="adj" fmla="val 40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27" name="er0_icon" descr="er0_icon"/>
            <p:cNvPicPr>
              <a:picLocks noChangeAspect="1"/>
            </p:cNvPicPr>
            <p:nvPr/>
          </p:nvPicPr>
          <p:blipFill>
            <a:blip r:embed="rId6">
              <a:extLst/>
            </a:blip>
            <a:stretch>
              <a:fillRect/>
            </a:stretch>
          </p:blipFill>
          <p:spPr>
            <a:xfrm>
              <a:off x="219456" y="201168"/>
              <a:ext cx="502921" cy="502921"/>
            </a:xfrm>
            <a:prstGeom prst="rect">
              <a:avLst/>
            </a:prstGeom>
            <a:ln w="12700" cap="flat">
              <a:noFill/>
              <a:miter lim="400000"/>
            </a:ln>
            <a:effectLst/>
          </p:spPr>
        </p:pic>
        <p:sp>
          <p:nvSpPr>
            <p:cNvPr id="128" name="er0_h"/>
            <p:cNvSpPr txBox="1"/>
            <p:nvPr/>
          </p:nvSpPr>
          <p:spPr>
            <a:xfrm>
              <a:off x="841248" y="331977"/>
              <a:ext cx="2338730"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WATER</a:t>
              </a:r>
            </a:p>
          </p:txBody>
        </p:sp>
        <p:sp>
          <p:nvSpPr>
            <p:cNvPr id="129" name="er0_t"/>
            <p:cNvSpPr txBox="1"/>
            <p:nvPr/>
          </p:nvSpPr>
          <p:spPr>
            <a:xfrm>
              <a:off x="219456" y="914399"/>
              <a:ext cx="2905658"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2A1D14"/>
                  </a:solidFill>
                  <a:latin typeface="Arial"/>
                  <a:ea typeface="Arial"/>
                  <a:cs typeface="Arial"/>
                  <a:sym typeface="Arial"/>
                </a:defRPr>
              </a:lvl1pPr>
            </a:lstStyle>
            <a:p>
              <a:pPr/>
              <a:r>
                <a:t>Rain hits bare soil and runs downhill, carrying soil with it.</a:t>
              </a:r>
            </a:p>
          </p:txBody>
        </p:sp>
      </p:grpSp>
      <p:grpSp>
        <p:nvGrpSpPr>
          <p:cNvPr id="135" name="er1"/>
          <p:cNvGrpSpPr/>
          <p:nvPr/>
        </p:nvGrpSpPr>
        <p:grpSpPr>
          <a:xfrm>
            <a:off x="4734457" y="3035807"/>
            <a:ext cx="3344571" cy="2240281"/>
            <a:chOff x="0" y="0"/>
            <a:chExt cx="3344569" cy="2240279"/>
          </a:xfrm>
        </p:grpSpPr>
        <p:sp>
          <p:nvSpPr>
            <p:cNvPr id="131" name="er1_bg"/>
            <p:cNvSpPr/>
            <p:nvPr/>
          </p:nvSpPr>
          <p:spPr>
            <a:xfrm>
              <a:off x="0" y="0"/>
              <a:ext cx="3344570" cy="2240280"/>
            </a:xfrm>
            <a:prstGeom prst="roundRect">
              <a:avLst>
                <a:gd name="adj" fmla="val 408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32" name="er1_icon" descr="er1_icon"/>
            <p:cNvPicPr>
              <a:picLocks noChangeAspect="1"/>
            </p:cNvPicPr>
            <p:nvPr/>
          </p:nvPicPr>
          <p:blipFill>
            <a:blip r:embed="rId7">
              <a:extLst/>
            </a:blip>
            <a:stretch>
              <a:fillRect/>
            </a:stretch>
          </p:blipFill>
          <p:spPr>
            <a:xfrm>
              <a:off x="219456" y="201168"/>
              <a:ext cx="502921" cy="502921"/>
            </a:xfrm>
            <a:prstGeom prst="rect">
              <a:avLst/>
            </a:prstGeom>
            <a:ln w="12700" cap="flat">
              <a:noFill/>
              <a:miter lim="400000"/>
            </a:ln>
            <a:effectLst/>
          </p:spPr>
        </p:pic>
        <p:sp>
          <p:nvSpPr>
            <p:cNvPr id="133" name="er1_h"/>
            <p:cNvSpPr txBox="1"/>
            <p:nvPr/>
          </p:nvSpPr>
          <p:spPr>
            <a:xfrm>
              <a:off x="841248" y="331977"/>
              <a:ext cx="2338730"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WIND</a:t>
              </a:r>
            </a:p>
          </p:txBody>
        </p:sp>
        <p:sp>
          <p:nvSpPr>
            <p:cNvPr id="134" name="er1_t"/>
            <p:cNvSpPr txBox="1"/>
            <p:nvPr/>
          </p:nvSpPr>
          <p:spPr>
            <a:xfrm>
              <a:off x="219456" y="914399"/>
              <a:ext cx="2905658"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2A1D14"/>
                  </a:solidFill>
                  <a:latin typeface="Arial"/>
                  <a:ea typeface="Arial"/>
                  <a:cs typeface="Arial"/>
                  <a:sym typeface="Arial"/>
                </a:defRPr>
              </a:lvl1pPr>
            </a:lstStyle>
            <a:p>
              <a:pPr/>
              <a:r>
                <a:t>Wind lifts dry, loose soil and blows it away.</a:t>
              </a:r>
            </a:p>
          </p:txBody>
        </p:sp>
      </p:grpSp>
      <p:grpSp>
        <p:nvGrpSpPr>
          <p:cNvPr id="140" name="er2"/>
          <p:cNvGrpSpPr/>
          <p:nvPr/>
        </p:nvGrpSpPr>
        <p:grpSpPr>
          <a:xfrm>
            <a:off x="8298484" y="3035807"/>
            <a:ext cx="3344571" cy="2240281"/>
            <a:chOff x="0" y="0"/>
            <a:chExt cx="3344569" cy="2240279"/>
          </a:xfrm>
        </p:grpSpPr>
        <p:sp>
          <p:nvSpPr>
            <p:cNvPr id="136" name="er2_bg"/>
            <p:cNvSpPr/>
            <p:nvPr/>
          </p:nvSpPr>
          <p:spPr>
            <a:xfrm>
              <a:off x="0" y="0"/>
              <a:ext cx="3344570" cy="2240280"/>
            </a:xfrm>
            <a:prstGeom prst="roundRect">
              <a:avLst>
                <a:gd name="adj" fmla="val 4082"/>
              </a:avLst>
            </a:prstGeom>
            <a:solidFill>
              <a:srgbClr val="ECE1CB"/>
            </a:solidFill>
            <a:ln w="16510" cap="flat">
              <a:solidFill>
                <a:srgbClr val="C99A3D"/>
              </a:solidFill>
              <a:prstDash val="solid"/>
              <a:round/>
            </a:ln>
            <a:effectLst/>
          </p:spPr>
          <p:txBody>
            <a:bodyPr wrap="square" lIns="45719" tIns="45719" rIns="45719" bIns="45719" numCol="1" anchor="t">
              <a:noAutofit/>
            </a:bodyPr>
            <a:lstStyle/>
            <a:p>
              <a:pPr/>
            </a:p>
          </p:txBody>
        </p:sp>
        <p:pic>
          <p:nvPicPr>
            <p:cNvPr id="137" name="er2_icon" descr="er2_icon"/>
            <p:cNvPicPr>
              <a:picLocks noChangeAspect="1"/>
            </p:cNvPicPr>
            <p:nvPr/>
          </p:nvPicPr>
          <p:blipFill>
            <a:blip r:embed="rId8">
              <a:extLst/>
            </a:blip>
            <a:stretch>
              <a:fillRect/>
            </a:stretch>
          </p:blipFill>
          <p:spPr>
            <a:xfrm>
              <a:off x="219456" y="201168"/>
              <a:ext cx="502921" cy="502921"/>
            </a:xfrm>
            <a:prstGeom prst="rect">
              <a:avLst/>
            </a:prstGeom>
            <a:ln w="12700" cap="flat">
              <a:noFill/>
              <a:miter lim="400000"/>
            </a:ln>
            <a:effectLst/>
          </p:spPr>
        </p:pic>
        <p:sp>
          <p:nvSpPr>
            <p:cNvPr id="138" name="er2_h"/>
            <p:cNvSpPr txBox="1"/>
            <p:nvPr/>
          </p:nvSpPr>
          <p:spPr>
            <a:xfrm>
              <a:off x="841248" y="331977"/>
              <a:ext cx="2338730"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PLANTS PROTECT</a:t>
              </a:r>
            </a:p>
          </p:txBody>
        </p:sp>
        <p:sp>
          <p:nvSpPr>
            <p:cNvPr id="139" name="er2_t"/>
            <p:cNvSpPr txBox="1"/>
            <p:nvPr/>
          </p:nvSpPr>
          <p:spPr>
            <a:xfrm>
              <a:off x="219456" y="914399"/>
              <a:ext cx="2905658"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2A1D14"/>
                  </a:solidFill>
                  <a:latin typeface="Arial"/>
                  <a:ea typeface="Arial"/>
                  <a:cs typeface="Arial"/>
                  <a:sym typeface="Arial"/>
                </a:defRPr>
              </a:lvl1pPr>
            </a:lstStyle>
            <a:p>
              <a:pPr/>
              <a:r>
                <a:t>Roots hold soil together. Leaves slow the rain.</a:t>
              </a:r>
            </a:p>
          </p:txBody>
        </p:sp>
      </p:grpSp>
      <p:grpSp>
        <p:nvGrpSpPr>
          <p:cNvPr id="143" name="er_banner"/>
          <p:cNvGrpSpPr/>
          <p:nvPr/>
        </p:nvGrpSpPr>
        <p:grpSpPr>
          <a:xfrm>
            <a:off x="1170432" y="5486400"/>
            <a:ext cx="10472623" cy="640081"/>
            <a:chOff x="0" y="0"/>
            <a:chExt cx="10472622" cy="640080"/>
          </a:xfrm>
        </p:grpSpPr>
        <p:sp>
          <p:nvSpPr>
            <p:cNvPr id="141" name="Rounded Rectangle"/>
            <p:cNvSpPr/>
            <p:nvPr/>
          </p:nvSpPr>
          <p:spPr>
            <a:xfrm>
              <a:off x="0" y="0"/>
              <a:ext cx="10472623" cy="640081"/>
            </a:xfrm>
            <a:prstGeom prst="roundRect">
              <a:avLst>
                <a:gd name="adj" fmla="val 17143"/>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600"/>
              </a:pPr>
            </a:p>
          </p:txBody>
        </p:sp>
        <p:sp>
          <p:nvSpPr>
            <p:cNvPr id="142" name="Erosion is natural. Bare soil makes it much faster."/>
            <p:cNvSpPr txBox="1"/>
            <p:nvPr/>
          </p:nvSpPr>
          <p:spPr>
            <a:xfrm>
              <a:off x="36901" y="207793"/>
              <a:ext cx="10398821" cy="2244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600">
                  <a:solidFill>
                    <a:srgbClr val="C99A3D"/>
                  </a:solidFill>
                  <a:latin typeface="Arial"/>
                  <a:ea typeface="Arial"/>
                  <a:cs typeface="Arial"/>
                  <a:sym typeface="Arial"/>
                </a:defRPr>
              </a:lvl1pPr>
            </a:lstStyle>
            <a:p>
              <a:pPr/>
              <a:r>
                <a:t>Erosion is natural. Bare soil makes it much faster.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5"/>
                                        </p:tgtEl>
                                        <p:attrNameLst>
                                          <p:attrName>style.visibility</p:attrName>
                                        </p:attrNameLst>
                                      </p:cBhvr>
                                      <p:to>
                                        <p:strVal val="visible"/>
                                      </p:to>
                                    </p:set>
                                    <p:animEffect filter="fade" transition="in">
                                      <p:cBhvr>
                                        <p:cTn id="11" dur="400"/>
                                        <p:tgtEl>
                                          <p:spTgt spid="12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0"/>
                                        </p:tgtEl>
                                        <p:attrNameLst>
                                          <p:attrName>style.visibility</p:attrName>
                                        </p:attrNameLst>
                                      </p:cBhvr>
                                      <p:to>
                                        <p:strVal val="visible"/>
                                      </p:to>
                                    </p:set>
                                    <p:animEffect filter="fade" transition="in">
                                      <p:cBhvr>
                                        <p:cTn id="16" dur="400"/>
                                        <p:tgtEl>
                                          <p:spTgt spid="13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5"/>
                                        </p:tgtEl>
                                        <p:attrNameLst>
                                          <p:attrName>style.visibility</p:attrName>
                                        </p:attrNameLst>
                                      </p:cBhvr>
                                      <p:to>
                                        <p:strVal val="visible"/>
                                      </p:to>
                                    </p:set>
                                    <p:animEffect filter="fade" transition="in">
                                      <p:cBhvr>
                                        <p:cTn id="21" dur="400"/>
                                        <p:tgtEl>
                                          <p:spTgt spid="13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40"/>
                                        </p:tgtEl>
                                        <p:attrNameLst>
                                          <p:attrName>style.visibility</p:attrName>
                                        </p:attrNameLst>
                                      </p:cBhvr>
                                      <p:to>
                                        <p:strVal val="visible"/>
                                      </p:to>
                                    </p:set>
                                    <p:animEffect filter="fade" transition="in">
                                      <p:cBhvr>
                                        <p:cTn id="26" dur="400"/>
                                        <p:tgtEl>
                                          <p:spTgt spid="140"/>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6" fill="hold">
                                  <p:stCondLst>
                                    <p:cond delay="0"/>
                                  </p:stCondLst>
                                  <p:iterate type="el" backwards="0">
                                    <p:tmAbs val="0"/>
                                  </p:iterate>
                                  <p:childTnLst>
                                    <p:set>
                                      <p:cBhvr>
                                        <p:cTn id="30" fill="hold"/>
                                        <p:tgtEl>
                                          <p:spTgt spid="143"/>
                                        </p:tgtEl>
                                        <p:attrNameLst>
                                          <p:attrName>style.visibility</p:attrName>
                                        </p:attrNameLst>
                                      </p:cBhvr>
                                      <p:to>
                                        <p:strVal val="visible"/>
                                      </p:to>
                                    </p:set>
                                    <p:anim calcmode="lin" valueType="num">
                                      <p:cBhvr>
                                        <p:cTn id="31" dur="400" fill="hold"/>
                                        <p:tgtEl>
                                          <p:spTgt spid="143"/>
                                        </p:tgtEl>
                                        <p:attrNameLst>
                                          <p:attrName>ppt_w</p:attrName>
                                        </p:attrNameLst>
                                      </p:cBhvr>
                                      <p:tavLst>
                                        <p:tav tm="0">
                                          <p:val>
                                            <p:fltVal val="0"/>
                                          </p:val>
                                        </p:tav>
                                        <p:tav tm="100000">
                                          <p:val>
                                            <p:strVal val="#ppt_w"/>
                                          </p:val>
                                        </p:tav>
                                      </p:tavLst>
                                    </p:anim>
                                    <p:anim calcmode="lin" valueType="num">
                                      <p:cBhvr>
                                        <p:cTn id="32" dur="400" fill="hold"/>
                                        <p:tgtEl>
                                          <p:spTgt spid="1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3" fill="hold" display="0">
                  <p:stCondLst>
                    <p:cond delay="indefinite"/>
                  </p:stCondLst>
                </p:cTn>
                <p:tgtEl>
                  <p:spTgt spid="118"/>
                </p:tgtEl>
              </p:cMediaNode>
            </p:video>
            <p:seq concurrent="1" prevAc="none" nextAc="seek">
              <p:cTn id="34" evtFilter="cancelBubble" nodeType="interactiveSeq" restart="whenNotActive" fill="hold">
                <p:stCondLst>
                  <p:cond delay="0" evt="onClick">
                    <p:tgtEl>
                      <p:spTgt spid="118"/>
                    </p:tgtEl>
                  </p:cond>
                </p:stCondLst>
                <p:endSync delay="0" evt="end">
                  <p:rtn val="all"/>
                </p:endSync>
                <p:childTnLst>
                  <p:par>
                    <p:cTn id="35" fill="hold">
                      <p:stCondLst>
                        <p:cond delay="0"/>
                      </p:stCondLst>
                      <p:childTnLst>
                        <p:par>
                          <p:cTn id="36" fill="hold">
                            <p:stCondLst>
                              <p:cond delay="0"/>
                            </p:stCondLst>
                            <p:childTnLst>
                              <p:par>
                                <p:cTn id="37" presetClass="mediacall" nodeType="clickEffect" presetSubtype="0" presetID="2" fill="hold">
                                  <p:stCondLst>
                                    <p:cond delay="0"/>
                                  </p:stCondLst>
                                  <p:childTnLst>
                                    <p:cmd type="call" cmd="togglePause">
                                      <p:cBhvr>
                                        <p:cTn id="38" dur="1" fill="hold"/>
                                        <p:tgtEl>
                                          <p:spTgt spid="118"/>
                                        </p:tgtEl>
                                      </p:cBhvr>
                                    </p:cmd>
                                  </p:childTnLst>
                                </p:cTn>
                              </p:par>
                            </p:childTnLst>
                          </p:cTn>
                        </p:par>
                      </p:childTnLst>
                    </p:cTn>
                  </p:par>
                </p:childTnLst>
              </p:cTn>
              <p:nextCondLst>
                <p:cond delay="0" evt="onClick">
                  <p:tgtEl>
                    <p:spTgt spid="118"/>
                  </p:tgtEl>
                </p:cond>
              </p:nextCondLst>
            </p:seq>
          </p:childTnLst>
        </p:cTn>
      </p:par>
    </p:tnLst>
    <p:bldLst>
      <p:bldP build="whole" bldLvl="1" animBg="1" rev="0" advAuto="0" spid="125" grpId="2"/>
      <p:bldP build="whole" bldLvl="1" animBg="1" rev="0" advAuto="0" spid="135" grpId="4"/>
      <p:bldP build="whole" bldLvl="1" animBg="1" rev="0" advAuto="0" spid="140" grpId="5"/>
      <p:bldP build="whole" bldLvl="1" animBg="1" rev="0" advAuto="0" spid="130" grpId="3"/>
      <p:bldP build="whole" bldLvl="1" animBg="1" rev="0" advAuto="0" spid="143" grpId="6"/>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4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0" name="phase_pill"/>
          <p:cNvGrpSpPr/>
          <p:nvPr/>
        </p:nvGrpSpPr>
        <p:grpSpPr>
          <a:xfrm>
            <a:off x="1170432" y="310895"/>
            <a:ext cx="2161643" cy="329185"/>
            <a:chOff x="0" y="0"/>
            <a:chExt cx="2161642" cy="329184"/>
          </a:xfrm>
        </p:grpSpPr>
        <p:sp>
          <p:nvSpPr>
            <p:cNvPr id="148" name="Rounded Rectangle"/>
            <p:cNvSpPr/>
            <p:nvPr/>
          </p:nvSpPr>
          <p:spPr>
            <a:xfrm>
              <a:off x="0" y="0"/>
              <a:ext cx="2161643"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49" name="PRACTICAL · 10 MIN"/>
            <p:cNvSpPr txBox="1"/>
            <p:nvPr/>
          </p:nvSpPr>
          <p:spPr>
            <a:xfrm>
              <a:off x="42851" y="90677"/>
              <a:ext cx="207594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PRACTICAL · 10 MIN</a:t>
              </a:r>
            </a:p>
          </p:txBody>
        </p:sp>
      </p:grpSp>
      <p:sp>
        <p:nvSpPr>
          <p:cNvPr id="151"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Erosion trays</a:t>
            </a:r>
          </a:p>
        </p:txBody>
      </p:sp>
      <p:grpSp>
        <p:nvGrpSpPr>
          <p:cNvPr id="162" name="trA"/>
          <p:cNvGrpSpPr/>
          <p:nvPr/>
        </p:nvGrpSpPr>
        <p:grpSpPr>
          <a:xfrm>
            <a:off x="1170432" y="1874520"/>
            <a:ext cx="3337560" cy="3017521"/>
            <a:chOff x="0" y="0"/>
            <a:chExt cx="3337559" cy="3017520"/>
          </a:xfrm>
        </p:grpSpPr>
        <p:sp>
          <p:nvSpPr>
            <p:cNvPr id="152" name="trA_bg"/>
            <p:cNvSpPr/>
            <p:nvPr/>
          </p:nvSpPr>
          <p:spPr>
            <a:xfrm>
              <a:off x="0" y="0"/>
              <a:ext cx="3337560" cy="3017521"/>
            </a:xfrm>
            <a:prstGeom prst="roundRect">
              <a:avLst>
                <a:gd name="adj" fmla="val 303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3" name="trA_h"/>
            <p:cNvSpPr txBox="1"/>
            <p:nvPr/>
          </p:nvSpPr>
          <p:spPr>
            <a:xfrm>
              <a:off x="182880" y="181102"/>
              <a:ext cx="2971800"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A   Bare soil</a:t>
              </a:r>
            </a:p>
          </p:txBody>
        </p:sp>
        <p:sp>
          <p:nvSpPr>
            <p:cNvPr id="154" name="trA_jug"/>
            <p:cNvSpPr/>
            <p:nvPr/>
          </p:nvSpPr>
          <p:spPr>
            <a:xfrm>
              <a:off x="256032" y="530352"/>
              <a:ext cx="502921" cy="566929"/>
            </a:xfrm>
            <a:prstGeom prst="roundRect">
              <a:avLst>
                <a:gd name="adj" fmla="val 14545"/>
              </a:avLst>
            </a:prstGeom>
            <a:solidFill>
              <a:srgbClr val="DCE7EE"/>
            </a:solidFill>
            <a:ln w="15240" cap="flat">
              <a:solidFill>
                <a:srgbClr val="3D2B1F"/>
              </a:solidFill>
              <a:prstDash val="solid"/>
              <a:round/>
            </a:ln>
            <a:effectLst/>
          </p:spPr>
          <p:txBody>
            <a:bodyPr wrap="square" lIns="45719" tIns="45719" rIns="45719" bIns="45719" numCol="1" anchor="t">
              <a:noAutofit/>
            </a:bodyPr>
            <a:lstStyle/>
            <a:p>
              <a:pPr/>
            </a:p>
          </p:txBody>
        </p:sp>
        <p:sp>
          <p:nvSpPr>
            <p:cNvPr id="155" name="trA_drop0"/>
            <p:cNvSpPr/>
            <p:nvPr/>
          </p:nvSpPr>
          <p:spPr>
            <a:xfrm>
              <a:off x="804671" y="969264"/>
              <a:ext cx="91441" cy="91441"/>
            </a:xfrm>
            <a:prstGeom prst="ellipse">
              <a:avLst/>
            </a:prstGeom>
            <a:solidFill>
              <a:srgbClr val="4A90C2"/>
            </a:solidFill>
            <a:ln w="12700" cap="flat">
              <a:solidFill>
                <a:srgbClr val="4A90C2"/>
              </a:solidFill>
              <a:prstDash val="solid"/>
              <a:round/>
            </a:ln>
            <a:effectLst/>
          </p:spPr>
          <p:txBody>
            <a:bodyPr wrap="square" lIns="45719" tIns="45719" rIns="45719" bIns="45719" numCol="1" anchor="t">
              <a:noAutofit/>
            </a:bodyPr>
            <a:lstStyle/>
            <a:p>
              <a:pPr/>
            </a:p>
          </p:txBody>
        </p:sp>
        <p:sp>
          <p:nvSpPr>
            <p:cNvPr id="156" name="trA_drop1"/>
            <p:cNvSpPr/>
            <p:nvPr/>
          </p:nvSpPr>
          <p:spPr>
            <a:xfrm>
              <a:off x="896111" y="1152144"/>
              <a:ext cx="91441" cy="91441"/>
            </a:xfrm>
            <a:prstGeom prst="ellipse">
              <a:avLst/>
            </a:prstGeom>
            <a:solidFill>
              <a:srgbClr val="4A90C2"/>
            </a:solidFill>
            <a:ln w="12700" cap="flat">
              <a:solidFill>
                <a:srgbClr val="4A90C2"/>
              </a:solidFill>
              <a:prstDash val="solid"/>
              <a:round/>
            </a:ln>
            <a:effectLst/>
          </p:spPr>
          <p:txBody>
            <a:bodyPr wrap="square" lIns="45719" tIns="45719" rIns="45719" bIns="45719" numCol="1" anchor="t">
              <a:noAutofit/>
            </a:bodyPr>
            <a:lstStyle/>
            <a:p>
              <a:pPr/>
            </a:p>
          </p:txBody>
        </p:sp>
        <p:sp>
          <p:nvSpPr>
            <p:cNvPr id="157" name="trA_drop2"/>
            <p:cNvSpPr/>
            <p:nvPr/>
          </p:nvSpPr>
          <p:spPr>
            <a:xfrm>
              <a:off x="987551" y="1335024"/>
              <a:ext cx="91441" cy="91441"/>
            </a:xfrm>
            <a:prstGeom prst="ellipse">
              <a:avLst/>
            </a:prstGeom>
            <a:solidFill>
              <a:srgbClr val="4A90C2"/>
            </a:solidFill>
            <a:ln w="12700" cap="flat">
              <a:solidFill>
                <a:srgbClr val="4A90C2"/>
              </a:solidFill>
              <a:prstDash val="solid"/>
              <a:round/>
            </a:ln>
            <a:effectLst/>
          </p:spPr>
          <p:txBody>
            <a:bodyPr wrap="square" lIns="45719" tIns="45719" rIns="45719" bIns="45719" numCol="1" anchor="t">
              <a:noAutofit/>
            </a:bodyPr>
            <a:lstStyle/>
            <a:p>
              <a:pPr/>
            </a:p>
          </p:txBody>
        </p:sp>
        <p:sp>
          <p:nvSpPr>
            <p:cNvPr id="158" name="trA_soil"/>
            <p:cNvSpPr/>
            <p:nvPr/>
          </p:nvSpPr>
          <p:spPr>
            <a:xfrm rot="600000">
              <a:off x="502920" y="1536191"/>
              <a:ext cx="2286000" cy="384049"/>
            </a:xfrm>
            <a:prstGeom prst="rect">
              <a:avLst/>
            </a:prstGeom>
            <a:solidFill>
              <a:srgbClr val="7A5238"/>
            </a:solidFill>
            <a:ln w="12700" cap="flat">
              <a:solidFill>
                <a:srgbClr val="4A3120"/>
              </a:solidFill>
              <a:prstDash val="solid"/>
              <a:round/>
            </a:ln>
            <a:effectLst/>
          </p:spPr>
          <p:txBody>
            <a:bodyPr wrap="square" lIns="45719" tIns="45719" rIns="45719" bIns="45719" numCol="1" anchor="t">
              <a:noAutofit/>
            </a:bodyPr>
            <a:lstStyle/>
            <a:p>
              <a:pPr/>
            </a:p>
          </p:txBody>
        </p:sp>
        <p:sp>
          <p:nvSpPr>
            <p:cNvPr id="159" name="trA_pot"/>
            <p:cNvSpPr/>
            <p:nvPr/>
          </p:nvSpPr>
          <p:spPr>
            <a:xfrm>
              <a:off x="2487167" y="2212848"/>
              <a:ext cx="603505" cy="457201"/>
            </a:xfrm>
            <a:prstGeom prst="roundRect">
              <a:avLst>
                <a:gd name="adj" fmla="val 12000"/>
              </a:avLst>
            </a:prstGeom>
            <a:solidFill>
              <a:srgbClr val="FFFFFF"/>
            </a:solidFill>
            <a:ln w="17780" cap="flat">
              <a:solidFill>
                <a:srgbClr val="3D2B1F"/>
              </a:solidFill>
              <a:prstDash val="solid"/>
              <a:round/>
            </a:ln>
            <a:effectLst/>
          </p:spPr>
          <p:txBody>
            <a:bodyPr wrap="square" lIns="45719" tIns="45719" rIns="45719" bIns="45719" numCol="1" anchor="t">
              <a:noAutofit/>
            </a:bodyPr>
            <a:lstStyle/>
            <a:p>
              <a:pPr/>
            </a:p>
          </p:txBody>
        </p:sp>
        <p:sp>
          <p:nvSpPr>
            <p:cNvPr id="160" name="trA_potlbl"/>
            <p:cNvSpPr txBox="1"/>
            <p:nvPr/>
          </p:nvSpPr>
          <p:spPr>
            <a:xfrm>
              <a:off x="2331719" y="2739435"/>
              <a:ext cx="91440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6B5A48"/>
                  </a:solidFill>
                  <a:latin typeface="Arial"/>
                  <a:ea typeface="Arial"/>
                  <a:cs typeface="Arial"/>
                  <a:sym typeface="Arial"/>
                </a:defRPr>
              </a:lvl1pPr>
            </a:lstStyle>
            <a:p>
              <a:pPr/>
              <a:r>
                <a:t>catch pot</a:t>
              </a:r>
            </a:p>
          </p:txBody>
        </p:sp>
        <p:sp>
          <p:nvSpPr>
            <p:cNvPr id="161" name="trA_juglbl"/>
            <p:cNvSpPr txBox="1"/>
            <p:nvPr/>
          </p:nvSpPr>
          <p:spPr>
            <a:xfrm>
              <a:off x="45720" y="1294683"/>
              <a:ext cx="50292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6B5A48"/>
                  </a:solidFill>
                  <a:latin typeface="Arial"/>
                  <a:ea typeface="Arial"/>
                  <a:cs typeface="Arial"/>
                  <a:sym typeface="Arial"/>
                </a:defRPr>
              </a:lvl1pPr>
            </a:lstStyle>
            <a:p>
              <a:pPr/>
              <a:r>
                <a:t>jug</a:t>
              </a:r>
            </a:p>
          </p:txBody>
        </p:sp>
      </p:grpSp>
      <p:grpSp>
        <p:nvGrpSpPr>
          <p:cNvPr id="174" name="trB"/>
          <p:cNvGrpSpPr/>
          <p:nvPr/>
        </p:nvGrpSpPr>
        <p:grpSpPr>
          <a:xfrm>
            <a:off x="4727447" y="1874520"/>
            <a:ext cx="3337561" cy="3017521"/>
            <a:chOff x="0" y="0"/>
            <a:chExt cx="3337559" cy="3017520"/>
          </a:xfrm>
        </p:grpSpPr>
        <p:sp>
          <p:nvSpPr>
            <p:cNvPr id="163" name="trB_bg"/>
            <p:cNvSpPr/>
            <p:nvPr/>
          </p:nvSpPr>
          <p:spPr>
            <a:xfrm>
              <a:off x="0" y="0"/>
              <a:ext cx="3337560" cy="3017521"/>
            </a:xfrm>
            <a:prstGeom prst="roundRect">
              <a:avLst>
                <a:gd name="adj" fmla="val 303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64" name="trB_h"/>
            <p:cNvSpPr txBox="1"/>
            <p:nvPr/>
          </p:nvSpPr>
          <p:spPr>
            <a:xfrm>
              <a:off x="182880" y="181102"/>
              <a:ext cx="2971800"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B   Grass cover</a:t>
              </a:r>
            </a:p>
          </p:txBody>
        </p:sp>
        <p:sp>
          <p:nvSpPr>
            <p:cNvPr id="165" name="trB_jug"/>
            <p:cNvSpPr/>
            <p:nvPr/>
          </p:nvSpPr>
          <p:spPr>
            <a:xfrm>
              <a:off x="256032" y="530352"/>
              <a:ext cx="502921" cy="566929"/>
            </a:xfrm>
            <a:prstGeom prst="roundRect">
              <a:avLst>
                <a:gd name="adj" fmla="val 14545"/>
              </a:avLst>
            </a:prstGeom>
            <a:solidFill>
              <a:srgbClr val="DCE7EE"/>
            </a:solidFill>
            <a:ln w="15240" cap="flat">
              <a:solidFill>
                <a:srgbClr val="3D2B1F"/>
              </a:solidFill>
              <a:prstDash val="solid"/>
              <a:round/>
            </a:ln>
            <a:effectLst/>
          </p:spPr>
          <p:txBody>
            <a:bodyPr wrap="square" lIns="45719" tIns="45719" rIns="45719" bIns="45719" numCol="1" anchor="t">
              <a:noAutofit/>
            </a:bodyPr>
            <a:lstStyle/>
            <a:p>
              <a:pPr/>
            </a:p>
          </p:txBody>
        </p:sp>
        <p:sp>
          <p:nvSpPr>
            <p:cNvPr id="166" name="trB_drop0"/>
            <p:cNvSpPr/>
            <p:nvPr/>
          </p:nvSpPr>
          <p:spPr>
            <a:xfrm>
              <a:off x="804671" y="969264"/>
              <a:ext cx="91441" cy="91441"/>
            </a:xfrm>
            <a:prstGeom prst="ellipse">
              <a:avLst/>
            </a:prstGeom>
            <a:solidFill>
              <a:srgbClr val="4A90C2"/>
            </a:solidFill>
            <a:ln w="12700" cap="flat">
              <a:solidFill>
                <a:srgbClr val="4A90C2"/>
              </a:solidFill>
              <a:prstDash val="solid"/>
              <a:round/>
            </a:ln>
            <a:effectLst/>
          </p:spPr>
          <p:txBody>
            <a:bodyPr wrap="square" lIns="45719" tIns="45719" rIns="45719" bIns="45719" numCol="1" anchor="t">
              <a:noAutofit/>
            </a:bodyPr>
            <a:lstStyle/>
            <a:p>
              <a:pPr/>
            </a:p>
          </p:txBody>
        </p:sp>
        <p:sp>
          <p:nvSpPr>
            <p:cNvPr id="167" name="trB_drop1"/>
            <p:cNvSpPr/>
            <p:nvPr/>
          </p:nvSpPr>
          <p:spPr>
            <a:xfrm>
              <a:off x="896111" y="1152144"/>
              <a:ext cx="91441" cy="91441"/>
            </a:xfrm>
            <a:prstGeom prst="ellipse">
              <a:avLst/>
            </a:prstGeom>
            <a:solidFill>
              <a:srgbClr val="4A90C2"/>
            </a:solidFill>
            <a:ln w="12700" cap="flat">
              <a:solidFill>
                <a:srgbClr val="4A90C2"/>
              </a:solidFill>
              <a:prstDash val="solid"/>
              <a:round/>
            </a:ln>
            <a:effectLst/>
          </p:spPr>
          <p:txBody>
            <a:bodyPr wrap="square" lIns="45719" tIns="45719" rIns="45719" bIns="45719" numCol="1" anchor="t">
              <a:noAutofit/>
            </a:bodyPr>
            <a:lstStyle/>
            <a:p>
              <a:pPr/>
            </a:p>
          </p:txBody>
        </p:sp>
        <p:sp>
          <p:nvSpPr>
            <p:cNvPr id="168" name="trB_drop2"/>
            <p:cNvSpPr/>
            <p:nvPr/>
          </p:nvSpPr>
          <p:spPr>
            <a:xfrm>
              <a:off x="987551" y="1335024"/>
              <a:ext cx="91441" cy="91441"/>
            </a:xfrm>
            <a:prstGeom prst="ellipse">
              <a:avLst/>
            </a:prstGeom>
            <a:solidFill>
              <a:srgbClr val="4A90C2"/>
            </a:solidFill>
            <a:ln w="12700" cap="flat">
              <a:solidFill>
                <a:srgbClr val="4A90C2"/>
              </a:solidFill>
              <a:prstDash val="solid"/>
              <a:round/>
            </a:ln>
            <a:effectLst/>
          </p:spPr>
          <p:txBody>
            <a:bodyPr wrap="square" lIns="45719" tIns="45719" rIns="45719" bIns="45719" numCol="1" anchor="t">
              <a:noAutofit/>
            </a:bodyPr>
            <a:lstStyle/>
            <a:p>
              <a:pPr/>
            </a:p>
          </p:txBody>
        </p:sp>
        <p:sp>
          <p:nvSpPr>
            <p:cNvPr id="169" name="trB_soil"/>
            <p:cNvSpPr/>
            <p:nvPr/>
          </p:nvSpPr>
          <p:spPr>
            <a:xfrm rot="600000">
              <a:off x="502920" y="1536191"/>
              <a:ext cx="2286000" cy="384049"/>
            </a:xfrm>
            <a:prstGeom prst="rect">
              <a:avLst/>
            </a:prstGeom>
            <a:solidFill>
              <a:srgbClr val="7A5238"/>
            </a:solidFill>
            <a:ln w="12700" cap="flat">
              <a:solidFill>
                <a:srgbClr val="4A3120"/>
              </a:solidFill>
              <a:prstDash val="solid"/>
              <a:round/>
            </a:ln>
            <a:effectLst/>
          </p:spPr>
          <p:txBody>
            <a:bodyPr wrap="square" lIns="45719" tIns="45719" rIns="45719" bIns="45719" numCol="1" anchor="t">
              <a:noAutofit/>
            </a:bodyPr>
            <a:lstStyle/>
            <a:p>
              <a:pPr/>
            </a:p>
          </p:txBody>
        </p:sp>
        <p:sp>
          <p:nvSpPr>
            <p:cNvPr id="170" name="trB_grass"/>
            <p:cNvSpPr/>
            <p:nvPr/>
          </p:nvSpPr>
          <p:spPr>
            <a:xfrm rot="600000">
              <a:off x="502920" y="1389887"/>
              <a:ext cx="2286000" cy="146305"/>
            </a:xfrm>
            <a:prstGeom prst="rect">
              <a:avLst/>
            </a:prstGeom>
            <a:solidFill>
              <a:srgbClr val="4E9A3F"/>
            </a:solidFill>
            <a:ln w="12700" cap="flat">
              <a:solidFill>
                <a:srgbClr val="4E9A3F"/>
              </a:solidFill>
              <a:prstDash val="solid"/>
              <a:round/>
            </a:ln>
            <a:effectLst/>
          </p:spPr>
          <p:txBody>
            <a:bodyPr wrap="square" lIns="45719" tIns="45719" rIns="45719" bIns="45719" numCol="1" anchor="t">
              <a:noAutofit/>
            </a:bodyPr>
            <a:lstStyle/>
            <a:p>
              <a:pPr/>
            </a:p>
          </p:txBody>
        </p:sp>
        <p:sp>
          <p:nvSpPr>
            <p:cNvPr id="171" name="trB_pot"/>
            <p:cNvSpPr/>
            <p:nvPr/>
          </p:nvSpPr>
          <p:spPr>
            <a:xfrm>
              <a:off x="2487167" y="2212848"/>
              <a:ext cx="603505" cy="457201"/>
            </a:xfrm>
            <a:prstGeom prst="roundRect">
              <a:avLst>
                <a:gd name="adj" fmla="val 12000"/>
              </a:avLst>
            </a:prstGeom>
            <a:solidFill>
              <a:srgbClr val="FFFFFF"/>
            </a:solidFill>
            <a:ln w="17780" cap="flat">
              <a:solidFill>
                <a:srgbClr val="3D2B1F"/>
              </a:solidFill>
              <a:prstDash val="solid"/>
              <a:round/>
            </a:ln>
            <a:effectLst/>
          </p:spPr>
          <p:txBody>
            <a:bodyPr wrap="square" lIns="45719" tIns="45719" rIns="45719" bIns="45719" numCol="1" anchor="t">
              <a:noAutofit/>
            </a:bodyPr>
            <a:lstStyle/>
            <a:p>
              <a:pPr/>
            </a:p>
          </p:txBody>
        </p:sp>
        <p:sp>
          <p:nvSpPr>
            <p:cNvPr id="172" name="trB_potlbl"/>
            <p:cNvSpPr txBox="1"/>
            <p:nvPr/>
          </p:nvSpPr>
          <p:spPr>
            <a:xfrm>
              <a:off x="2331719" y="2739435"/>
              <a:ext cx="91440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6B5A48"/>
                  </a:solidFill>
                  <a:latin typeface="Arial"/>
                  <a:ea typeface="Arial"/>
                  <a:cs typeface="Arial"/>
                  <a:sym typeface="Arial"/>
                </a:defRPr>
              </a:lvl1pPr>
            </a:lstStyle>
            <a:p>
              <a:pPr/>
              <a:r>
                <a:t>catch pot</a:t>
              </a:r>
            </a:p>
          </p:txBody>
        </p:sp>
        <p:sp>
          <p:nvSpPr>
            <p:cNvPr id="173" name="trB_juglbl"/>
            <p:cNvSpPr txBox="1"/>
            <p:nvPr/>
          </p:nvSpPr>
          <p:spPr>
            <a:xfrm>
              <a:off x="45720" y="1294683"/>
              <a:ext cx="502920"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000">
                  <a:solidFill>
                    <a:srgbClr val="6B5A48"/>
                  </a:solidFill>
                  <a:latin typeface="Arial"/>
                  <a:ea typeface="Arial"/>
                  <a:cs typeface="Arial"/>
                  <a:sym typeface="Arial"/>
                </a:defRPr>
              </a:lvl1pPr>
            </a:lstStyle>
            <a:p>
              <a:pPr/>
              <a:r>
                <a:t>jug</a:t>
              </a:r>
            </a:p>
          </p:txBody>
        </p:sp>
      </p:grpSp>
      <p:grpSp>
        <p:nvGrpSpPr>
          <p:cNvPr id="179" name="ps0"/>
          <p:cNvGrpSpPr/>
          <p:nvPr/>
        </p:nvGrpSpPr>
        <p:grpSpPr>
          <a:xfrm>
            <a:off x="8302752" y="1874520"/>
            <a:ext cx="3340304" cy="658369"/>
            <a:chOff x="0" y="0"/>
            <a:chExt cx="3340303" cy="658368"/>
          </a:xfrm>
        </p:grpSpPr>
        <p:sp>
          <p:nvSpPr>
            <p:cNvPr id="175" name="ps0_bg"/>
            <p:cNvSpPr/>
            <p:nvPr/>
          </p:nvSpPr>
          <p:spPr>
            <a:xfrm>
              <a:off x="0" y="0"/>
              <a:ext cx="3340304"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76" name="ps0_badge"/>
            <p:cNvSpPr/>
            <p:nvPr/>
          </p:nvSpPr>
          <p:spPr>
            <a:xfrm>
              <a:off x="128016" y="137160"/>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177" name="ps0_num"/>
            <p:cNvSpPr txBox="1"/>
            <p:nvPr/>
          </p:nvSpPr>
          <p:spPr>
            <a:xfrm>
              <a:off x="128016" y="22758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178" name="ps0_t"/>
            <p:cNvSpPr txBox="1"/>
            <p:nvPr/>
          </p:nvSpPr>
          <p:spPr>
            <a:xfrm>
              <a:off x="621792" y="128810"/>
              <a:ext cx="2608784"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2A1D14"/>
                  </a:solidFill>
                  <a:latin typeface="Arial"/>
                  <a:ea typeface="Arial"/>
                  <a:cs typeface="Arial"/>
                  <a:sym typeface="Arial"/>
                </a:defRPr>
              </a:lvl1pPr>
            </a:lstStyle>
            <a:p>
              <a:pPr/>
              <a:r>
                <a:t>Predict: which pot gets more soil?</a:t>
              </a:r>
            </a:p>
          </p:txBody>
        </p:sp>
      </p:grpSp>
      <p:grpSp>
        <p:nvGrpSpPr>
          <p:cNvPr id="184" name="ps1"/>
          <p:cNvGrpSpPr/>
          <p:nvPr/>
        </p:nvGrpSpPr>
        <p:grpSpPr>
          <a:xfrm>
            <a:off x="8302752" y="2660904"/>
            <a:ext cx="3340304" cy="658369"/>
            <a:chOff x="0" y="0"/>
            <a:chExt cx="3340303" cy="658368"/>
          </a:xfrm>
        </p:grpSpPr>
        <p:sp>
          <p:nvSpPr>
            <p:cNvPr id="180" name="ps1_bg"/>
            <p:cNvSpPr/>
            <p:nvPr/>
          </p:nvSpPr>
          <p:spPr>
            <a:xfrm>
              <a:off x="0" y="0"/>
              <a:ext cx="3340304"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81" name="ps1_badge"/>
            <p:cNvSpPr/>
            <p:nvPr/>
          </p:nvSpPr>
          <p:spPr>
            <a:xfrm>
              <a:off x="128016" y="137160"/>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182" name="ps1_num"/>
            <p:cNvSpPr txBox="1"/>
            <p:nvPr/>
          </p:nvSpPr>
          <p:spPr>
            <a:xfrm>
              <a:off x="128016" y="22758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183" name="ps1_t"/>
            <p:cNvSpPr txBox="1"/>
            <p:nvPr/>
          </p:nvSpPr>
          <p:spPr>
            <a:xfrm>
              <a:off x="621792" y="128810"/>
              <a:ext cx="2608784"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2A1D14"/>
                  </a:solidFill>
                  <a:latin typeface="Arial"/>
                  <a:ea typeface="Arial"/>
                  <a:cs typeface="Arial"/>
                  <a:sym typeface="Arial"/>
                </a:defRPr>
              </a:lvl1pPr>
            </a:lstStyle>
            <a:p>
              <a:pPr/>
              <a:r>
                <a:t>Pour the same amount of water down each tray.</a:t>
              </a:r>
            </a:p>
          </p:txBody>
        </p:sp>
      </p:grpSp>
      <p:grpSp>
        <p:nvGrpSpPr>
          <p:cNvPr id="189" name="ps2"/>
          <p:cNvGrpSpPr/>
          <p:nvPr/>
        </p:nvGrpSpPr>
        <p:grpSpPr>
          <a:xfrm>
            <a:off x="8302752" y="3447288"/>
            <a:ext cx="3340304" cy="658369"/>
            <a:chOff x="0" y="0"/>
            <a:chExt cx="3340303" cy="658368"/>
          </a:xfrm>
        </p:grpSpPr>
        <p:sp>
          <p:nvSpPr>
            <p:cNvPr id="185" name="ps2_bg"/>
            <p:cNvSpPr/>
            <p:nvPr/>
          </p:nvSpPr>
          <p:spPr>
            <a:xfrm>
              <a:off x="0" y="0"/>
              <a:ext cx="3340304"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86" name="ps2_badge"/>
            <p:cNvSpPr/>
            <p:nvPr/>
          </p:nvSpPr>
          <p:spPr>
            <a:xfrm>
              <a:off x="128016" y="137160"/>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187" name="ps2_num"/>
            <p:cNvSpPr txBox="1"/>
            <p:nvPr/>
          </p:nvSpPr>
          <p:spPr>
            <a:xfrm>
              <a:off x="128016" y="22758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188" name="ps2_t"/>
            <p:cNvSpPr txBox="1"/>
            <p:nvPr/>
          </p:nvSpPr>
          <p:spPr>
            <a:xfrm>
              <a:off x="621792" y="230410"/>
              <a:ext cx="2608784"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2A1D14"/>
                  </a:solidFill>
                  <a:latin typeface="Arial"/>
                  <a:ea typeface="Arial"/>
                  <a:cs typeface="Arial"/>
                  <a:sym typeface="Arial"/>
                </a:defRPr>
              </a:lvl1pPr>
            </a:lstStyle>
            <a:p>
              <a:pPr/>
              <a:r>
                <a:t>Look at the catch pots.</a:t>
              </a:r>
            </a:p>
          </p:txBody>
        </p:sp>
      </p:grpSp>
      <p:grpSp>
        <p:nvGrpSpPr>
          <p:cNvPr id="194" name="ps3"/>
          <p:cNvGrpSpPr/>
          <p:nvPr/>
        </p:nvGrpSpPr>
        <p:grpSpPr>
          <a:xfrm>
            <a:off x="8302752" y="4233671"/>
            <a:ext cx="3340304" cy="658369"/>
            <a:chOff x="0" y="0"/>
            <a:chExt cx="3340303" cy="658368"/>
          </a:xfrm>
        </p:grpSpPr>
        <p:sp>
          <p:nvSpPr>
            <p:cNvPr id="190" name="ps3_bg"/>
            <p:cNvSpPr/>
            <p:nvPr/>
          </p:nvSpPr>
          <p:spPr>
            <a:xfrm>
              <a:off x="0" y="0"/>
              <a:ext cx="3340304"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91" name="ps3_badge"/>
            <p:cNvSpPr/>
            <p:nvPr/>
          </p:nvSpPr>
          <p:spPr>
            <a:xfrm>
              <a:off x="128016" y="137160"/>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192" name="ps3_num"/>
            <p:cNvSpPr txBox="1"/>
            <p:nvPr/>
          </p:nvSpPr>
          <p:spPr>
            <a:xfrm>
              <a:off x="128016" y="227584"/>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193" name="ps3_t"/>
            <p:cNvSpPr txBox="1"/>
            <p:nvPr/>
          </p:nvSpPr>
          <p:spPr>
            <a:xfrm>
              <a:off x="621792" y="128810"/>
              <a:ext cx="2608784"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600"/>
                </a:lnSpc>
                <a:defRPr b="1" sz="1300">
                  <a:solidFill>
                    <a:srgbClr val="2A1D14"/>
                  </a:solidFill>
                  <a:latin typeface="Arial"/>
                  <a:ea typeface="Arial"/>
                  <a:cs typeface="Arial"/>
                  <a:sym typeface="Arial"/>
                </a:defRPr>
              </a:lvl1pPr>
            </a:lstStyle>
            <a:p>
              <a:pPr/>
              <a:r>
                <a:t>Compare the runoff (what collects in the catch pots).</a:t>
              </a:r>
            </a:p>
          </p:txBody>
        </p:sp>
      </p:grpSp>
      <p:grpSp>
        <p:nvGrpSpPr>
          <p:cNvPr id="197" name="fair_banner"/>
          <p:cNvGrpSpPr/>
          <p:nvPr/>
        </p:nvGrpSpPr>
        <p:grpSpPr>
          <a:xfrm>
            <a:off x="1170432" y="5093208"/>
            <a:ext cx="10472623" cy="566929"/>
            <a:chOff x="0" y="0"/>
            <a:chExt cx="10472622" cy="566927"/>
          </a:xfrm>
        </p:grpSpPr>
        <p:sp>
          <p:nvSpPr>
            <p:cNvPr id="195" name="Rounded Rectangle"/>
            <p:cNvSpPr/>
            <p:nvPr/>
          </p:nvSpPr>
          <p:spPr>
            <a:xfrm>
              <a:off x="0" y="0"/>
              <a:ext cx="10472623" cy="566928"/>
            </a:xfrm>
            <a:prstGeom prst="roundRect">
              <a:avLst>
                <a:gd name="adj" fmla="val 19355"/>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500"/>
              </a:pPr>
            </a:p>
          </p:txBody>
        </p:sp>
        <p:sp>
          <p:nvSpPr>
            <p:cNvPr id="196" name="A fair test: same soil, same slope, same water. Only the cover is different."/>
            <p:cNvSpPr txBox="1"/>
            <p:nvPr/>
          </p:nvSpPr>
          <p:spPr>
            <a:xfrm>
              <a:off x="36901" y="177360"/>
              <a:ext cx="10398821" cy="2122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500">
                  <a:solidFill>
                    <a:srgbClr val="C99A3D"/>
                  </a:solidFill>
                  <a:latin typeface="Arial"/>
                  <a:ea typeface="Arial"/>
                  <a:cs typeface="Arial"/>
                  <a:sym typeface="Arial"/>
                </a:defRPr>
              </a:lvl1pPr>
            </a:lstStyle>
            <a:p>
              <a:pPr/>
              <a:r>
                <a:t>A fair test: same soil, same slope, same water. Only the cover is different.</a:t>
              </a:r>
            </a:p>
          </p:txBody>
        </p:sp>
      </p:grpSp>
      <p:grpSp>
        <p:nvGrpSpPr>
          <p:cNvPr id="200" name="look_banner"/>
          <p:cNvGrpSpPr/>
          <p:nvPr/>
        </p:nvGrpSpPr>
        <p:grpSpPr>
          <a:xfrm>
            <a:off x="1170432" y="5788152"/>
            <a:ext cx="10472623" cy="566929"/>
            <a:chOff x="0" y="0"/>
            <a:chExt cx="10472622" cy="566927"/>
          </a:xfrm>
        </p:grpSpPr>
        <p:sp>
          <p:nvSpPr>
            <p:cNvPr id="198" name="Rounded Rectangle"/>
            <p:cNvSpPr/>
            <p:nvPr/>
          </p:nvSpPr>
          <p:spPr>
            <a:xfrm>
              <a:off x="0" y="0"/>
              <a:ext cx="10472623" cy="566928"/>
            </a:xfrm>
            <a:prstGeom prst="roundRect">
              <a:avLst>
                <a:gd name="adj" fmla="val 19355"/>
              </a:avLst>
            </a:prstGeom>
            <a:solidFill>
              <a:srgbClr val="ECE1CB"/>
            </a:solidFill>
            <a:ln w="19050" cap="flat">
              <a:solidFill>
                <a:srgbClr val="C99A3D"/>
              </a:solidFill>
              <a:prstDash val="solid"/>
              <a:round/>
            </a:ln>
            <a:effectLst/>
          </p:spPr>
          <p:txBody>
            <a:bodyPr wrap="square" lIns="45719" tIns="45719" rIns="45719" bIns="45719" numCol="1" anchor="ctr">
              <a:noAutofit/>
            </a:bodyPr>
            <a:lstStyle/>
            <a:p>
              <a:pPr algn="ctr">
                <a:defRPr sz="1500"/>
              </a:pPr>
            </a:p>
          </p:txBody>
        </p:sp>
        <p:sp>
          <p:nvSpPr>
            <p:cNvPr id="199" name="Usually: the bare tray gives muddy runoff and soil in its pot. The covered tray runs clearer."/>
            <p:cNvSpPr txBox="1"/>
            <p:nvPr/>
          </p:nvSpPr>
          <p:spPr>
            <a:xfrm>
              <a:off x="41663" y="177360"/>
              <a:ext cx="10389297" cy="2122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500">
                  <a:solidFill>
                    <a:srgbClr val="3D2B1F"/>
                  </a:solidFill>
                  <a:latin typeface="Arial"/>
                  <a:ea typeface="Arial"/>
                  <a:cs typeface="Arial"/>
                  <a:sym typeface="Arial"/>
                </a:defRPr>
              </a:lvl1pPr>
            </a:lstStyle>
            <a:p>
              <a:pPr/>
              <a:r>
                <a:t>Usually: the bare tray gives muddy runoff and soil in its pot. The covered tray runs clearer.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14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62"/>
                                        </p:tgtEl>
                                        <p:attrNameLst>
                                          <p:attrName>style.visibility</p:attrName>
                                        </p:attrNameLst>
                                      </p:cBhvr>
                                      <p:to>
                                        <p:strVal val="visible"/>
                                      </p:to>
                                    </p:set>
                                    <p:animEffect filter="fade" transition="in">
                                      <p:cBhvr>
                                        <p:cTn id="11" dur="400"/>
                                        <p:tgtEl>
                                          <p:spTgt spid="162"/>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74"/>
                                        </p:tgtEl>
                                        <p:attrNameLst>
                                          <p:attrName>style.visibility</p:attrName>
                                        </p:attrNameLst>
                                      </p:cBhvr>
                                      <p:to>
                                        <p:strVal val="visible"/>
                                      </p:to>
                                    </p:set>
                                    <p:animEffect filter="fade" transition="in">
                                      <p:cBhvr>
                                        <p:cTn id="15" dur="400"/>
                                        <p:tgtEl>
                                          <p:spTgt spid="174"/>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79"/>
                                        </p:tgtEl>
                                        <p:attrNameLst>
                                          <p:attrName>style.visibility</p:attrName>
                                        </p:attrNameLst>
                                      </p:cBhvr>
                                      <p:to>
                                        <p:strVal val="visible"/>
                                      </p:to>
                                    </p:set>
                                    <p:animEffect filter="fade" transition="in">
                                      <p:cBhvr>
                                        <p:cTn id="20" dur="400"/>
                                        <p:tgtEl>
                                          <p:spTgt spid="179"/>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184"/>
                                        </p:tgtEl>
                                        <p:attrNameLst>
                                          <p:attrName>style.visibility</p:attrName>
                                        </p:attrNameLst>
                                      </p:cBhvr>
                                      <p:to>
                                        <p:strVal val="visible"/>
                                      </p:to>
                                    </p:set>
                                    <p:animEffect filter="fade" transition="in">
                                      <p:cBhvr>
                                        <p:cTn id="24" dur="400"/>
                                        <p:tgtEl>
                                          <p:spTgt spid="184"/>
                                        </p:tgtEl>
                                      </p:cBhvr>
                                    </p:animEffect>
                                  </p:childTnLst>
                                </p:cTn>
                              </p:par>
                            </p:childTnLst>
                          </p:cTn>
                        </p:par>
                        <p:par>
                          <p:cTn id="25" fill="hold">
                            <p:stCondLst>
                              <p:cond delay="950"/>
                            </p:stCondLst>
                            <p:childTnLst>
                              <p:par>
                                <p:cTn id="26" presetClass="entr" nodeType="afterEffect" presetID="10" grpId="6" fill="hold">
                                  <p:stCondLst>
                                    <p:cond delay="300"/>
                                  </p:stCondLst>
                                  <p:iterate type="el" backwards="0">
                                    <p:tmAbs val="0"/>
                                  </p:iterate>
                                  <p:childTnLst>
                                    <p:set>
                                      <p:cBhvr>
                                        <p:cTn id="27" fill="hold"/>
                                        <p:tgtEl>
                                          <p:spTgt spid="189"/>
                                        </p:tgtEl>
                                        <p:attrNameLst>
                                          <p:attrName>style.visibility</p:attrName>
                                        </p:attrNameLst>
                                      </p:cBhvr>
                                      <p:to>
                                        <p:strVal val="visible"/>
                                      </p:to>
                                    </p:set>
                                    <p:animEffect filter="fade" transition="in">
                                      <p:cBhvr>
                                        <p:cTn id="28" dur="400"/>
                                        <p:tgtEl>
                                          <p:spTgt spid="189"/>
                                        </p:tgtEl>
                                      </p:cBhvr>
                                    </p:animEffect>
                                  </p:childTnLst>
                                </p:cTn>
                              </p:par>
                            </p:childTnLst>
                          </p:cTn>
                        </p:par>
                        <p:par>
                          <p:cTn id="29" fill="hold">
                            <p:stCondLst>
                              <p:cond delay="1650"/>
                            </p:stCondLst>
                            <p:childTnLst>
                              <p:par>
                                <p:cTn id="30" presetClass="entr" nodeType="afterEffect" presetID="10" grpId="7" fill="hold">
                                  <p:stCondLst>
                                    <p:cond delay="450"/>
                                  </p:stCondLst>
                                  <p:iterate type="el" backwards="0">
                                    <p:tmAbs val="0"/>
                                  </p:iterate>
                                  <p:childTnLst>
                                    <p:set>
                                      <p:cBhvr>
                                        <p:cTn id="31" fill="hold"/>
                                        <p:tgtEl>
                                          <p:spTgt spid="194"/>
                                        </p:tgtEl>
                                        <p:attrNameLst>
                                          <p:attrName>style.visibility</p:attrName>
                                        </p:attrNameLst>
                                      </p:cBhvr>
                                      <p:to>
                                        <p:strVal val="visible"/>
                                      </p:to>
                                    </p:set>
                                    <p:animEffect filter="fade" transition="in">
                                      <p:cBhvr>
                                        <p:cTn id="32" dur="400"/>
                                        <p:tgtEl>
                                          <p:spTgt spid="194"/>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16" presetID="23" grpId="8" fill="hold">
                                  <p:stCondLst>
                                    <p:cond delay="0"/>
                                  </p:stCondLst>
                                  <p:iterate type="el" backwards="0">
                                    <p:tmAbs val="0"/>
                                  </p:iterate>
                                  <p:childTnLst>
                                    <p:set>
                                      <p:cBhvr>
                                        <p:cTn id="36" fill="hold"/>
                                        <p:tgtEl>
                                          <p:spTgt spid="197"/>
                                        </p:tgtEl>
                                        <p:attrNameLst>
                                          <p:attrName>style.visibility</p:attrName>
                                        </p:attrNameLst>
                                      </p:cBhvr>
                                      <p:to>
                                        <p:strVal val="visible"/>
                                      </p:to>
                                    </p:set>
                                    <p:anim calcmode="lin" valueType="num">
                                      <p:cBhvr>
                                        <p:cTn id="37" dur="400" fill="hold"/>
                                        <p:tgtEl>
                                          <p:spTgt spid="197"/>
                                        </p:tgtEl>
                                        <p:attrNameLst>
                                          <p:attrName>ppt_w</p:attrName>
                                        </p:attrNameLst>
                                      </p:cBhvr>
                                      <p:tavLst>
                                        <p:tav tm="0">
                                          <p:val>
                                            <p:fltVal val="0"/>
                                          </p:val>
                                        </p:tav>
                                        <p:tav tm="100000">
                                          <p:val>
                                            <p:strVal val="#ppt_w"/>
                                          </p:val>
                                        </p:tav>
                                      </p:tavLst>
                                    </p:anim>
                                    <p:anim calcmode="lin" valueType="num">
                                      <p:cBhvr>
                                        <p:cTn id="38" dur="400" fill="hold"/>
                                        <p:tgtEl>
                                          <p:spTgt spid="197"/>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16" presetID="23" grpId="9" fill="hold">
                                  <p:stCondLst>
                                    <p:cond delay="0"/>
                                  </p:stCondLst>
                                  <p:iterate type="el" backwards="0">
                                    <p:tmAbs val="0"/>
                                  </p:iterate>
                                  <p:childTnLst>
                                    <p:set>
                                      <p:cBhvr>
                                        <p:cTn id="42" fill="hold"/>
                                        <p:tgtEl>
                                          <p:spTgt spid="200"/>
                                        </p:tgtEl>
                                        <p:attrNameLst>
                                          <p:attrName>style.visibility</p:attrName>
                                        </p:attrNameLst>
                                      </p:cBhvr>
                                      <p:to>
                                        <p:strVal val="visible"/>
                                      </p:to>
                                    </p:set>
                                    <p:anim calcmode="lin" valueType="num">
                                      <p:cBhvr>
                                        <p:cTn id="43" dur="400" fill="hold"/>
                                        <p:tgtEl>
                                          <p:spTgt spid="200"/>
                                        </p:tgtEl>
                                        <p:attrNameLst>
                                          <p:attrName>ppt_w</p:attrName>
                                        </p:attrNameLst>
                                      </p:cBhvr>
                                      <p:tavLst>
                                        <p:tav tm="0">
                                          <p:val>
                                            <p:fltVal val="0"/>
                                          </p:val>
                                        </p:tav>
                                        <p:tav tm="100000">
                                          <p:val>
                                            <p:strVal val="#ppt_w"/>
                                          </p:val>
                                        </p:tav>
                                      </p:tavLst>
                                    </p:anim>
                                    <p:anim calcmode="lin" valueType="num">
                                      <p:cBhvr>
                                        <p:cTn id="44" dur="400" fill="hold"/>
                                        <p:tgtEl>
                                          <p:spTgt spid="20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5" fill="hold" display="0">
                  <p:stCondLst>
                    <p:cond delay="indefinite"/>
                  </p:stCondLst>
                </p:cTn>
                <p:tgtEl>
                  <p:spTgt spid="147"/>
                </p:tgtEl>
              </p:cMediaNode>
            </p:video>
            <p:seq concurrent="1" prevAc="none" nextAc="seek">
              <p:cTn id="46" evtFilter="cancelBubble" nodeType="interactiveSeq" restart="whenNotActive" fill="hold">
                <p:stCondLst>
                  <p:cond delay="0" evt="onClick">
                    <p:tgtEl>
                      <p:spTgt spid="147"/>
                    </p:tgtEl>
                  </p:cond>
                </p:stCondLst>
                <p:endSync delay="0" evt="end">
                  <p:rtn val="all"/>
                </p:endSync>
                <p:childTnLst>
                  <p:par>
                    <p:cTn id="47" fill="hold">
                      <p:stCondLst>
                        <p:cond delay="0"/>
                      </p:stCondLst>
                      <p:childTnLst>
                        <p:par>
                          <p:cTn id="48" fill="hold">
                            <p:stCondLst>
                              <p:cond delay="0"/>
                            </p:stCondLst>
                            <p:childTnLst>
                              <p:par>
                                <p:cTn id="49" presetClass="mediacall" nodeType="clickEffect" presetSubtype="0" presetID="2" fill="hold">
                                  <p:stCondLst>
                                    <p:cond delay="0"/>
                                  </p:stCondLst>
                                  <p:childTnLst>
                                    <p:cmd type="call" cmd="togglePause">
                                      <p:cBhvr>
                                        <p:cTn id="50" dur="1" fill="hold"/>
                                        <p:tgtEl>
                                          <p:spTgt spid="147"/>
                                        </p:tgtEl>
                                      </p:cBhvr>
                                    </p:cmd>
                                  </p:childTnLst>
                                </p:cTn>
                              </p:par>
                            </p:childTnLst>
                          </p:cTn>
                        </p:par>
                      </p:childTnLst>
                    </p:cTn>
                  </p:par>
                </p:childTnLst>
              </p:cTn>
              <p:nextCondLst>
                <p:cond delay="0" evt="onClick">
                  <p:tgtEl>
                    <p:spTgt spid="147"/>
                  </p:tgtEl>
                </p:cond>
              </p:nextCondLst>
            </p:seq>
          </p:childTnLst>
        </p:cTn>
      </p:par>
    </p:tnLst>
    <p:bldLst>
      <p:bldP build="whole" bldLvl="1" animBg="1" rev="0" advAuto="0" spid="194" grpId="7"/>
      <p:bldP build="whole" bldLvl="1" animBg="1" rev="0" advAuto="0" spid="200" grpId="9"/>
      <p:bldP build="whole" bldLvl="1" animBg="1" rev="0" advAuto="0" spid="179" grpId="4"/>
      <p:bldP build="whole" bldLvl="1" animBg="1" rev="0" advAuto="0" spid="189" grpId="6"/>
      <p:bldP build="whole" bldLvl="1" animBg="1" rev="0" advAuto="0" spid="174" grpId="3"/>
      <p:bldP build="whole" bldLvl="1" animBg="1" rev="0" advAuto="0" spid="162" grpId="2"/>
      <p:bldP build="whole" bldLvl="1" animBg="1" rev="0" advAuto="0" spid="197" grpId="8"/>
      <p:bldP build="whole" bldLvl="1" animBg="1" rev="0" advAuto="0" spid="184" grpId="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0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7" name="phase_pill"/>
          <p:cNvGrpSpPr/>
          <p:nvPr/>
        </p:nvGrpSpPr>
        <p:grpSpPr>
          <a:xfrm>
            <a:off x="1170432" y="310895"/>
            <a:ext cx="1623975" cy="329185"/>
            <a:chOff x="0" y="0"/>
            <a:chExt cx="1623974" cy="329184"/>
          </a:xfrm>
        </p:grpSpPr>
        <p:sp>
          <p:nvSpPr>
            <p:cNvPr id="205"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06"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208"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How farming causes both</a:t>
            </a:r>
          </a:p>
        </p:txBody>
      </p:sp>
      <p:sp>
        <p:nvSpPr>
          <p:cNvPr id="209"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B5A48"/>
                </a:solidFill>
                <a:latin typeface="Arial"/>
                <a:ea typeface="Arial"/>
                <a:cs typeface="Arial"/>
                <a:sym typeface="Arial"/>
              </a:defRPr>
            </a:lvl1pPr>
          </a:lstStyle>
          <a:p>
            <a:pPr/>
            <a:r>
              <a:t>Desertification: fertile land in a dry area turning into desert-like land.</a:t>
            </a:r>
          </a:p>
        </p:txBody>
      </p:sp>
      <p:grpSp>
        <p:nvGrpSpPr>
          <p:cNvPr id="214" name="fc0"/>
          <p:cNvGrpSpPr/>
          <p:nvPr/>
        </p:nvGrpSpPr>
        <p:grpSpPr>
          <a:xfrm>
            <a:off x="1170432" y="2212848"/>
            <a:ext cx="4846321" cy="1005841"/>
            <a:chOff x="0" y="0"/>
            <a:chExt cx="4846320" cy="1005839"/>
          </a:xfrm>
        </p:grpSpPr>
        <p:sp>
          <p:nvSpPr>
            <p:cNvPr id="210" name="fc0_bg"/>
            <p:cNvSpPr/>
            <p:nvPr/>
          </p:nvSpPr>
          <p:spPr>
            <a:xfrm>
              <a:off x="0" y="0"/>
              <a:ext cx="4846321" cy="1005840"/>
            </a:xfrm>
            <a:prstGeom prst="roundRect">
              <a:avLst>
                <a:gd name="adj" fmla="val 9091"/>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211" name="fc0_icon" descr="fc0_icon"/>
            <p:cNvPicPr>
              <a:picLocks noChangeAspect="1"/>
            </p:cNvPicPr>
            <p:nvPr/>
          </p:nvPicPr>
          <p:blipFill>
            <a:blip r:embed="rId6">
              <a:extLst/>
            </a:blip>
            <a:stretch>
              <a:fillRect/>
            </a:stretch>
          </p:blipFill>
          <p:spPr>
            <a:xfrm>
              <a:off x="201167" y="237743"/>
              <a:ext cx="530354" cy="530353"/>
            </a:xfrm>
            <a:prstGeom prst="rect">
              <a:avLst/>
            </a:prstGeom>
            <a:ln w="12700" cap="flat">
              <a:noFill/>
              <a:miter lim="400000"/>
            </a:ln>
            <a:effectLst/>
          </p:spPr>
        </p:pic>
        <p:sp>
          <p:nvSpPr>
            <p:cNvPr id="212" name="fc0_h"/>
            <p:cNvSpPr txBox="1"/>
            <p:nvPr/>
          </p:nvSpPr>
          <p:spPr>
            <a:xfrm>
              <a:off x="896111" y="162813"/>
              <a:ext cx="3794762"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Ploughing</a:t>
              </a:r>
            </a:p>
          </p:txBody>
        </p:sp>
        <p:sp>
          <p:nvSpPr>
            <p:cNvPr id="213" name="fc0_t"/>
            <p:cNvSpPr txBox="1"/>
            <p:nvPr/>
          </p:nvSpPr>
          <p:spPr>
            <a:xfrm>
              <a:off x="896111" y="475487"/>
              <a:ext cx="3794762"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6B5A48"/>
                  </a:solidFill>
                  <a:latin typeface="Arial"/>
                  <a:ea typeface="Arial"/>
                  <a:cs typeface="Arial"/>
                  <a:sym typeface="Arial"/>
                </a:defRPr>
              </a:lvl1pPr>
            </a:lstStyle>
            <a:p>
              <a:pPr/>
              <a:r>
                <a:t>Leaves soil bare and cuts the roots that hold it.</a:t>
              </a:r>
            </a:p>
          </p:txBody>
        </p:sp>
      </p:grpSp>
      <p:grpSp>
        <p:nvGrpSpPr>
          <p:cNvPr id="219" name="fc1"/>
          <p:cNvGrpSpPr/>
          <p:nvPr/>
        </p:nvGrpSpPr>
        <p:grpSpPr>
          <a:xfrm>
            <a:off x="1170432" y="3401567"/>
            <a:ext cx="4846321" cy="1005841"/>
            <a:chOff x="0" y="0"/>
            <a:chExt cx="4846320" cy="1005839"/>
          </a:xfrm>
        </p:grpSpPr>
        <p:sp>
          <p:nvSpPr>
            <p:cNvPr id="215" name="fc1_bg"/>
            <p:cNvSpPr/>
            <p:nvPr/>
          </p:nvSpPr>
          <p:spPr>
            <a:xfrm>
              <a:off x="0" y="0"/>
              <a:ext cx="4846321" cy="1005840"/>
            </a:xfrm>
            <a:prstGeom prst="roundRect">
              <a:avLst>
                <a:gd name="adj" fmla="val 9091"/>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216" name="fc1_icon" descr="fc1_icon"/>
            <p:cNvPicPr>
              <a:picLocks noChangeAspect="1"/>
            </p:cNvPicPr>
            <p:nvPr/>
          </p:nvPicPr>
          <p:blipFill>
            <a:blip r:embed="rId7">
              <a:extLst/>
            </a:blip>
            <a:stretch>
              <a:fillRect/>
            </a:stretch>
          </p:blipFill>
          <p:spPr>
            <a:xfrm>
              <a:off x="201167" y="237743"/>
              <a:ext cx="530354" cy="530353"/>
            </a:xfrm>
            <a:prstGeom prst="rect">
              <a:avLst/>
            </a:prstGeom>
            <a:ln w="12700" cap="flat">
              <a:noFill/>
              <a:miter lim="400000"/>
            </a:ln>
            <a:effectLst/>
          </p:spPr>
        </p:pic>
        <p:sp>
          <p:nvSpPr>
            <p:cNvPr id="217" name="fc1_h"/>
            <p:cNvSpPr txBox="1"/>
            <p:nvPr/>
          </p:nvSpPr>
          <p:spPr>
            <a:xfrm>
              <a:off x="896111" y="162813"/>
              <a:ext cx="3794762"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Too many animals</a:t>
              </a:r>
            </a:p>
          </p:txBody>
        </p:sp>
        <p:sp>
          <p:nvSpPr>
            <p:cNvPr id="218" name="fc1_t"/>
            <p:cNvSpPr txBox="1"/>
            <p:nvPr/>
          </p:nvSpPr>
          <p:spPr>
            <a:xfrm>
              <a:off x="896111" y="475487"/>
              <a:ext cx="3794762"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6B5A48"/>
                  </a:solidFill>
                  <a:latin typeface="Arial"/>
                  <a:ea typeface="Arial"/>
                  <a:cs typeface="Arial"/>
                  <a:sym typeface="Arial"/>
                </a:defRPr>
              </a:lvl1pPr>
            </a:lstStyle>
            <a:p>
              <a:pPr/>
              <a:r>
                <a:t>Plants are eaten down and their roots die.</a:t>
              </a:r>
            </a:p>
          </p:txBody>
        </p:sp>
      </p:grpSp>
      <p:grpSp>
        <p:nvGrpSpPr>
          <p:cNvPr id="224" name="fc2"/>
          <p:cNvGrpSpPr/>
          <p:nvPr/>
        </p:nvGrpSpPr>
        <p:grpSpPr>
          <a:xfrm>
            <a:off x="1170432" y="4590288"/>
            <a:ext cx="4846321" cy="1005840"/>
            <a:chOff x="0" y="0"/>
            <a:chExt cx="4846320" cy="1005839"/>
          </a:xfrm>
        </p:grpSpPr>
        <p:sp>
          <p:nvSpPr>
            <p:cNvPr id="220" name="fc2_bg"/>
            <p:cNvSpPr/>
            <p:nvPr/>
          </p:nvSpPr>
          <p:spPr>
            <a:xfrm>
              <a:off x="0" y="0"/>
              <a:ext cx="4846321" cy="1005840"/>
            </a:xfrm>
            <a:prstGeom prst="roundRect">
              <a:avLst>
                <a:gd name="adj" fmla="val 9091"/>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221" name="fc2_icon" descr="fc2_icon"/>
            <p:cNvPicPr>
              <a:picLocks noChangeAspect="1"/>
            </p:cNvPicPr>
            <p:nvPr/>
          </p:nvPicPr>
          <p:blipFill>
            <a:blip r:embed="rId8">
              <a:extLst/>
            </a:blip>
            <a:stretch>
              <a:fillRect/>
            </a:stretch>
          </p:blipFill>
          <p:spPr>
            <a:xfrm>
              <a:off x="201167" y="237743"/>
              <a:ext cx="530354" cy="530353"/>
            </a:xfrm>
            <a:prstGeom prst="rect">
              <a:avLst/>
            </a:prstGeom>
            <a:ln w="12700" cap="flat">
              <a:noFill/>
              <a:miter lim="400000"/>
            </a:ln>
            <a:effectLst/>
          </p:spPr>
        </p:pic>
        <p:sp>
          <p:nvSpPr>
            <p:cNvPr id="222" name="fc2_h"/>
            <p:cNvSpPr txBox="1"/>
            <p:nvPr/>
          </p:nvSpPr>
          <p:spPr>
            <a:xfrm>
              <a:off x="896111" y="162813"/>
              <a:ext cx="3794762"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Georgia"/>
                  <a:ea typeface="Georgia"/>
                  <a:cs typeface="Georgia"/>
                  <a:sym typeface="Georgia"/>
                </a:defRPr>
              </a:lvl1pPr>
            </a:lstStyle>
            <a:p>
              <a:pPr/>
              <a:r>
                <a:t>Clearing trees and hedges</a:t>
              </a:r>
            </a:p>
          </p:txBody>
        </p:sp>
        <p:sp>
          <p:nvSpPr>
            <p:cNvPr id="223" name="fc2_t"/>
            <p:cNvSpPr txBox="1"/>
            <p:nvPr/>
          </p:nvSpPr>
          <p:spPr>
            <a:xfrm>
              <a:off x="896111" y="475487"/>
              <a:ext cx="3794762" cy="197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6B5A48"/>
                  </a:solidFill>
                  <a:latin typeface="Arial"/>
                  <a:ea typeface="Arial"/>
                  <a:cs typeface="Arial"/>
                  <a:sym typeface="Arial"/>
                </a:defRPr>
              </a:lvl1pPr>
            </a:lstStyle>
            <a:p>
              <a:pPr/>
              <a:r>
                <a:t>No roots, and no shelter from the wind.</a:t>
              </a:r>
            </a:p>
          </p:txBody>
        </p:sp>
      </p:grpSp>
      <p:grpSp>
        <p:nvGrpSpPr>
          <p:cNvPr id="229" name="chain0"/>
          <p:cNvGrpSpPr/>
          <p:nvPr/>
        </p:nvGrpSpPr>
        <p:grpSpPr>
          <a:xfrm>
            <a:off x="6428232" y="2212848"/>
            <a:ext cx="5214824" cy="905256"/>
            <a:chOff x="0" y="0"/>
            <a:chExt cx="5214823" cy="905255"/>
          </a:xfrm>
        </p:grpSpPr>
        <p:grpSp>
          <p:nvGrpSpPr>
            <p:cNvPr id="227" name="ch0"/>
            <p:cNvGrpSpPr/>
            <p:nvPr/>
          </p:nvGrpSpPr>
          <p:grpSpPr>
            <a:xfrm>
              <a:off x="0" y="0"/>
              <a:ext cx="5214824" cy="658368"/>
              <a:chOff x="0" y="0"/>
              <a:chExt cx="5214823" cy="658367"/>
            </a:xfrm>
          </p:grpSpPr>
          <p:sp>
            <p:nvSpPr>
              <p:cNvPr id="225" name="Rounded Rectangle"/>
              <p:cNvSpPr/>
              <p:nvPr/>
            </p:nvSpPr>
            <p:spPr>
              <a:xfrm>
                <a:off x="0" y="0"/>
                <a:ext cx="5214824" cy="658368"/>
              </a:xfrm>
              <a:prstGeom prst="roundRect">
                <a:avLst>
                  <a:gd name="adj" fmla="val 13889"/>
                </a:avLst>
              </a:prstGeom>
              <a:solidFill>
                <a:srgbClr val="FFFFFF"/>
              </a:solidFill>
              <a:ln w="19050" cap="flat">
                <a:solidFill>
                  <a:srgbClr val="C99A3D"/>
                </a:solidFill>
                <a:prstDash val="solid"/>
                <a:round/>
              </a:ln>
              <a:effectLst/>
            </p:spPr>
            <p:txBody>
              <a:bodyPr wrap="square" lIns="45719" tIns="45719" rIns="45719" bIns="45719" numCol="1" anchor="ctr">
                <a:noAutofit/>
              </a:bodyPr>
              <a:lstStyle/>
              <a:p>
                <a:pPr algn="ctr">
                  <a:defRPr sz="1400"/>
                </a:pPr>
              </a:p>
            </p:txBody>
          </p:sp>
          <p:sp>
            <p:nvSpPr>
              <p:cNvPr id="226" name="Plant cover is removed"/>
              <p:cNvSpPr txBox="1"/>
              <p:nvPr/>
            </p:nvSpPr>
            <p:spPr>
              <a:xfrm>
                <a:off x="36307" y="229221"/>
                <a:ext cx="5142209" cy="1999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400">
                    <a:solidFill>
                      <a:srgbClr val="3D2B1F"/>
                    </a:solidFill>
                    <a:latin typeface="Arial"/>
                    <a:ea typeface="Arial"/>
                    <a:cs typeface="Arial"/>
                    <a:sym typeface="Arial"/>
                  </a:defRPr>
                </a:lvl1pPr>
              </a:lstStyle>
              <a:p>
                <a:pPr/>
                <a:r>
                  <a:t>Plant cover is removed</a:t>
                </a:r>
              </a:p>
            </p:txBody>
          </p:sp>
        </p:grpSp>
        <p:sp>
          <p:nvSpPr>
            <p:cNvPr id="228" name="ch0_arrow"/>
            <p:cNvSpPr/>
            <p:nvPr/>
          </p:nvSpPr>
          <p:spPr>
            <a:xfrm rot="5400000">
              <a:off x="2497684" y="694943"/>
              <a:ext cx="219457" cy="201169"/>
            </a:xfrm>
            <a:prstGeom prst="rightArrow">
              <a:avLst>
                <a:gd name="adj1" fmla="val 50000"/>
                <a:gd name="adj2" fmla="val 50000"/>
              </a:avLst>
            </a:prstGeom>
            <a:solidFill>
              <a:srgbClr val="8F6D2A"/>
            </a:solidFill>
            <a:ln w="12700" cap="flat">
              <a:solidFill>
                <a:srgbClr val="8F6D2A"/>
              </a:solidFill>
              <a:prstDash val="solid"/>
              <a:round/>
            </a:ln>
            <a:effectLst/>
          </p:spPr>
          <p:txBody>
            <a:bodyPr wrap="square" lIns="45719" tIns="45719" rIns="45719" bIns="45719" numCol="1" anchor="t">
              <a:noAutofit/>
            </a:bodyPr>
            <a:lstStyle/>
            <a:p>
              <a:pPr/>
            </a:p>
          </p:txBody>
        </p:sp>
      </p:grpSp>
      <p:grpSp>
        <p:nvGrpSpPr>
          <p:cNvPr id="234" name="chain1"/>
          <p:cNvGrpSpPr/>
          <p:nvPr/>
        </p:nvGrpSpPr>
        <p:grpSpPr>
          <a:xfrm>
            <a:off x="6428232" y="3145535"/>
            <a:ext cx="5214824" cy="905257"/>
            <a:chOff x="0" y="0"/>
            <a:chExt cx="5214823" cy="905255"/>
          </a:xfrm>
        </p:grpSpPr>
        <p:grpSp>
          <p:nvGrpSpPr>
            <p:cNvPr id="232" name="ch1"/>
            <p:cNvGrpSpPr/>
            <p:nvPr/>
          </p:nvGrpSpPr>
          <p:grpSpPr>
            <a:xfrm>
              <a:off x="0" y="0"/>
              <a:ext cx="5214824" cy="658368"/>
              <a:chOff x="0" y="0"/>
              <a:chExt cx="5214823" cy="658367"/>
            </a:xfrm>
          </p:grpSpPr>
          <p:sp>
            <p:nvSpPr>
              <p:cNvPr id="230" name="Rounded Rectangle"/>
              <p:cNvSpPr/>
              <p:nvPr/>
            </p:nvSpPr>
            <p:spPr>
              <a:xfrm>
                <a:off x="0" y="0"/>
                <a:ext cx="5214824" cy="658368"/>
              </a:xfrm>
              <a:prstGeom prst="roundRect">
                <a:avLst>
                  <a:gd name="adj" fmla="val 13889"/>
                </a:avLst>
              </a:prstGeom>
              <a:solidFill>
                <a:srgbClr val="FFFFFF"/>
              </a:solidFill>
              <a:ln w="19050" cap="flat">
                <a:solidFill>
                  <a:srgbClr val="C99A3D"/>
                </a:solidFill>
                <a:prstDash val="solid"/>
                <a:round/>
              </a:ln>
              <a:effectLst/>
            </p:spPr>
            <p:txBody>
              <a:bodyPr wrap="square" lIns="45719" tIns="45719" rIns="45719" bIns="45719" numCol="1" anchor="ctr">
                <a:noAutofit/>
              </a:bodyPr>
              <a:lstStyle/>
              <a:p>
                <a:pPr algn="ctr">
                  <a:defRPr sz="1400"/>
                </a:pPr>
              </a:p>
            </p:txBody>
          </p:sp>
          <p:sp>
            <p:nvSpPr>
              <p:cNvPr id="231" name="Soil is left bare"/>
              <p:cNvSpPr txBox="1"/>
              <p:nvPr/>
            </p:nvSpPr>
            <p:spPr>
              <a:xfrm>
                <a:off x="36307" y="229221"/>
                <a:ext cx="5142209" cy="1999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400">
                    <a:solidFill>
                      <a:srgbClr val="3D2B1F"/>
                    </a:solidFill>
                    <a:latin typeface="Arial"/>
                    <a:ea typeface="Arial"/>
                    <a:cs typeface="Arial"/>
                    <a:sym typeface="Arial"/>
                  </a:defRPr>
                </a:lvl1pPr>
              </a:lstStyle>
              <a:p>
                <a:pPr/>
                <a:r>
                  <a:t>Soil is left bare</a:t>
                </a:r>
              </a:p>
            </p:txBody>
          </p:sp>
        </p:grpSp>
        <p:sp>
          <p:nvSpPr>
            <p:cNvPr id="233" name="ch1_arrow"/>
            <p:cNvSpPr/>
            <p:nvPr/>
          </p:nvSpPr>
          <p:spPr>
            <a:xfrm rot="5400000">
              <a:off x="2497684" y="694943"/>
              <a:ext cx="219457" cy="201169"/>
            </a:xfrm>
            <a:prstGeom prst="rightArrow">
              <a:avLst>
                <a:gd name="adj1" fmla="val 50000"/>
                <a:gd name="adj2" fmla="val 50000"/>
              </a:avLst>
            </a:prstGeom>
            <a:solidFill>
              <a:srgbClr val="8F6D2A"/>
            </a:solidFill>
            <a:ln w="12700" cap="flat">
              <a:solidFill>
                <a:srgbClr val="8F6D2A"/>
              </a:solidFill>
              <a:prstDash val="solid"/>
              <a:round/>
            </a:ln>
            <a:effectLst/>
          </p:spPr>
          <p:txBody>
            <a:bodyPr wrap="square" lIns="45719" tIns="45719" rIns="45719" bIns="45719" numCol="1" anchor="t">
              <a:noAutofit/>
            </a:bodyPr>
            <a:lstStyle/>
            <a:p>
              <a:pPr/>
            </a:p>
          </p:txBody>
        </p:sp>
      </p:grpSp>
      <p:grpSp>
        <p:nvGrpSpPr>
          <p:cNvPr id="239" name="chain2"/>
          <p:cNvGrpSpPr/>
          <p:nvPr/>
        </p:nvGrpSpPr>
        <p:grpSpPr>
          <a:xfrm>
            <a:off x="6428232" y="4078223"/>
            <a:ext cx="5214824" cy="905257"/>
            <a:chOff x="0" y="0"/>
            <a:chExt cx="5214823" cy="905255"/>
          </a:xfrm>
        </p:grpSpPr>
        <p:grpSp>
          <p:nvGrpSpPr>
            <p:cNvPr id="237" name="ch2"/>
            <p:cNvGrpSpPr/>
            <p:nvPr/>
          </p:nvGrpSpPr>
          <p:grpSpPr>
            <a:xfrm>
              <a:off x="0" y="0"/>
              <a:ext cx="5214824" cy="658368"/>
              <a:chOff x="0" y="0"/>
              <a:chExt cx="5214823" cy="658367"/>
            </a:xfrm>
          </p:grpSpPr>
          <p:sp>
            <p:nvSpPr>
              <p:cNvPr id="235" name="Rounded Rectangle"/>
              <p:cNvSpPr/>
              <p:nvPr/>
            </p:nvSpPr>
            <p:spPr>
              <a:xfrm>
                <a:off x="0" y="0"/>
                <a:ext cx="5214824" cy="658368"/>
              </a:xfrm>
              <a:prstGeom prst="roundRect">
                <a:avLst>
                  <a:gd name="adj" fmla="val 13889"/>
                </a:avLst>
              </a:prstGeom>
              <a:solidFill>
                <a:srgbClr val="FFFFFF"/>
              </a:solidFill>
              <a:ln w="19050" cap="flat">
                <a:solidFill>
                  <a:srgbClr val="C99A3D"/>
                </a:solidFill>
                <a:prstDash val="solid"/>
                <a:round/>
              </a:ln>
              <a:effectLst/>
            </p:spPr>
            <p:txBody>
              <a:bodyPr wrap="square" lIns="45719" tIns="45719" rIns="45719" bIns="45719" numCol="1" anchor="ctr">
                <a:noAutofit/>
              </a:bodyPr>
              <a:lstStyle/>
              <a:p>
                <a:pPr algn="ctr">
                  <a:defRPr sz="1400"/>
                </a:pPr>
              </a:p>
            </p:txBody>
          </p:sp>
          <p:sp>
            <p:nvSpPr>
              <p:cNvPr id="236" name="Wind and water erode it"/>
              <p:cNvSpPr txBox="1"/>
              <p:nvPr/>
            </p:nvSpPr>
            <p:spPr>
              <a:xfrm>
                <a:off x="36307" y="229221"/>
                <a:ext cx="5142209" cy="1999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400">
                    <a:solidFill>
                      <a:srgbClr val="3D2B1F"/>
                    </a:solidFill>
                    <a:latin typeface="Arial"/>
                    <a:ea typeface="Arial"/>
                    <a:cs typeface="Arial"/>
                    <a:sym typeface="Arial"/>
                  </a:defRPr>
                </a:lvl1pPr>
              </a:lstStyle>
              <a:p>
                <a:pPr/>
                <a:r>
                  <a:t>Wind and water erode it</a:t>
                </a:r>
              </a:p>
            </p:txBody>
          </p:sp>
        </p:grpSp>
        <p:sp>
          <p:nvSpPr>
            <p:cNvPr id="238" name="ch2_arrow"/>
            <p:cNvSpPr/>
            <p:nvPr/>
          </p:nvSpPr>
          <p:spPr>
            <a:xfrm rot="5400000">
              <a:off x="2497684" y="694943"/>
              <a:ext cx="219457" cy="201169"/>
            </a:xfrm>
            <a:prstGeom prst="rightArrow">
              <a:avLst>
                <a:gd name="adj1" fmla="val 50000"/>
                <a:gd name="adj2" fmla="val 50000"/>
              </a:avLst>
            </a:prstGeom>
            <a:solidFill>
              <a:srgbClr val="8F6D2A"/>
            </a:solidFill>
            <a:ln w="12700" cap="flat">
              <a:solidFill>
                <a:srgbClr val="8F6D2A"/>
              </a:solidFill>
              <a:prstDash val="solid"/>
              <a:round/>
            </a:ln>
            <a:effectLst/>
          </p:spPr>
          <p:txBody>
            <a:bodyPr wrap="square" lIns="45719" tIns="45719" rIns="45719" bIns="45719" numCol="1" anchor="t">
              <a:noAutofit/>
            </a:bodyPr>
            <a:lstStyle/>
            <a:p>
              <a:pPr/>
            </a:p>
          </p:txBody>
        </p:sp>
      </p:grpSp>
      <p:grpSp>
        <p:nvGrpSpPr>
          <p:cNvPr id="242" name="ch3"/>
          <p:cNvGrpSpPr/>
          <p:nvPr/>
        </p:nvGrpSpPr>
        <p:grpSpPr>
          <a:xfrm>
            <a:off x="6428232" y="5010911"/>
            <a:ext cx="5214824" cy="713233"/>
            <a:chOff x="0" y="0"/>
            <a:chExt cx="5214823" cy="713231"/>
          </a:xfrm>
        </p:grpSpPr>
        <p:sp>
          <p:nvSpPr>
            <p:cNvPr id="240" name="Rounded Rectangle"/>
            <p:cNvSpPr/>
            <p:nvPr/>
          </p:nvSpPr>
          <p:spPr>
            <a:xfrm>
              <a:off x="0" y="0"/>
              <a:ext cx="5214824" cy="713232"/>
            </a:xfrm>
            <a:prstGeom prst="roundRect">
              <a:avLst>
                <a:gd name="adj" fmla="val 12821"/>
              </a:avLst>
            </a:prstGeom>
            <a:solidFill>
              <a:srgbClr val="3D2B1F"/>
            </a:solidFill>
            <a:ln w="19050" cap="flat">
              <a:solidFill>
                <a:srgbClr val="3D2B1F"/>
              </a:solidFill>
              <a:prstDash val="solid"/>
              <a:round/>
            </a:ln>
            <a:effectLst/>
          </p:spPr>
          <p:txBody>
            <a:bodyPr wrap="square" lIns="45719" tIns="45719" rIns="45719" bIns="45719" numCol="1" anchor="ctr">
              <a:noAutofit/>
            </a:bodyPr>
            <a:lstStyle/>
            <a:p>
              <a:pPr algn="ctr">
                <a:defRPr sz="1400"/>
              </a:pPr>
            </a:p>
          </p:txBody>
        </p:sp>
        <p:sp>
          <p:nvSpPr>
            <p:cNvPr id="241" name="In a dry area the land turns desert-like: desertification"/>
            <p:cNvSpPr txBox="1"/>
            <p:nvPr/>
          </p:nvSpPr>
          <p:spPr>
            <a:xfrm>
              <a:off x="36307" y="256654"/>
              <a:ext cx="5142209" cy="1999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400">
                  <a:solidFill>
                    <a:srgbClr val="C99A3D"/>
                  </a:solidFill>
                  <a:latin typeface="Arial"/>
                  <a:ea typeface="Arial"/>
                  <a:cs typeface="Arial"/>
                  <a:sym typeface="Arial"/>
                </a:defRPr>
              </a:lvl1pPr>
            </a:lstStyle>
            <a:p>
              <a:pPr/>
              <a:r>
                <a:t>In a dry area the land turns desert-like: desertification</a:t>
              </a:r>
            </a:p>
          </p:txBody>
        </p:sp>
      </p:grpSp>
      <p:grpSp>
        <p:nvGrpSpPr>
          <p:cNvPr id="245" name="fm_banner"/>
          <p:cNvGrpSpPr/>
          <p:nvPr/>
        </p:nvGrpSpPr>
        <p:grpSpPr>
          <a:xfrm>
            <a:off x="1170432" y="5870447"/>
            <a:ext cx="10472623" cy="566929"/>
            <a:chOff x="0" y="0"/>
            <a:chExt cx="10472622" cy="566927"/>
          </a:xfrm>
        </p:grpSpPr>
        <p:sp>
          <p:nvSpPr>
            <p:cNvPr id="243" name="Rounded Rectangle"/>
            <p:cNvSpPr/>
            <p:nvPr/>
          </p:nvSpPr>
          <p:spPr>
            <a:xfrm>
              <a:off x="0" y="0"/>
              <a:ext cx="10472623" cy="566928"/>
            </a:xfrm>
            <a:prstGeom prst="roundRect">
              <a:avLst>
                <a:gd name="adj" fmla="val 19355"/>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defRPr sz="1700"/>
              </a:pPr>
            </a:p>
          </p:txBody>
        </p:sp>
        <p:sp>
          <p:nvSpPr>
            <p:cNvPr id="244" name="Again. Centuries to make. Years to lose."/>
            <p:cNvSpPr txBox="1"/>
            <p:nvPr/>
          </p:nvSpPr>
          <p:spPr>
            <a:xfrm>
              <a:off x="36901" y="158725"/>
              <a:ext cx="10398821" cy="249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700">
                  <a:solidFill>
                    <a:srgbClr val="C99A3D"/>
                  </a:solidFill>
                  <a:latin typeface="Arial"/>
                  <a:ea typeface="Arial"/>
                  <a:cs typeface="Arial"/>
                  <a:sym typeface="Arial"/>
                </a:defRPr>
              </a:lvl1pPr>
            </a:lstStyle>
            <a:p>
              <a:pPr/>
              <a:r>
                <a:t>Again. Centuries to make. Years to lose.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0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14"/>
                                        </p:tgtEl>
                                        <p:attrNameLst>
                                          <p:attrName>style.visibility</p:attrName>
                                        </p:attrNameLst>
                                      </p:cBhvr>
                                      <p:to>
                                        <p:strVal val="visible"/>
                                      </p:to>
                                    </p:set>
                                    <p:animEffect filter="fade" transition="in">
                                      <p:cBhvr>
                                        <p:cTn id="11" dur="400"/>
                                        <p:tgtEl>
                                          <p:spTgt spid="214"/>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219"/>
                                        </p:tgtEl>
                                        <p:attrNameLst>
                                          <p:attrName>style.visibility</p:attrName>
                                        </p:attrNameLst>
                                      </p:cBhvr>
                                      <p:to>
                                        <p:strVal val="visible"/>
                                      </p:to>
                                    </p:set>
                                    <p:animEffect filter="fade" transition="in">
                                      <p:cBhvr>
                                        <p:cTn id="15" dur="400"/>
                                        <p:tgtEl>
                                          <p:spTgt spid="219"/>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224"/>
                                        </p:tgtEl>
                                        <p:attrNameLst>
                                          <p:attrName>style.visibility</p:attrName>
                                        </p:attrNameLst>
                                      </p:cBhvr>
                                      <p:to>
                                        <p:strVal val="visible"/>
                                      </p:to>
                                    </p:set>
                                    <p:animEffect filter="fade" transition="in">
                                      <p:cBhvr>
                                        <p:cTn id="19" dur="400"/>
                                        <p:tgtEl>
                                          <p:spTgt spid="224"/>
                                        </p:tgtEl>
                                      </p:cBhvr>
                                    </p:animEffect>
                                  </p:childTnLst>
                                </p:cTn>
                              </p:par>
                            </p:childTnLst>
                          </p:cTn>
                        </p:par>
                      </p:childTnLst>
                    </p:cTn>
                  </p:par>
                  <p:par>
                    <p:cTn id="20" fill="hold">
                      <p:stCondLst>
                        <p:cond delay="indefinite"/>
                      </p:stCondLst>
                      <p:childTnLst>
                        <p:par>
                          <p:cTn id="21" fill="hold">
                            <p:stCondLst>
                              <p:cond delay="0"/>
                            </p:stCondLst>
                            <p:childTnLst>
                              <p:par>
                                <p:cTn id="22" presetClass="entr" nodeType="clickEffect" presetID="10" grpId="5" fill="hold">
                                  <p:stCondLst>
                                    <p:cond delay="0"/>
                                  </p:stCondLst>
                                  <p:iterate type="el" backwards="0">
                                    <p:tmAbs val="0"/>
                                  </p:iterate>
                                  <p:childTnLst>
                                    <p:set>
                                      <p:cBhvr>
                                        <p:cTn id="23" fill="hold"/>
                                        <p:tgtEl>
                                          <p:spTgt spid="229"/>
                                        </p:tgtEl>
                                        <p:attrNameLst>
                                          <p:attrName>style.visibility</p:attrName>
                                        </p:attrNameLst>
                                      </p:cBhvr>
                                      <p:to>
                                        <p:strVal val="visible"/>
                                      </p:to>
                                    </p:set>
                                    <p:animEffect filter="fade" transition="in">
                                      <p:cBhvr>
                                        <p:cTn id="24" dur="400"/>
                                        <p:tgtEl>
                                          <p:spTgt spid="229"/>
                                        </p:tgtEl>
                                      </p:cBhvr>
                                    </p:animEffect>
                                  </p:childTnLst>
                                </p:cTn>
                              </p:par>
                            </p:childTnLst>
                          </p:cTn>
                        </p:par>
                        <p:par>
                          <p:cTn id="25" fill="hold">
                            <p:stCondLst>
                              <p:cond delay="400"/>
                            </p:stCondLst>
                            <p:childTnLst>
                              <p:par>
                                <p:cTn id="26" presetClass="entr" nodeType="afterEffect" presetID="10" grpId="6" fill="hold">
                                  <p:stCondLst>
                                    <p:cond delay="150"/>
                                  </p:stCondLst>
                                  <p:iterate type="el" backwards="0">
                                    <p:tmAbs val="0"/>
                                  </p:iterate>
                                  <p:childTnLst>
                                    <p:set>
                                      <p:cBhvr>
                                        <p:cTn id="27" fill="hold"/>
                                        <p:tgtEl>
                                          <p:spTgt spid="234"/>
                                        </p:tgtEl>
                                        <p:attrNameLst>
                                          <p:attrName>style.visibility</p:attrName>
                                        </p:attrNameLst>
                                      </p:cBhvr>
                                      <p:to>
                                        <p:strVal val="visible"/>
                                      </p:to>
                                    </p:set>
                                    <p:animEffect filter="fade" transition="in">
                                      <p:cBhvr>
                                        <p:cTn id="28" dur="400"/>
                                        <p:tgtEl>
                                          <p:spTgt spid="234"/>
                                        </p:tgtEl>
                                      </p:cBhvr>
                                    </p:animEffect>
                                  </p:childTnLst>
                                </p:cTn>
                              </p:par>
                            </p:childTnLst>
                          </p:cTn>
                        </p:par>
                        <p:par>
                          <p:cTn id="29" fill="hold">
                            <p:stCondLst>
                              <p:cond delay="950"/>
                            </p:stCondLst>
                            <p:childTnLst>
                              <p:par>
                                <p:cTn id="30" presetClass="entr" nodeType="afterEffect" presetID="10" grpId="7" fill="hold">
                                  <p:stCondLst>
                                    <p:cond delay="300"/>
                                  </p:stCondLst>
                                  <p:iterate type="el" backwards="0">
                                    <p:tmAbs val="0"/>
                                  </p:iterate>
                                  <p:childTnLst>
                                    <p:set>
                                      <p:cBhvr>
                                        <p:cTn id="31" fill="hold"/>
                                        <p:tgtEl>
                                          <p:spTgt spid="239"/>
                                        </p:tgtEl>
                                        <p:attrNameLst>
                                          <p:attrName>style.visibility</p:attrName>
                                        </p:attrNameLst>
                                      </p:cBhvr>
                                      <p:to>
                                        <p:strVal val="visible"/>
                                      </p:to>
                                    </p:set>
                                    <p:animEffect filter="fade" transition="in">
                                      <p:cBhvr>
                                        <p:cTn id="32" dur="400"/>
                                        <p:tgtEl>
                                          <p:spTgt spid="239"/>
                                        </p:tgtEl>
                                      </p:cBhvr>
                                    </p:animEffect>
                                  </p:childTnLst>
                                </p:cTn>
                              </p:par>
                            </p:childTnLst>
                          </p:cTn>
                        </p:par>
                        <p:par>
                          <p:cTn id="33" fill="hold">
                            <p:stCondLst>
                              <p:cond delay="1650"/>
                            </p:stCondLst>
                            <p:childTnLst>
                              <p:par>
                                <p:cTn id="34" presetClass="entr" nodeType="afterEffect" presetID="10" grpId="8" fill="hold">
                                  <p:stCondLst>
                                    <p:cond delay="450"/>
                                  </p:stCondLst>
                                  <p:iterate type="el" backwards="0">
                                    <p:tmAbs val="0"/>
                                  </p:iterate>
                                  <p:childTnLst>
                                    <p:set>
                                      <p:cBhvr>
                                        <p:cTn id="35" fill="hold"/>
                                        <p:tgtEl>
                                          <p:spTgt spid="242"/>
                                        </p:tgtEl>
                                        <p:attrNameLst>
                                          <p:attrName>style.visibility</p:attrName>
                                        </p:attrNameLst>
                                      </p:cBhvr>
                                      <p:to>
                                        <p:strVal val="visible"/>
                                      </p:to>
                                    </p:set>
                                    <p:animEffect filter="fade" transition="in">
                                      <p:cBhvr>
                                        <p:cTn id="36" dur="400"/>
                                        <p:tgtEl>
                                          <p:spTgt spid="242"/>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16" presetID="23" grpId="9" fill="hold">
                                  <p:stCondLst>
                                    <p:cond delay="0"/>
                                  </p:stCondLst>
                                  <p:iterate type="el" backwards="0">
                                    <p:tmAbs val="0"/>
                                  </p:iterate>
                                  <p:childTnLst>
                                    <p:set>
                                      <p:cBhvr>
                                        <p:cTn id="40" fill="hold"/>
                                        <p:tgtEl>
                                          <p:spTgt spid="245"/>
                                        </p:tgtEl>
                                        <p:attrNameLst>
                                          <p:attrName>style.visibility</p:attrName>
                                        </p:attrNameLst>
                                      </p:cBhvr>
                                      <p:to>
                                        <p:strVal val="visible"/>
                                      </p:to>
                                    </p:set>
                                    <p:anim calcmode="lin" valueType="num">
                                      <p:cBhvr>
                                        <p:cTn id="41" dur="400" fill="hold"/>
                                        <p:tgtEl>
                                          <p:spTgt spid="245"/>
                                        </p:tgtEl>
                                        <p:attrNameLst>
                                          <p:attrName>ppt_w</p:attrName>
                                        </p:attrNameLst>
                                      </p:cBhvr>
                                      <p:tavLst>
                                        <p:tav tm="0">
                                          <p:val>
                                            <p:fltVal val="0"/>
                                          </p:val>
                                        </p:tav>
                                        <p:tav tm="100000">
                                          <p:val>
                                            <p:strVal val="#ppt_w"/>
                                          </p:val>
                                        </p:tav>
                                      </p:tavLst>
                                    </p:anim>
                                    <p:anim calcmode="lin" valueType="num">
                                      <p:cBhvr>
                                        <p:cTn id="42" dur="400" fill="hold"/>
                                        <p:tgtEl>
                                          <p:spTgt spid="24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3" fill="hold" display="0">
                  <p:stCondLst>
                    <p:cond delay="indefinite"/>
                  </p:stCondLst>
                </p:cTn>
                <p:tgtEl>
                  <p:spTgt spid="204"/>
                </p:tgtEl>
              </p:cMediaNode>
            </p:video>
            <p:seq concurrent="1" prevAc="none" nextAc="seek">
              <p:cTn id="44" evtFilter="cancelBubble" nodeType="interactiveSeq" restart="whenNotActive" fill="hold">
                <p:stCondLst>
                  <p:cond delay="0" evt="onClick">
                    <p:tgtEl>
                      <p:spTgt spid="204"/>
                    </p:tgtEl>
                  </p:cond>
                </p:stCondLst>
                <p:endSync delay="0" evt="end">
                  <p:rtn val="all"/>
                </p:endSync>
                <p:childTnLst>
                  <p:par>
                    <p:cTn id="45" fill="hold">
                      <p:stCondLst>
                        <p:cond delay="0"/>
                      </p:stCondLst>
                      <p:childTnLst>
                        <p:par>
                          <p:cTn id="46" fill="hold">
                            <p:stCondLst>
                              <p:cond delay="0"/>
                            </p:stCondLst>
                            <p:childTnLst>
                              <p:par>
                                <p:cTn id="47" presetClass="mediacall" nodeType="clickEffect" presetSubtype="0" presetID="2" fill="hold">
                                  <p:stCondLst>
                                    <p:cond delay="0"/>
                                  </p:stCondLst>
                                  <p:childTnLst>
                                    <p:cmd type="call" cmd="togglePause">
                                      <p:cBhvr>
                                        <p:cTn id="48" dur="1" fill="hold"/>
                                        <p:tgtEl>
                                          <p:spTgt spid="204"/>
                                        </p:tgtEl>
                                      </p:cBhvr>
                                    </p:cmd>
                                  </p:childTnLst>
                                </p:cTn>
                              </p:par>
                            </p:childTnLst>
                          </p:cTn>
                        </p:par>
                      </p:childTnLst>
                    </p:cTn>
                  </p:par>
                </p:childTnLst>
              </p:cTn>
              <p:nextCondLst>
                <p:cond delay="0" evt="onClick">
                  <p:tgtEl>
                    <p:spTgt spid="204"/>
                  </p:tgtEl>
                </p:cond>
              </p:nextCondLst>
            </p:seq>
          </p:childTnLst>
        </p:cTn>
      </p:par>
    </p:tnLst>
    <p:bldLst>
      <p:bldP build="whole" bldLvl="1" animBg="1" rev="0" advAuto="0" spid="224" grpId="4"/>
      <p:bldP build="whole" bldLvl="1" animBg="1" rev="0" advAuto="0" spid="219" grpId="3"/>
      <p:bldP build="whole" bldLvl="1" animBg="1" rev="0" advAuto="0" spid="214" grpId="2"/>
      <p:bldP build="whole" bldLvl="1" animBg="1" rev="0" advAuto="0" spid="229" grpId="5"/>
      <p:bldP build="whole" bldLvl="1" animBg="1" rev="0" advAuto="0" spid="234" grpId="6"/>
      <p:bldP build="whole" bldLvl="1" animBg="1" rev="0" advAuto="0" spid="242" grpId="8"/>
      <p:bldP build="whole" bldLvl="1" animBg="1" rev="0" advAuto="0" spid="239" grpId="7"/>
      <p:bldP build="whole" bldLvl="1" animBg="1" rev="0" advAuto="0" spid="245" grpId="9"/>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4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52" name="phase_pill"/>
          <p:cNvGrpSpPr/>
          <p:nvPr/>
        </p:nvGrpSpPr>
        <p:grpSpPr>
          <a:xfrm>
            <a:off x="1170432" y="310895"/>
            <a:ext cx="1713586" cy="329185"/>
            <a:chOff x="0" y="0"/>
            <a:chExt cx="1713585" cy="329184"/>
          </a:xfrm>
        </p:grpSpPr>
        <p:sp>
          <p:nvSpPr>
            <p:cNvPr id="250"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51"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253"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What should be the correct answer?</a:t>
            </a:r>
          </a:p>
        </p:txBody>
      </p:sp>
      <p:sp>
        <p:nvSpPr>
          <p:cNvPr id="254"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B5A48"/>
                </a:solidFill>
                <a:latin typeface="Arial"/>
                <a:ea typeface="Arial"/>
                <a:cs typeface="Arial"/>
                <a:sym typeface="Arial"/>
              </a:defRPr>
            </a:lvl1pPr>
          </a:lstStyle>
          <a:p>
            <a:pPr/>
            <a:r>
              <a:t>Spot the mistake.</a:t>
            </a:r>
          </a:p>
        </p:txBody>
      </p:sp>
      <p:sp>
        <p:nvSpPr>
          <p:cNvPr id="255"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56" name="wd0_q"/>
          <p:cNvSpPr txBox="1"/>
          <p:nvPr/>
        </p:nvSpPr>
        <p:spPr>
          <a:xfrm>
            <a:off x="1426463" y="2632920"/>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"Erosion only happens in deserts."</a:t>
            </a:r>
          </a:p>
        </p:txBody>
      </p:sp>
      <p:grpSp>
        <p:nvGrpSpPr>
          <p:cNvPr id="259" name="wd0_a"/>
          <p:cNvGrpSpPr/>
          <p:nvPr/>
        </p:nvGrpSpPr>
        <p:grpSpPr>
          <a:xfrm>
            <a:off x="7388352" y="2395727"/>
            <a:ext cx="4163264" cy="694946"/>
            <a:chOff x="0" y="0"/>
            <a:chExt cx="4163262" cy="694944"/>
          </a:xfrm>
        </p:grpSpPr>
        <p:sp>
          <p:nvSpPr>
            <p:cNvPr id="257"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258" name="Erosion happens wherever soil is bare, including farms. Rain and wind carry the soil away."/>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Erosion happens wherever soil is bare, including farms. Rain and wind carry the soil away.</a:t>
              </a:r>
            </a:p>
          </p:txBody>
        </p:sp>
      </p:grpSp>
      <p:sp>
        <p:nvSpPr>
          <p:cNvPr id="260"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61" name="wd1_q"/>
          <p:cNvSpPr txBox="1"/>
          <p:nvPr/>
        </p:nvSpPr>
        <p:spPr>
          <a:xfrm>
            <a:off x="1426463" y="3657048"/>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"Desertification is a desert spreading by itself."</a:t>
            </a:r>
          </a:p>
        </p:txBody>
      </p:sp>
      <p:grpSp>
        <p:nvGrpSpPr>
          <p:cNvPr id="264" name="wd1_a"/>
          <p:cNvGrpSpPr/>
          <p:nvPr/>
        </p:nvGrpSpPr>
        <p:grpSpPr>
          <a:xfrm>
            <a:off x="7388352" y="3419855"/>
            <a:ext cx="4163264" cy="694945"/>
            <a:chOff x="0" y="0"/>
            <a:chExt cx="4163262" cy="694944"/>
          </a:xfrm>
        </p:grpSpPr>
        <p:sp>
          <p:nvSpPr>
            <p:cNvPr id="262"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263" name="It is fertile land in a dry area turning desert-like. People and drought both play a part."/>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It is fertile land in a dry area turning desert-like. People and drought both play a part.</a:t>
              </a:r>
            </a:p>
          </p:txBody>
        </p:sp>
      </p:grpSp>
      <p:sp>
        <p:nvSpPr>
          <p:cNvPr id="265"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66" name="wd2_q"/>
          <p:cNvSpPr txBox="1"/>
          <p:nvPr/>
        </p:nvSpPr>
        <p:spPr>
          <a:xfrm>
            <a:off x="1426463" y="4681176"/>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"Soil lost in a few years will be replaced in a few years."</a:t>
            </a:r>
          </a:p>
        </p:txBody>
      </p:sp>
      <p:grpSp>
        <p:nvGrpSpPr>
          <p:cNvPr id="269" name="wd2_a"/>
          <p:cNvGrpSpPr/>
          <p:nvPr/>
        </p:nvGrpSpPr>
        <p:grpSpPr>
          <a:xfrm>
            <a:off x="7388352" y="4443984"/>
            <a:ext cx="4163264" cy="694945"/>
            <a:chOff x="0" y="0"/>
            <a:chExt cx="4163262" cy="694944"/>
          </a:xfrm>
        </p:grpSpPr>
        <p:sp>
          <p:nvSpPr>
            <p:cNvPr id="267"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268" name="A few cm take a few hundred to about a thousand years. Coal takes millions."/>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A few cm take a few hundred to about a thousand years. Coal takes millions.</a:t>
              </a:r>
            </a:p>
          </p:txBody>
        </p:sp>
      </p:grpSp>
      <p:sp>
        <p:nvSpPr>
          <p:cNvPr id="270"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71" name="wd3_q"/>
          <p:cNvSpPr txBox="1"/>
          <p:nvPr/>
        </p:nvSpPr>
        <p:spPr>
          <a:xfrm>
            <a:off x="1426463" y="5705304"/>
            <a:ext cx="5760722"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2A1D14"/>
                </a:solidFill>
                <a:latin typeface="Arial"/>
                <a:ea typeface="Arial"/>
                <a:cs typeface="Arial"/>
                <a:sym typeface="Arial"/>
              </a:defRPr>
            </a:lvl1pPr>
          </a:lstStyle>
          <a:p>
            <a:pPr/>
            <a:r>
              <a:t>"Ploughing does not matter, the soil is still there."</a:t>
            </a:r>
          </a:p>
        </p:txBody>
      </p:sp>
      <p:grpSp>
        <p:nvGrpSpPr>
          <p:cNvPr id="274" name="wd3_a"/>
          <p:cNvGrpSpPr/>
          <p:nvPr/>
        </p:nvGrpSpPr>
        <p:grpSpPr>
          <a:xfrm>
            <a:off x="7388352" y="5468111"/>
            <a:ext cx="4163264" cy="694945"/>
            <a:chOff x="0" y="0"/>
            <a:chExt cx="4163262" cy="694944"/>
          </a:xfrm>
        </p:grpSpPr>
        <p:sp>
          <p:nvSpPr>
            <p:cNvPr id="272" name="Rounded Rectangle"/>
            <p:cNvSpPr/>
            <p:nvPr/>
          </p:nvSpPr>
          <p:spPr>
            <a:xfrm>
              <a:off x="0" y="0"/>
              <a:ext cx="4163263" cy="694945"/>
            </a:xfrm>
            <a:prstGeom prst="roundRect">
              <a:avLst>
                <a:gd name="adj" fmla="val 13158"/>
              </a:avLst>
            </a:prstGeom>
            <a:solidFill>
              <a:srgbClr val="ECE1CB"/>
            </a:solidFill>
            <a:ln w="19050" cap="flat">
              <a:solidFill>
                <a:srgbClr val="B5482E"/>
              </a:solidFill>
              <a:prstDash val="solid"/>
              <a:round/>
            </a:ln>
            <a:effectLst/>
          </p:spPr>
          <p:txBody>
            <a:bodyPr wrap="square" lIns="45719" tIns="45719" rIns="45719" bIns="45719" numCol="1" anchor="ctr">
              <a:noAutofit/>
            </a:bodyPr>
            <a:lstStyle/>
            <a:p>
              <a:pPr algn="ctr">
                <a:defRPr sz="1100"/>
              </a:pPr>
            </a:p>
          </p:txBody>
        </p:sp>
        <p:sp>
          <p:nvSpPr>
            <p:cNvPr id="273" name="Ploughing leaves soil bare and cuts roots, so wind and rain remove it faster."/>
            <p:cNvSpPr txBox="1"/>
            <p:nvPr/>
          </p:nvSpPr>
          <p:spPr>
            <a:xfrm>
              <a:off x="36306" y="196595"/>
              <a:ext cx="4090651" cy="3017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100">
                  <a:solidFill>
                    <a:srgbClr val="3D2B1F"/>
                  </a:solidFill>
                  <a:latin typeface="Arial"/>
                  <a:ea typeface="Arial"/>
                  <a:cs typeface="Arial"/>
                  <a:sym typeface="Arial"/>
                </a:defRPr>
              </a:lvl1pPr>
            </a:lstStyle>
            <a:p>
              <a:pPr/>
              <a:r>
                <a:t>Ploughing leaves soil bare and cuts roots, so wind and rain remove it faster.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24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259"/>
                                        </p:tgtEl>
                                        <p:attrNameLst>
                                          <p:attrName>style.visibility</p:attrName>
                                        </p:attrNameLst>
                                      </p:cBhvr>
                                      <p:to>
                                        <p:strVal val="visible"/>
                                      </p:to>
                                    </p:set>
                                    <p:anim calcmode="lin" valueType="num">
                                      <p:cBhvr>
                                        <p:cTn id="11" dur="400" fill="hold"/>
                                        <p:tgtEl>
                                          <p:spTgt spid="259"/>
                                        </p:tgtEl>
                                        <p:attrNameLst>
                                          <p:attrName>ppt_w</p:attrName>
                                        </p:attrNameLst>
                                      </p:cBhvr>
                                      <p:tavLst>
                                        <p:tav tm="0">
                                          <p:val>
                                            <p:fltVal val="0"/>
                                          </p:val>
                                        </p:tav>
                                        <p:tav tm="100000">
                                          <p:val>
                                            <p:strVal val="#ppt_w"/>
                                          </p:val>
                                        </p:tav>
                                      </p:tavLst>
                                    </p:anim>
                                    <p:anim calcmode="lin" valueType="num">
                                      <p:cBhvr>
                                        <p:cTn id="12" dur="400" fill="hold"/>
                                        <p:tgtEl>
                                          <p:spTgt spid="259"/>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264"/>
                                        </p:tgtEl>
                                        <p:attrNameLst>
                                          <p:attrName>style.visibility</p:attrName>
                                        </p:attrNameLst>
                                      </p:cBhvr>
                                      <p:to>
                                        <p:strVal val="visible"/>
                                      </p:to>
                                    </p:set>
                                    <p:anim calcmode="lin" valueType="num">
                                      <p:cBhvr>
                                        <p:cTn id="17" dur="400" fill="hold"/>
                                        <p:tgtEl>
                                          <p:spTgt spid="264"/>
                                        </p:tgtEl>
                                        <p:attrNameLst>
                                          <p:attrName>ppt_w</p:attrName>
                                        </p:attrNameLst>
                                      </p:cBhvr>
                                      <p:tavLst>
                                        <p:tav tm="0">
                                          <p:val>
                                            <p:fltVal val="0"/>
                                          </p:val>
                                        </p:tav>
                                        <p:tav tm="100000">
                                          <p:val>
                                            <p:strVal val="#ppt_w"/>
                                          </p:val>
                                        </p:tav>
                                      </p:tavLst>
                                    </p:anim>
                                    <p:anim calcmode="lin" valueType="num">
                                      <p:cBhvr>
                                        <p:cTn id="18" dur="400" fill="hold"/>
                                        <p:tgtEl>
                                          <p:spTgt spid="264"/>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69"/>
                                        </p:tgtEl>
                                        <p:attrNameLst>
                                          <p:attrName>style.visibility</p:attrName>
                                        </p:attrNameLst>
                                      </p:cBhvr>
                                      <p:to>
                                        <p:strVal val="visible"/>
                                      </p:to>
                                    </p:set>
                                    <p:anim calcmode="lin" valueType="num">
                                      <p:cBhvr>
                                        <p:cTn id="23" dur="400" fill="hold"/>
                                        <p:tgtEl>
                                          <p:spTgt spid="269"/>
                                        </p:tgtEl>
                                        <p:attrNameLst>
                                          <p:attrName>ppt_w</p:attrName>
                                        </p:attrNameLst>
                                      </p:cBhvr>
                                      <p:tavLst>
                                        <p:tav tm="0">
                                          <p:val>
                                            <p:fltVal val="0"/>
                                          </p:val>
                                        </p:tav>
                                        <p:tav tm="100000">
                                          <p:val>
                                            <p:strVal val="#ppt_w"/>
                                          </p:val>
                                        </p:tav>
                                      </p:tavLst>
                                    </p:anim>
                                    <p:anim calcmode="lin" valueType="num">
                                      <p:cBhvr>
                                        <p:cTn id="24" dur="400" fill="hold"/>
                                        <p:tgtEl>
                                          <p:spTgt spid="269"/>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74"/>
                                        </p:tgtEl>
                                        <p:attrNameLst>
                                          <p:attrName>style.visibility</p:attrName>
                                        </p:attrNameLst>
                                      </p:cBhvr>
                                      <p:to>
                                        <p:strVal val="visible"/>
                                      </p:to>
                                    </p:set>
                                    <p:anim calcmode="lin" valueType="num">
                                      <p:cBhvr>
                                        <p:cTn id="29" dur="400" fill="hold"/>
                                        <p:tgtEl>
                                          <p:spTgt spid="274"/>
                                        </p:tgtEl>
                                        <p:attrNameLst>
                                          <p:attrName>ppt_w</p:attrName>
                                        </p:attrNameLst>
                                      </p:cBhvr>
                                      <p:tavLst>
                                        <p:tav tm="0">
                                          <p:val>
                                            <p:fltVal val="0"/>
                                          </p:val>
                                        </p:tav>
                                        <p:tav tm="100000">
                                          <p:val>
                                            <p:strVal val="#ppt_w"/>
                                          </p:val>
                                        </p:tav>
                                      </p:tavLst>
                                    </p:anim>
                                    <p:anim calcmode="lin" valueType="num">
                                      <p:cBhvr>
                                        <p:cTn id="30" dur="400" fill="hold"/>
                                        <p:tgtEl>
                                          <p:spTgt spid="27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249"/>
                </p:tgtEl>
              </p:cMediaNode>
            </p:video>
            <p:seq concurrent="1" prevAc="none" nextAc="seek">
              <p:cTn id="32" evtFilter="cancelBubble" nodeType="interactiveSeq" restart="whenNotActive" fill="hold">
                <p:stCondLst>
                  <p:cond delay="0" evt="onClick">
                    <p:tgtEl>
                      <p:spTgt spid="249"/>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249"/>
                                        </p:tgtEl>
                                      </p:cBhvr>
                                    </p:cmd>
                                  </p:childTnLst>
                                </p:cTn>
                              </p:par>
                            </p:childTnLst>
                          </p:cTn>
                        </p:par>
                      </p:childTnLst>
                    </p:cTn>
                  </p:par>
                </p:childTnLst>
              </p:cTn>
              <p:nextCondLst>
                <p:cond delay="0" evt="onClick">
                  <p:tgtEl>
                    <p:spTgt spid="249"/>
                  </p:tgtEl>
                </p:cond>
              </p:nextCondLst>
            </p:seq>
          </p:childTnLst>
        </p:cTn>
      </p:par>
    </p:tnLst>
    <p:bldLst>
      <p:bldP build="whole" bldLvl="1" animBg="1" rev="0" advAuto="0" spid="269" grpId="4"/>
      <p:bldP build="whole" bldLvl="1" animBg="1" rev="0" advAuto="0" spid="274" grpId="5"/>
      <p:bldP build="whole" bldLvl="1" animBg="1" rev="0" advAuto="0" spid="264" grpId="3"/>
      <p:bldP build="whole" bldLvl="1" animBg="1" rev="0" advAuto="0" spid="259"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7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81" name="phase_pill"/>
          <p:cNvGrpSpPr/>
          <p:nvPr/>
        </p:nvGrpSpPr>
        <p:grpSpPr>
          <a:xfrm>
            <a:off x="1170432" y="310895"/>
            <a:ext cx="1892808" cy="329185"/>
            <a:chOff x="0" y="0"/>
            <a:chExt cx="1892807" cy="329184"/>
          </a:xfrm>
        </p:grpSpPr>
        <p:sp>
          <p:nvSpPr>
            <p:cNvPr id="279"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80" name="YOU DO · 12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12 MIN</a:t>
              </a:r>
            </a:p>
          </p:txBody>
        </p:sp>
      </p:grpSp>
      <p:pic>
        <p:nvPicPr>
          <p:cNvPr id="282"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83" name="slide_title"/>
          <p:cNvSpPr txBox="1"/>
          <p:nvPr/>
        </p:nvSpPr>
        <p:spPr>
          <a:xfrm>
            <a:off x="1170432" y="1102363"/>
            <a:ext cx="8643823" cy="4104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300"/>
              </a:lnSpc>
              <a:defRPr b="1" sz="2700">
                <a:solidFill>
                  <a:srgbClr val="3D2B1F"/>
                </a:solidFill>
                <a:latin typeface="Georgia"/>
                <a:ea typeface="Georgia"/>
                <a:cs typeface="Georgia"/>
                <a:sym typeface="Georgia"/>
              </a:defRPr>
            </a:lvl1pPr>
          </a:lstStyle>
          <a:p>
            <a:pPr/>
            <a:r>
              <a:t>Losing The Soil worksheet</a:t>
            </a:r>
          </a:p>
        </p:txBody>
      </p:sp>
      <p:sp>
        <p:nvSpPr>
          <p:cNvPr id="284"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B5482E"/>
                </a:solidFill>
                <a:latin typeface="Arial"/>
                <a:ea typeface="Arial"/>
                <a:cs typeface="Arial"/>
                <a:sym typeface="Arial"/>
              </a:defRPr>
            </a:lvl1pPr>
          </a:lstStyle>
          <a:p>
            <a:pPr/>
            <a:r>
              <a:t>Open Google Classroom now.</a:t>
            </a:r>
          </a:p>
        </p:txBody>
      </p:sp>
      <p:grpSp>
        <p:nvGrpSpPr>
          <p:cNvPr id="289" name="t0"/>
          <p:cNvGrpSpPr/>
          <p:nvPr/>
        </p:nvGrpSpPr>
        <p:grpSpPr>
          <a:xfrm>
            <a:off x="1170432" y="2322576"/>
            <a:ext cx="3307994" cy="1828801"/>
            <a:chOff x="0" y="0"/>
            <a:chExt cx="3307993" cy="1828800"/>
          </a:xfrm>
        </p:grpSpPr>
        <p:sp>
          <p:nvSpPr>
            <p:cNvPr id="285" name="t0_bg"/>
            <p:cNvSpPr/>
            <p:nvPr/>
          </p:nvSpPr>
          <p:spPr>
            <a:xfrm>
              <a:off x="0" y="0"/>
              <a:ext cx="3307994" cy="1828800"/>
            </a:xfrm>
            <a:prstGeom prst="roundRect">
              <a:avLst>
                <a:gd name="adj" fmla="val 5000"/>
              </a:avLst>
            </a:prstGeom>
            <a:solidFill>
              <a:srgbClr val="F5E5DE"/>
            </a:solidFill>
            <a:ln w="20320" cap="flat">
              <a:solidFill>
                <a:srgbClr val="B5482E"/>
              </a:solidFill>
              <a:prstDash val="solid"/>
              <a:round/>
            </a:ln>
            <a:effectLst/>
          </p:spPr>
          <p:txBody>
            <a:bodyPr wrap="square" lIns="45719" tIns="45719" rIns="45719" bIns="45719" numCol="1" anchor="t">
              <a:noAutofit/>
            </a:bodyPr>
            <a:lstStyle/>
            <a:p>
              <a:pPr/>
            </a:p>
          </p:txBody>
        </p:sp>
        <p:sp>
          <p:nvSpPr>
            <p:cNvPr id="286"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B5482E"/>
                  </a:solidFill>
                  <a:latin typeface="Arial"/>
                  <a:ea typeface="Arial"/>
                  <a:cs typeface="Arial"/>
                  <a:sym typeface="Arial"/>
                </a:defRPr>
              </a:lvl1pPr>
            </a:lstStyle>
            <a:p>
              <a:pPr/>
              <a:r>
                <a:t>BRONZE</a:t>
              </a:r>
            </a:p>
          </p:txBody>
        </p:sp>
        <p:sp>
          <p:nvSpPr>
            <p:cNvPr id="287"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Describe it</a:t>
              </a:r>
            </a:p>
          </p:txBody>
        </p:sp>
        <p:sp>
          <p:nvSpPr>
            <p:cNvPr id="288" name="t0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Erosion, desertification, and the two timescales.</a:t>
              </a:r>
            </a:p>
          </p:txBody>
        </p:sp>
      </p:grpSp>
      <p:grpSp>
        <p:nvGrpSpPr>
          <p:cNvPr id="294" name="t1"/>
          <p:cNvGrpSpPr/>
          <p:nvPr/>
        </p:nvGrpSpPr>
        <p:grpSpPr>
          <a:xfrm>
            <a:off x="4752745" y="2322576"/>
            <a:ext cx="3307995" cy="1828801"/>
            <a:chOff x="0" y="0"/>
            <a:chExt cx="3307993" cy="1828800"/>
          </a:xfrm>
        </p:grpSpPr>
        <p:sp>
          <p:nvSpPr>
            <p:cNvPr id="290" name="t1_bg"/>
            <p:cNvSpPr/>
            <p:nvPr/>
          </p:nvSpPr>
          <p:spPr>
            <a:xfrm>
              <a:off x="0" y="0"/>
              <a:ext cx="3307994" cy="1828800"/>
            </a:xfrm>
            <a:prstGeom prst="roundRect">
              <a:avLst>
                <a:gd name="adj" fmla="val 5000"/>
              </a:avLst>
            </a:prstGeom>
            <a:solidFill>
              <a:srgbClr val="F0EBE0"/>
            </a:solidFill>
            <a:ln w="20320" cap="flat">
              <a:solidFill>
                <a:srgbClr val="81715F"/>
              </a:solidFill>
              <a:prstDash val="solid"/>
              <a:round/>
            </a:ln>
            <a:effectLst/>
          </p:spPr>
          <p:txBody>
            <a:bodyPr wrap="square" lIns="45719" tIns="45719" rIns="45719" bIns="45719" numCol="1" anchor="t">
              <a:noAutofit/>
            </a:bodyPr>
            <a:lstStyle/>
            <a:p>
              <a:pPr/>
            </a:p>
          </p:txBody>
        </p:sp>
        <p:sp>
          <p:nvSpPr>
            <p:cNvPr id="291"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81715F"/>
                  </a:solidFill>
                  <a:latin typeface="Arial"/>
                  <a:ea typeface="Arial"/>
                  <a:cs typeface="Arial"/>
                  <a:sym typeface="Arial"/>
                </a:defRPr>
              </a:lvl1pPr>
            </a:lstStyle>
            <a:p>
              <a:pPr/>
              <a:r>
                <a:t>SILVER</a:t>
              </a:r>
            </a:p>
          </p:txBody>
        </p:sp>
        <p:sp>
          <p:nvSpPr>
            <p:cNvPr id="292"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Explain it</a:t>
              </a:r>
            </a:p>
          </p:txBody>
        </p:sp>
        <p:sp>
          <p:nvSpPr>
            <p:cNvPr id="293" name="t1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Use your tray results to explain why cover protects soil.</a:t>
              </a:r>
            </a:p>
          </p:txBody>
        </p:sp>
      </p:grpSp>
      <p:grpSp>
        <p:nvGrpSpPr>
          <p:cNvPr id="299" name="t2"/>
          <p:cNvGrpSpPr/>
          <p:nvPr/>
        </p:nvGrpSpPr>
        <p:grpSpPr>
          <a:xfrm>
            <a:off x="8335061" y="2322576"/>
            <a:ext cx="3307994" cy="1828801"/>
            <a:chOff x="0" y="0"/>
            <a:chExt cx="3307993" cy="1828800"/>
          </a:xfrm>
        </p:grpSpPr>
        <p:sp>
          <p:nvSpPr>
            <p:cNvPr id="295" name="t2_bg"/>
            <p:cNvSpPr/>
            <p:nvPr/>
          </p:nvSpPr>
          <p:spPr>
            <a:xfrm>
              <a:off x="0" y="0"/>
              <a:ext cx="3307994" cy="1828800"/>
            </a:xfrm>
            <a:prstGeom prst="roundRect">
              <a:avLst>
                <a:gd name="adj" fmla="val 5000"/>
              </a:avLst>
            </a:prstGeom>
            <a:solidFill>
              <a:srgbClr val="ECE1CB"/>
            </a:solidFill>
            <a:ln w="20320" cap="flat">
              <a:solidFill>
                <a:srgbClr val="8F6D2A"/>
              </a:solidFill>
              <a:prstDash val="solid"/>
              <a:round/>
            </a:ln>
            <a:effectLst/>
          </p:spPr>
          <p:txBody>
            <a:bodyPr wrap="square" lIns="45719" tIns="45719" rIns="45719" bIns="45719" numCol="1" anchor="t">
              <a:noAutofit/>
            </a:bodyPr>
            <a:lstStyle/>
            <a:p>
              <a:pPr/>
            </a:p>
          </p:txBody>
        </p:sp>
        <p:sp>
          <p:nvSpPr>
            <p:cNvPr id="296"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8F6D2A"/>
                  </a:solidFill>
                  <a:latin typeface="Arial"/>
                  <a:ea typeface="Arial"/>
                  <a:cs typeface="Arial"/>
                  <a:sym typeface="Arial"/>
                </a:defRPr>
              </a:lvl1pPr>
            </a:lstStyle>
            <a:p>
              <a:pPr/>
              <a:r>
                <a:t>GOLD</a:t>
              </a:r>
            </a:p>
          </p:txBody>
        </p:sp>
        <p:sp>
          <p:nvSpPr>
            <p:cNvPr id="297"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3D2B1F"/>
                  </a:solidFill>
                  <a:latin typeface="Arial"/>
                  <a:ea typeface="Arial"/>
                  <a:cs typeface="Arial"/>
                  <a:sym typeface="Arial"/>
                </a:defRPr>
              </a:lvl1pPr>
            </a:lstStyle>
            <a:p>
              <a:pPr/>
              <a:r>
                <a:t>Judge it</a:t>
              </a:r>
            </a:p>
          </p:txBody>
        </p:sp>
        <p:sp>
          <p:nvSpPr>
            <p:cNvPr id="298" name="t2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B5A48"/>
                  </a:solidFill>
                  <a:latin typeface="Arial"/>
                  <a:ea typeface="Arial"/>
                  <a:cs typeface="Arial"/>
                  <a:sym typeface="Arial"/>
                </a:defRPr>
              </a:lvl1pPr>
            </a:lstStyle>
            <a:p>
              <a:pPr/>
              <a:r>
                <a:t>Explain how farming causes both, and judge a claim about the trays.</a:t>
              </a:r>
            </a:p>
          </p:txBody>
        </p:sp>
      </p:grpSp>
      <p:sp>
        <p:nvSpPr>
          <p:cNvPr id="300" name="yd_note"/>
          <p:cNvSpPr txBox="1"/>
          <p:nvPr/>
        </p:nvSpPr>
        <p:spPr>
          <a:xfrm>
            <a:off x="1170432" y="454331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3D2B1F"/>
                </a:solidFill>
                <a:latin typeface="Arial"/>
                <a:ea typeface="Arial"/>
                <a:cs typeface="Arial"/>
                <a:sym typeface="Arial"/>
              </a:defRPr>
            </a:lvl1pPr>
          </a:lstStyle>
          <a:p>
            <a:pPr/>
            <a:r>
              <a:t>Fill in the tray results first. Then start on Silver or go for Gold.</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720000" fill="hold"/>
                                        <p:tgtEl>
                                          <p:spTgt spid="27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89"/>
                                        </p:tgtEl>
                                        <p:attrNameLst>
                                          <p:attrName>style.visibility</p:attrName>
                                        </p:attrNameLst>
                                      </p:cBhvr>
                                      <p:to>
                                        <p:strVal val="visible"/>
                                      </p:to>
                                    </p:set>
                                    <p:animEffect filter="fade" transition="in">
                                      <p:cBhvr>
                                        <p:cTn id="11" dur="400"/>
                                        <p:tgtEl>
                                          <p:spTgt spid="28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94"/>
                                        </p:tgtEl>
                                        <p:attrNameLst>
                                          <p:attrName>style.visibility</p:attrName>
                                        </p:attrNameLst>
                                      </p:cBhvr>
                                      <p:to>
                                        <p:strVal val="visible"/>
                                      </p:to>
                                    </p:set>
                                    <p:animEffect filter="fade" transition="in">
                                      <p:cBhvr>
                                        <p:cTn id="16" dur="400"/>
                                        <p:tgtEl>
                                          <p:spTgt spid="294"/>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99"/>
                                        </p:tgtEl>
                                        <p:attrNameLst>
                                          <p:attrName>style.visibility</p:attrName>
                                        </p:attrNameLst>
                                      </p:cBhvr>
                                      <p:to>
                                        <p:strVal val="visible"/>
                                      </p:to>
                                    </p:set>
                                    <p:animEffect filter="fade" transition="in">
                                      <p:cBhvr>
                                        <p:cTn id="21" dur="400"/>
                                        <p:tgtEl>
                                          <p:spTgt spid="299"/>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00"/>
                                        </p:tgtEl>
                                        <p:attrNameLst>
                                          <p:attrName>style.visibility</p:attrName>
                                        </p:attrNameLst>
                                      </p:cBhvr>
                                      <p:to>
                                        <p:strVal val="visible"/>
                                      </p:to>
                                    </p:set>
                                    <p:animEffect filter="fade" transition="in">
                                      <p:cBhvr>
                                        <p:cTn id="26" dur="4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78"/>
                </p:tgtEl>
              </p:cMediaNode>
            </p:video>
            <p:seq concurrent="1" prevAc="none" nextAc="seek">
              <p:cTn id="28" evtFilter="cancelBubble" nodeType="interactiveSeq" restart="whenNotActive" fill="hold">
                <p:stCondLst>
                  <p:cond delay="0" evt="onClick">
                    <p:tgtEl>
                      <p:spTgt spid="278"/>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78"/>
                                        </p:tgtEl>
                                      </p:cBhvr>
                                    </p:cmd>
                                  </p:childTnLst>
                                </p:cTn>
                              </p:par>
                            </p:childTnLst>
                          </p:cTn>
                        </p:par>
                      </p:childTnLst>
                    </p:cTn>
                  </p:par>
                </p:childTnLst>
              </p:cTn>
              <p:nextCondLst>
                <p:cond delay="0" evt="onClick">
                  <p:tgtEl>
                    <p:spTgt spid="278"/>
                  </p:tgtEl>
                </p:cond>
              </p:nextCondLst>
            </p:seq>
          </p:childTnLst>
        </p:cTn>
      </p:par>
    </p:tnLst>
    <p:bldLst>
      <p:bldP build="whole" bldLvl="1" animBg="1" rev="0" advAuto="0" spid="289" grpId="2"/>
      <p:bldP build="whole" bldLvl="1" animBg="1" rev="0" advAuto="0" spid="299" grpId="4"/>
      <p:bldP build="whole" bldLvl="1" animBg="1" rev="0" advAuto="0" spid="300" grpId="5"/>
      <p:bldP build="whole" bldLvl="1" animBg="1" rev="0" advAuto="0" spid="294"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30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07" name="phase_pill"/>
          <p:cNvGrpSpPr/>
          <p:nvPr/>
        </p:nvGrpSpPr>
        <p:grpSpPr>
          <a:xfrm>
            <a:off x="1170432" y="310895"/>
            <a:ext cx="1892808" cy="329185"/>
            <a:chOff x="0" y="0"/>
            <a:chExt cx="1892807" cy="329184"/>
          </a:xfrm>
        </p:grpSpPr>
        <p:sp>
          <p:nvSpPr>
            <p:cNvPr id="305"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306" name="ANSWERS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308"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3D2B1F"/>
                </a:solidFill>
                <a:latin typeface="Georgia"/>
                <a:ea typeface="Georgia"/>
                <a:cs typeface="Georgia"/>
                <a:sym typeface="Georgia"/>
              </a:defRPr>
            </a:lvl1pPr>
          </a:lstStyle>
          <a:p>
            <a:pPr/>
            <a:r>
              <a:t>Answers</a:t>
            </a:r>
          </a:p>
        </p:txBody>
      </p:sp>
      <p:grpSp>
        <p:nvGrpSpPr>
          <p:cNvPr id="312" name="a0"/>
          <p:cNvGrpSpPr/>
          <p:nvPr/>
        </p:nvGrpSpPr>
        <p:grpSpPr>
          <a:xfrm>
            <a:off x="1170432" y="1828800"/>
            <a:ext cx="5117441" cy="658369"/>
            <a:chOff x="0" y="0"/>
            <a:chExt cx="5117439" cy="658368"/>
          </a:xfrm>
        </p:grpSpPr>
        <p:sp>
          <p:nvSpPr>
            <p:cNvPr id="309" name="a0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0" name="a0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1</a:t>
              </a:r>
            </a:p>
          </p:txBody>
        </p:sp>
        <p:sp>
          <p:nvSpPr>
            <p:cNvPr id="311" name="a0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Soil being worn away and carried off by water or wind.</a:t>
              </a:r>
            </a:p>
          </p:txBody>
        </p:sp>
      </p:grpSp>
      <p:grpSp>
        <p:nvGrpSpPr>
          <p:cNvPr id="316" name="a1"/>
          <p:cNvGrpSpPr/>
          <p:nvPr/>
        </p:nvGrpSpPr>
        <p:grpSpPr>
          <a:xfrm>
            <a:off x="6525615" y="1828800"/>
            <a:ext cx="5117441" cy="658369"/>
            <a:chOff x="0" y="0"/>
            <a:chExt cx="5117439" cy="658368"/>
          </a:xfrm>
        </p:grpSpPr>
        <p:sp>
          <p:nvSpPr>
            <p:cNvPr id="313" name="a1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4" name="a1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2</a:t>
              </a:r>
            </a:p>
          </p:txBody>
        </p:sp>
        <p:sp>
          <p:nvSpPr>
            <p:cNvPr id="315" name="a1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Any two: rain and running water, wind.</a:t>
              </a:r>
            </a:p>
          </p:txBody>
        </p:sp>
      </p:grpSp>
      <p:grpSp>
        <p:nvGrpSpPr>
          <p:cNvPr id="320" name="a2"/>
          <p:cNvGrpSpPr/>
          <p:nvPr/>
        </p:nvGrpSpPr>
        <p:grpSpPr>
          <a:xfrm>
            <a:off x="1170432" y="2578607"/>
            <a:ext cx="5117441" cy="658369"/>
            <a:chOff x="0" y="0"/>
            <a:chExt cx="5117439" cy="658368"/>
          </a:xfrm>
        </p:grpSpPr>
        <p:sp>
          <p:nvSpPr>
            <p:cNvPr id="317" name="a2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18" name="a2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3</a:t>
              </a:r>
            </a:p>
          </p:txBody>
        </p:sp>
        <p:sp>
          <p:nvSpPr>
            <p:cNvPr id="319" name="a2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Fertile land in a dry area turning desert-like.</a:t>
              </a:r>
            </a:p>
          </p:txBody>
        </p:sp>
      </p:grpSp>
      <p:grpSp>
        <p:nvGrpSpPr>
          <p:cNvPr id="324" name="a3"/>
          <p:cNvGrpSpPr/>
          <p:nvPr/>
        </p:nvGrpSpPr>
        <p:grpSpPr>
          <a:xfrm>
            <a:off x="6525615" y="2578607"/>
            <a:ext cx="5117441" cy="658369"/>
            <a:chOff x="0" y="0"/>
            <a:chExt cx="5117439" cy="658368"/>
          </a:xfrm>
        </p:grpSpPr>
        <p:sp>
          <p:nvSpPr>
            <p:cNvPr id="321" name="a3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2" name="a3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4</a:t>
              </a:r>
            </a:p>
          </p:txBody>
        </p:sp>
        <p:sp>
          <p:nvSpPr>
            <p:cNvPr id="323" name="a3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Soil: a few hundred to about 1,000 years. Coal: millions.</a:t>
              </a:r>
            </a:p>
          </p:txBody>
        </p:sp>
      </p:grpSp>
      <p:grpSp>
        <p:nvGrpSpPr>
          <p:cNvPr id="328" name="a4"/>
          <p:cNvGrpSpPr/>
          <p:nvPr/>
        </p:nvGrpSpPr>
        <p:grpSpPr>
          <a:xfrm>
            <a:off x="1170432" y="3328415"/>
            <a:ext cx="5117441" cy="658369"/>
            <a:chOff x="0" y="0"/>
            <a:chExt cx="5117439" cy="658368"/>
          </a:xfrm>
        </p:grpSpPr>
        <p:sp>
          <p:nvSpPr>
            <p:cNvPr id="325" name="a4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6" name="a4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5</a:t>
              </a:r>
            </a:p>
          </p:txBody>
        </p:sp>
        <p:sp>
          <p:nvSpPr>
            <p:cNvPr id="327" name="a4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Tray A. More soil in its pot, and muddier runoff.</a:t>
              </a:r>
            </a:p>
          </p:txBody>
        </p:sp>
      </p:grpSp>
      <p:grpSp>
        <p:nvGrpSpPr>
          <p:cNvPr id="332" name="a5"/>
          <p:cNvGrpSpPr/>
          <p:nvPr/>
        </p:nvGrpSpPr>
        <p:grpSpPr>
          <a:xfrm>
            <a:off x="6525615" y="3328415"/>
            <a:ext cx="5117441" cy="658369"/>
            <a:chOff x="0" y="0"/>
            <a:chExt cx="5117439" cy="658368"/>
          </a:xfrm>
        </p:grpSpPr>
        <p:sp>
          <p:nvSpPr>
            <p:cNvPr id="329" name="a5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30" name="a5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6</a:t>
              </a:r>
            </a:p>
          </p:txBody>
        </p:sp>
        <p:sp>
          <p:nvSpPr>
            <p:cNvPr id="331" name="a5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Roots hold the soil. Leaves slow the rain and water.</a:t>
              </a:r>
            </a:p>
          </p:txBody>
        </p:sp>
      </p:grpSp>
      <p:grpSp>
        <p:nvGrpSpPr>
          <p:cNvPr id="336" name="a6"/>
          <p:cNvGrpSpPr/>
          <p:nvPr/>
        </p:nvGrpSpPr>
        <p:grpSpPr>
          <a:xfrm>
            <a:off x="1170432" y="4078223"/>
            <a:ext cx="5117441" cy="658369"/>
            <a:chOff x="0" y="0"/>
            <a:chExt cx="5117439" cy="658368"/>
          </a:xfrm>
        </p:grpSpPr>
        <p:sp>
          <p:nvSpPr>
            <p:cNvPr id="333" name="a6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34" name="a6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7</a:t>
              </a:r>
            </a:p>
          </p:txBody>
        </p:sp>
        <p:sp>
          <p:nvSpPr>
            <p:cNvPr id="335" name="a6_t"/>
            <p:cNvSpPr txBox="1"/>
            <p:nvPr/>
          </p:nvSpPr>
          <p:spPr>
            <a:xfrm>
              <a:off x="749808" y="243261"/>
              <a:ext cx="4166464" cy="1718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It leaves soil bare and cuts roots, so wind and rain carry it off.</a:t>
              </a:r>
            </a:p>
          </p:txBody>
        </p:sp>
      </p:grpSp>
      <p:grpSp>
        <p:nvGrpSpPr>
          <p:cNvPr id="340" name="a7"/>
          <p:cNvGrpSpPr/>
          <p:nvPr/>
        </p:nvGrpSpPr>
        <p:grpSpPr>
          <a:xfrm>
            <a:off x="6525615" y="4078223"/>
            <a:ext cx="5117441" cy="658369"/>
            <a:chOff x="0" y="0"/>
            <a:chExt cx="5117439" cy="658368"/>
          </a:xfrm>
        </p:grpSpPr>
        <p:sp>
          <p:nvSpPr>
            <p:cNvPr id="337" name="a7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38" name="a7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8</a:t>
              </a:r>
            </a:p>
          </p:txBody>
        </p:sp>
        <p:sp>
          <p:nvSpPr>
            <p:cNvPr id="339" name="a7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Farming removes cover, so soil erodes, and in dry areas the land turns desert-like.</a:t>
              </a:r>
            </a:p>
          </p:txBody>
        </p:sp>
      </p:grpSp>
      <p:grpSp>
        <p:nvGrpSpPr>
          <p:cNvPr id="344" name="a8"/>
          <p:cNvGrpSpPr/>
          <p:nvPr/>
        </p:nvGrpSpPr>
        <p:grpSpPr>
          <a:xfrm>
            <a:off x="1170432" y="4828032"/>
            <a:ext cx="5117441" cy="658369"/>
            <a:chOff x="0" y="0"/>
            <a:chExt cx="5117439" cy="658368"/>
          </a:xfrm>
        </p:grpSpPr>
        <p:sp>
          <p:nvSpPr>
            <p:cNvPr id="341" name="a8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42" name="a8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9</a:t>
              </a:r>
            </a:p>
          </p:txBody>
        </p:sp>
        <p:sp>
          <p:nvSpPr>
            <p:cNvPr id="343" name="a8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Soil lost in years takes centuries to replace, so it is non-renewable for people.</a:t>
              </a:r>
            </a:p>
          </p:txBody>
        </p:sp>
      </p:grpSp>
      <p:grpSp>
        <p:nvGrpSpPr>
          <p:cNvPr id="348" name="a9"/>
          <p:cNvGrpSpPr/>
          <p:nvPr/>
        </p:nvGrpSpPr>
        <p:grpSpPr>
          <a:xfrm>
            <a:off x="6525615" y="4828032"/>
            <a:ext cx="5117441" cy="658369"/>
            <a:chOff x="0" y="0"/>
            <a:chExt cx="5117439" cy="658368"/>
          </a:xfrm>
        </p:grpSpPr>
        <p:sp>
          <p:nvSpPr>
            <p:cNvPr id="345" name="a9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46" name="a9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8F6D2A"/>
                  </a:solidFill>
                  <a:latin typeface="Georgia"/>
                  <a:ea typeface="Georgia"/>
                  <a:cs typeface="Georgia"/>
                  <a:sym typeface="Georgia"/>
                </a:defRPr>
              </a:lvl1pPr>
            </a:lstStyle>
            <a:p>
              <a:pPr/>
              <a:r>
                <a:t>10</a:t>
              </a:r>
            </a:p>
          </p:txBody>
        </p:sp>
        <p:sp>
          <p:nvSpPr>
            <p:cNvPr id="347" name="a9_t"/>
            <p:cNvSpPr txBox="1"/>
            <p:nvPr/>
          </p:nvSpPr>
          <p:spPr>
            <a:xfrm>
              <a:off x="749808" y="154361"/>
              <a:ext cx="4166464" cy="3496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100">
                  <a:solidFill>
                    <a:srgbClr val="2A1D14"/>
                  </a:solidFill>
                  <a:latin typeface="Arial"/>
                  <a:ea typeface="Arial"/>
                  <a:cs typeface="Arial"/>
                  <a:sym typeface="Arial"/>
                </a:defRPr>
              </a:lvl1pPr>
            </a:lstStyle>
            <a:p>
              <a:pPr/>
              <a:r>
                <a:t>Partly true: small, but a fair test, and the pattern matches real fields.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0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12"/>
                                        </p:tgtEl>
                                        <p:attrNameLst>
                                          <p:attrName>style.visibility</p:attrName>
                                        </p:attrNameLst>
                                      </p:cBhvr>
                                      <p:to>
                                        <p:strVal val="visible"/>
                                      </p:to>
                                    </p:set>
                                    <p:animEffect filter="fade" transition="in">
                                      <p:cBhvr>
                                        <p:cTn id="11" dur="400"/>
                                        <p:tgtEl>
                                          <p:spTgt spid="312"/>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316"/>
                                        </p:tgtEl>
                                        <p:attrNameLst>
                                          <p:attrName>style.visibility</p:attrName>
                                        </p:attrNameLst>
                                      </p:cBhvr>
                                      <p:to>
                                        <p:strVal val="visible"/>
                                      </p:to>
                                    </p:set>
                                    <p:animEffect filter="fade" transition="in">
                                      <p:cBhvr>
                                        <p:cTn id="15" dur="400"/>
                                        <p:tgtEl>
                                          <p:spTgt spid="316"/>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320"/>
                                        </p:tgtEl>
                                        <p:attrNameLst>
                                          <p:attrName>style.visibility</p:attrName>
                                        </p:attrNameLst>
                                      </p:cBhvr>
                                      <p:to>
                                        <p:strVal val="visible"/>
                                      </p:to>
                                    </p:set>
                                    <p:animEffect filter="fade" transition="in">
                                      <p:cBhvr>
                                        <p:cTn id="20" dur="400"/>
                                        <p:tgtEl>
                                          <p:spTgt spid="320"/>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324"/>
                                        </p:tgtEl>
                                        <p:attrNameLst>
                                          <p:attrName>style.visibility</p:attrName>
                                        </p:attrNameLst>
                                      </p:cBhvr>
                                      <p:to>
                                        <p:strVal val="visible"/>
                                      </p:to>
                                    </p:set>
                                    <p:animEffect filter="fade" transition="in">
                                      <p:cBhvr>
                                        <p:cTn id="24" dur="400"/>
                                        <p:tgtEl>
                                          <p:spTgt spid="324"/>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328"/>
                                        </p:tgtEl>
                                        <p:attrNameLst>
                                          <p:attrName>style.visibility</p:attrName>
                                        </p:attrNameLst>
                                      </p:cBhvr>
                                      <p:to>
                                        <p:strVal val="visible"/>
                                      </p:to>
                                    </p:set>
                                    <p:animEffect filter="fade" transition="in">
                                      <p:cBhvr>
                                        <p:cTn id="29" dur="400"/>
                                        <p:tgtEl>
                                          <p:spTgt spid="328"/>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32"/>
                                        </p:tgtEl>
                                        <p:attrNameLst>
                                          <p:attrName>style.visibility</p:attrName>
                                        </p:attrNameLst>
                                      </p:cBhvr>
                                      <p:to>
                                        <p:strVal val="visible"/>
                                      </p:to>
                                    </p:set>
                                    <p:animEffect filter="fade" transition="in">
                                      <p:cBhvr>
                                        <p:cTn id="33" dur="400"/>
                                        <p:tgtEl>
                                          <p:spTgt spid="332"/>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36"/>
                                        </p:tgtEl>
                                        <p:attrNameLst>
                                          <p:attrName>style.visibility</p:attrName>
                                        </p:attrNameLst>
                                      </p:cBhvr>
                                      <p:to>
                                        <p:strVal val="visible"/>
                                      </p:to>
                                    </p:set>
                                    <p:animEffect filter="fade" transition="in">
                                      <p:cBhvr>
                                        <p:cTn id="38" dur="400"/>
                                        <p:tgtEl>
                                          <p:spTgt spid="336"/>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40"/>
                                        </p:tgtEl>
                                        <p:attrNameLst>
                                          <p:attrName>style.visibility</p:attrName>
                                        </p:attrNameLst>
                                      </p:cBhvr>
                                      <p:to>
                                        <p:strVal val="visible"/>
                                      </p:to>
                                    </p:set>
                                    <p:animEffect filter="fade" transition="in">
                                      <p:cBhvr>
                                        <p:cTn id="42" dur="400"/>
                                        <p:tgtEl>
                                          <p:spTgt spid="340"/>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44"/>
                                        </p:tgtEl>
                                        <p:attrNameLst>
                                          <p:attrName>style.visibility</p:attrName>
                                        </p:attrNameLst>
                                      </p:cBhvr>
                                      <p:to>
                                        <p:strVal val="visible"/>
                                      </p:to>
                                    </p:set>
                                    <p:animEffect filter="fade" transition="in">
                                      <p:cBhvr>
                                        <p:cTn id="47" dur="400"/>
                                        <p:tgtEl>
                                          <p:spTgt spid="344"/>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48"/>
                                        </p:tgtEl>
                                        <p:attrNameLst>
                                          <p:attrName>style.visibility</p:attrName>
                                        </p:attrNameLst>
                                      </p:cBhvr>
                                      <p:to>
                                        <p:strVal val="visible"/>
                                      </p:to>
                                    </p:set>
                                    <p:animEffect filter="fade" transition="in">
                                      <p:cBhvr>
                                        <p:cTn id="51" dur="4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304"/>
                </p:tgtEl>
              </p:cMediaNode>
            </p:video>
            <p:seq concurrent="1" prevAc="none" nextAc="seek">
              <p:cTn id="53" evtFilter="cancelBubble" nodeType="interactiveSeq" restart="whenNotActive" fill="hold">
                <p:stCondLst>
                  <p:cond delay="0" evt="onClick">
                    <p:tgtEl>
                      <p:spTgt spid="304"/>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304"/>
                                        </p:tgtEl>
                                      </p:cBhvr>
                                    </p:cmd>
                                  </p:childTnLst>
                                </p:cTn>
                              </p:par>
                            </p:childTnLst>
                          </p:cTn>
                        </p:par>
                      </p:childTnLst>
                    </p:cTn>
                  </p:par>
                </p:childTnLst>
              </p:cTn>
              <p:nextCondLst>
                <p:cond delay="0" evt="onClick">
                  <p:tgtEl>
                    <p:spTgt spid="304"/>
                  </p:tgtEl>
                </p:cond>
              </p:nextCondLst>
            </p:seq>
          </p:childTnLst>
        </p:cTn>
      </p:par>
    </p:tnLst>
    <p:bldLst>
      <p:bldP build="whole" bldLvl="1" animBg="1" rev="0" advAuto="0" spid="348" grpId="11"/>
      <p:bldP build="whole" bldLvl="1" animBg="1" rev="0" advAuto="0" spid="312" grpId="2"/>
      <p:bldP build="whole" bldLvl="1" animBg="1" rev="0" advAuto="0" spid="328" grpId="6"/>
      <p:bldP build="whole" bldLvl="1" animBg="1" rev="0" advAuto="0" spid="344" grpId="10"/>
      <p:bldP build="whole" bldLvl="1" animBg="1" rev="0" advAuto="0" spid="324" grpId="5"/>
      <p:bldP build="whole" bldLvl="1" animBg="1" rev="0" advAuto="0" spid="340" grpId="9"/>
      <p:bldP build="whole" bldLvl="1" animBg="1" rev="0" advAuto="0" spid="320" grpId="4"/>
      <p:bldP build="whole" bldLvl="1" animBg="1" rev="0" advAuto="0" spid="336" grpId="8"/>
      <p:bldP build="whole" bldLvl="1" animBg="1" rev="0" advAuto="0" spid="316" grpId="3"/>
      <p:bldP build="whole" bldLvl="1" animBg="1" rev="0" advAuto="0" spid="332" grpId="7"/>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3D2B1F"/>
        </a:solidFill>
      </p:bgPr>
    </p:bg>
    <p:spTree>
      <p:nvGrpSpPr>
        <p:cNvPr id="1" name=""/>
        <p:cNvGrpSpPr/>
        <p:nvPr/>
      </p:nvGrpSpPr>
      <p:grpSpPr>
        <a:xfrm>
          <a:off x="0" y="0"/>
          <a:ext cx="0" cy="0"/>
          <a:chOff x="0" y="0"/>
          <a:chExt cx="0" cy="0"/>
        </a:xfrm>
      </p:grpSpPr>
      <p:pic>
        <p:nvPicPr>
          <p:cNvPr id="35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55" name="phase_pill"/>
          <p:cNvGrpSpPr/>
          <p:nvPr/>
        </p:nvGrpSpPr>
        <p:grpSpPr>
          <a:xfrm>
            <a:off x="1170432" y="310895"/>
            <a:ext cx="1892808" cy="329185"/>
            <a:chOff x="0" y="0"/>
            <a:chExt cx="1892807" cy="329184"/>
          </a:xfrm>
        </p:grpSpPr>
        <p:sp>
          <p:nvSpPr>
            <p:cNvPr id="353" name="Rounded Rectangle"/>
            <p:cNvSpPr/>
            <p:nvPr/>
          </p:nvSpPr>
          <p:spPr>
            <a:xfrm>
              <a:off x="0" y="0"/>
              <a:ext cx="1892808" cy="329185"/>
            </a:xfrm>
            <a:prstGeom prst="roundRect">
              <a:avLst>
                <a:gd name="adj" fmla="val 44444"/>
              </a:avLst>
            </a:prstGeom>
            <a:solidFill>
              <a:srgbClr val="C99A3D"/>
            </a:solidFill>
            <a:ln w="12700" cap="flat">
              <a:noFill/>
              <a:miter lim="400000"/>
            </a:ln>
            <a:effectLst/>
          </p:spPr>
          <p:txBody>
            <a:bodyPr wrap="square" lIns="45719" tIns="45719" rIns="45719" bIns="45719" numCol="1" anchor="ctr">
              <a:noAutofit/>
            </a:bodyPr>
            <a:lstStyle/>
            <a:p>
              <a:pPr algn="ctr">
                <a:defRPr sz="1100"/>
              </a:pPr>
            </a:p>
          </p:txBody>
        </p:sp>
        <p:sp>
          <p:nvSpPr>
            <p:cNvPr id="354"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3D2B1F"/>
                  </a:solidFill>
                  <a:latin typeface="Arial"/>
                  <a:ea typeface="Arial"/>
                  <a:cs typeface="Arial"/>
                  <a:sym typeface="Arial"/>
                </a:defRPr>
              </a:lvl1pPr>
            </a:lstStyle>
            <a:p>
              <a:pPr/>
              <a:r>
                <a:t>PLENARY · 3 MIN</a:t>
              </a:r>
            </a:p>
          </p:txBody>
        </p:sp>
      </p:grpSp>
      <p:sp>
        <p:nvSpPr>
          <p:cNvPr id="35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2EBDD"/>
                </a:solidFill>
                <a:latin typeface="Georgia"/>
                <a:ea typeface="Georgia"/>
                <a:cs typeface="Georgia"/>
                <a:sym typeface="Georgia"/>
              </a:defRPr>
            </a:lvl1pPr>
          </a:lstStyle>
          <a:p>
            <a:pPr/>
            <a:r>
              <a:t>True or false?</a:t>
            </a:r>
          </a:p>
        </p:txBody>
      </p:sp>
      <p:grpSp>
        <p:nvGrpSpPr>
          <p:cNvPr id="359" name="p0_stmt"/>
          <p:cNvGrpSpPr/>
          <p:nvPr/>
        </p:nvGrpSpPr>
        <p:grpSpPr>
          <a:xfrm>
            <a:off x="1170432" y="2194560"/>
            <a:ext cx="8552383" cy="640081"/>
            <a:chOff x="0" y="0"/>
            <a:chExt cx="8552382" cy="640080"/>
          </a:xfrm>
        </p:grpSpPr>
        <p:sp>
          <p:nvSpPr>
            <p:cNvPr id="357" name="p0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58"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Erosion is soil being carried away by wind or water.</a:t>
              </a:r>
            </a:p>
          </p:txBody>
        </p:sp>
      </p:grpSp>
      <p:sp>
        <p:nvSpPr>
          <p:cNvPr id="360"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363" name="p1_stmt"/>
          <p:cNvGrpSpPr/>
          <p:nvPr/>
        </p:nvGrpSpPr>
        <p:grpSpPr>
          <a:xfrm>
            <a:off x="1170432" y="2999232"/>
            <a:ext cx="8552383" cy="640081"/>
            <a:chOff x="0" y="0"/>
            <a:chExt cx="8552382" cy="640080"/>
          </a:xfrm>
        </p:grpSpPr>
        <p:sp>
          <p:nvSpPr>
            <p:cNvPr id="361" name="p1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62"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Desertification is a desert spreading by itself.</a:t>
              </a:r>
            </a:p>
          </p:txBody>
        </p:sp>
      </p:grpSp>
      <p:sp>
        <p:nvSpPr>
          <p:cNvPr id="364"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367" name="p2_stmt"/>
          <p:cNvGrpSpPr/>
          <p:nvPr/>
        </p:nvGrpSpPr>
        <p:grpSpPr>
          <a:xfrm>
            <a:off x="1170432" y="3803903"/>
            <a:ext cx="8552383" cy="640081"/>
            <a:chOff x="0" y="0"/>
            <a:chExt cx="8552382" cy="640080"/>
          </a:xfrm>
        </p:grpSpPr>
        <p:sp>
          <p:nvSpPr>
            <p:cNvPr id="365" name="p2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66"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Bare soil loses more to erosion than soil with plants on it.</a:t>
              </a:r>
            </a:p>
          </p:txBody>
        </p:sp>
      </p:grpSp>
      <p:sp>
        <p:nvSpPr>
          <p:cNvPr id="368"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371" name="p3_stmt"/>
          <p:cNvGrpSpPr/>
          <p:nvPr/>
        </p:nvGrpSpPr>
        <p:grpSpPr>
          <a:xfrm>
            <a:off x="1170432" y="4608576"/>
            <a:ext cx="8552383" cy="640081"/>
            <a:chOff x="0" y="0"/>
            <a:chExt cx="8552382" cy="640080"/>
          </a:xfrm>
        </p:grpSpPr>
        <p:sp>
          <p:nvSpPr>
            <p:cNvPr id="369" name="p3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70"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Soil forms in about the same time as coal.</a:t>
              </a:r>
            </a:p>
          </p:txBody>
        </p:sp>
      </p:grpSp>
      <p:sp>
        <p:nvSpPr>
          <p:cNvPr id="372"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375" name="p4_stmt"/>
          <p:cNvGrpSpPr/>
          <p:nvPr/>
        </p:nvGrpSpPr>
        <p:grpSpPr>
          <a:xfrm>
            <a:off x="1170432" y="5413247"/>
            <a:ext cx="8552383" cy="640081"/>
            <a:chOff x="0" y="0"/>
            <a:chExt cx="8552382" cy="640080"/>
          </a:xfrm>
        </p:grpSpPr>
        <p:sp>
          <p:nvSpPr>
            <p:cNvPr id="373" name="p4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374"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Farming can cause both erosion and desertification.</a:t>
              </a:r>
            </a:p>
          </p:txBody>
        </p:sp>
      </p:grpSp>
      <p:sp>
        <p:nvSpPr>
          <p:cNvPr id="376"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sp>
        <p:nvSpPr>
          <p:cNvPr id="377" name="pl_next"/>
          <p:cNvSpPr txBox="1"/>
          <p:nvPr/>
        </p:nvSpPr>
        <p:spPr>
          <a:xfrm>
            <a:off x="1170432" y="618923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600">
                <a:solidFill>
                  <a:srgbClr val="C99A3D"/>
                </a:solidFill>
                <a:latin typeface="Arial"/>
                <a:ea typeface="Arial"/>
                <a:cs typeface="Arial"/>
                <a:sym typeface="Arial"/>
              </a:defRPr>
            </a:lvl1pPr>
          </a:lstStyle>
          <a:p>
            <a:pPr/>
            <a:r>
              <a:t>Centuries to make. Years to lose.</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5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59"/>
                                        </p:tgtEl>
                                        <p:attrNameLst>
                                          <p:attrName>style.visibility</p:attrName>
                                        </p:attrNameLst>
                                      </p:cBhvr>
                                      <p:to>
                                        <p:strVal val="visible"/>
                                      </p:to>
                                    </p:set>
                                    <p:animEffect filter="fade" transition="in">
                                      <p:cBhvr>
                                        <p:cTn id="11" dur="400"/>
                                        <p:tgtEl>
                                          <p:spTgt spid="35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60"/>
                                        </p:tgtEl>
                                        <p:attrNameLst>
                                          <p:attrName>style.visibility</p:attrName>
                                        </p:attrNameLst>
                                      </p:cBhvr>
                                      <p:to>
                                        <p:strVal val="visible"/>
                                      </p:to>
                                    </p:set>
                                    <p:anim calcmode="lin" valueType="num">
                                      <p:cBhvr>
                                        <p:cTn id="16" dur="400" fill="hold"/>
                                        <p:tgtEl>
                                          <p:spTgt spid="360"/>
                                        </p:tgtEl>
                                        <p:attrNameLst>
                                          <p:attrName>ppt_w</p:attrName>
                                        </p:attrNameLst>
                                      </p:cBhvr>
                                      <p:tavLst>
                                        <p:tav tm="0">
                                          <p:val>
                                            <p:fltVal val="0"/>
                                          </p:val>
                                        </p:tav>
                                        <p:tav tm="100000">
                                          <p:val>
                                            <p:strVal val="#ppt_w"/>
                                          </p:val>
                                        </p:tav>
                                      </p:tavLst>
                                    </p:anim>
                                    <p:anim calcmode="lin" valueType="num">
                                      <p:cBhvr>
                                        <p:cTn id="17" dur="400" fill="hold"/>
                                        <p:tgtEl>
                                          <p:spTgt spid="360"/>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63"/>
                                        </p:tgtEl>
                                        <p:attrNameLst>
                                          <p:attrName>style.visibility</p:attrName>
                                        </p:attrNameLst>
                                      </p:cBhvr>
                                      <p:to>
                                        <p:strVal val="visible"/>
                                      </p:to>
                                    </p:set>
                                    <p:animEffect filter="fade" transition="in">
                                      <p:cBhvr>
                                        <p:cTn id="22" dur="400"/>
                                        <p:tgtEl>
                                          <p:spTgt spid="363"/>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64"/>
                                        </p:tgtEl>
                                        <p:attrNameLst>
                                          <p:attrName>style.visibility</p:attrName>
                                        </p:attrNameLst>
                                      </p:cBhvr>
                                      <p:to>
                                        <p:strVal val="visible"/>
                                      </p:to>
                                    </p:set>
                                    <p:anim calcmode="lin" valueType="num">
                                      <p:cBhvr>
                                        <p:cTn id="27" dur="400" fill="hold"/>
                                        <p:tgtEl>
                                          <p:spTgt spid="364"/>
                                        </p:tgtEl>
                                        <p:attrNameLst>
                                          <p:attrName>ppt_w</p:attrName>
                                        </p:attrNameLst>
                                      </p:cBhvr>
                                      <p:tavLst>
                                        <p:tav tm="0">
                                          <p:val>
                                            <p:fltVal val="0"/>
                                          </p:val>
                                        </p:tav>
                                        <p:tav tm="100000">
                                          <p:val>
                                            <p:strVal val="#ppt_w"/>
                                          </p:val>
                                        </p:tav>
                                      </p:tavLst>
                                    </p:anim>
                                    <p:anim calcmode="lin" valueType="num">
                                      <p:cBhvr>
                                        <p:cTn id="28" dur="400" fill="hold"/>
                                        <p:tgtEl>
                                          <p:spTgt spid="36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67"/>
                                        </p:tgtEl>
                                        <p:attrNameLst>
                                          <p:attrName>style.visibility</p:attrName>
                                        </p:attrNameLst>
                                      </p:cBhvr>
                                      <p:to>
                                        <p:strVal val="visible"/>
                                      </p:to>
                                    </p:set>
                                    <p:animEffect filter="fade" transition="in">
                                      <p:cBhvr>
                                        <p:cTn id="33" dur="400"/>
                                        <p:tgtEl>
                                          <p:spTgt spid="367"/>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68"/>
                                        </p:tgtEl>
                                        <p:attrNameLst>
                                          <p:attrName>style.visibility</p:attrName>
                                        </p:attrNameLst>
                                      </p:cBhvr>
                                      <p:to>
                                        <p:strVal val="visible"/>
                                      </p:to>
                                    </p:set>
                                    <p:anim calcmode="lin" valueType="num">
                                      <p:cBhvr>
                                        <p:cTn id="38" dur="400" fill="hold"/>
                                        <p:tgtEl>
                                          <p:spTgt spid="368"/>
                                        </p:tgtEl>
                                        <p:attrNameLst>
                                          <p:attrName>ppt_w</p:attrName>
                                        </p:attrNameLst>
                                      </p:cBhvr>
                                      <p:tavLst>
                                        <p:tav tm="0">
                                          <p:val>
                                            <p:fltVal val="0"/>
                                          </p:val>
                                        </p:tav>
                                        <p:tav tm="100000">
                                          <p:val>
                                            <p:strVal val="#ppt_w"/>
                                          </p:val>
                                        </p:tav>
                                      </p:tavLst>
                                    </p:anim>
                                    <p:anim calcmode="lin" valueType="num">
                                      <p:cBhvr>
                                        <p:cTn id="39" dur="400" fill="hold"/>
                                        <p:tgtEl>
                                          <p:spTgt spid="368"/>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71"/>
                                        </p:tgtEl>
                                        <p:attrNameLst>
                                          <p:attrName>style.visibility</p:attrName>
                                        </p:attrNameLst>
                                      </p:cBhvr>
                                      <p:to>
                                        <p:strVal val="visible"/>
                                      </p:to>
                                    </p:set>
                                    <p:animEffect filter="fade" transition="in">
                                      <p:cBhvr>
                                        <p:cTn id="44" dur="400"/>
                                        <p:tgtEl>
                                          <p:spTgt spid="371"/>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72"/>
                                        </p:tgtEl>
                                        <p:attrNameLst>
                                          <p:attrName>style.visibility</p:attrName>
                                        </p:attrNameLst>
                                      </p:cBhvr>
                                      <p:to>
                                        <p:strVal val="visible"/>
                                      </p:to>
                                    </p:set>
                                    <p:anim calcmode="lin" valueType="num">
                                      <p:cBhvr>
                                        <p:cTn id="49" dur="400" fill="hold"/>
                                        <p:tgtEl>
                                          <p:spTgt spid="372"/>
                                        </p:tgtEl>
                                        <p:attrNameLst>
                                          <p:attrName>ppt_w</p:attrName>
                                        </p:attrNameLst>
                                      </p:cBhvr>
                                      <p:tavLst>
                                        <p:tav tm="0">
                                          <p:val>
                                            <p:fltVal val="0"/>
                                          </p:val>
                                        </p:tav>
                                        <p:tav tm="100000">
                                          <p:val>
                                            <p:strVal val="#ppt_w"/>
                                          </p:val>
                                        </p:tav>
                                      </p:tavLst>
                                    </p:anim>
                                    <p:anim calcmode="lin" valueType="num">
                                      <p:cBhvr>
                                        <p:cTn id="50" dur="400" fill="hold"/>
                                        <p:tgtEl>
                                          <p:spTgt spid="372"/>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75"/>
                                        </p:tgtEl>
                                        <p:attrNameLst>
                                          <p:attrName>style.visibility</p:attrName>
                                        </p:attrNameLst>
                                      </p:cBhvr>
                                      <p:to>
                                        <p:strVal val="visible"/>
                                      </p:to>
                                    </p:set>
                                    <p:animEffect filter="fade" transition="in">
                                      <p:cBhvr>
                                        <p:cTn id="55" dur="400"/>
                                        <p:tgtEl>
                                          <p:spTgt spid="375"/>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76"/>
                                        </p:tgtEl>
                                        <p:attrNameLst>
                                          <p:attrName>style.visibility</p:attrName>
                                        </p:attrNameLst>
                                      </p:cBhvr>
                                      <p:to>
                                        <p:strVal val="visible"/>
                                      </p:to>
                                    </p:set>
                                    <p:anim calcmode="lin" valueType="num">
                                      <p:cBhvr>
                                        <p:cTn id="60" dur="400" fill="hold"/>
                                        <p:tgtEl>
                                          <p:spTgt spid="376"/>
                                        </p:tgtEl>
                                        <p:attrNameLst>
                                          <p:attrName>ppt_w</p:attrName>
                                        </p:attrNameLst>
                                      </p:cBhvr>
                                      <p:tavLst>
                                        <p:tav tm="0">
                                          <p:val>
                                            <p:fltVal val="0"/>
                                          </p:val>
                                        </p:tav>
                                        <p:tav tm="100000">
                                          <p:val>
                                            <p:strVal val="#ppt_w"/>
                                          </p:val>
                                        </p:tav>
                                      </p:tavLst>
                                    </p:anim>
                                    <p:anim calcmode="lin" valueType="num">
                                      <p:cBhvr>
                                        <p:cTn id="61" dur="400" fill="hold"/>
                                        <p:tgtEl>
                                          <p:spTgt spid="37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77"/>
                                        </p:tgtEl>
                                        <p:attrNameLst>
                                          <p:attrName>style.visibility</p:attrName>
                                        </p:attrNameLst>
                                      </p:cBhvr>
                                      <p:to>
                                        <p:strVal val="visible"/>
                                      </p:to>
                                    </p:set>
                                    <p:animEffect filter="fade" transition="in">
                                      <p:cBhvr>
                                        <p:cTn id="66" dur="4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52"/>
                </p:tgtEl>
              </p:cMediaNode>
            </p:video>
            <p:seq concurrent="1" prevAc="none" nextAc="seek">
              <p:cTn id="68" evtFilter="cancelBubble" nodeType="interactiveSeq" restart="whenNotActive" fill="hold">
                <p:stCondLst>
                  <p:cond delay="0" evt="onClick">
                    <p:tgtEl>
                      <p:spTgt spid="352"/>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52"/>
                                        </p:tgtEl>
                                      </p:cBhvr>
                                    </p:cmd>
                                  </p:childTnLst>
                                </p:cTn>
                              </p:par>
                            </p:childTnLst>
                          </p:cTn>
                        </p:par>
                      </p:childTnLst>
                    </p:cTn>
                  </p:par>
                </p:childTnLst>
              </p:cTn>
              <p:nextCondLst>
                <p:cond delay="0" evt="onClick">
                  <p:tgtEl>
                    <p:spTgt spid="352"/>
                  </p:tgtEl>
                </p:cond>
              </p:nextCondLst>
            </p:seq>
          </p:childTnLst>
        </p:cTn>
      </p:par>
    </p:tnLst>
    <p:bldLst>
      <p:bldP build="whole" bldLvl="1" animBg="1" rev="0" advAuto="0" spid="364" grpId="5"/>
      <p:bldP build="whole" bldLvl="1" animBg="1" rev="0" advAuto="0" spid="368" grpId="7"/>
      <p:bldP build="whole" bldLvl="1" animBg="1" rev="0" advAuto="0" spid="376" grpId="11"/>
      <p:bldP build="whole" bldLvl="1" animBg="1" rev="0" advAuto="0" spid="372" grpId="9"/>
      <p:bldP build="whole" bldLvl="1" animBg="1" rev="0" advAuto="0" spid="375" grpId="10"/>
      <p:bldP build="whole" bldLvl="1" animBg="1" rev="0" advAuto="0" spid="371" grpId="8"/>
      <p:bldP build="whole" bldLvl="1" animBg="1" rev="0" advAuto="0" spid="377" grpId="12"/>
      <p:bldP build="whole" bldLvl="1" animBg="1" rev="0" advAuto="0" spid="360" grpId="3"/>
      <p:bldP build="whole" bldLvl="1" animBg="1" rev="0" advAuto="0" spid="367" grpId="6"/>
      <p:bldP build="whole" bldLvl="1" animBg="1" rev="0" advAuto="0" spid="363" grpId="4"/>
      <p:bldP build="whole" bldLvl="1" animBg="1" rev="0" advAuto="0" spid="359" grpId="2"/>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