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" name="Shape 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Hidden teacher slide. This is skipped in slideshow.</a:t>
            </a:r>
          </a:p>
          <a:p>
            <a:pPr/>
            <a:r>
              <a:t>Before lesson: remind yourself that today is expansion only; collecting after expansion is Lesson 3.</a:t>
            </a:r>
          </a:p>
          <a:p>
            <a:pPr/>
            <a:r>
              <a:t>The two colours used throughout: x-terms green, number terms blue.</a:t>
            </a:r>
          </a:p>
          <a:p>
            <a:pPr/>
            <a:r>
              <a:t>Watch especially for students multiplying only the first term.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— arrive on this. Clicks: 1 the 3, 2 the bracketed chunk, 3 the arrow, 4 the answer.</a:t>
            </a:r>
          </a:p>
          <a:p>
            <a:pPr/>
            <a:r>
              <a:t>SAY: "The number outside the bracket has a job: it multiplies everything inside. We are going to make that obvious rather than memorise a mysterious rule."</a:t>
            </a:r>
          </a:p>
          <a:p>
            <a:pPr/>
            <a:r>
              <a:t>Misconception to watch: students stop after multiplying x.</a:t>
            </a:r>
          </a:p>
          <a:p>
            <a:pPr/>
            <a:r>
              <a:t>Stretch: ask what 3(x + 2) becomes if x = 5. Answer: 21.</a:t>
            </a:r>
          </a:p>
          <a:p>
            <a:pPr/>
            <a:r>
              <a:t>Timing: 30 seconds.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hape 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OBJECTIVES — 1 minute. One click per card.</a:t>
            </a:r>
          </a:p>
          <a:p>
            <a:pPr/>
            <a:r>
              <a:t>Read the three goals. Do not teach them yet.</a:t>
            </a:r>
          </a:p>
          <a:p>
            <a:pPr/>
            <a:r>
              <a:t>Misconception: some pupils think brackets mean multiply only the first term.</a:t>
            </a:r>
          </a:p>
          <a:p>
            <a:pPr/>
            <a:r>
              <a:t>Stretch: ask which success criterion is needed most for a question like 3(x + 2) + 4x.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9" name="Shape 1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5 minutes: 3 minutes working, 2 marking. Six clicks, one answer per click.</a:t>
            </a:r>
          </a:p>
          <a:p>
            <a:pPr/>
            <a:r>
              <a:t>SAY: "Do not use a calculator. We are warming up the exact arithmetic the algebra will use."</a:t>
            </a:r>
          </a:p>
          <a:p>
            <a:pPr/>
            <a:r>
              <a:t>Q1–Q3: retrieval. Q4 and Q5 are deliberate previews of distribution with numbers.</a:t>
            </a:r>
          </a:p>
          <a:p>
            <a:pPr/>
            <a:r>
              <a:t>Q6 is just fluency so everyone finishes with a success.</a:t>
            </a:r>
          </a:p>
          <a:p>
            <a:pPr/>
            <a:r>
              <a:t>Misconception: a negative answer can lose its sign.</a:t>
            </a:r>
          </a:p>
          <a:p>
            <a:pPr/>
            <a:r>
              <a:t>Stretch: for Q5 ask why 4(10 − 3) can be seen as 4×10 − 4×3.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4 minutes. Four clicks: question, A, B, C.</a:t>
            </a:r>
          </a:p>
          <a:p>
            <a:pPr/>
            <a:r>
              <a:t>Take the vote and tally it visibly. Keep the answer unresolved until slide 7.</a:t>
            </a:r>
          </a:p>
          <a:p>
            <a:pPr/>
            <a:r>
              <a:t>SAY: "Do not worry about being right. I want to know what your brain currently thinks the bracket is doing."</a:t>
            </a:r>
          </a:p>
          <a:p>
            <a:pPr/>
            <a:r>
              <a:t>Misconception to watch: A is the natural first guess because pupils multiply the 3 by x and then stop.</a:t>
            </a:r>
          </a:p>
          <a:p>
            <a:pPr/>
            <a:r>
              <a:t>Stretch: ask whether 3(x + 2) should be bigger or smaller than 3x when x is positive.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2" name="Shape 1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4 minutes. Six clicks: expression, explanation, each of three copies, expanded repeated form, banner.</a:t>
            </a:r>
          </a:p>
          <a:p>
            <a:pPr/>
            <a:r>
              <a:t>SAY: "A bracket tells us that x + 2 stays together. The 3 means I have three copies of that entire chunk."</a:t>
            </a:r>
          </a:p>
          <a:p>
            <a:pPr/>
            <a:r>
              <a:t>Do not introduce the formal phrase distributive property yet; build the meaning first.</a:t>
            </a:r>
          </a:p>
          <a:p>
            <a:pPr/>
            <a:r>
              <a:t>Misconception: students read 3(x + 2) as 3x + 2. Ask: "How many twos do I have?" Answer: three.</a:t>
            </a:r>
          </a:p>
          <a:p>
            <a:pPr/>
            <a:r>
              <a:t>Stretch: ask students to write 4(x + 1) as repeated addition.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6 minutes. Six clicks: expression, split into two products, x-term answer, number-term answer, final answer, hook answer/rule.</a:t>
            </a:r>
          </a:p>
          <a:p>
            <a:pPr/>
            <a:r>
              <a:t>Return to the hook tally now. Confirm B only after pupils explain why.</a:t>
            </a:r>
          </a:p>
          <a:p>
            <a:pPr/>
            <a:r>
              <a:t>SAY: "The 3 does not choose a favourite term. It multiplies every term in the bracket."</a:t>
            </a:r>
          </a:p>
          <a:p>
            <a:pPr/>
            <a:r>
              <a:t>Misconception: multiplying only the first term. Point to both arrows.</a:t>
            </a:r>
          </a:p>
          <a:p>
            <a:pPr/>
            <a:r>
              <a:t>Stretch: ask why 3(x + 2) gives the same answer as 3x + 6 when x = 10.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Shape 1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6 minutes. Four clicks, one answer per question.</a:t>
            </a:r>
          </a:p>
          <a:p>
            <a:pPr/>
            <a:r>
              <a:t>Pupils write each expansion on mini whiteboards before the click.</a:t>
            </a:r>
          </a:p>
          <a:p>
            <a:pPr/>
            <a:r>
              <a:t>Q1 is the routine model. Q2 checks a coefficient on a term. Q3 and Q4 build fluency without introducing negatives yet.</a:t>
            </a:r>
          </a:p>
          <a:p>
            <a:pPr/>
            <a:r>
              <a:t>Misconception: omitting the coefficient on the second term, e.g. 4(2a + 3) → 8a + 3.</a:t>
            </a:r>
          </a:p>
          <a:p>
            <a:pPr/>
            <a:r>
              <a:t>Stretch: ask which term in 4(2a + 3) produces the 12.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5 minutes. Seven clicks: expression, sign rule, two products, two answers, final explanation.</a:t>
            </a:r>
          </a:p>
          <a:p>
            <a:pPr/>
            <a:r>
              <a:t>SAY: "The minus belongs to the 3. I multiply 4 by negative 3, not by positive 3."</a:t>
            </a:r>
          </a:p>
          <a:p>
            <a:pPr/>
            <a:r>
              <a:t>Model writing +x and −3 explicitly. This is the sign-carrying habit from Lesson 1, now used inside multiplication.</a:t>
            </a:r>
          </a:p>
          <a:p>
            <a:pPr/>
            <a:r>
              <a:t>Misconception: 4(x − 3) → 4x − 3. Ask: "How many negative threes?" Answer: four.</a:t>
            </a:r>
          </a:p>
          <a:p>
            <a:pPr/>
            <a:r>
              <a:t>Stretch: ask for 2(x − 7) and let pupils predict the sign before calculating.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clicks, one answer per question, plus the stretch.</a:t>
            </a:r>
          </a:p>
          <a:p>
            <a:pPr/>
            <a:r>
              <a:t>Boards up before every click. Insist on the same sentence: "outside number × first term; outside number × second term."</a:t>
            </a:r>
          </a:p>
          <a:p>
            <a:pPr/>
            <a:r>
              <a:t>Q1 and Q2 test subtraction. Q3 tests a coefficient on the first term. Q4 is deliberately easy after the sign model.</a:t>
            </a:r>
          </a:p>
          <a:p>
            <a:pPr/>
            <a:r>
              <a:t>Misconception: students multiply the 6 by m but not by −1.</a:t>
            </a:r>
          </a:p>
          <a:p>
            <a:pPr/>
            <a:r>
              <a:t>Stretch: negative outside is an extension, not the main lesson. Explain that the sign multiplies every term too.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Shape 2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— 3 minutes. Five clicks: dimensions, x-part, 2-part, total area, closing explanation.</a:t>
            </a:r>
          </a:p>
          <a:p>
            <a:pPr/>
            <a:r>
              <a:t>ASK FIRST: "What is the total area?" Accept 3(x + 2). Then ask how a split rectangle gives the same area.</a:t>
            </a:r>
          </a:p>
          <a:p>
            <a:pPr/>
            <a:r>
              <a:t>SAY: "The distributive property is not a magic algebra rule. It is what happens when one rectangle is split into two rectangles."</a:t>
            </a:r>
          </a:p>
          <a:p>
            <a:pPr/>
            <a:r>
              <a:t>Misconception: students think the expanded expression is a different value. Explain that it is the same total area, written differently.</a:t>
            </a:r>
          </a:p>
          <a:p>
            <a:pPr/>
            <a:r>
              <a:t>Stretch: ask pupils to sketch 4(n + 3) as a split rectangle.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8 minutes. Hand out worksheet.</a:t>
            </a:r>
          </a:p>
          <a:p>
            <a:pPr/>
            <a:r>
              <a:t>SAY: "Start where you feel confident. Your goal is not to finish everything; your goal is to secure the method."</a:t>
            </a:r>
          </a:p>
          <a:p>
            <a:pPr/>
            <a:r>
              <a:t>Circulate with one question: "Which term did the outside number multiply? Show me both products."</a:t>
            </a:r>
          </a:p>
          <a:p>
            <a:pPr/>
            <a:r>
              <a:t>Watch for the classic errors: multiplying one term only; dropping the minus; changing the bracket to a product of letters.</a:t>
            </a:r>
          </a:p>
          <a:p>
            <a:pPr/>
            <a:r>
              <a:t>At 2 minutes remaining, tell pupils to finish the question they are on and turn the page ready for the plenary.</a:t>
            </a:r>
          </a:p>
          <a:p>
            <a:pPr/>
            <a:r>
              <a:t>Gemini prompts are on the worksheet, not the slide. Remind pupils to check anything Gemini says against their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1" name="Shape 2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Four clicks: reveal verdict + reason for each statement, then the closing re-rate line.</a:t>
            </a:r>
          </a:p>
          <a:p>
            <a:pPr/>
            <a:r>
              <a:t>Before Q1, go back to the hook tally: "Which answer did you vote for?" Then reveal the verdict.</a:t>
            </a:r>
          </a:p>
          <a:p>
            <a:pPr/>
            <a:r>
              <a:t>Every FALSE statement is one of the misconceptions from the hidden teacher slide.</a:t>
            </a:r>
          </a:p>
          <a:p>
            <a:pPr/>
            <a:r>
              <a:t>Misconception to watch: pupils may recognise the pattern but still lose the negative sign in Q2/Q4.</a:t>
            </a:r>
          </a:p>
          <a:p>
            <a:pPr/>
            <a:r>
              <a:t>STRETCH: ask which true statement could be checked by substituting a number.</a:t>
            </a:r>
          </a:p>
          <a:p>
            <a:pPr/>
            <a:r>
              <a:t>SAY: "Circle your new red, amber or green rating. Next lesson we will put expansion and collecting together."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Georgia"/>
          <a:ea typeface="Georgia"/>
          <a:cs typeface="Georgia"/>
          <a:sym typeface="Georg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274320" y="182879"/>
            <a:ext cx="41148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6D687A"/>
                </a:solidFill>
              </a:defRPr>
            </a:lvl1pPr>
          </a:lstStyle>
          <a:p>
            <a:pPr/>
            <a:r>
              <a:t>TEACHER ONLY — hidden in slideshow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274320" y="438912"/>
            <a:ext cx="411480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41247">
              <a:defRPr b="1" sz="1564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Y8 Maths · Algebra · L2 of 3 · 50 minutes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274320" y="914400"/>
            <a:ext cx="260604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2B2350"/>
                </a:solidFill>
              </a:defRPr>
            </a:lvl1pPr>
          </a:lstStyle>
          <a:p>
            <a:pPr/>
            <a:r>
              <a:t>PRIOR KNOWLEDGE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274320" y="1207008"/>
            <a:ext cx="2606040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000">
                <a:solidFill>
                  <a:srgbClr val="2B2350"/>
                </a:solidFill>
              </a:defRPr>
            </a:pPr>
            <a:r>
              <a:t>• 3a means 3 × a.</a:t>
            </a:r>
          </a:p>
          <a:p>
            <a:pPr>
              <a:defRPr sz="1000">
                <a:solidFill>
                  <a:srgbClr val="2B2350"/>
                </a:solidFill>
              </a:defRPr>
            </a:pPr>
            <a:r>
              <a:t>• Collecting like terms: 4a + 2a = 6a.</a:t>
            </a:r>
          </a:p>
          <a:p>
            <a:pPr>
              <a:defRPr sz="1000">
                <a:solidFill>
                  <a:srgbClr val="2B2350"/>
                </a:solidFill>
              </a:defRPr>
            </a:pPr>
            <a:r>
              <a:t>• Integer multiplication and subtraction.</a:t>
            </a:r>
          </a:p>
          <a:p>
            <a:pPr>
              <a:defRPr sz="1000">
                <a:solidFill>
                  <a:srgbClr val="2B2350"/>
                </a:solidFill>
              </a:defRPr>
            </a:pPr>
            <a:r>
              <a:t>• Multiplication distributes over addition in number form: 3(4 + 2).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3154679" y="914400"/>
            <a:ext cx="26060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2B2350"/>
                </a:solidFill>
              </a:defRPr>
            </a:lvl1pPr>
          </a:lstStyle>
          <a:p>
            <a:pPr/>
            <a:r>
              <a:t>MISCONCEPTIONS (wrong → right)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3154679" y="1207007"/>
            <a:ext cx="2606041" cy="2697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900">
                <a:solidFill>
                  <a:srgbClr val="2B2350"/>
                </a:solidFill>
              </a:defRPr>
            </a:pPr>
            <a:r>
              <a:t>✗ 3(x + 2) = 3x + 2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→ The 3 multiplies BOTH terms: 3x + 6.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✗ x + 2 means x2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→ The bracket contains addition; it is one chunk.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✗ 4(x − 3) = 4x − 3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→ Multiply 4 by −3 too: 4x − 12.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✗ The number outside can multiply only the letter term.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→ It multiplies every term inside the bracket.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6035040" y="914400"/>
            <a:ext cx="2743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2B2350"/>
                </a:solidFill>
              </a:defRPr>
            </a:lvl1pPr>
          </a:lstStyle>
          <a:p>
            <a:pPr/>
            <a:r>
              <a:t>LESSON FLOW (50 min)</a:t>
            </a:r>
          </a:p>
        </p:txBody>
      </p:sp>
      <p:sp>
        <p:nvSpPr>
          <p:cNvPr id="34" name="Text 7"/>
          <p:cNvSpPr txBox="1"/>
          <p:nvPr/>
        </p:nvSpPr>
        <p:spPr>
          <a:xfrm>
            <a:off x="6035040" y="1207008"/>
            <a:ext cx="2743201" cy="320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900">
                <a:solidFill>
                  <a:srgbClr val="2B2350"/>
                </a:solidFill>
              </a:defRPr>
            </a:pPr>
            <a:r>
              <a:t>Objectives — 1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Do Now — 5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Hook: 3(x + 2) — 4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I Do: what brackets mean — 4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I Do: distributive property — 6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We Do: expand positive brackets — 6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I Do: negative terms — 5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We Do: mixed expansion — 5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Why: area model — 3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You Do: worksheet — 8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Plenary + self-rate — 3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──────────────</a:t>
            </a:r>
          </a:p>
          <a:p>
            <a:pPr>
              <a:defRPr sz="900">
                <a:solidFill>
                  <a:srgbClr val="2B2350"/>
                </a:solidFill>
              </a:defRPr>
            </a:pPr>
            <a:r>
              <a:t>TOTAL 50 min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274320" y="4571999"/>
            <a:ext cx="8686801" cy="27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C0392B"/>
                </a:solidFill>
              </a:defRPr>
            </a:lvl1pPr>
          </a:lstStyle>
          <a:p>
            <a:pPr/>
            <a:r>
              <a:t>IF SHORT: cut slide 11 first. Do not cut slide 9 — the negative-term step is the hinge for later algebra.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 txBox="1"/>
          <p:nvPr/>
        </p:nvSpPr>
        <p:spPr>
          <a:xfrm>
            <a:off x="274320" y="274320"/>
            <a:ext cx="457200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D8CFF2"/>
                </a:solidFill>
              </a:defRPr>
            </a:lvl1pPr>
          </a:lstStyle>
          <a:p>
            <a:pPr/>
            <a:r>
              <a:t>Y8 MATHS  ·  ALGEBRA  ·  LESSON 2 OF 3</a:t>
            </a:r>
          </a:p>
        </p:txBody>
      </p:sp>
      <p:sp>
        <p:nvSpPr>
          <p:cNvPr id="40" name="Text 1"/>
          <p:cNvSpPr txBox="1"/>
          <p:nvPr/>
        </p:nvSpPr>
        <p:spPr>
          <a:xfrm>
            <a:off x="274319" y="731519"/>
            <a:ext cx="4206242" cy="1051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Expanding</a:t>
            </a:r>
          </a:p>
          <a:p>
            <a:pPr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single brackets</a:t>
            </a:r>
          </a:p>
        </p:txBody>
      </p:sp>
      <p:sp>
        <p:nvSpPr>
          <p:cNvPr id="41" name="Text 2"/>
          <p:cNvSpPr txBox="1"/>
          <p:nvPr/>
        </p:nvSpPr>
        <p:spPr>
          <a:xfrm>
            <a:off x="274320" y="2011679"/>
            <a:ext cx="41148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300">
                <a:solidFill>
                  <a:srgbClr val="E9E4F7"/>
                </a:solidFill>
              </a:defRPr>
            </a:pPr>
            <a:r>
              <a:t>One number outside the bracket.</a:t>
            </a:r>
          </a:p>
          <a:p>
            <a:pPr>
              <a:defRPr sz="1300">
                <a:solidFill>
                  <a:srgbClr val="E9E4F7"/>
                </a:solidFill>
              </a:defRPr>
            </a:pPr>
            <a:r>
              <a:t>Multiply it by every term inside.</a:t>
            </a:r>
          </a:p>
        </p:txBody>
      </p:sp>
      <p:sp>
        <p:nvSpPr>
          <p:cNvPr id="42" name="Shape 3"/>
          <p:cNvSpPr/>
          <p:nvPr/>
        </p:nvSpPr>
        <p:spPr>
          <a:xfrm>
            <a:off x="5486400" y="914400"/>
            <a:ext cx="2560321" cy="2331721"/>
          </a:xfrm>
          <a:prstGeom prst="roundRect">
            <a:avLst>
              <a:gd name="adj" fmla="val 3137"/>
            </a:avLst>
          </a:prstGeom>
          <a:solidFill>
            <a:srgbClr val="3A2F68"/>
          </a:solidFill>
          <a:ln w="12700">
            <a:solidFill>
              <a:srgbClr val="3A2F6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itle_mult"/>
          <p:cNvSpPr txBox="1"/>
          <p:nvPr/>
        </p:nvSpPr>
        <p:spPr>
          <a:xfrm>
            <a:off x="5715000" y="1225296"/>
            <a:ext cx="43891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title_x"/>
          <p:cNvSpPr txBox="1"/>
          <p:nvPr/>
        </p:nvSpPr>
        <p:spPr>
          <a:xfrm>
            <a:off x="6165118" y="1302040"/>
            <a:ext cx="32004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500">
                <a:solidFill>
                  <a:srgbClr val="F26A4F"/>
                </a:solidFill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45" name="title_bracket"/>
          <p:cNvSpPr txBox="1"/>
          <p:nvPr/>
        </p:nvSpPr>
        <p:spPr>
          <a:xfrm>
            <a:off x="6583680" y="1234439"/>
            <a:ext cx="114300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500">
                <a:solidFill>
                  <a:srgbClr val="FFFFFF"/>
                </a:solidFill>
              </a:defRPr>
            </a:lvl1pPr>
          </a:lstStyle>
          <a:p>
            <a:pPr/>
            <a:r>
              <a:t>( x + 2 )</a:t>
            </a:r>
          </a:p>
        </p:txBody>
      </p:sp>
      <p:sp>
        <p:nvSpPr>
          <p:cNvPr id="46" name="title_arrow"/>
          <p:cNvSpPr txBox="1"/>
          <p:nvPr/>
        </p:nvSpPr>
        <p:spPr>
          <a:xfrm>
            <a:off x="6611111" y="1828799"/>
            <a:ext cx="411481" cy="27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676655">
              <a:defRPr b="1" sz="1924">
                <a:solidFill>
                  <a:srgbClr val="F26A4F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47" name="title_answer"/>
          <p:cNvSpPr txBox="1"/>
          <p:nvPr/>
        </p:nvSpPr>
        <p:spPr>
          <a:xfrm>
            <a:off x="5989320" y="2313432"/>
            <a:ext cx="164592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3x + 6</a:t>
            </a:r>
          </a:p>
        </p:txBody>
      </p:sp>
      <p:sp>
        <p:nvSpPr>
          <p:cNvPr id="48" name="Text 9"/>
          <p:cNvSpPr txBox="1"/>
          <p:nvPr/>
        </p:nvSpPr>
        <p:spPr>
          <a:xfrm>
            <a:off x="5897879" y="2834639"/>
            <a:ext cx="1920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8CFF2"/>
                </a:solidFill>
              </a:defRPr>
            </a:lvl1pPr>
          </a:lstStyle>
          <a:p>
            <a:pPr/>
            <a:r>
              <a:t>Multiply both terms.</a:t>
            </a:r>
          </a:p>
        </p:txBody>
      </p:sp>
      <p:sp>
        <p:nvSpPr>
          <p:cNvPr id="49" name="Text 10"/>
          <p:cNvSpPr txBox="1"/>
          <p:nvPr/>
        </p:nvSpPr>
        <p:spPr>
          <a:xfrm>
            <a:off x="274320" y="4690871"/>
            <a:ext cx="859536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D8CFF2"/>
                </a:solidFill>
              </a:defRPr>
            </a:lvl1pPr>
          </a:lstStyle>
          <a:p>
            <a:pPr/>
            <a:r>
              <a:t>Lesson 1: collect   →   Lesson 2: expand   →   Lesson 3: expand + simplify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OBJECTIVES · 1 MIN</a:t>
            </a:r>
          </a:p>
        </p:txBody>
      </p:sp>
      <p:sp>
        <p:nvSpPr>
          <p:cNvPr id="55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Today's goals</a:t>
            </a:r>
          </a:p>
        </p:txBody>
      </p:sp>
      <p:sp>
        <p:nvSpPr>
          <p:cNvPr id="56" name="Shape 3"/>
          <p:cNvSpPr/>
          <p:nvPr/>
        </p:nvSpPr>
        <p:spPr>
          <a:xfrm>
            <a:off x="274320" y="1444752"/>
            <a:ext cx="2542033" cy="1371601"/>
          </a:xfrm>
          <a:prstGeom prst="roundRect">
            <a:avLst>
              <a:gd name="adj" fmla="val 533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4"/>
          <p:cNvSpPr/>
          <p:nvPr/>
        </p:nvSpPr>
        <p:spPr>
          <a:xfrm>
            <a:off x="384048" y="1572767"/>
            <a:ext cx="265176" cy="265177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5"/>
          <p:cNvSpPr txBox="1"/>
          <p:nvPr/>
        </p:nvSpPr>
        <p:spPr>
          <a:xfrm>
            <a:off x="384048" y="1618488"/>
            <a:ext cx="265176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" name="Text 6"/>
          <p:cNvSpPr txBox="1"/>
          <p:nvPr/>
        </p:nvSpPr>
        <p:spPr>
          <a:xfrm>
            <a:off x="438912" y="1984248"/>
            <a:ext cx="2176273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B2350"/>
                </a:solidFill>
              </a:defRPr>
            </a:lvl1pPr>
          </a:lstStyle>
          <a:p>
            <a:pPr/>
            <a:r>
              <a:t>Explain what a bracketed expression means.</a:t>
            </a:r>
          </a:p>
        </p:txBody>
      </p:sp>
      <p:sp>
        <p:nvSpPr>
          <p:cNvPr id="60" name="Shape 7"/>
          <p:cNvSpPr/>
          <p:nvPr/>
        </p:nvSpPr>
        <p:spPr>
          <a:xfrm>
            <a:off x="3090672" y="1444752"/>
            <a:ext cx="2542033" cy="1371601"/>
          </a:xfrm>
          <a:prstGeom prst="roundRect">
            <a:avLst>
              <a:gd name="adj" fmla="val 533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8"/>
          <p:cNvSpPr/>
          <p:nvPr/>
        </p:nvSpPr>
        <p:spPr>
          <a:xfrm>
            <a:off x="3200400" y="1572767"/>
            <a:ext cx="265176" cy="265177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9"/>
          <p:cNvSpPr txBox="1"/>
          <p:nvPr/>
        </p:nvSpPr>
        <p:spPr>
          <a:xfrm>
            <a:off x="3200400" y="1618488"/>
            <a:ext cx="265176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" name="Text 10"/>
          <p:cNvSpPr txBox="1"/>
          <p:nvPr/>
        </p:nvSpPr>
        <p:spPr>
          <a:xfrm>
            <a:off x="3255264" y="1984248"/>
            <a:ext cx="2176273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B2350"/>
                </a:solidFill>
              </a:defRPr>
            </a:lvl1pPr>
          </a:lstStyle>
          <a:p>
            <a:pPr/>
            <a:r>
              <a:t>Expand a single bracket by multiplying the outside number by every term inside.</a:t>
            </a:r>
          </a:p>
        </p:txBody>
      </p:sp>
      <p:sp>
        <p:nvSpPr>
          <p:cNvPr id="64" name="Shape 11"/>
          <p:cNvSpPr/>
          <p:nvPr/>
        </p:nvSpPr>
        <p:spPr>
          <a:xfrm>
            <a:off x="5907023" y="1444752"/>
            <a:ext cx="2542033" cy="1371601"/>
          </a:xfrm>
          <a:prstGeom prst="roundRect">
            <a:avLst>
              <a:gd name="adj" fmla="val 533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2"/>
          <p:cNvSpPr/>
          <p:nvPr/>
        </p:nvSpPr>
        <p:spPr>
          <a:xfrm>
            <a:off x="6016752" y="1572767"/>
            <a:ext cx="265177" cy="265177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3"/>
          <p:cNvSpPr txBox="1"/>
          <p:nvPr/>
        </p:nvSpPr>
        <p:spPr>
          <a:xfrm>
            <a:off x="6016752" y="1618488"/>
            <a:ext cx="26517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6071615" y="1984248"/>
            <a:ext cx="2176273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B2350"/>
                </a:solidFill>
              </a:defRPr>
            </a:lvl1pPr>
          </a:lstStyle>
          <a:p>
            <a:pPr/>
            <a:r>
              <a:t>Expand brackets containing subtraction without losing the sign.</a:t>
            </a:r>
          </a:p>
        </p:txBody>
      </p:sp>
      <p:sp>
        <p:nvSpPr>
          <p:cNvPr id="68" name="Text 15"/>
          <p:cNvSpPr txBox="1"/>
          <p:nvPr/>
        </p:nvSpPr>
        <p:spPr>
          <a:xfrm>
            <a:off x="274319" y="3154679"/>
            <a:ext cx="21031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2B2350"/>
                </a:solidFill>
              </a:defRPr>
            </a:lvl1pPr>
          </a:lstStyle>
          <a:p>
            <a:pPr/>
            <a:r>
              <a:t>Success looks like…</a:t>
            </a:r>
          </a:p>
        </p:txBody>
      </p:sp>
      <p:sp>
        <p:nvSpPr>
          <p:cNvPr id="69" name="Text 16"/>
          <p:cNvSpPr txBox="1"/>
          <p:nvPr/>
        </p:nvSpPr>
        <p:spPr>
          <a:xfrm>
            <a:off x="274319" y="3493008"/>
            <a:ext cx="8321042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100">
                <a:solidFill>
                  <a:srgbClr val="2B2350"/>
                </a:solidFill>
              </a:defRPr>
            </a:pPr>
            <a:r>
              <a:t>I can turn 4(x + 3) into 4x + 12.</a:t>
            </a:r>
          </a:p>
          <a:p>
            <a:pPr>
              <a:defRPr sz="1100">
                <a:solidFill>
                  <a:srgbClr val="2B2350"/>
                </a:solidFill>
              </a:defRPr>
            </a:pPr>
            <a:r>
              <a:t>I can explain why 2(x − 5) becomes 2x − 10.</a:t>
            </a:r>
          </a:p>
          <a:p>
            <a:pPr>
              <a:defRPr sz="1100">
                <a:solidFill>
                  <a:srgbClr val="2B2350"/>
                </a:solidFill>
              </a:defRPr>
            </a:pPr>
            <a:r>
              <a:t>I can check my answer by multiplying back in numbers.</a:t>
            </a:r>
          </a:p>
        </p:txBody>
      </p:sp>
      <p:sp>
        <p:nvSpPr>
          <p:cNvPr id="70" name="Text 17"/>
          <p:cNvSpPr txBox="1"/>
          <p:nvPr/>
        </p:nvSpPr>
        <p:spPr>
          <a:xfrm>
            <a:off x="274320" y="4690871"/>
            <a:ext cx="8595360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6D687A"/>
                </a:solidFill>
              </a:defRPr>
            </a:lvl1pPr>
          </a:lstStyle>
          <a:p>
            <a:pPr/>
            <a:r>
              <a:t>Lesson 1: collecting like terms.     Lesson 3: expand AND simplify.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DO NOW · 5 MIN</a:t>
            </a:r>
          </a:p>
        </p:txBody>
      </p:sp>
      <p:sp>
        <p:nvSpPr>
          <p:cNvPr id="76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Do Now</a:t>
            </a:r>
          </a:p>
        </p:txBody>
      </p:sp>
      <p:sp>
        <p:nvSpPr>
          <p:cNvPr id="77" name="Shape 3"/>
          <p:cNvSpPr/>
          <p:nvPr/>
        </p:nvSpPr>
        <p:spPr>
          <a:xfrm>
            <a:off x="274320" y="1417319"/>
            <a:ext cx="2542033" cy="987554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4"/>
          <p:cNvSpPr/>
          <p:nvPr/>
        </p:nvSpPr>
        <p:spPr>
          <a:xfrm>
            <a:off x="365759" y="1508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5"/>
          <p:cNvSpPr txBox="1"/>
          <p:nvPr/>
        </p:nvSpPr>
        <p:spPr>
          <a:xfrm>
            <a:off x="365759" y="1522475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0" name="Text 6"/>
          <p:cNvSpPr txBox="1"/>
          <p:nvPr/>
        </p:nvSpPr>
        <p:spPr>
          <a:xfrm>
            <a:off x="685800" y="1499616"/>
            <a:ext cx="2029968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3 × 4</a:t>
            </a:r>
          </a:p>
        </p:txBody>
      </p:sp>
      <p:sp>
        <p:nvSpPr>
          <p:cNvPr id="81" name="dn1_ans"/>
          <p:cNvSpPr txBox="1"/>
          <p:nvPr/>
        </p:nvSpPr>
        <p:spPr>
          <a:xfrm>
            <a:off x="685800" y="1874520"/>
            <a:ext cx="202996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82" name="Shape 8"/>
          <p:cNvSpPr/>
          <p:nvPr/>
        </p:nvSpPr>
        <p:spPr>
          <a:xfrm>
            <a:off x="3090672" y="1417319"/>
            <a:ext cx="2542033" cy="987554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9"/>
          <p:cNvSpPr/>
          <p:nvPr/>
        </p:nvSpPr>
        <p:spPr>
          <a:xfrm>
            <a:off x="3182111" y="1508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0"/>
          <p:cNvSpPr txBox="1"/>
          <p:nvPr/>
        </p:nvSpPr>
        <p:spPr>
          <a:xfrm>
            <a:off x="3182111" y="1522475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" name="Text 11"/>
          <p:cNvSpPr txBox="1"/>
          <p:nvPr/>
        </p:nvSpPr>
        <p:spPr>
          <a:xfrm>
            <a:off x="3502152" y="1499616"/>
            <a:ext cx="202996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−5 + 3</a:t>
            </a:r>
          </a:p>
        </p:txBody>
      </p:sp>
      <p:sp>
        <p:nvSpPr>
          <p:cNvPr id="86" name="dn2_ans"/>
          <p:cNvSpPr txBox="1"/>
          <p:nvPr/>
        </p:nvSpPr>
        <p:spPr>
          <a:xfrm>
            <a:off x="3502152" y="1874520"/>
            <a:ext cx="202996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−2</a:t>
            </a:r>
          </a:p>
        </p:txBody>
      </p:sp>
      <p:sp>
        <p:nvSpPr>
          <p:cNvPr id="87" name="Shape 13"/>
          <p:cNvSpPr/>
          <p:nvPr/>
        </p:nvSpPr>
        <p:spPr>
          <a:xfrm>
            <a:off x="5907023" y="1417319"/>
            <a:ext cx="2542033" cy="987554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4"/>
          <p:cNvSpPr/>
          <p:nvPr/>
        </p:nvSpPr>
        <p:spPr>
          <a:xfrm>
            <a:off x="5998464" y="1508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5"/>
          <p:cNvSpPr txBox="1"/>
          <p:nvPr/>
        </p:nvSpPr>
        <p:spPr>
          <a:xfrm>
            <a:off x="5998464" y="1522475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" name="Text 16"/>
          <p:cNvSpPr txBox="1"/>
          <p:nvPr/>
        </p:nvSpPr>
        <p:spPr>
          <a:xfrm>
            <a:off x="6318503" y="1499616"/>
            <a:ext cx="202996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2a + 5a</a:t>
            </a:r>
          </a:p>
        </p:txBody>
      </p:sp>
      <p:sp>
        <p:nvSpPr>
          <p:cNvPr id="91" name="dn3_ans"/>
          <p:cNvSpPr txBox="1"/>
          <p:nvPr/>
        </p:nvSpPr>
        <p:spPr>
          <a:xfrm>
            <a:off x="6318503" y="1874520"/>
            <a:ext cx="202996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7a</a:t>
            </a:r>
          </a:p>
        </p:txBody>
      </p:sp>
      <p:sp>
        <p:nvSpPr>
          <p:cNvPr id="92" name="Shape 18"/>
          <p:cNvSpPr/>
          <p:nvPr/>
        </p:nvSpPr>
        <p:spPr>
          <a:xfrm>
            <a:off x="274320" y="2560320"/>
            <a:ext cx="2542033" cy="987553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9"/>
          <p:cNvSpPr/>
          <p:nvPr/>
        </p:nvSpPr>
        <p:spPr>
          <a:xfrm>
            <a:off x="365759" y="2651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20"/>
          <p:cNvSpPr txBox="1"/>
          <p:nvPr/>
        </p:nvSpPr>
        <p:spPr>
          <a:xfrm>
            <a:off x="365759" y="2665476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5" name="Text 21"/>
          <p:cNvSpPr txBox="1"/>
          <p:nvPr/>
        </p:nvSpPr>
        <p:spPr>
          <a:xfrm>
            <a:off x="685800" y="2642616"/>
            <a:ext cx="2029968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3 × (4 + 2)</a:t>
            </a:r>
          </a:p>
        </p:txBody>
      </p:sp>
      <p:sp>
        <p:nvSpPr>
          <p:cNvPr id="96" name="dn4_ans"/>
          <p:cNvSpPr txBox="1"/>
          <p:nvPr/>
        </p:nvSpPr>
        <p:spPr>
          <a:xfrm>
            <a:off x="685800" y="3017520"/>
            <a:ext cx="202996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97" name="Shape 23"/>
          <p:cNvSpPr/>
          <p:nvPr/>
        </p:nvSpPr>
        <p:spPr>
          <a:xfrm>
            <a:off x="3090672" y="2560320"/>
            <a:ext cx="2542033" cy="987553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24"/>
          <p:cNvSpPr/>
          <p:nvPr/>
        </p:nvSpPr>
        <p:spPr>
          <a:xfrm>
            <a:off x="3182111" y="2651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5"/>
          <p:cNvSpPr txBox="1"/>
          <p:nvPr/>
        </p:nvSpPr>
        <p:spPr>
          <a:xfrm>
            <a:off x="3182111" y="2665476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0" name="Text 26"/>
          <p:cNvSpPr txBox="1"/>
          <p:nvPr/>
        </p:nvSpPr>
        <p:spPr>
          <a:xfrm>
            <a:off x="3502152" y="2642616"/>
            <a:ext cx="202996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4 × (10 − 3)</a:t>
            </a:r>
          </a:p>
        </p:txBody>
      </p:sp>
      <p:sp>
        <p:nvSpPr>
          <p:cNvPr id="101" name="dn5_ans"/>
          <p:cNvSpPr txBox="1"/>
          <p:nvPr/>
        </p:nvSpPr>
        <p:spPr>
          <a:xfrm>
            <a:off x="3502152" y="3017520"/>
            <a:ext cx="202996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102" name="Shape 28"/>
          <p:cNvSpPr/>
          <p:nvPr/>
        </p:nvSpPr>
        <p:spPr>
          <a:xfrm>
            <a:off x="5907023" y="2560320"/>
            <a:ext cx="2542033" cy="987553"/>
          </a:xfrm>
          <a:prstGeom prst="roundRect">
            <a:avLst>
              <a:gd name="adj" fmla="val 7407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29"/>
          <p:cNvSpPr/>
          <p:nvPr/>
        </p:nvSpPr>
        <p:spPr>
          <a:xfrm>
            <a:off x="5998464" y="2651760"/>
            <a:ext cx="228601" cy="228601"/>
          </a:xfrm>
          <a:prstGeom prst="ellipse">
            <a:avLst/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30"/>
          <p:cNvSpPr txBox="1"/>
          <p:nvPr/>
        </p:nvSpPr>
        <p:spPr>
          <a:xfrm>
            <a:off x="5998464" y="2665476"/>
            <a:ext cx="22860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5" name="Text 31"/>
          <p:cNvSpPr txBox="1"/>
          <p:nvPr/>
        </p:nvSpPr>
        <p:spPr>
          <a:xfrm>
            <a:off x="6318503" y="2642616"/>
            <a:ext cx="2029969" cy="329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5 × 7</a:t>
            </a:r>
          </a:p>
        </p:txBody>
      </p:sp>
      <p:sp>
        <p:nvSpPr>
          <p:cNvPr id="106" name="dn6_ans"/>
          <p:cNvSpPr txBox="1"/>
          <p:nvPr/>
        </p:nvSpPr>
        <p:spPr>
          <a:xfrm>
            <a:off x="6318503" y="3017520"/>
            <a:ext cx="202996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200">
                <a:solidFill>
                  <a:srgbClr val="C0392B"/>
                </a:solidFill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107" name="Text 33"/>
          <p:cNvSpPr txBox="1"/>
          <p:nvPr/>
        </p:nvSpPr>
        <p:spPr>
          <a:xfrm>
            <a:off x="274320" y="3977640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2B2350"/>
                </a:solidFill>
              </a:defRPr>
            </a:lvl1pPr>
          </a:lstStyle>
          <a:p>
            <a:pPr/>
            <a:r>
              <a:t>Answer 1–5, then check one at a time. Keep Q4 and Q5 in mind: today’s algebra is the same distributive idea with letters.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1" grpId="1"/>
      <p:bldP build="whole" bldLvl="1" animBg="1" rev="0" advAuto="0" spid="96" grpId="4"/>
      <p:bldP build="whole" bldLvl="1" animBg="1" rev="0" advAuto="0" spid="86" grpId="2"/>
      <p:bldP build="whole" bldLvl="1" animBg="1" rev="0" advAuto="0" spid="91" grpId="3"/>
      <p:bldP build="whole" bldLvl="1" animBg="1" rev="0" advAuto="0" spid="101" grpId="5"/>
      <p:bldP build="whole" bldLvl="1" animBg="1" rev="0" advAuto="0" spid="106" grpId="6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HOOK · 4 MIN</a:t>
            </a:r>
          </a:p>
        </p:txBody>
      </p:sp>
      <p:sp>
        <p:nvSpPr>
          <p:cNvPr id="113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Which one is right?</a:t>
            </a:r>
          </a:p>
        </p:txBody>
      </p:sp>
      <p:sp>
        <p:nvSpPr>
          <p:cNvPr id="114" name="Text 3"/>
          <p:cNvSpPr txBox="1"/>
          <p:nvPr/>
        </p:nvSpPr>
        <p:spPr>
          <a:xfrm>
            <a:off x="1371600" y="1389888"/>
            <a:ext cx="6400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3(x + 2)  =  ?</a:t>
            </a:r>
          </a:p>
        </p:txBody>
      </p:sp>
      <p:sp>
        <p:nvSpPr>
          <p:cNvPr id="115" name="Shape 4"/>
          <p:cNvSpPr/>
          <p:nvPr/>
        </p:nvSpPr>
        <p:spPr>
          <a:xfrm>
            <a:off x="502919" y="2148839"/>
            <a:ext cx="2468881" cy="1143001"/>
          </a:xfrm>
          <a:prstGeom prst="roundRect">
            <a:avLst>
              <a:gd name="adj" fmla="val 6400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5"/>
          <p:cNvSpPr txBox="1"/>
          <p:nvPr/>
        </p:nvSpPr>
        <p:spPr>
          <a:xfrm>
            <a:off x="685799" y="2331720"/>
            <a:ext cx="32004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26A4F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7" name="Text 6"/>
          <p:cNvSpPr txBox="1"/>
          <p:nvPr/>
        </p:nvSpPr>
        <p:spPr>
          <a:xfrm>
            <a:off x="741593" y="2331720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2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3x + 2</a:t>
            </a:r>
          </a:p>
        </p:txBody>
      </p:sp>
      <p:sp>
        <p:nvSpPr>
          <p:cNvPr id="118" name="Shape 7"/>
          <p:cNvSpPr/>
          <p:nvPr/>
        </p:nvSpPr>
        <p:spPr>
          <a:xfrm>
            <a:off x="3246120" y="2148839"/>
            <a:ext cx="2468880" cy="1143001"/>
          </a:xfrm>
          <a:prstGeom prst="roundRect">
            <a:avLst>
              <a:gd name="adj" fmla="val 6400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8"/>
          <p:cNvSpPr txBox="1"/>
          <p:nvPr/>
        </p:nvSpPr>
        <p:spPr>
          <a:xfrm>
            <a:off x="3428999" y="2331720"/>
            <a:ext cx="32004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26A4F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20" name="Text 9"/>
          <p:cNvSpPr txBox="1"/>
          <p:nvPr/>
        </p:nvSpPr>
        <p:spPr>
          <a:xfrm>
            <a:off x="3484793" y="2331720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2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3x + 6</a:t>
            </a:r>
          </a:p>
        </p:txBody>
      </p:sp>
      <p:sp>
        <p:nvSpPr>
          <p:cNvPr id="121" name="Shape 10"/>
          <p:cNvSpPr/>
          <p:nvPr/>
        </p:nvSpPr>
        <p:spPr>
          <a:xfrm>
            <a:off x="5989320" y="2148839"/>
            <a:ext cx="2468880" cy="1143001"/>
          </a:xfrm>
          <a:prstGeom prst="roundRect">
            <a:avLst>
              <a:gd name="adj" fmla="val 6400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1"/>
          <p:cNvSpPr txBox="1"/>
          <p:nvPr/>
        </p:nvSpPr>
        <p:spPr>
          <a:xfrm>
            <a:off x="6172199" y="2331720"/>
            <a:ext cx="32004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26A4F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3" name="Text 12"/>
          <p:cNvSpPr txBox="1"/>
          <p:nvPr/>
        </p:nvSpPr>
        <p:spPr>
          <a:xfrm>
            <a:off x="6227993" y="2331720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2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6x</a:t>
            </a:r>
          </a:p>
        </p:txBody>
      </p:sp>
      <p:sp>
        <p:nvSpPr>
          <p:cNvPr id="124" name="Text 13"/>
          <p:cNvSpPr txBox="1"/>
          <p:nvPr/>
        </p:nvSpPr>
        <p:spPr>
          <a:xfrm>
            <a:off x="914400" y="3703320"/>
            <a:ext cx="7315200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C0392B"/>
                </a:solidFill>
              </a:defRPr>
            </a:lvl1pPr>
          </a:lstStyle>
          <a:p>
            <a:pPr/>
            <a:r>
              <a:t>Explain your choice in one sentence.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 DO · 4 MIN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5577840" y="256031"/>
            <a:ext cx="31089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b="1" sz="700">
                <a:solidFill>
                  <a:srgbClr val="6D687A"/>
                </a:solidFill>
              </a:defRPr>
            </a:lvl1pPr>
          </a:lstStyle>
          <a:p>
            <a:pPr/>
            <a:r>
              <a:t>bracket · term</a:t>
            </a:r>
          </a:p>
        </p:txBody>
      </p:sp>
      <p:sp>
        <p:nvSpPr>
          <p:cNvPr id="131" name="Text 3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First: what does a bracket mean?</a:t>
            </a:r>
          </a:p>
        </p:txBody>
      </p:sp>
      <p:sp>
        <p:nvSpPr>
          <p:cNvPr id="132" name="b6_expr"/>
          <p:cNvSpPr txBox="1"/>
          <p:nvPr/>
        </p:nvSpPr>
        <p:spPr>
          <a:xfrm>
            <a:off x="640080" y="1371599"/>
            <a:ext cx="2834640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7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3(x + 2)</a:t>
            </a:r>
          </a:p>
        </p:txBody>
      </p:sp>
      <p:sp>
        <p:nvSpPr>
          <p:cNvPr id="133" name="b6_words"/>
          <p:cNvSpPr txBox="1"/>
          <p:nvPr/>
        </p:nvSpPr>
        <p:spPr>
          <a:xfrm>
            <a:off x="3840479" y="1444752"/>
            <a:ext cx="429768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300">
                <a:solidFill>
                  <a:srgbClr val="2B2350"/>
                </a:solidFill>
              </a:defRPr>
            </a:lvl1pPr>
          </a:lstStyle>
          <a:p>
            <a:pPr/>
            <a:r>
              <a:t>means three groups of the whole chunk</a:t>
            </a:r>
          </a:p>
        </p:txBody>
      </p:sp>
      <p:sp>
        <p:nvSpPr>
          <p:cNvPr id="134" name="b6_chunk1"/>
          <p:cNvSpPr txBox="1"/>
          <p:nvPr/>
        </p:nvSpPr>
        <p:spPr>
          <a:xfrm>
            <a:off x="1417319" y="2103120"/>
            <a:ext cx="164592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200">
                <a:solidFill>
                  <a:srgbClr val="2E8B57"/>
                </a:solidFill>
              </a:defRPr>
            </a:lvl1pPr>
          </a:lstStyle>
          <a:p>
            <a:pPr/>
            <a:r>
              <a:t>(x + 2)</a:t>
            </a:r>
          </a:p>
        </p:txBody>
      </p:sp>
      <p:sp>
        <p:nvSpPr>
          <p:cNvPr id="135" name="b6_chunk2"/>
          <p:cNvSpPr txBox="1"/>
          <p:nvPr/>
        </p:nvSpPr>
        <p:spPr>
          <a:xfrm>
            <a:off x="3703320" y="2103120"/>
            <a:ext cx="164592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200">
                <a:solidFill>
                  <a:srgbClr val="2E8B57"/>
                </a:solidFill>
              </a:defRPr>
            </a:lvl1pPr>
          </a:lstStyle>
          <a:p>
            <a:pPr/>
            <a:r>
              <a:t>(x + 2)</a:t>
            </a:r>
          </a:p>
        </p:txBody>
      </p:sp>
      <p:sp>
        <p:nvSpPr>
          <p:cNvPr id="136" name="b6_chunk3"/>
          <p:cNvSpPr txBox="1"/>
          <p:nvPr/>
        </p:nvSpPr>
        <p:spPr>
          <a:xfrm>
            <a:off x="5989320" y="2103120"/>
            <a:ext cx="164592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200">
                <a:solidFill>
                  <a:srgbClr val="2E8B57"/>
                </a:solidFill>
              </a:defRPr>
            </a:lvl1pPr>
          </a:lstStyle>
          <a:p>
            <a:pPr/>
            <a:r>
              <a:t>(x + 2)</a:t>
            </a:r>
          </a:p>
        </p:txBody>
      </p:sp>
      <p:sp>
        <p:nvSpPr>
          <p:cNvPr id="137" name="Shape 9"/>
          <p:cNvSpPr/>
          <p:nvPr/>
        </p:nvSpPr>
        <p:spPr>
          <a:xfrm>
            <a:off x="2612521" y="2331720"/>
            <a:ext cx="640081" cy="1"/>
          </a:xfrm>
          <a:prstGeom prst="line">
            <a:avLst/>
          </a:prstGeom>
          <a:ln w="27940">
            <a:solidFill>
              <a:srgbClr val="F26A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10"/>
          <p:cNvSpPr/>
          <p:nvPr/>
        </p:nvSpPr>
        <p:spPr>
          <a:xfrm>
            <a:off x="4898521" y="2331720"/>
            <a:ext cx="640081" cy="1"/>
          </a:xfrm>
          <a:prstGeom prst="line">
            <a:avLst/>
          </a:prstGeom>
          <a:ln w="27940">
            <a:solidFill>
              <a:srgbClr val="F26A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b6_repeat"/>
          <p:cNvSpPr txBox="1"/>
          <p:nvPr/>
        </p:nvSpPr>
        <p:spPr>
          <a:xfrm>
            <a:off x="1828800" y="3063239"/>
            <a:ext cx="5486400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2100">
                <a:solidFill>
                  <a:srgbClr val="2B2350"/>
                </a:solidFill>
              </a:defRPr>
            </a:pPr>
            <a:r>
              <a:t>= x + 2 </a:t>
            </a:r>
            <a:r>
              <a:rPr>
                <a:solidFill>
                  <a:srgbClr val="D54D4C"/>
                </a:solidFill>
              </a:rPr>
              <a:t>+</a:t>
            </a:r>
            <a:r>
              <a:t> x + 2 </a:t>
            </a:r>
            <a:r>
              <a:rPr>
                <a:solidFill>
                  <a:srgbClr val="D54D4C"/>
                </a:solidFill>
              </a:rPr>
              <a:t>+</a:t>
            </a:r>
            <a:r>
              <a:t> x + 2</a:t>
            </a:r>
          </a:p>
        </p:txBody>
      </p:sp>
      <p:sp>
        <p:nvSpPr>
          <p:cNvPr id="140" name="b6_banner"/>
          <p:cNvSpPr txBox="1"/>
          <p:nvPr/>
        </p:nvSpPr>
        <p:spPr>
          <a:xfrm>
            <a:off x="914400" y="3931920"/>
            <a:ext cx="731520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1200">
                <a:solidFill>
                  <a:srgbClr val="2B2350"/>
                </a:solidFill>
              </a:defRPr>
            </a:pPr>
            <a:r>
              <a:t>The bracket makes the expression </a:t>
            </a:r>
            <a:r>
              <a:rPr>
                <a:solidFill>
                  <a:srgbClr val="D54D4C"/>
                </a:solidFill>
              </a:rPr>
              <a:t>simpler</a:t>
            </a:r>
            <a: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 DO · 6 MIN</a:t>
            </a:r>
          </a:p>
        </p:txBody>
      </p:sp>
      <p:sp>
        <p:nvSpPr>
          <p:cNvPr id="146" name="Text 2"/>
          <p:cNvSpPr txBox="1"/>
          <p:nvPr/>
        </p:nvSpPr>
        <p:spPr>
          <a:xfrm>
            <a:off x="5577840" y="256031"/>
            <a:ext cx="31089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b="1" sz="700">
                <a:solidFill>
                  <a:srgbClr val="6D687A"/>
                </a:solidFill>
              </a:defRPr>
            </a:lvl1pPr>
          </a:lstStyle>
          <a:p>
            <a:pPr/>
            <a:r>
              <a:t>distributive property</a:t>
            </a:r>
          </a:p>
        </p:txBody>
      </p:sp>
      <p:sp>
        <p:nvSpPr>
          <p:cNvPr id="147" name="Text 3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Now use the distributive property</a:t>
            </a:r>
          </a:p>
        </p:txBody>
      </p:sp>
      <p:sp>
        <p:nvSpPr>
          <p:cNvPr id="148" name="b7_expr"/>
          <p:cNvSpPr txBox="1"/>
          <p:nvPr/>
        </p:nvSpPr>
        <p:spPr>
          <a:xfrm>
            <a:off x="731519" y="1234439"/>
            <a:ext cx="24688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27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D64E4D"/>
                </a:solidFill>
              </a:rPr>
              <a:t>3</a:t>
            </a:r>
            <a:r>
              <a:t>(x + 2)</a:t>
            </a:r>
          </a:p>
        </p:txBody>
      </p:sp>
      <p:sp>
        <p:nvSpPr>
          <p:cNvPr id="149" name="b7_step"/>
          <p:cNvSpPr txBox="1"/>
          <p:nvPr/>
        </p:nvSpPr>
        <p:spPr>
          <a:xfrm>
            <a:off x="3657600" y="1691639"/>
            <a:ext cx="4572000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 sz="2200">
                <a:solidFill>
                  <a:srgbClr val="2B2350"/>
                </a:solidFill>
              </a:defRPr>
            </a:pPr>
            <a:r>
              <a:rPr>
                <a:solidFill>
                  <a:srgbClr val="D54D4C"/>
                </a:solidFill>
              </a:rPr>
              <a:t>3 ×</a:t>
            </a:r>
            <a:r>
              <a:t> x   +   </a:t>
            </a:r>
            <a:r>
              <a:rPr>
                <a:solidFill>
                  <a:srgbClr val="D54D4C"/>
                </a:solidFill>
              </a:rPr>
              <a:t>3 ×</a:t>
            </a:r>
            <a:r>
              <a:t> 2</a:t>
            </a:r>
          </a:p>
        </p:txBody>
      </p:sp>
      <p:sp>
        <p:nvSpPr>
          <p:cNvPr id="150" name="Shape 7"/>
          <p:cNvSpPr/>
          <p:nvPr/>
        </p:nvSpPr>
        <p:spPr>
          <a:xfrm>
            <a:off x="2651760" y="1417319"/>
            <a:ext cx="2244356" cy="427253"/>
          </a:xfrm>
          <a:prstGeom prst="line">
            <a:avLst/>
          </a:prstGeom>
          <a:ln w="30480">
            <a:solidFill>
              <a:srgbClr val="F26A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8"/>
          <p:cNvSpPr/>
          <p:nvPr/>
        </p:nvSpPr>
        <p:spPr>
          <a:xfrm>
            <a:off x="2651760" y="1417319"/>
            <a:ext cx="3840480" cy="317081"/>
          </a:xfrm>
          <a:prstGeom prst="line">
            <a:avLst/>
          </a:prstGeom>
          <a:ln w="30480">
            <a:solidFill>
              <a:srgbClr val="F26A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b7_xans"/>
          <p:cNvSpPr txBox="1"/>
          <p:nvPr/>
        </p:nvSpPr>
        <p:spPr>
          <a:xfrm>
            <a:off x="4251959" y="2468879"/>
            <a:ext cx="1005840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400">
                <a:solidFill>
                  <a:srgbClr val="2E8B57"/>
                </a:solidFill>
              </a:defRPr>
            </a:lvl1pPr>
          </a:lstStyle>
          <a:p>
            <a:pPr/>
            <a:r>
              <a:t>3x</a:t>
            </a:r>
          </a:p>
        </p:txBody>
      </p:sp>
      <p:sp>
        <p:nvSpPr>
          <p:cNvPr id="153" name="b7_nans"/>
          <p:cNvSpPr txBox="1"/>
          <p:nvPr/>
        </p:nvSpPr>
        <p:spPr>
          <a:xfrm>
            <a:off x="5806440" y="2468879"/>
            <a:ext cx="731521" cy="365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400">
                <a:solidFill>
                  <a:srgbClr val="2B67A8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4" name="b7_final"/>
          <p:cNvSpPr txBox="1"/>
          <p:nvPr/>
        </p:nvSpPr>
        <p:spPr>
          <a:xfrm>
            <a:off x="3840479" y="3154679"/>
            <a:ext cx="3200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6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= 3x + 6</a:t>
            </a:r>
          </a:p>
        </p:txBody>
      </p:sp>
      <p:sp>
        <p:nvSpPr>
          <p:cNvPr id="155" name="b7_hook"/>
          <p:cNvSpPr txBox="1"/>
          <p:nvPr/>
        </p:nvSpPr>
        <p:spPr>
          <a:xfrm>
            <a:off x="457200" y="3931920"/>
            <a:ext cx="182880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26A4F"/>
                </a:solidFill>
              </a:defRPr>
            </a:lvl1pPr>
          </a:lstStyle>
          <a:p>
            <a:pPr/>
            <a:r>
              <a:t>ANSWER: B</a:t>
            </a:r>
          </a:p>
        </p:txBody>
      </p:sp>
      <p:sp>
        <p:nvSpPr>
          <p:cNvPr id="156" name="b7_rule"/>
          <p:cNvSpPr txBox="1"/>
          <p:nvPr/>
        </p:nvSpPr>
        <p:spPr>
          <a:xfrm>
            <a:off x="2011679" y="3886199"/>
            <a:ext cx="6217921" cy="347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2B2350"/>
                </a:solidFill>
              </a:defRPr>
            </a:lvl1pPr>
          </a:lstStyle>
          <a:p>
            <a:pPr/>
            <a:r>
              <a:t>Multiply the number outside by EVERY term inside.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WE DO · 6 MIN</a:t>
            </a:r>
          </a:p>
        </p:txBody>
      </p:sp>
      <p:sp>
        <p:nvSpPr>
          <p:cNvPr id="162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Expand it</a:t>
            </a:r>
          </a:p>
        </p:txBody>
      </p:sp>
      <p:sp>
        <p:nvSpPr>
          <p:cNvPr id="163" name="Shape 3"/>
          <p:cNvSpPr/>
          <p:nvPr/>
        </p:nvSpPr>
        <p:spPr>
          <a:xfrm>
            <a:off x="365759" y="1417319"/>
            <a:ext cx="2377441" cy="475489"/>
          </a:xfrm>
          <a:prstGeom prst="roundRect">
            <a:avLst>
              <a:gd name="adj" fmla="val 15385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4"/>
          <p:cNvSpPr txBox="1"/>
          <p:nvPr/>
        </p:nvSpPr>
        <p:spPr>
          <a:xfrm>
            <a:off x="521208" y="1545336"/>
            <a:ext cx="2011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5" name="w8q1"/>
          <p:cNvSpPr txBox="1"/>
          <p:nvPr/>
        </p:nvSpPr>
        <p:spPr>
          <a:xfrm>
            <a:off x="868680" y="1517903"/>
            <a:ext cx="160020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B2350"/>
                </a:solidFill>
              </a:defRPr>
            </a:lvl1pPr>
          </a:lstStyle>
          <a:p>
            <a:pPr/>
            <a:r>
              <a:t>2(x + 5)</a:t>
            </a:r>
          </a:p>
        </p:txBody>
      </p:sp>
      <p:sp>
        <p:nvSpPr>
          <p:cNvPr id="166" name="Shape 6"/>
          <p:cNvSpPr/>
          <p:nvPr/>
        </p:nvSpPr>
        <p:spPr>
          <a:xfrm>
            <a:off x="365759" y="2093976"/>
            <a:ext cx="2377441" cy="475489"/>
          </a:xfrm>
          <a:prstGeom prst="roundRect">
            <a:avLst>
              <a:gd name="adj" fmla="val 15385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7"/>
          <p:cNvSpPr txBox="1"/>
          <p:nvPr/>
        </p:nvSpPr>
        <p:spPr>
          <a:xfrm>
            <a:off x="521208" y="2221992"/>
            <a:ext cx="2011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8" name="w8q2"/>
          <p:cNvSpPr txBox="1"/>
          <p:nvPr/>
        </p:nvSpPr>
        <p:spPr>
          <a:xfrm>
            <a:off x="868680" y="2194560"/>
            <a:ext cx="160020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B2350"/>
                </a:solidFill>
              </a:defRPr>
            </a:lvl1pPr>
          </a:lstStyle>
          <a:p>
            <a:pPr/>
            <a:r>
              <a:t>4(2a + 3)</a:t>
            </a:r>
          </a:p>
        </p:txBody>
      </p:sp>
      <p:sp>
        <p:nvSpPr>
          <p:cNvPr id="169" name="Shape 9"/>
          <p:cNvSpPr/>
          <p:nvPr/>
        </p:nvSpPr>
        <p:spPr>
          <a:xfrm>
            <a:off x="365759" y="2770632"/>
            <a:ext cx="2377441" cy="475489"/>
          </a:xfrm>
          <a:prstGeom prst="roundRect">
            <a:avLst>
              <a:gd name="adj" fmla="val 15385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0"/>
          <p:cNvSpPr txBox="1"/>
          <p:nvPr/>
        </p:nvSpPr>
        <p:spPr>
          <a:xfrm>
            <a:off x="521208" y="2898648"/>
            <a:ext cx="2011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1" name="w8q3"/>
          <p:cNvSpPr txBox="1"/>
          <p:nvPr/>
        </p:nvSpPr>
        <p:spPr>
          <a:xfrm>
            <a:off x="868680" y="2871216"/>
            <a:ext cx="160020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B2350"/>
                </a:solidFill>
              </a:defRPr>
            </a:lvl1pPr>
          </a:lstStyle>
          <a:p>
            <a:pPr/>
            <a:r>
              <a:t>3(y + 7)</a:t>
            </a:r>
          </a:p>
        </p:txBody>
      </p:sp>
      <p:sp>
        <p:nvSpPr>
          <p:cNvPr id="172" name="Shape 12"/>
          <p:cNvSpPr/>
          <p:nvPr/>
        </p:nvSpPr>
        <p:spPr>
          <a:xfrm>
            <a:off x="365759" y="3447288"/>
            <a:ext cx="2377441" cy="475489"/>
          </a:xfrm>
          <a:prstGeom prst="roundRect">
            <a:avLst>
              <a:gd name="adj" fmla="val 15385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3"/>
          <p:cNvSpPr txBox="1"/>
          <p:nvPr/>
        </p:nvSpPr>
        <p:spPr>
          <a:xfrm>
            <a:off x="521208" y="3575303"/>
            <a:ext cx="2011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4" name="w8q4"/>
          <p:cNvSpPr txBox="1"/>
          <p:nvPr/>
        </p:nvSpPr>
        <p:spPr>
          <a:xfrm>
            <a:off x="868680" y="3547871"/>
            <a:ext cx="160020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2B2350"/>
                </a:solidFill>
              </a:defRPr>
            </a:lvl1pPr>
          </a:lstStyle>
          <a:p>
            <a:pPr/>
            <a:r>
              <a:t>5(2m + 1)</a:t>
            </a:r>
          </a:p>
        </p:txBody>
      </p:sp>
      <p:sp>
        <p:nvSpPr>
          <p:cNvPr id="175" name="w8a1"/>
          <p:cNvSpPr txBox="1"/>
          <p:nvPr/>
        </p:nvSpPr>
        <p:spPr>
          <a:xfrm>
            <a:off x="3154679" y="1481327"/>
            <a:ext cx="27432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C0392B"/>
                </a:solidFill>
              </a:defRPr>
            </a:lvl1pPr>
          </a:lstStyle>
          <a:p>
            <a:pPr/>
            <a:r>
              <a:t>2x + 10</a:t>
            </a:r>
          </a:p>
        </p:txBody>
      </p:sp>
      <p:sp>
        <p:nvSpPr>
          <p:cNvPr id="176" name="w8a2"/>
          <p:cNvSpPr txBox="1"/>
          <p:nvPr/>
        </p:nvSpPr>
        <p:spPr>
          <a:xfrm>
            <a:off x="3154679" y="2157983"/>
            <a:ext cx="27432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C0392B"/>
                </a:solidFill>
              </a:defRPr>
            </a:lvl1pPr>
          </a:lstStyle>
          <a:p>
            <a:pPr/>
            <a:r>
              <a:t>8a + 12</a:t>
            </a:r>
          </a:p>
        </p:txBody>
      </p:sp>
      <p:sp>
        <p:nvSpPr>
          <p:cNvPr id="177" name="w8a3"/>
          <p:cNvSpPr txBox="1"/>
          <p:nvPr/>
        </p:nvSpPr>
        <p:spPr>
          <a:xfrm>
            <a:off x="3154679" y="2834639"/>
            <a:ext cx="27432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C0392B"/>
                </a:solidFill>
              </a:defRPr>
            </a:lvl1pPr>
          </a:lstStyle>
          <a:p>
            <a:pPr/>
            <a:r>
              <a:t>3y + 21</a:t>
            </a:r>
          </a:p>
        </p:txBody>
      </p:sp>
      <p:sp>
        <p:nvSpPr>
          <p:cNvPr id="178" name="w8a4"/>
          <p:cNvSpPr txBox="1"/>
          <p:nvPr/>
        </p:nvSpPr>
        <p:spPr>
          <a:xfrm>
            <a:off x="3154679" y="3511296"/>
            <a:ext cx="27432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C0392B"/>
                </a:solidFill>
              </a:defRPr>
            </a:lvl1pPr>
          </a:lstStyle>
          <a:p>
            <a:pPr/>
            <a:r>
              <a:t>10m + 5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6" grpId="2"/>
      <p:bldP build="whole" bldLvl="1" animBg="1" rev="0" advAuto="0" spid="177" grpId="3"/>
      <p:bldP build="whole" bldLvl="1" animBg="1" rev="0" advAuto="0" spid="175" grpId="1"/>
      <p:bldP build="whole" bldLvl="1" animBg="1" rev="0" advAuto="0" spid="178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 DO · 5 MIN</a:t>
            </a:r>
          </a:p>
        </p:txBody>
      </p:sp>
      <p:sp>
        <p:nvSpPr>
          <p:cNvPr id="184" name="Text 2"/>
          <p:cNvSpPr txBox="1"/>
          <p:nvPr/>
        </p:nvSpPr>
        <p:spPr>
          <a:xfrm>
            <a:off x="5577840" y="256031"/>
            <a:ext cx="310896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b="1" sz="700">
                <a:solidFill>
                  <a:srgbClr val="6D687A"/>
                </a:solidFill>
              </a:defRPr>
            </a:lvl1pPr>
          </a:lstStyle>
          <a:p>
            <a:pPr/>
            <a:r>
              <a:t>minus sign</a:t>
            </a:r>
          </a:p>
        </p:txBody>
      </p:sp>
      <p:sp>
        <p:nvSpPr>
          <p:cNvPr id="185" name="Text 3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minus sign comes inside the multiplication</a:t>
            </a:r>
          </a:p>
        </p:txBody>
      </p:sp>
      <p:sp>
        <p:nvSpPr>
          <p:cNvPr id="186" name="b9_expr"/>
          <p:cNvSpPr txBox="1"/>
          <p:nvPr/>
        </p:nvSpPr>
        <p:spPr>
          <a:xfrm>
            <a:off x="548639" y="1325880"/>
            <a:ext cx="30175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7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4(x − 3)</a:t>
            </a:r>
          </a:p>
        </p:txBody>
      </p:sp>
      <p:sp>
        <p:nvSpPr>
          <p:cNvPr id="187" name="b9_rule"/>
          <p:cNvSpPr txBox="1"/>
          <p:nvPr/>
        </p:nvSpPr>
        <p:spPr>
          <a:xfrm>
            <a:off x="4937760" y="1394460"/>
            <a:ext cx="438912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C0392B"/>
                </a:solidFill>
              </a:defRPr>
            </a:lvl1pPr>
          </a:lstStyle>
          <a:p>
            <a:pPr/>
            <a:r>
              <a:t>Remember! Take the sign with the term.</a:t>
            </a:r>
          </a:p>
        </p:txBody>
      </p:sp>
      <p:sp>
        <p:nvSpPr>
          <p:cNvPr id="188" name="b9_step"/>
          <p:cNvSpPr txBox="1"/>
          <p:nvPr/>
        </p:nvSpPr>
        <p:spPr>
          <a:xfrm>
            <a:off x="960119" y="2057400"/>
            <a:ext cx="6949442" cy="43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000">
                <a:solidFill>
                  <a:srgbClr val="2B2350"/>
                </a:solidFill>
              </a:defRPr>
            </a:lvl1pPr>
          </a:lstStyle>
          <a:p>
            <a:pPr/>
            <a:r>
              <a:t>4 × (+x)   +   4 × (−3)</a:t>
            </a:r>
          </a:p>
        </p:txBody>
      </p:sp>
      <p:sp>
        <p:nvSpPr>
          <p:cNvPr id="189" name="b9_x"/>
          <p:cNvSpPr txBox="1"/>
          <p:nvPr/>
        </p:nvSpPr>
        <p:spPr>
          <a:xfrm>
            <a:off x="3011884" y="2761488"/>
            <a:ext cx="13716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400">
                <a:solidFill>
                  <a:srgbClr val="2E8B57"/>
                </a:solidFill>
              </a:defRPr>
            </a:lvl1pPr>
          </a:lstStyle>
          <a:p>
            <a:pPr/>
            <a:r>
              <a:t>4x</a:t>
            </a:r>
          </a:p>
        </p:txBody>
      </p:sp>
      <p:sp>
        <p:nvSpPr>
          <p:cNvPr id="190" name="b9_n"/>
          <p:cNvSpPr txBox="1"/>
          <p:nvPr/>
        </p:nvSpPr>
        <p:spPr>
          <a:xfrm>
            <a:off x="4331494" y="2761488"/>
            <a:ext cx="13716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400">
                <a:solidFill>
                  <a:srgbClr val="2B67A8"/>
                </a:solidFill>
              </a:defRPr>
            </a:lvl1pPr>
          </a:lstStyle>
          <a:p>
            <a:pPr/>
            <a:r>
              <a:t>−12</a:t>
            </a:r>
          </a:p>
        </p:txBody>
      </p:sp>
      <p:sp>
        <p:nvSpPr>
          <p:cNvPr id="191" name="b9_final"/>
          <p:cNvSpPr txBox="1"/>
          <p:nvPr/>
        </p:nvSpPr>
        <p:spPr>
          <a:xfrm>
            <a:off x="2982155" y="3493008"/>
            <a:ext cx="265176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5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= 4x − 12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WE DO · 5 MIN</a:t>
            </a:r>
          </a:p>
        </p:txBody>
      </p:sp>
      <p:sp>
        <p:nvSpPr>
          <p:cNvPr id="197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Your turn: expand carefully</a:t>
            </a:r>
          </a:p>
        </p:txBody>
      </p:sp>
      <p:sp>
        <p:nvSpPr>
          <p:cNvPr id="198" name="Shape 3"/>
          <p:cNvSpPr/>
          <p:nvPr/>
        </p:nvSpPr>
        <p:spPr>
          <a:xfrm>
            <a:off x="411480" y="1325880"/>
            <a:ext cx="3794760" cy="932689"/>
          </a:xfrm>
          <a:prstGeom prst="roundRect">
            <a:avLst>
              <a:gd name="adj" fmla="val 784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4"/>
          <p:cNvSpPr txBox="1"/>
          <p:nvPr/>
        </p:nvSpPr>
        <p:spPr>
          <a:xfrm>
            <a:off x="548640" y="1444752"/>
            <a:ext cx="25603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0" name="w10q1"/>
          <p:cNvSpPr txBox="1"/>
          <p:nvPr/>
        </p:nvSpPr>
        <p:spPr>
          <a:xfrm>
            <a:off x="914400" y="1453896"/>
            <a:ext cx="228600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3(2x − 4)</a:t>
            </a:r>
          </a:p>
        </p:txBody>
      </p:sp>
      <p:sp>
        <p:nvSpPr>
          <p:cNvPr id="201" name="w10a1"/>
          <p:cNvSpPr txBox="1"/>
          <p:nvPr/>
        </p:nvSpPr>
        <p:spPr>
          <a:xfrm>
            <a:off x="914399" y="1892807"/>
            <a:ext cx="256032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C0392B"/>
                </a:solidFill>
              </a:defRPr>
            </a:lvl1pPr>
          </a:lstStyle>
          <a:p>
            <a:pPr/>
            <a:r>
              <a:t>6x − 12</a:t>
            </a:r>
          </a:p>
        </p:txBody>
      </p:sp>
      <p:sp>
        <p:nvSpPr>
          <p:cNvPr id="202" name="Shape 7"/>
          <p:cNvSpPr/>
          <p:nvPr/>
        </p:nvSpPr>
        <p:spPr>
          <a:xfrm>
            <a:off x="4663440" y="1325880"/>
            <a:ext cx="3794760" cy="932689"/>
          </a:xfrm>
          <a:prstGeom prst="roundRect">
            <a:avLst>
              <a:gd name="adj" fmla="val 784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8"/>
          <p:cNvSpPr txBox="1"/>
          <p:nvPr/>
        </p:nvSpPr>
        <p:spPr>
          <a:xfrm>
            <a:off x="4800600" y="1444752"/>
            <a:ext cx="25603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4" name="w10q2"/>
          <p:cNvSpPr txBox="1"/>
          <p:nvPr/>
        </p:nvSpPr>
        <p:spPr>
          <a:xfrm>
            <a:off x="5166359" y="1453896"/>
            <a:ext cx="22860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5(y − 2)</a:t>
            </a:r>
          </a:p>
        </p:txBody>
      </p:sp>
      <p:sp>
        <p:nvSpPr>
          <p:cNvPr id="205" name="w10a2"/>
          <p:cNvSpPr txBox="1"/>
          <p:nvPr/>
        </p:nvSpPr>
        <p:spPr>
          <a:xfrm>
            <a:off x="5166359" y="1892807"/>
            <a:ext cx="25603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C0392B"/>
                </a:solidFill>
              </a:defRPr>
            </a:lvl1pPr>
          </a:lstStyle>
          <a:p>
            <a:pPr/>
            <a:r>
              <a:t>5y − 10</a:t>
            </a:r>
          </a:p>
        </p:txBody>
      </p:sp>
      <p:sp>
        <p:nvSpPr>
          <p:cNvPr id="206" name="Shape 11"/>
          <p:cNvSpPr/>
          <p:nvPr/>
        </p:nvSpPr>
        <p:spPr>
          <a:xfrm>
            <a:off x="411480" y="2560320"/>
            <a:ext cx="3794760" cy="932689"/>
          </a:xfrm>
          <a:prstGeom prst="roundRect">
            <a:avLst>
              <a:gd name="adj" fmla="val 784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2"/>
          <p:cNvSpPr txBox="1"/>
          <p:nvPr/>
        </p:nvSpPr>
        <p:spPr>
          <a:xfrm>
            <a:off x="548640" y="2679192"/>
            <a:ext cx="25603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8" name="w10q3"/>
          <p:cNvSpPr txBox="1"/>
          <p:nvPr/>
        </p:nvSpPr>
        <p:spPr>
          <a:xfrm>
            <a:off x="914400" y="2688335"/>
            <a:ext cx="228600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2(3a + 7b)</a:t>
            </a:r>
          </a:p>
        </p:txBody>
      </p:sp>
      <p:sp>
        <p:nvSpPr>
          <p:cNvPr id="209" name="w10a3"/>
          <p:cNvSpPr txBox="1"/>
          <p:nvPr/>
        </p:nvSpPr>
        <p:spPr>
          <a:xfrm>
            <a:off x="914399" y="3127248"/>
            <a:ext cx="256032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C0392B"/>
                </a:solidFill>
              </a:defRPr>
            </a:lvl1pPr>
          </a:lstStyle>
          <a:p>
            <a:pPr/>
            <a:r>
              <a:t>6a + 14b</a:t>
            </a:r>
          </a:p>
        </p:txBody>
      </p:sp>
      <p:sp>
        <p:nvSpPr>
          <p:cNvPr id="210" name="Shape 15"/>
          <p:cNvSpPr/>
          <p:nvPr/>
        </p:nvSpPr>
        <p:spPr>
          <a:xfrm>
            <a:off x="4663440" y="2560320"/>
            <a:ext cx="3794760" cy="932689"/>
          </a:xfrm>
          <a:prstGeom prst="roundRect">
            <a:avLst>
              <a:gd name="adj" fmla="val 7843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6"/>
          <p:cNvSpPr txBox="1"/>
          <p:nvPr/>
        </p:nvSpPr>
        <p:spPr>
          <a:xfrm>
            <a:off x="4800600" y="2679192"/>
            <a:ext cx="25603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2" name="w10q4"/>
          <p:cNvSpPr txBox="1"/>
          <p:nvPr/>
        </p:nvSpPr>
        <p:spPr>
          <a:xfrm>
            <a:off x="5166359" y="2688335"/>
            <a:ext cx="22860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6m(a − 2p)</a:t>
            </a:r>
          </a:p>
        </p:txBody>
      </p:sp>
      <p:sp>
        <p:nvSpPr>
          <p:cNvPr id="213" name="w10a4"/>
          <p:cNvSpPr txBox="1"/>
          <p:nvPr/>
        </p:nvSpPr>
        <p:spPr>
          <a:xfrm>
            <a:off x="5166359" y="3127248"/>
            <a:ext cx="25603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400">
                <a:solidFill>
                  <a:srgbClr val="C0392B"/>
                </a:solidFill>
              </a:defRPr>
            </a:lvl1pPr>
          </a:lstStyle>
          <a:p>
            <a:pPr/>
            <a:r>
              <a:t>6am − 12pm</a:t>
            </a:r>
          </a:p>
        </p:txBody>
      </p:sp>
      <p:sp>
        <p:nvSpPr>
          <p:cNvPr id="214" name="Shape 19"/>
          <p:cNvSpPr/>
          <p:nvPr/>
        </p:nvSpPr>
        <p:spPr>
          <a:xfrm>
            <a:off x="411480" y="3886200"/>
            <a:ext cx="8549641" cy="594360"/>
          </a:xfrm>
          <a:prstGeom prst="roundRect">
            <a:avLst>
              <a:gd name="adj" fmla="val 0"/>
            </a:avLst>
          </a:prstGeom>
          <a:solidFill>
            <a:srgbClr val="E9F1FB"/>
          </a:solidFill>
          <a:ln w="12700">
            <a:solidFill>
              <a:srgbClr val="E9F1FB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20"/>
          <p:cNvSpPr txBox="1"/>
          <p:nvPr/>
        </p:nvSpPr>
        <p:spPr>
          <a:xfrm>
            <a:off x="594359" y="4074159"/>
            <a:ext cx="35661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2B67A8"/>
                </a:solidFill>
              </a:defRPr>
            </a:lvl1pPr>
          </a:lstStyle>
          <a:p>
            <a:pPr/>
            <a:r>
              <a:t>STRETCH  ·  What happens with a negative outside?</a:t>
            </a:r>
          </a:p>
        </p:txBody>
      </p:sp>
      <p:sp>
        <p:nvSpPr>
          <p:cNvPr id="216" name="w10stretch"/>
          <p:cNvSpPr txBox="1"/>
          <p:nvPr/>
        </p:nvSpPr>
        <p:spPr>
          <a:xfrm>
            <a:off x="4160520" y="4030471"/>
            <a:ext cx="438912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500">
                <a:solidFill>
                  <a:srgbClr val="2B2350"/>
                </a:solidFill>
              </a:defRPr>
            </a:lvl1pPr>
          </a:lstStyle>
          <a:p>
            <a:pPr/>
            <a:r>
              <a:t>−2(x - 5)  →  −2x + 10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5" grpId="2"/>
      <p:bldP build="whole" bldLvl="1" animBg="1" rev="0" advAuto="0" spid="209" grpId="3"/>
      <p:bldP build="whole" bldLvl="1" animBg="1" rev="0" advAuto="0" spid="201" grpId="1"/>
      <p:bldP build="whole" bldLvl="1" animBg="1" rev="0" advAuto="0" spid="213" grpId="4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WHY · 3 MIN</a:t>
            </a:r>
          </a:p>
        </p:txBody>
      </p:sp>
      <p:sp>
        <p:nvSpPr>
          <p:cNvPr id="222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Why does this rule work?</a:t>
            </a:r>
          </a:p>
        </p:txBody>
      </p:sp>
      <p:sp>
        <p:nvSpPr>
          <p:cNvPr id="223" name="Shape 3"/>
          <p:cNvSpPr/>
          <p:nvPr/>
        </p:nvSpPr>
        <p:spPr>
          <a:xfrm>
            <a:off x="777240" y="1417320"/>
            <a:ext cx="2011679" cy="2148840"/>
          </a:xfrm>
          <a:prstGeom prst="rect">
            <a:avLst/>
          </a:prstGeom>
          <a:solidFill>
            <a:srgbClr val="E5F2EB"/>
          </a:solidFill>
          <a:ln w="19050">
            <a:solidFill>
              <a:srgbClr val="2E8B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4"/>
          <p:cNvSpPr/>
          <p:nvPr/>
        </p:nvSpPr>
        <p:spPr>
          <a:xfrm>
            <a:off x="2788920" y="1417320"/>
            <a:ext cx="1371601" cy="2148840"/>
          </a:xfrm>
          <a:prstGeom prst="rect">
            <a:avLst/>
          </a:prstGeom>
          <a:solidFill>
            <a:srgbClr val="E9F1FB"/>
          </a:solidFill>
          <a:ln w="19050">
            <a:solidFill>
              <a:srgbClr val="2B67A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why_top"/>
          <p:cNvSpPr txBox="1"/>
          <p:nvPr/>
        </p:nvSpPr>
        <p:spPr>
          <a:xfrm>
            <a:off x="261850" y="2308859"/>
            <a:ext cx="54864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600">
                <a:solidFill>
                  <a:srgbClr val="4A895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6" name="why_x"/>
          <p:cNvSpPr txBox="1"/>
          <p:nvPr/>
        </p:nvSpPr>
        <p:spPr>
          <a:xfrm>
            <a:off x="1600199" y="3657600"/>
            <a:ext cx="36576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600">
                <a:solidFill>
                  <a:srgbClr val="2E8B57"/>
                </a:solidFill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227" name="why_2"/>
          <p:cNvSpPr txBox="1"/>
          <p:nvPr/>
        </p:nvSpPr>
        <p:spPr>
          <a:xfrm>
            <a:off x="3246120" y="3657600"/>
            <a:ext cx="36576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600">
                <a:solidFill>
                  <a:srgbClr val="2B67A8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8" name="why_expr"/>
          <p:cNvSpPr txBox="1"/>
          <p:nvPr/>
        </p:nvSpPr>
        <p:spPr>
          <a:xfrm>
            <a:off x="914399" y="2240279"/>
            <a:ext cx="310896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2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3(x + 2)</a:t>
            </a:r>
          </a:p>
        </p:txBody>
      </p:sp>
      <p:sp>
        <p:nvSpPr>
          <p:cNvPr id="229" name="why_a1"/>
          <p:cNvSpPr txBox="1"/>
          <p:nvPr/>
        </p:nvSpPr>
        <p:spPr>
          <a:xfrm>
            <a:off x="868679" y="2331719"/>
            <a:ext cx="1828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>
                <a:solidFill>
                  <a:srgbClr val="2E8B57"/>
                </a:solidFill>
              </a:defRPr>
            </a:lvl1pPr>
          </a:lstStyle>
          <a:p>
            <a:pPr/>
            <a:r>
              <a:t>area = 3x</a:t>
            </a:r>
          </a:p>
        </p:txBody>
      </p:sp>
      <p:sp>
        <p:nvSpPr>
          <p:cNvPr id="230" name="why_a2"/>
          <p:cNvSpPr txBox="1"/>
          <p:nvPr/>
        </p:nvSpPr>
        <p:spPr>
          <a:xfrm>
            <a:off x="2560320" y="2336672"/>
            <a:ext cx="1828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>
                <a:solidFill>
                  <a:srgbClr val="2B67A8"/>
                </a:solidFill>
              </a:defRPr>
            </a:lvl1pPr>
          </a:lstStyle>
          <a:p>
            <a:pPr/>
            <a:r>
              <a:t>area = 6</a:t>
            </a:r>
          </a:p>
        </p:txBody>
      </p:sp>
      <p:sp>
        <p:nvSpPr>
          <p:cNvPr id="231" name="why_total"/>
          <p:cNvSpPr txBox="1"/>
          <p:nvPr/>
        </p:nvSpPr>
        <p:spPr>
          <a:xfrm>
            <a:off x="5178829" y="3154679"/>
            <a:ext cx="283464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10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total area = 3x + 6</a:t>
            </a:r>
          </a:p>
        </p:txBody>
      </p:sp>
      <p:sp>
        <p:nvSpPr>
          <p:cNvPr id="232" name="why_banner"/>
          <p:cNvSpPr txBox="1"/>
          <p:nvPr/>
        </p:nvSpPr>
        <p:spPr>
          <a:xfrm>
            <a:off x="822959" y="4090355"/>
            <a:ext cx="3291842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100">
                <a:solidFill>
                  <a:srgbClr val="2B2350"/>
                </a:solidFill>
              </a:defRPr>
            </a:lvl1pPr>
          </a:lstStyle>
          <a:p>
            <a:pPr/>
            <a:r>
              <a:t>The brackets just describe the whole width split into two parts.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xit" nodeType="click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6" dur="2000" fill="hold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Class="exit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8" grpId="5"/>
      <p:bldP build="whole" bldLvl="1" animBg="1" rev="0" advAuto="0" spid="229" grpId="3"/>
      <p:bldP build="whole" bldLvl="1" animBg="1" rev="0" advAuto="0" spid="231" grpId="6"/>
      <p:bldP build="whole" bldLvl="1" animBg="1" rev="0" advAuto="0" spid="232" grpId="7"/>
      <p:bldP build="whole" bldLvl="1" animBg="1" rev="0" advAuto="0" spid="230" grpId="2"/>
      <p:bldP build="whole" bldLvl="1" animBg="1" rev="0" advAuto="0" spid="230" grpId="4"/>
      <p:bldP build="whole" bldLvl="1" animBg="1" rev="0" advAuto="0" spid="22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2B2350"/>
          </a:solidFill>
          <a:ln w="12700">
            <a:solidFill>
              <a:srgbClr val="2B2350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YOU DO · 8 MIN</a:t>
            </a:r>
          </a:p>
        </p:txBody>
      </p:sp>
      <p:sp>
        <p:nvSpPr>
          <p:cNvPr id="238" name="Text 2"/>
          <p:cNvSpPr txBox="1"/>
          <p:nvPr/>
        </p:nvSpPr>
        <p:spPr>
          <a:xfrm>
            <a:off x="274320" y="576072"/>
            <a:ext cx="8595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2B235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Your turn: the worksheet</a:t>
            </a:r>
          </a:p>
        </p:txBody>
      </p:sp>
      <p:sp>
        <p:nvSpPr>
          <p:cNvPr id="239" name="Shape 3"/>
          <p:cNvSpPr/>
          <p:nvPr/>
        </p:nvSpPr>
        <p:spPr>
          <a:xfrm>
            <a:off x="274320" y="1325880"/>
            <a:ext cx="2743201" cy="1234440"/>
          </a:xfrm>
          <a:prstGeom prst="roundRect">
            <a:avLst>
              <a:gd name="adj" fmla="val 0"/>
            </a:avLst>
          </a:prstGeom>
          <a:solidFill>
            <a:srgbClr val="FFF0EC"/>
          </a:solidFill>
          <a:ln w="12700">
            <a:solidFill>
              <a:srgbClr val="FFF0EC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4"/>
          <p:cNvSpPr txBox="1"/>
          <p:nvPr/>
        </p:nvSpPr>
        <p:spPr>
          <a:xfrm>
            <a:off x="457200" y="1508760"/>
            <a:ext cx="91440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26A4F"/>
                </a:solidFill>
              </a:defRPr>
            </a:lvl1pPr>
          </a:lstStyle>
          <a:p>
            <a:pPr/>
            <a:r>
              <a:t>BRONZE</a:t>
            </a:r>
          </a:p>
        </p:txBody>
      </p:sp>
      <p:sp>
        <p:nvSpPr>
          <p:cNvPr id="241" name="Text 5"/>
          <p:cNvSpPr txBox="1"/>
          <p:nvPr/>
        </p:nvSpPr>
        <p:spPr>
          <a:xfrm>
            <a:off x="457199" y="1828799"/>
            <a:ext cx="2103122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100">
                <a:solidFill>
                  <a:srgbClr val="2B2350"/>
                </a:solidFill>
              </a:defRPr>
            </a:pPr>
            <a:r>
              <a:t>Fluency</a:t>
            </a:r>
          </a:p>
          <a:p>
            <a:pPr>
              <a:defRPr b="1" sz="1100">
                <a:solidFill>
                  <a:srgbClr val="2B2350"/>
                </a:solidFill>
              </a:defRPr>
            </a:pPr>
            <a:r>
              <a:t>Expand simple brackets.</a:t>
            </a:r>
          </a:p>
        </p:txBody>
      </p:sp>
      <p:sp>
        <p:nvSpPr>
          <p:cNvPr id="242" name="Shape 6"/>
          <p:cNvSpPr/>
          <p:nvPr/>
        </p:nvSpPr>
        <p:spPr>
          <a:xfrm>
            <a:off x="320040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2F0F8"/>
          </a:solidFill>
          <a:ln w="12700">
            <a:solidFill>
              <a:srgbClr val="F2F0F8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7"/>
          <p:cNvSpPr txBox="1"/>
          <p:nvPr/>
        </p:nvSpPr>
        <p:spPr>
          <a:xfrm>
            <a:off x="3383279" y="1508760"/>
            <a:ext cx="91440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B2350"/>
                </a:solidFill>
              </a:defRPr>
            </a:lvl1pPr>
          </a:lstStyle>
          <a:p>
            <a:pPr/>
            <a:r>
              <a:t>SILVER</a:t>
            </a:r>
          </a:p>
        </p:txBody>
      </p:sp>
      <p:sp>
        <p:nvSpPr>
          <p:cNvPr id="244" name="Text 8"/>
          <p:cNvSpPr txBox="1"/>
          <p:nvPr/>
        </p:nvSpPr>
        <p:spPr>
          <a:xfrm>
            <a:off x="3383279" y="1828799"/>
            <a:ext cx="2148841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100">
                <a:solidFill>
                  <a:srgbClr val="2B2350"/>
                </a:solidFill>
              </a:defRPr>
            </a:pPr>
            <a:r>
              <a:t>Mixed practice</a:t>
            </a:r>
          </a:p>
          <a:p>
            <a:pPr>
              <a:defRPr b="1" sz="1100">
                <a:solidFill>
                  <a:srgbClr val="2B2350"/>
                </a:solidFill>
              </a:defRPr>
            </a:pPr>
            <a:r>
              <a:t>Add subtraction and coefficients.</a:t>
            </a:r>
          </a:p>
        </p:txBody>
      </p:sp>
      <p:sp>
        <p:nvSpPr>
          <p:cNvPr id="245" name="Shape 9"/>
          <p:cNvSpPr/>
          <p:nvPr/>
        </p:nvSpPr>
        <p:spPr>
          <a:xfrm>
            <a:off x="6126479" y="1325880"/>
            <a:ext cx="2743201" cy="1234440"/>
          </a:xfrm>
          <a:prstGeom prst="roundRect">
            <a:avLst>
              <a:gd name="adj" fmla="val 0"/>
            </a:avLst>
          </a:prstGeom>
          <a:solidFill>
            <a:srgbClr val="FBF3CF"/>
          </a:solidFill>
          <a:ln w="12700">
            <a:solidFill>
              <a:srgbClr val="FBF3C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0"/>
          <p:cNvSpPr txBox="1"/>
          <p:nvPr/>
        </p:nvSpPr>
        <p:spPr>
          <a:xfrm>
            <a:off x="6309359" y="1508760"/>
            <a:ext cx="91440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C99A00"/>
                </a:solidFill>
              </a:defRPr>
            </a:lvl1pPr>
          </a:lstStyle>
          <a:p>
            <a:pPr/>
            <a:r>
              <a:t>GOLD</a:t>
            </a:r>
          </a:p>
        </p:txBody>
      </p:sp>
      <p:sp>
        <p:nvSpPr>
          <p:cNvPr id="247" name="Text 11"/>
          <p:cNvSpPr txBox="1"/>
          <p:nvPr/>
        </p:nvSpPr>
        <p:spPr>
          <a:xfrm>
            <a:off x="6309359" y="1828800"/>
            <a:ext cx="2148841" cy="530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100">
                <a:solidFill>
                  <a:srgbClr val="2B2350"/>
                </a:solidFill>
              </a:defRPr>
            </a:pPr>
            <a:r>
              <a:t>Reasoning</a:t>
            </a:r>
          </a:p>
          <a:p>
            <a:pPr>
              <a:defRPr b="1" sz="1100">
                <a:solidFill>
                  <a:srgbClr val="2B2350"/>
                </a:solidFill>
              </a:defRPr>
            </a:pPr>
            <a:r>
              <a:t>Explain why a student’s expansion is wrong.</a:t>
            </a:r>
          </a:p>
        </p:txBody>
      </p:sp>
      <p:sp>
        <p:nvSpPr>
          <p:cNvPr id="248" name="Shape 12"/>
          <p:cNvSpPr/>
          <p:nvPr/>
        </p:nvSpPr>
        <p:spPr>
          <a:xfrm>
            <a:off x="274320" y="2880360"/>
            <a:ext cx="8595360" cy="960121"/>
          </a:xfrm>
          <a:prstGeom prst="roundRect">
            <a:avLst>
              <a:gd name="adj" fmla="val 0"/>
            </a:avLst>
          </a:prstGeom>
          <a:solidFill>
            <a:srgbClr val="E9F1FB"/>
          </a:solidFill>
          <a:ln w="12700">
            <a:solidFill>
              <a:srgbClr val="E9F1FB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3"/>
          <p:cNvSpPr txBox="1"/>
          <p:nvPr/>
        </p:nvSpPr>
        <p:spPr>
          <a:xfrm>
            <a:off x="502920" y="3090672"/>
            <a:ext cx="192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2B2350"/>
                </a:solidFill>
              </a:defRPr>
            </a:lvl1pPr>
          </a:lstStyle>
          <a:p>
            <a:pPr/>
            <a:r>
              <a:t>Four steps every time:</a:t>
            </a:r>
          </a:p>
        </p:txBody>
      </p:sp>
      <p:sp>
        <p:nvSpPr>
          <p:cNvPr id="250" name="Text 14"/>
          <p:cNvSpPr txBox="1"/>
          <p:nvPr/>
        </p:nvSpPr>
        <p:spPr>
          <a:xfrm>
            <a:off x="3795503" y="2936071"/>
            <a:ext cx="3198913" cy="848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marL="133684" indent="-133684" algn="ctr">
              <a:buSzPct val="100000"/>
              <a:buAutoNum type="arabicPeriod" startAt="1"/>
              <a:defRPr b="1" sz="1000">
                <a:solidFill>
                  <a:srgbClr val="2B2350"/>
                </a:solidFill>
              </a:defRPr>
            </a:pPr>
            <a:r>
              <a:t>take the sign with the term    </a:t>
            </a:r>
          </a:p>
          <a:p>
            <a:pPr marL="133684" indent="-133684" algn="ctr">
              <a:buSzPct val="100000"/>
              <a:buAutoNum type="arabicPeriod" startAt="1"/>
              <a:defRPr b="1" sz="1000">
                <a:solidFill>
                  <a:srgbClr val="2B2350"/>
                </a:solidFill>
              </a:defRPr>
            </a:pPr>
            <a:r>
              <a:t>multiply the outside number by the first term    </a:t>
            </a:r>
          </a:p>
          <a:p>
            <a:pPr marL="133684" indent="-133684" algn="ctr">
              <a:buSzPct val="100000"/>
              <a:buAutoNum type="arabicPeriod" startAt="1"/>
              <a:defRPr b="1" sz="1000">
                <a:solidFill>
                  <a:srgbClr val="2B2350"/>
                </a:solidFill>
              </a:defRPr>
            </a:pPr>
            <a:r>
              <a:t>multiply it by the second term    </a:t>
            </a:r>
          </a:p>
          <a:p>
            <a:pPr marL="133684" indent="-133684" algn="ctr">
              <a:buSzPct val="100000"/>
              <a:buAutoNum type="arabicPeriod" startAt="1"/>
              <a:defRPr b="1" sz="1000">
                <a:solidFill>
                  <a:srgbClr val="2B2350"/>
                </a:solidFill>
              </a:defRPr>
            </a:pPr>
            <a:r>
              <a:t>write the expanded expression</a:t>
            </a:r>
          </a:p>
        </p:txBody>
      </p:sp>
      <p:sp>
        <p:nvSpPr>
          <p:cNvPr id="251" name="Text 15"/>
          <p:cNvSpPr txBox="1"/>
          <p:nvPr/>
        </p:nvSpPr>
        <p:spPr>
          <a:xfrm>
            <a:off x="548640" y="4160520"/>
            <a:ext cx="8046719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100">
                <a:solidFill>
                  <a:srgbClr val="2B2350"/>
                </a:solidFill>
              </a:defRPr>
            </a:lvl1pPr>
          </a:lstStyle>
          <a:p>
            <a:pPr/>
            <a:r>
              <a:t>Start where you feel confident. Aim to reach Silver. Gold is for the explanation, not just more arithmetic.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274320" y="228600"/>
            <a:ext cx="1170433" cy="201169"/>
          </a:xfrm>
          <a:prstGeom prst="roundRect">
            <a:avLst>
              <a:gd name="adj" fmla="val 50000"/>
            </a:avLst>
          </a:prstGeom>
          <a:solidFill>
            <a:srgbClr val="F26A4F"/>
          </a:solidFill>
          <a:ln w="12700">
            <a:solidFill>
              <a:srgbClr val="F26A4F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1"/>
          <p:cNvSpPr txBox="1"/>
          <p:nvPr/>
        </p:nvSpPr>
        <p:spPr>
          <a:xfrm>
            <a:off x="301752" y="251459"/>
            <a:ext cx="1115568" cy="15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PLENARY · 3 MIN</a:t>
            </a:r>
          </a:p>
        </p:txBody>
      </p:sp>
      <p:sp>
        <p:nvSpPr>
          <p:cNvPr id="257" name="Text 2"/>
          <p:cNvSpPr txBox="1"/>
          <p:nvPr/>
        </p:nvSpPr>
        <p:spPr>
          <a:xfrm>
            <a:off x="274319" y="621791"/>
            <a:ext cx="42062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sp>
        <p:nvSpPr>
          <p:cNvPr id="258" name="Shape 3"/>
          <p:cNvSpPr/>
          <p:nvPr/>
        </p:nvSpPr>
        <p:spPr>
          <a:xfrm>
            <a:off x="320040" y="1389888"/>
            <a:ext cx="4572001" cy="438913"/>
          </a:xfrm>
          <a:prstGeom prst="roundRect">
            <a:avLst>
              <a:gd name="adj" fmla="val 16667"/>
            </a:avLst>
          </a:prstGeom>
          <a:solidFill>
            <a:srgbClr val="3A3261"/>
          </a:solidFill>
          <a:ln w="12700">
            <a:solidFill>
              <a:srgbClr val="3A3261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p13q0"/>
          <p:cNvSpPr txBox="1"/>
          <p:nvPr/>
        </p:nvSpPr>
        <p:spPr>
          <a:xfrm>
            <a:off x="548639" y="1517903"/>
            <a:ext cx="40233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3(x + 2) = 3x + 2</a:t>
            </a:r>
          </a:p>
        </p:txBody>
      </p:sp>
      <p:sp>
        <p:nvSpPr>
          <p:cNvPr id="260" name="Shape 5"/>
          <p:cNvSpPr/>
          <p:nvPr/>
        </p:nvSpPr>
        <p:spPr>
          <a:xfrm>
            <a:off x="5212079" y="1389888"/>
            <a:ext cx="914401" cy="438913"/>
          </a:xfrm>
          <a:prstGeom prst="roundRect">
            <a:avLst>
              <a:gd name="adj" fmla="val 16667"/>
            </a:avLst>
          </a:prstGeom>
          <a:solidFill>
            <a:srgbClr val="5E2E2A"/>
          </a:solidFill>
          <a:ln w="12700">
            <a:solidFill>
              <a:srgbClr val="5E2E2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p13v0"/>
          <p:cNvSpPr txBox="1"/>
          <p:nvPr/>
        </p:nvSpPr>
        <p:spPr>
          <a:xfrm>
            <a:off x="5340096" y="1517903"/>
            <a:ext cx="6583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FALSE</a:t>
            </a:r>
          </a:p>
        </p:txBody>
      </p:sp>
      <p:sp>
        <p:nvSpPr>
          <p:cNvPr id="262" name="p13r0"/>
          <p:cNvSpPr txBox="1"/>
          <p:nvPr/>
        </p:nvSpPr>
        <p:spPr>
          <a:xfrm>
            <a:off x="6355079" y="1490472"/>
            <a:ext cx="265176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DD7ED"/>
                </a:solidFill>
              </a:defRPr>
            </a:lvl1pPr>
          </a:lstStyle>
          <a:p>
            <a:pPr/>
            <a:r>
              <a:t>The outside number multiplies both terms.</a:t>
            </a:r>
          </a:p>
        </p:txBody>
      </p:sp>
      <p:sp>
        <p:nvSpPr>
          <p:cNvPr id="263" name="Shape 8"/>
          <p:cNvSpPr/>
          <p:nvPr/>
        </p:nvSpPr>
        <p:spPr>
          <a:xfrm>
            <a:off x="320040" y="2075688"/>
            <a:ext cx="4572001" cy="438913"/>
          </a:xfrm>
          <a:prstGeom prst="roundRect">
            <a:avLst>
              <a:gd name="adj" fmla="val 16667"/>
            </a:avLst>
          </a:prstGeom>
          <a:solidFill>
            <a:srgbClr val="3A3261"/>
          </a:solidFill>
          <a:ln w="12700">
            <a:solidFill>
              <a:srgbClr val="3A3261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p13q1"/>
          <p:cNvSpPr txBox="1"/>
          <p:nvPr/>
        </p:nvSpPr>
        <p:spPr>
          <a:xfrm>
            <a:off x="548639" y="2203704"/>
            <a:ext cx="40233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4(x − 3) = 4x − 12</a:t>
            </a:r>
          </a:p>
        </p:txBody>
      </p:sp>
      <p:sp>
        <p:nvSpPr>
          <p:cNvPr id="265" name="Shape 10"/>
          <p:cNvSpPr/>
          <p:nvPr/>
        </p:nvSpPr>
        <p:spPr>
          <a:xfrm>
            <a:off x="5212079" y="2075688"/>
            <a:ext cx="914401" cy="438913"/>
          </a:xfrm>
          <a:prstGeom prst="roundRect">
            <a:avLst>
              <a:gd name="adj" fmla="val 16667"/>
            </a:avLst>
          </a:prstGeom>
          <a:solidFill>
            <a:srgbClr val="244C3C"/>
          </a:solidFill>
          <a:ln w="12700">
            <a:solidFill>
              <a:srgbClr val="244C3C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p13v1"/>
          <p:cNvSpPr txBox="1"/>
          <p:nvPr/>
        </p:nvSpPr>
        <p:spPr>
          <a:xfrm>
            <a:off x="5340096" y="2203704"/>
            <a:ext cx="6583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TRUE</a:t>
            </a:r>
          </a:p>
        </p:txBody>
      </p:sp>
      <p:sp>
        <p:nvSpPr>
          <p:cNvPr id="267" name="p13r1"/>
          <p:cNvSpPr txBox="1"/>
          <p:nvPr/>
        </p:nvSpPr>
        <p:spPr>
          <a:xfrm>
            <a:off x="6355079" y="2176272"/>
            <a:ext cx="265176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DD7ED"/>
                </a:solidFill>
              </a:defRPr>
            </a:lvl1pPr>
          </a:lstStyle>
          <a:p>
            <a:pPr/>
            <a:r>
              <a:t>The 4 multiplies −3 as well.</a:t>
            </a:r>
          </a:p>
        </p:txBody>
      </p:sp>
      <p:sp>
        <p:nvSpPr>
          <p:cNvPr id="268" name="Shape 13"/>
          <p:cNvSpPr/>
          <p:nvPr/>
        </p:nvSpPr>
        <p:spPr>
          <a:xfrm>
            <a:off x="320040" y="2761488"/>
            <a:ext cx="4572001" cy="438913"/>
          </a:xfrm>
          <a:prstGeom prst="roundRect">
            <a:avLst>
              <a:gd name="adj" fmla="val 16667"/>
            </a:avLst>
          </a:prstGeom>
          <a:solidFill>
            <a:srgbClr val="3A3261"/>
          </a:solidFill>
          <a:ln w="12700">
            <a:solidFill>
              <a:srgbClr val="3A3261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p13q2"/>
          <p:cNvSpPr txBox="1"/>
          <p:nvPr/>
        </p:nvSpPr>
        <p:spPr>
          <a:xfrm>
            <a:off x="548639" y="2889504"/>
            <a:ext cx="40233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2(a + 5) = 2a + 5</a:t>
            </a:r>
          </a:p>
        </p:txBody>
      </p:sp>
      <p:sp>
        <p:nvSpPr>
          <p:cNvPr id="270" name="Shape 15"/>
          <p:cNvSpPr/>
          <p:nvPr/>
        </p:nvSpPr>
        <p:spPr>
          <a:xfrm>
            <a:off x="5212079" y="2761488"/>
            <a:ext cx="914401" cy="438913"/>
          </a:xfrm>
          <a:prstGeom prst="roundRect">
            <a:avLst>
              <a:gd name="adj" fmla="val 16667"/>
            </a:avLst>
          </a:prstGeom>
          <a:solidFill>
            <a:srgbClr val="5E2E2A"/>
          </a:solidFill>
          <a:ln w="12700">
            <a:solidFill>
              <a:srgbClr val="5E2E2A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p13v2"/>
          <p:cNvSpPr txBox="1"/>
          <p:nvPr/>
        </p:nvSpPr>
        <p:spPr>
          <a:xfrm>
            <a:off x="5340096" y="2889504"/>
            <a:ext cx="6583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FALSE</a:t>
            </a:r>
          </a:p>
        </p:txBody>
      </p:sp>
      <p:sp>
        <p:nvSpPr>
          <p:cNvPr id="272" name="p13r2"/>
          <p:cNvSpPr txBox="1"/>
          <p:nvPr/>
        </p:nvSpPr>
        <p:spPr>
          <a:xfrm>
            <a:off x="6355079" y="2862072"/>
            <a:ext cx="265176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DD7ED"/>
                </a:solidFill>
              </a:defRPr>
            </a:lvl1pPr>
          </a:lstStyle>
          <a:p>
            <a:pPr/>
            <a:r>
              <a:t>The 5 also needs the ×2.</a:t>
            </a:r>
          </a:p>
        </p:txBody>
      </p:sp>
      <p:sp>
        <p:nvSpPr>
          <p:cNvPr id="273" name="Shape 18"/>
          <p:cNvSpPr/>
          <p:nvPr/>
        </p:nvSpPr>
        <p:spPr>
          <a:xfrm>
            <a:off x="320040" y="3447288"/>
            <a:ext cx="4572001" cy="438913"/>
          </a:xfrm>
          <a:prstGeom prst="roundRect">
            <a:avLst>
              <a:gd name="adj" fmla="val 16667"/>
            </a:avLst>
          </a:prstGeom>
          <a:solidFill>
            <a:srgbClr val="3A3261"/>
          </a:solidFill>
          <a:ln w="12700">
            <a:solidFill>
              <a:srgbClr val="3A3261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p13q3"/>
          <p:cNvSpPr txBox="1"/>
          <p:nvPr/>
        </p:nvSpPr>
        <p:spPr>
          <a:xfrm>
            <a:off x="548639" y="3575303"/>
            <a:ext cx="402336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5(y − 1) = 5y − 5</a:t>
            </a:r>
          </a:p>
        </p:txBody>
      </p:sp>
      <p:sp>
        <p:nvSpPr>
          <p:cNvPr id="275" name="Shape 20"/>
          <p:cNvSpPr/>
          <p:nvPr/>
        </p:nvSpPr>
        <p:spPr>
          <a:xfrm>
            <a:off x="5212079" y="3447288"/>
            <a:ext cx="914401" cy="438913"/>
          </a:xfrm>
          <a:prstGeom prst="roundRect">
            <a:avLst>
              <a:gd name="adj" fmla="val 16667"/>
            </a:avLst>
          </a:prstGeom>
          <a:solidFill>
            <a:srgbClr val="244C3C"/>
          </a:solidFill>
          <a:ln w="12700">
            <a:solidFill>
              <a:srgbClr val="244C3C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p13v3"/>
          <p:cNvSpPr txBox="1"/>
          <p:nvPr/>
        </p:nvSpPr>
        <p:spPr>
          <a:xfrm>
            <a:off x="5340096" y="3575303"/>
            <a:ext cx="65836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TRUE</a:t>
            </a:r>
          </a:p>
        </p:txBody>
      </p:sp>
      <p:sp>
        <p:nvSpPr>
          <p:cNvPr id="277" name="p13r3"/>
          <p:cNvSpPr txBox="1"/>
          <p:nvPr/>
        </p:nvSpPr>
        <p:spPr>
          <a:xfrm>
            <a:off x="6355079" y="3547871"/>
            <a:ext cx="2651761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DD7ED"/>
                </a:solidFill>
              </a:defRPr>
            </a:lvl1pPr>
          </a:lstStyle>
          <a:p>
            <a:pPr/>
            <a:r>
              <a:t>The minus stays with the term.</a:t>
            </a:r>
          </a:p>
        </p:txBody>
      </p:sp>
      <p:sp>
        <p:nvSpPr>
          <p:cNvPr id="278" name="p13_close"/>
          <p:cNvSpPr txBox="1"/>
          <p:nvPr/>
        </p:nvSpPr>
        <p:spPr>
          <a:xfrm>
            <a:off x="731519" y="4416552"/>
            <a:ext cx="731520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F26A4F"/>
                </a:solidFill>
              </a:defRPr>
            </a:lvl1pPr>
          </a:lstStyle>
          <a:p>
            <a:pPr/>
            <a:r>
              <a:t>Re-rate yourself R / A / G on the front of the worksheet.</a:t>
            </a:r>
          </a:p>
        </p:txBody>
      </p:sp>
      <p:sp>
        <p:nvSpPr>
          <p:cNvPr id="279" name="Text 24"/>
          <p:cNvSpPr txBox="1"/>
          <p:nvPr/>
        </p:nvSpPr>
        <p:spPr>
          <a:xfrm>
            <a:off x="274320" y="4718303"/>
            <a:ext cx="859536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800">
                <a:solidFill>
                  <a:srgbClr val="D8CFF2"/>
                </a:solidFill>
              </a:defRPr>
            </a:lvl1pPr>
          </a:lstStyle>
          <a:p>
            <a:pPr/>
            <a:r>
              <a:t>Next lesson: expand AND simplify.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r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