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a:t>
            </a:r>
          </a:p>
          <a:p>
            <a:pPr/>
          </a:p>
          <a:p>
            <a:pPr/>
            <a:r>
              <a:t>I READ reference/Making It Last.pptx (the stated PREVIOUS lesson). Q1 and Q2 retrieve its central skill and key idea, with fresh numbers and a new scenario, not a repeat of its own Do Now or worksheet figures. Q5 retrieves its objective 3 in a new shape.</a:t>
            </a:r>
          </a:p>
          <a:p>
            <a:pPr/>
          </a:p>
          <a:p>
            <a:pPr/>
            <a:r>
              <a:t>Q3 IS A NEW SKILL: repeated fractional decline, not simple percentage decrease (already used twice in this unit). It is today's main calculation and comes back in Cold Call Q3 and the game.</a:t>
            </a:r>
          </a:p>
          <a:p>
            <a:pPr/>
          </a:p>
          <a:p>
            <a:pPr/>
            <a:r>
              <a:t>Q4 IS A CROSS-SCIENCE LINK (chemistry/geology): helium, classified with the renewable/non-renewable skill from What The Earth Gives Us, on fresh content. IT IS RESOLVED LATER, in We Do row 1, with the real consequence of the shortage.</a:t>
            </a:r>
          </a:p>
          <a:p>
            <a:pPr/>
          </a:p>
          <a:p>
            <a:pPr/>
            <a:r>
              <a:t>Q6 IS INTUITIVE, NOT TAUGHT YET. Accept any reasonable answer. It primes objective 3's real content (prices rising) before We Do makes it concrete.</a:t>
            </a:r>
          </a:p>
          <a:p>
            <a:pPr/>
          </a:p>
          <a:p>
            <a:pPr/>
            <a:r>
              <a:t>THEY FOUND HARD: not stated in the brief. Nothing guessed.</a:t>
            </a:r>
          </a:p>
          <a:p>
            <a:pPr/>
          </a:p>
          <a:p>
            <a:pPr/>
            <a:r>
              <a:t>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Last lesson ended on taking no more than a resource can replace. Today follows the OTHER outcome to its end: what happens if that is not done. Say "last lesson was how to make it last. Today is what happens if nobody does."</a:t>
            </a:r>
          </a:p>
          <a:p>
            <a:pPr/>
          </a:p>
          <a:p>
            <a:pPr/>
            <a:r>
              <a:t>OBJECTIVE 2 IS THE HARD PART, AND THE REASON THIS LESSON EXISTS. Most students will assume "renewable" means "cannot run out." It can, if used too fast for too long. Objective 1 is the general idea; objective 3 is what actually happens, in practice, when it does.</a:t>
            </a:r>
          </a:p>
          <a:p>
            <a:pPr/>
          </a:p>
          <a:p>
            <a:pPr/>
            <a:r>
              <a:t>THE BANNER IS OBJECTIVE 1, SAID PLAINLY, and it is the exact mirror of last lesson's banner.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tally on the board. Do not settle it: I Do 1 does.</a:t>
            </a:r>
          </a:p>
          <a:p>
            <a:pPr/>
          </a:p>
          <a:p>
            <a:pPr/>
            <a:r>
              <a:t>ANSWER, FOR YOU: C. Zero. The passenger pigeon is extinct. The last known one, a female named Martha, died at the Cincinnati Zoo on 1 September 1914. Expect A to attract most votes: "billions" feels impossible to fully use up.</a:t>
            </a:r>
          </a:p>
          <a:p>
            <a:pPr/>
          </a:p>
          <a:p>
            <a:pPr/>
            <a:r>
              <a:t>THE POINT: this was a RENEWABLE resource, a species that could breed. It was not mined or drilled. It still ran out completely, because it was used faster than it could replace itself, for decades, without stopping.</a:t>
            </a:r>
          </a:p>
          <a:p>
            <a:pPr/>
          </a:p>
          <a:p>
            <a:pPr/>
            <a:r>
              <a:t>DO NOT EXPLAIN WHY YET. Say "a species that bred by the billion is completely gone. That is today's lesson" and move to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I DO. 3 minutes. Three clicks: the definition, the belief card, the what-actually-happened card.</a:t>
            </a:r>
          </a:p>
          <a:p>
            <a:pPr/>
          </a:p>
          <a:p>
            <a:pPr/>
            <a:r>
              <a:t>OBJECTIVE 1, SETTLED WITH THE HOOK. Depletion is not one event; it is use outrunning replacement for long enough that the amount left stops being enough.</a:t>
            </a:r>
          </a:p>
          <a:p>
            <a:pPr/>
          </a:p>
          <a:p>
            <a:pPr/>
            <a:r>
              <a:t>THE CONTRAST CARDS ARE THE POINT OF THE SLIDE. "There are billions of them" felt like a reason it was safe. It was not a reason at all: a huge number falling faster than it can regrow still reaches zero, it just takes longer.</a:t>
            </a:r>
          </a:p>
          <a:p>
            <a:pPr/>
          </a:p>
          <a:p>
            <a:pPr/>
            <a:r>
              <a:t>THIS SETS UP I DO 2. The mechanism (why the colony could not recover before it hit zero) is next.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p>
            <a:pPr/>
            <a:r>
              <a:t>I DO. 3 minutes. Two clicks: the definition, then the mechanism.</a:t>
            </a:r>
          </a:p>
          <a:p>
            <a:pPr/>
          </a:p>
          <a:p>
            <a:pPr/>
            <a:r>
              <a:t>OBJECTIVE 2, THE WHOLE POINT OF THE LESSON. "Renewable" describes the resource. Whether it actually gets the chance to renew depends on how fast it is used, exactly last lesson's rate idea, carried to its limit.</a:t>
            </a:r>
          </a:p>
          <a:p>
            <a:pPr/>
          </a:p>
          <a:p>
            <a:pPr/>
            <a:r>
              <a:t>THE THIRD BULLET IS THE KEY LINE. Say it twice if the room is quiet: the species COULD have carried on forever. What ended it was never being given the chance to recover, not some limit on how many pigeons could ever exist.</a:t>
            </a:r>
          </a:p>
          <a:p>
            <a:pPr/>
          </a:p>
          <a:p>
            <a:pPr/>
            <a:r>
              <a:t>THIS IS THE SAME SHAPE AS LAST LESSON'S "STOCK SHRINKS" OUTCOME, taken all the way to zero. A resource that is merely shrinking can still recover, like the whales. One that has fallen too far, with too few left to find each other, cannot.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r>
              <a:t>WE DO. 5 minutes. Four clicks. Take guesses from the room first, then click.</a:t>
            </a:r>
          </a:p>
          <a:p>
            <a:pPr/>
          </a:p>
          <a:p>
            <a:pPr/>
            <a:r>
              <a:t>CHANGED FROM SPOT THE MISTAKE, AT CHUKA'S REQUEST: four REAL, verified cases instead of invented wrong statements. Each is a resource used faster than it could be replaced, and what REALLY happened as a result, not a guessed or softened version.</a:t>
            </a:r>
          </a:p>
          <a:p>
            <a:pPr/>
          </a:p>
          <a:p>
            <a:pPr/>
            <a:r>
              <a:t>ROW 1 RESOLVES DO NOW Q4. Say "you already worked out helium is non-renewable. Here is what that is actually doing to hospitals right now."</a:t>
            </a:r>
          </a:p>
          <a:p>
            <a:pPr/>
          </a:p>
          <a:p>
            <a:pPr/>
            <a:r>
              <a:t>ROW 2 IS A RENEWABLE RESOURCE (water), extracted faster than it was replaced: the same mechanism as objective 2, applied to a place, not a species. 10,000 people lost their jobs when the fishing fleet had nothing left to catch.</a:t>
            </a:r>
          </a:p>
          <a:p>
            <a:pPr/>
          </a:p>
          <a:p>
            <a:pPr/>
            <a:r>
              <a:t>ROW 3 AND 4 ARE BOTH SPECIES, LIKE THE HOOK, but caught in time rather than lost completely: bluefin tuna populations have since partly recovered under the quotas, which is worth a sentence if time allows, since it previews that recovery is possible even after a severe fall, as it was for the whales.</a:t>
            </a:r>
          </a:p>
          <a:p>
            <a:pPr/>
          </a:p>
          <a:p>
            <a:pPr/>
            <a:r>
              <a:t>EVERY ROW HAS A DIFFERENT KIND OF REAL CONSEQUENCE: a price rising, an industry and its jobs disappearing, international regulation, and a community losing what it depended on. This is what Cold Call Q4 and the Plenary draw on, directly, not a vague "we should use less".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p>
            <a:pPr/>
            <a:r>
              <a:t>COLD CALL. 6 minutes. Six clicks. Name a student, then ask. Students have no mini whiteboards, so answers are spoken.</a:t>
            </a:r>
          </a:p>
          <a:p>
            <a:pPr/>
          </a:p>
          <a:p>
            <a:pPr/>
            <a:r>
              <a:t>Q1 AND Q2 ARE OBJECTIVES 1 AND 2, COLD. Both need the reasoning, not just the word repeated.</a:t>
            </a:r>
          </a:p>
          <a:p>
            <a:pPr/>
          </a:p>
          <a:p>
            <a:pPr/>
            <a:r>
              <a:t>Q3 IS THE CALCULATION, FRESH NUMBERS, the same repeated-decline skill as Do Now Q3 and the game's round 1. Watch for halving only once, or halving four times instead of three.</a:t>
            </a:r>
          </a:p>
          <a:p>
            <a:pPr/>
          </a:p>
          <a:p>
            <a:pPr/>
            <a:r>
              <a:t>Q4 IS OBJECTIVE 3 DIRECTLY, drawing on We Do. There are four right answers; take two or three if time allows.</a:t>
            </a:r>
          </a:p>
          <a:p>
            <a:pPr/>
          </a:p>
          <a:p>
            <a:pPr/>
            <a:r>
              <a:t>Q5 AND Q6 CLOSE THE LOOP on the Hook and I Do. Q6 is deliberately forward-looking: do not let the lesson end on "and then they all died". IF SHORT OF TIME, cut Q1.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Shape 260"/>
          <p:cNvSpPr/>
          <p:nvPr>
            <p:ph type="sldImg"/>
          </p:nvPr>
        </p:nvSpPr>
        <p:spPr>
          <a:prstGeom prst="rect">
            <a:avLst/>
          </a:prstGeom>
        </p:spPr>
        <p:txBody>
          <a:bodyPr/>
          <a:lstStyle/>
          <a:p>
            <a:pPr/>
          </a:p>
        </p:txBody>
      </p:sp>
      <p:sp>
        <p:nvSpPr>
          <p:cNvPr id="261" name="Shape 261"/>
          <p:cNvSpPr/>
          <p:nvPr>
            <p:ph type="body" sz="quarter" idx="1"/>
          </p:nvPr>
        </p:nvSpPr>
        <p:spPr>
          <a:prstGeom prst="rect">
            <a:avLst/>
          </a:prstGeom>
        </p:spPr>
        <p:txBody>
          <a:bodyPr/>
          <a:lstStyle/>
          <a:p>
            <a:pPr/>
            <a:r>
              <a:t>YOU DO. 17 minutes: the standard 14 and the 3 that used to be the Answers slide. Four clicks. THE GAME IS RUNNING OUT ("your call"), and the worksheet is the fallback, built every time.</a:t>
            </a:r>
          </a:p>
          <a:p>
            <a:pPr/>
          </a:p>
          <a:p>
            <a:pPr/>
            <a:r>
              <a:t>WHAT THEY DO. Open the file "Running Out game" from Google Classroom. Three rounds of six questions, each on their own device, all multiple choice. EVERY STUDENT GETS A DIFFERENT GAME. Each game has a six-character code, shown on the start and end screens; add #CODE to the file's address to see exactly what a student saw.</a:t>
            </a:r>
          </a:p>
          <a:p>
            <a:pPr/>
          </a:p>
          <a:p>
            <a:pPr/>
            <a:r>
              <a:t>THE DIFFICULTY RAMPS ON PURPOSE. Round 1 is today's new calculation: a resource store, and a fraction lost each period, repeated. Round 2 is last lesson's sustainable-yield classification, reframed around depletion. Round 3 mixes two question types: matching a real case (helium, the Aral Sea, bluefin tuna, bison) to what REALLY happened, and choosing the right management method to prevent depletion. The last two questions (17 and 18) are drawn from a small pool: a harder, four-period decline calculation, and one more management scenario. Expect most students to fail those two. That is the design; tell them before they start.</a:t>
            </a:r>
          </a:p>
          <a:p>
            <a:pPr/>
          </a:p>
          <a:p>
            <a:pPr/>
            <a:r>
              <a:t>AT THE END OF EACH ROUND, and again on the last screen, there is a drop-down for every round with how long each question took and, for a wrong one, what the student wrote and how to get to the answer.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ten questions in Bronze, Silver and Gold, with the answers printed UPSIDE DOWN on its last page.</a:t>
            </a:r>
          </a:p>
          <a:p>
            <a:pPr/>
          </a:p>
          <a:p>
            <a:pPr/>
            <a:r>
              <a:t>CIRCULATE WITH ONE QUESTION: "is more being taken than the resource can replace?" AT 3 MINUTES REMAINING, stop them. There is no Answers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p>
            <a:pPr/>
            <a:r>
              <a:t>PLENARY. 3 minutes. Eleven clicks: each statement, then its answer, then the closing line.</a:t>
            </a:r>
          </a:p>
          <a:p>
            <a:pPr/>
          </a:p>
          <a:p>
            <a:pPr/>
            <a:r>
              <a:t>Q1 IS OBJECTIVE 1, PLAINLY TRUE. Q2 IS THE MAIN MISCONCEPTION AND OBJECTIVE 2 DIRECTLY: a resource being renewable is not a guarantee against running out.</a:t>
            </a:r>
          </a:p>
          <a:p>
            <a:pPr/>
          </a:p>
          <a:p>
            <a:pPr/>
            <a:r>
              <a:t>Q3 IS OBJECTIVE 3'S ECONOMICS, FLIPPED: students who were right in Do Now Q6 should catch this is false immediately. Q4 IS OBJECTIVE 3, A REAL MANAGEMENT RESPONSE CONFIRMED, not a vague "use less".</a:t>
            </a:r>
          </a:p>
          <a:p>
            <a:pPr/>
          </a:p>
          <a:p>
            <a:pPr/>
            <a:r>
              <a:t>Q5 IS THE HOOK, SETTLED one last time.</a:t>
            </a:r>
          </a:p>
          <a:p>
            <a:pPr/>
          </a:p>
          <a:p>
            <a:pPr/>
            <a:r>
              <a:t>THE CLOSING LINE REPEATS THE OBJECTIVES BANNER, on purpose. BY THIS POINT OBJECTIVE 3 HAS ALREADY HAD REAL, SPECIFIC CONTENT (We Do's four cases, Cold Call Q4, Q4 here): the lesson does not end on damage alone, it ends on the plain rule that explains all of it. THIS LESSON MAKES NO PROMISE FOR THE NEXT ONE.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1.tif"/></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3D2B1F"/>
                </a:solidFill>
                <a:latin typeface="Georgia"/>
                <a:ea typeface="Georgia"/>
                <a:cs typeface="Georgia"/>
                <a:sym typeface="Georgia"/>
              </a:defRPr>
            </a:lvl1pPr>
          </a:lstStyle>
          <a:p>
            <a:pPr/>
            <a:r>
              <a:t>Resource Depletion</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6B5A48"/>
                </a:solidFill>
                <a:latin typeface="Arial"/>
                <a:ea typeface="Arial"/>
                <a:cs typeface="Arial"/>
                <a:sym typeface="Arial"/>
              </a:defRPr>
            </a:lvl1pPr>
          </a:lstStyle>
          <a:p>
            <a:pPr/>
            <a:r>
              <a:t>Saturday 3 October 2026</a:t>
            </a:r>
          </a:p>
        </p:txBody>
      </p:sp>
      <p:sp>
        <p:nvSpPr>
          <p:cNvPr id="26" name="rule"/>
          <p:cNvSpPr/>
          <p:nvPr/>
        </p:nvSpPr>
        <p:spPr>
          <a:xfrm>
            <a:off x="1170432" y="896111"/>
            <a:ext cx="10472623" cy="36577"/>
          </a:xfrm>
          <a:prstGeom prst="rect">
            <a:avLst/>
          </a:prstGeom>
          <a:solidFill>
            <a:srgbClr val="C99A3D"/>
          </a:solidFill>
          <a:ln w="12700">
            <a:solidFill>
              <a:srgbClr val="C99A3D"/>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28" name="d0_badge"/>
          <p:cNvSpPr/>
          <p:nvPr/>
        </p:nvSpPr>
        <p:spPr>
          <a:xfrm>
            <a:off x="1371600" y="1426463"/>
            <a:ext cx="384048" cy="384049"/>
          </a:xfrm>
          <a:prstGeom prst="ellipse">
            <a:avLst/>
          </a:prstGeom>
          <a:solidFill>
            <a:srgbClr val="C99A3D"/>
          </a:solidFill>
          <a:ln w="12700">
            <a:solidFill>
              <a:srgbClr val="C99A3D"/>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30" name="d0_q"/>
          <p:cNvSpPr txBox="1"/>
          <p:nvPr/>
        </p:nvSpPr>
        <p:spPr>
          <a:xfrm>
            <a:off x="1901951"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A forest of 70,000 hectares grows by 4% a year. Calculate the maximum sustainable amount that can be cut each year.</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32" name="2,800 hectares. 70,000 × 4 ÷ 100."/>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2,800 hectares. 70,000 × 4 ÷ 100.</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35" name="d1_badge"/>
          <p:cNvSpPr/>
          <p:nvPr/>
        </p:nvSpPr>
        <p:spPr>
          <a:xfrm>
            <a:off x="6745072" y="1426463"/>
            <a:ext cx="384049" cy="384049"/>
          </a:xfrm>
          <a:prstGeom prst="ellipse">
            <a:avLst/>
          </a:prstGeom>
          <a:solidFill>
            <a:srgbClr val="C99A3D"/>
          </a:solidFill>
          <a:ln w="12700">
            <a:solidFill>
              <a:srgbClr val="C99A3D"/>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37" name="d1_q"/>
          <p:cNvSpPr txBox="1"/>
          <p:nvPr/>
        </p:nvSpPr>
        <p:spPr>
          <a:xfrm>
            <a:off x="7275424"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A fish stock is caught at exactly its sustainable yield for ten years. State what happens to the size of the stock.</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39" name="Nothing. It stays the same size, every year."/>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Nothing. It stays the same size, every year.</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2" name="d2_badge"/>
          <p:cNvSpPr/>
          <p:nvPr/>
        </p:nvSpPr>
        <p:spPr>
          <a:xfrm>
            <a:off x="1371600" y="3090672"/>
            <a:ext cx="384048" cy="384049"/>
          </a:xfrm>
          <a:prstGeom prst="ellipse">
            <a:avLst/>
          </a:prstGeom>
          <a:solidFill>
            <a:srgbClr val="C99A3D"/>
          </a:solidFill>
          <a:ln w="12700">
            <a:solidFill>
              <a:srgbClr val="C99A3D"/>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44" name="d2_q"/>
          <p:cNvSpPr txBox="1"/>
          <p:nvPr/>
        </p:nvSpPr>
        <p:spPr>
          <a:xfrm>
            <a:off x="1901951" y="2924691"/>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A resource store of 90,000 tonnes loses a third of what remains every 5 years. Calculate how much is left after 10 years.</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46" name="40,000 tonnes. 90,000 → 60,000 → 40,000."/>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40,000 tonnes. 90,000 → 60,000 → 40,000.</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9" name="d3_badge"/>
          <p:cNvSpPr/>
          <p:nvPr/>
        </p:nvSpPr>
        <p:spPr>
          <a:xfrm>
            <a:off x="6745072" y="3090672"/>
            <a:ext cx="384049" cy="384049"/>
          </a:xfrm>
          <a:prstGeom prst="ellipse">
            <a:avLst/>
          </a:prstGeom>
          <a:solidFill>
            <a:srgbClr val="C99A3D"/>
          </a:solidFill>
          <a:ln w="12700">
            <a:solidFill>
              <a:srgbClr val="C99A3D"/>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51" name="d3_q"/>
          <p:cNvSpPr txBox="1"/>
          <p:nvPr/>
        </p:nvSpPr>
        <p:spPr>
          <a:xfrm>
            <a:off x="7275424" y="2924691"/>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Helium forms underground far slower than we extract and use it today. State whether it is renewable or non-renewable.</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53" name="Non-renewable. It forms far slower than it is used."/>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Non-renewable. It forms far slower than it is used.</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56" name="d4_badge"/>
          <p:cNvSpPr/>
          <p:nvPr/>
        </p:nvSpPr>
        <p:spPr>
          <a:xfrm>
            <a:off x="1371600" y="4754879"/>
            <a:ext cx="384048" cy="384049"/>
          </a:xfrm>
          <a:prstGeom prst="ellipse">
            <a:avLst/>
          </a:prstGeom>
          <a:solidFill>
            <a:srgbClr val="C99A3D"/>
          </a:solidFill>
          <a:ln w="12700">
            <a:solidFill>
              <a:srgbClr val="C99A3D"/>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Name two ways a resource can be managed to stop it running out.</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60" name="Any two: a catch limit or quota, a closed season, restocking, recycling, replanting."/>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Any two: a catch limit or quota, a closed season, restocking, recycling, replanting.</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63" name="d5_badge"/>
          <p:cNvSpPr/>
          <p:nvPr/>
        </p:nvSpPr>
        <p:spPr>
          <a:xfrm>
            <a:off x="6745072" y="4754879"/>
            <a:ext cx="384049" cy="384049"/>
          </a:xfrm>
          <a:prstGeom prst="ellipse">
            <a:avLst/>
          </a:prstGeom>
          <a:solidFill>
            <a:srgbClr val="C99A3D"/>
          </a:solidFill>
          <a:ln w="12700">
            <a:solidFill>
              <a:srgbClr val="C99A3D"/>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6</a:t>
            </a:r>
          </a:p>
        </p:txBody>
      </p:sp>
      <p:sp>
        <p:nvSpPr>
          <p:cNvPr id="65" name="d5_q"/>
          <p:cNvSpPr txBox="1"/>
          <p:nvPr/>
        </p:nvSpPr>
        <p:spPr>
          <a:xfrm>
            <a:off x="7275424"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A1D14"/>
                </a:solidFill>
                <a:latin typeface="Arial"/>
                <a:ea typeface="Arial"/>
                <a:cs typeface="Arial"/>
                <a:sym typeface="Arial"/>
              </a:defRPr>
            </a:lvl1pPr>
          </a:lstStyle>
          <a:p>
            <a:pPr/>
            <a:r>
              <a:t>If a resource like oil became very scarce, suggest what might happen to its price.</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67" name="Any reasonable answer: the price would ris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Any reasonable answer: the price would rise.</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61" grpId="6"/>
      <p:bldP build="whole" bldLvl="1" animBg="1" rev="0" advAuto="0" spid="40" grpId="3"/>
      <p:bldP build="whole" bldLvl="1" animBg="1" rev="0" advAuto="0" spid="33" grpId="2"/>
      <p:bldP build="whole" bldLvl="1" animBg="1" rev="0" advAuto="0" spid="54" grpId="5"/>
      <p:bldP build="whole" bldLvl="1" animBg="1" rev="0" advAuto="0" spid="68" grpId="7"/>
      <p:bldP build="whole" bldLvl="1" animBg="1" rev="0" advAuto="0" spid="47" grpId="4"/>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3D2B1F"/>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Describe what resource depletion is.</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Explain how a renewable resource can still be depleted.</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C99A3D"/>
            </a:solidFill>
            <a:ln w="12700" cap="flat">
              <a:solidFill>
                <a:srgbClr val="C99A3D"/>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2A1D14"/>
                  </a:solidFill>
                  <a:latin typeface="Arial"/>
                  <a:ea typeface="Arial"/>
                  <a:cs typeface="Arial"/>
                  <a:sym typeface="Arial"/>
                </a:defRPr>
              </a:lvl1pPr>
            </a:lstStyle>
            <a:p>
              <a:pPr/>
              <a:r>
                <a:t>Describe what happens when a resource runs low.</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3D2B1F"/>
            </a:solidFill>
            <a:ln w="9525" cap="flat">
              <a:solidFill>
                <a:srgbClr val="3D2B1F"/>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Resource depletion means using a resource faster than it can be replaced."/>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C99A3D"/>
                  </a:solidFill>
                  <a:latin typeface="Arial"/>
                  <a:ea typeface="Arial"/>
                  <a:cs typeface="Arial"/>
                  <a:sym typeface="Arial"/>
                </a:defRPr>
              </a:pPr>
              <a:r>
                <a:t>Resource depletion means using a resource </a:t>
              </a:r>
              <a:r>
                <a:rPr u="sng"/>
                <a:t>faster than it can be replaced</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1" grpId="2"/>
      <p:bldP build="whole" bldLvl="1" animBg="1" rev="0" advAuto="0" spid="86" grpId="3"/>
      <p:bldP build="whole" bldLvl="1" animBg="1" rev="0" advAuto="0" spid="94" grpId="5"/>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889228"/>
            <a:ext cx="9055304" cy="9830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2100">
                <a:solidFill>
                  <a:srgbClr val="3D2B1F"/>
                </a:solidFill>
                <a:latin typeface="Georgia"/>
                <a:ea typeface="Georgia"/>
                <a:cs typeface="Georgia"/>
                <a:sym typeface="Georgia"/>
              </a:defRPr>
            </a:lvl1pPr>
          </a:lstStyle>
          <a:p>
            <a:pPr/>
            <a:r>
              <a:t>By the 1870s, a single flock of passenger pigeons was estimated at over 3 billion birds, the most common bird in North America. By 1914, how many were left in the world?</a:t>
            </a:r>
          </a:p>
        </p:txBody>
      </p:sp>
      <p:grpSp>
        <p:nvGrpSpPr>
          <p:cNvPr id="106" name="h0"/>
          <p:cNvGrpSpPr/>
          <p:nvPr/>
        </p:nvGrpSpPr>
        <p:grpSpPr>
          <a:xfrm>
            <a:off x="1170432" y="2487167"/>
            <a:ext cx="3307994" cy="1828801"/>
            <a:chOff x="0" y="0"/>
            <a:chExt cx="3307993" cy="1828800"/>
          </a:xfrm>
        </p:grpSpPr>
        <p:sp>
          <p:nvSpPr>
            <p:cNvPr id="103" name="h0_bg"/>
            <p:cNvSpPr/>
            <p:nvPr/>
          </p:nvSpPr>
          <p:spPr>
            <a:xfrm>
              <a:off x="0" y="0"/>
              <a:ext cx="3307994" cy="1828800"/>
            </a:xfrm>
            <a:prstGeom prst="roundRect">
              <a:avLst>
                <a:gd name="adj" fmla="val 5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4" name="h0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A</a:t>
              </a:r>
            </a:p>
          </p:txBody>
        </p:sp>
        <p:sp>
          <p:nvSpPr>
            <p:cNvPr id="105" name="h0_t"/>
            <p:cNvSpPr txBox="1"/>
            <p:nvPr/>
          </p:nvSpPr>
          <p:spPr>
            <a:xfrm>
              <a:off x="256032" y="676655"/>
              <a:ext cx="2795930" cy="2837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b="1">
                  <a:solidFill>
                    <a:srgbClr val="3D2B1F"/>
                  </a:solidFill>
                  <a:latin typeface="Georgia"/>
                  <a:ea typeface="Georgia"/>
                  <a:cs typeface="Georgia"/>
                  <a:sym typeface="Georgia"/>
                </a:defRPr>
              </a:lvl1pPr>
            </a:lstStyle>
            <a:p>
              <a:pPr/>
              <a:r>
                <a:t>About 1 million</a:t>
              </a:r>
            </a:p>
          </p:txBody>
        </p:sp>
      </p:grpSp>
      <p:grpSp>
        <p:nvGrpSpPr>
          <p:cNvPr id="110" name="h1"/>
          <p:cNvGrpSpPr/>
          <p:nvPr/>
        </p:nvGrpSpPr>
        <p:grpSpPr>
          <a:xfrm>
            <a:off x="4752745" y="2487167"/>
            <a:ext cx="3307995" cy="1828801"/>
            <a:chOff x="0" y="0"/>
            <a:chExt cx="3307993" cy="1828800"/>
          </a:xfrm>
        </p:grpSpPr>
        <p:sp>
          <p:nvSpPr>
            <p:cNvPr id="107" name="h1_bg"/>
            <p:cNvSpPr/>
            <p:nvPr/>
          </p:nvSpPr>
          <p:spPr>
            <a:xfrm>
              <a:off x="0" y="0"/>
              <a:ext cx="3307994" cy="1828800"/>
            </a:xfrm>
            <a:prstGeom prst="roundRect">
              <a:avLst>
                <a:gd name="adj" fmla="val 5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8" name="h1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B</a:t>
              </a:r>
            </a:p>
          </p:txBody>
        </p:sp>
        <p:sp>
          <p:nvSpPr>
            <p:cNvPr id="109" name="h1_t"/>
            <p:cNvSpPr txBox="1"/>
            <p:nvPr/>
          </p:nvSpPr>
          <p:spPr>
            <a:xfrm>
              <a:off x="256032" y="676655"/>
              <a:ext cx="2795930" cy="2837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b="1">
                  <a:solidFill>
                    <a:srgbClr val="3D2B1F"/>
                  </a:solidFill>
                  <a:latin typeface="Georgia"/>
                  <a:ea typeface="Georgia"/>
                  <a:cs typeface="Georgia"/>
                  <a:sym typeface="Georgia"/>
                </a:defRPr>
              </a:lvl1pPr>
            </a:lstStyle>
            <a:p>
              <a:pPr/>
              <a:r>
                <a:t>About 1,000</a:t>
              </a:r>
            </a:p>
          </p:txBody>
        </p:sp>
      </p:grpSp>
      <p:grpSp>
        <p:nvGrpSpPr>
          <p:cNvPr id="114" name="h2"/>
          <p:cNvGrpSpPr/>
          <p:nvPr/>
        </p:nvGrpSpPr>
        <p:grpSpPr>
          <a:xfrm>
            <a:off x="8335061" y="2487167"/>
            <a:ext cx="3307994" cy="1828801"/>
            <a:chOff x="0" y="0"/>
            <a:chExt cx="3307993" cy="1828800"/>
          </a:xfrm>
        </p:grpSpPr>
        <p:sp>
          <p:nvSpPr>
            <p:cNvPr id="111" name="h2_bg"/>
            <p:cNvSpPr/>
            <p:nvPr/>
          </p:nvSpPr>
          <p:spPr>
            <a:xfrm>
              <a:off x="0" y="0"/>
              <a:ext cx="3307994" cy="1828800"/>
            </a:xfrm>
            <a:prstGeom prst="roundRect">
              <a:avLst>
                <a:gd name="adj" fmla="val 5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12" name="h2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B5482E"/>
                  </a:solidFill>
                  <a:latin typeface="Georgia"/>
                  <a:ea typeface="Georgia"/>
                  <a:cs typeface="Georgia"/>
                  <a:sym typeface="Georgia"/>
                </a:defRPr>
              </a:lvl1pPr>
            </a:lstStyle>
            <a:p>
              <a:pPr/>
              <a:r>
                <a:t>C</a:t>
              </a:r>
            </a:p>
          </p:txBody>
        </p:sp>
        <p:sp>
          <p:nvSpPr>
            <p:cNvPr id="113" name="h2_t"/>
            <p:cNvSpPr txBox="1"/>
            <p:nvPr/>
          </p:nvSpPr>
          <p:spPr>
            <a:xfrm>
              <a:off x="256032" y="676655"/>
              <a:ext cx="2795930" cy="2837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b="1">
                  <a:solidFill>
                    <a:srgbClr val="3D2B1F"/>
                  </a:solidFill>
                  <a:latin typeface="Georgia"/>
                  <a:ea typeface="Georgia"/>
                  <a:cs typeface="Georgia"/>
                  <a:sym typeface="Georgia"/>
                </a:defRPr>
              </a:lvl1pPr>
            </a:lstStyle>
            <a:p>
              <a:pPr/>
              <a:r>
                <a:t>Zero</a:t>
              </a:r>
            </a:p>
          </p:txBody>
        </p:sp>
      </p:grpSp>
      <p:pic>
        <p:nvPicPr>
          <p:cNvPr id="115" name="Image" descr="Image"/>
          <p:cNvPicPr>
            <a:picLocks noChangeAspect="1"/>
          </p:cNvPicPr>
          <p:nvPr/>
        </p:nvPicPr>
        <p:blipFill>
          <a:blip r:embed="rId6">
            <a:extLst/>
          </a:blip>
          <a:stretch>
            <a:fillRect/>
          </a:stretch>
        </p:blipFill>
        <p:spPr>
          <a:xfrm>
            <a:off x="4105912" y="3969403"/>
            <a:ext cx="4601662" cy="265833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6"/>
                                        </p:tgtEl>
                                        <p:attrNameLst>
                                          <p:attrName>style.visibility</p:attrName>
                                        </p:attrNameLst>
                                      </p:cBhvr>
                                      <p:to>
                                        <p:strVal val="visible"/>
                                      </p:to>
                                    </p:set>
                                    <p:animEffect filter="fade" transition="in">
                                      <p:cBhvr>
                                        <p:cTn id="11" dur="400"/>
                                        <p:tgtEl>
                                          <p:spTgt spid="106"/>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0"/>
                                        </p:tgtEl>
                                        <p:attrNameLst>
                                          <p:attrName>style.visibility</p:attrName>
                                        </p:attrNameLst>
                                      </p:cBhvr>
                                      <p:to>
                                        <p:strVal val="visible"/>
                                      </p:to>
                                    </p:set>
                                    <p:animEffect filter="fade" transition="in">
                                      <p:cBhvr>
                                        <p:cTn id="15" dur="400"/>
                                        <p:tgtEl>
                                          <p:spTgt spid="110"/>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4"/>
                                        </p:tgtEl>
                                        <p:attrNameLst>
                                          <p:attrName>style.visibility</p:attrName>
                                        </p:attrNameLst>
                                      </p:cBhvr>
                                      <p:to>
                                        <p:strVal val="visible"/>
                                      </p:to>
                                    </p:set>
                                    <p:animEffect filter="fade" transition="in">
                                      <p:cBhvr>
                                        <p:cTn id="19" dur="400"/>
                                        <p:tgtEl>
                                          <p:spTgt spid="114"/>
                                        </p:tgtEl>
                                      </p:cBhvr>
                                    </p:animEffect>
                                  </p:childTnLst>
                                </p:cTn>
                              </p:par>
                            </p:childTnLst>
                          </p:cTn>
                        </p:par>
                        <p:par>
                          <p:cTn id="20" fill="hold">
                            <p:stCondLst>
                              <p:cond delay="1650"/>
                            </p:stCondLst>
                            <p:childTnLst>
                              <p:par>
                                <p:cTn id="21" presetClass="entr" nodeType="afterEffect" presetID="9" grpId="5" fill="hold">
                                  <p:stCondLst>
                                    <p:cond delay="0"/>
                                  </p:stCondLst>
                                  <p:iterate type="el" backwards="0">
                                    <p:tmAbs val="0"/>
                                  </p:iterate>
                                  <p:childTnLst>
                                    <p:set>
                                      <p:cBhvr>
                                        <p:cTn id="22" fill="hold"/>
                                        <p:tgtEl>
                                          <p:spTgt spid="115"/>
                                        </p:tgtEl>
                                        <p:attrNameLst>
                                          <p:attrName>style.visibility</p:attrName>
                                        </p:attrNameLst>
                                      </p:cBhvr>
                                      <p:to>
                                        <p:strVal val="visible"/>
                                      </p:to>
                                    </p:set>
                                    <p:animEffect filter="dissolve" transition="in">
                                      <p:cBhvr>
                                        <p:cTn id="23" dur="15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4" fill="hold" display="0">
                  <p:stCondLst>
                    <p:cond delay="indefinite"/>
                  </p:stCondLst>
                </p:cTn>
                <p:tgtEl>
                  <p:spTgt spid="98"/>
                </p:tgtEl>
              </p:cMediaNode>
            </p:video>
            <p:seq concurrent="1" prevAc="none" nextAc="seek">
              <p:cTn id="25" evtFilter="cancelBubble" nodeType="interactiveSeq" restart="whenNotActive" fill="hold">
                <p:stCondLst>
                  <p:cond delay="0" evt="onClick">
                    <p:tgtEl>
                      <p:spTgt spid="98"/>
                    </p:tgtEl>
                  </p:cond>
                </p:stCondLst>
                <p:endSync delay="0" evt="end">
                  <p:rtn val="all"/>
                </p:endSync>
                <p:childTnLst>
                  <p:par>
                    <p:cTn id="26" fill="hold">
                      <p:stCondLst>
                        <p:cond delay="0"/>
                      </p:stCondLst>
                      <p:childTnLst>
                        <p:par>
                          <p:cTn id="27" fill="hold">
                            <p:stCondLst>
                              <p:cond delay="0"/>
                            </p:stCondLst>
                            <p:childTnLst>
                              <p:par>
                                <p:cTn id="28" presetClass="mediacall" nodeType="clickEffect" presetSubtype="0" presetID="2" fill="hold">
                                  <p:stCondLst>
                                    <p:cond delay="0"/>
                                  </p:stCondLst>
                                  <p:childTnLst>
                                    <p:cmd type="call" cmd="togglePause">
                                      <p:cBhvr>
                                        <p:cTn id="29"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5" grpId="5"/>
      <p:bldP build="whole" bldLvl="1" animBg="1" rev="0" advAuto="0" spid="106" grpId="2"/>
      <p:bldP build="whole" bldLvl="1" animBg="1" rev="0" advAuto="0" spid="110" grpId="3"/>
      <p:bldP build="whole" bldLvl="1" animBg="1" rev="0" advAuto="0" spid="114"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3D2B1F"/>
                </a:solidFill>
                <a:latin typeface="Georgia"/>
                <a:ea typeface="Georgia"/>
                <a:cs typeface="Georgia"/>
                <a:sym typeface="Georgia"/>
              </a:defRPr>
            </a:lvl1pPr>
          </a:lstStyle>
          <a:p>
            <a:pPr/>
            <a:r>
              <a:t>Resource depletion</a:t>
            </a:r>
          </a:p>
        </p:txBody>
      </p:sp>
      <p:grpSp>
        <p:nvGrpSpPr>
          <p:cNvPr id="126" name="def"/>
          <p:cNvGrpSpPr/>
          <p:nvPr/>
        </p:nvGrpSpPr>
        <p:grpSpPr>
          <a:xfrm>
            <a:off x="1170432" y="1920239"/>
            <a:ext cx="10472623" cy="914401"/>
            <a:chOff x="0" y="0"/>
            <a:chExt cx="10472622" cy="914400"/>
          </a:xfrm>
        </p:grpSpPr>
        <p:sp>
          <p:nvSpPr>
            <p:cNvPr id="124" name="def_bg"/>
            <p:cNvSpPr/>
            <p:nvPr/>
          </p:nvSpPr>
          <p:spPr>
            <a:xfrm>
              <a:off x="0" y="0"/>
              <a:ext cx="10472623" cy="914400"/>
            </a:xfrm>
            <a:prstGeom prst="roundRect">
              <a:avLst>
                <a:gd name="adj" fmla="val 10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25" name="def_t"/>
            <p:cNvSpPr txBox="1"/>
            <p:nvPr/>
          </p:nvSpPr>
          <p:spPr>
            <a:xfrm>
              <a:off x="274319" y="207069"/>
              <a:ext cx="9923984" cy="500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000"/>
                </a:lnSpc>
                <a:defRPr sz="1600">
                  <a:solidFill>
                    <a:srgbClr val="2A1D14"/>
                  </a:solidFill>
                  <a:latin typeface="Arial"/>
                  <a:ea typeface="Arial"/>
                  <a:cs typeface="Arial"/>
                  <a:sym typeface="Arial"/>
                </a:defRPr>
              </a:pPr>
              <a:r>
                <a:t>Resource depletion means using up a resource faster than it can be replaced, until </a:t>
              </a:r>
              <a:r>
                <a:rPr b="1">
                  <a:solidFill>
                    <a:srgbClr val="8F6D2A"/>
                  </a:solidFill>
                </a:rPr>
                <a:t>not enough is left to use as before</a:t>
              </a:r>
              <a:r>
                <a:t>.</a:t>
              </a:r>
            </a:p>
          </p:txBody>
        </p:sp>
      </p:grpSp>
      <p:grpSp>
        <p:nvGrpSpPr>
          <p:cNvPr id="131" name="belg"/>
          <p:cNvGrpSpPr/>
          <p:nvPr/>
        </p:nvGrpSpPr>
        <p:grpSpPr>
          <a:xfrm>
            <a:off x="1170432" y="3054095"/>
            <a:ext cx="5099152" cy="1645922"/>
            <a:chOff x="0" y="0"/>
            <a:chExt cx="5099151" cy="1645920"/>
          </a:xfrm>
        </p:grpSpPr>
        <p:sp>
          <p:nvSpPr>
            <p:cNvPr id="127" name="bel_bg"/>
            <p:cNvSpPr/>
            <p:nvPr/>
          </p:nvSpPr>
          <p:spPr>
            <a:xfrm>
              <a:off x="0" y="0"/>
              <a:ext cx="5099152" cy="1645921"/>
            </a:xfrm>
            <a:prstGeom prst="roundRect">
              <a:avLst>
                <a:gd name="adj" fmla="val 5556"/>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28" name="bel_icon" descr="bel_icon"/>
            <p:cNvPicPr>
              <a:picLocks noChangeAspect="1"/>
            </p:cNvPicPr>
            <p:nvPr/>
          </p:nvPicPr>
          <p:blipFill>
            <a:blip r:embed="rId6">
              <a:extLst/>
            </a:blip>
            <a:stretch>
              <a:fillRect/>
            </a:stretch>
          </p:blipFill>
          <p:spPr>
            <a:xfrm>
              <a:off x="4532223" y="146304"/>
              <a:ext cx="384049" cy="384049"/>
            </a:xfrm>
            <a:prstGeom prst="rect">
              <a:avLst/>
            </a:prstGeom>
            <a:ln w="12700" cap="flat">
              <a:noFill/>
              <a:miter lim="400000"/>
            </a:ln>
            <a:effectLst/>
          </p:spPr>
        </p:pic>
        <p:sp>
          <p:nvSpPr>
            <p:cNvPr id="129" name="bel_h"/>
            <p:cNvSpPr txBox="1"/>
            <p:nvPr/>
          </p:nvSpPr>
          <p:spPr>
            <a:xfrm>
              <a:off x="219455" y="206502"/>
              <a:ext cx="4276193"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3D2B1F"/>
                  </a:solidFill>
                  <a:latin typeface="Georgia"/>
                  <a:ea typeface="Georgia"/>
                  <a:cs typeface="Georgia"/>
                  <a:sym typeface="Georgia"/>
                </a:defRPr>
              </a:lvl1pPr>
            </a:lstStyle>
            <a:p>
              <a:pPr/>
              <a:r>
                <a:t>WHAT PEOPLE BELIEVED</a:t>
              </a:r>
            </a:p>
          </p:txBody>
        </p:sp>
        <p:sp>
          <p:nvSpPr>
            <p:cNvPr id="130" name="bel_t"/>
            <p:cNvSpPr txBox="1"/>
            <p:nvPr/>
          </p:nvSpPr>
          <p:spPr>
            <a:xfrm>
              <a:off x="219456" y="512063"/>
              <a:ext cx="4660240"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2A1D14"/>
                  </a:solidFill>
                  <a:latin typeface="Arial"/>
                  <a:ea typeface="Arial"/>
                  <a:cs typeface="Arial"/>
                  <a:sym typeface="Arial"/>
                </a:defRPr>
              </a:lvl1pPr>
            </a:lstStyle>
            <a:p>
              <a:pPr/>
              <a:r>
                <a:t>There were so many pigeons that hunters assumed the species could never run out, no matter how many were shot.</a:t>
              </a:r>
            </a:p>
          </p:txBody>
        </p:sp>
      </p:grpSp>
      <p:grpSp>
        <p:nvGrpSpPr>
          <p:cNvPr id="136" name="hapg"/>
          <p:cNvGrpSpPr/>
          <p:nvPr/>
        </p:nvGrpSpPr>
        <p:grpSpPr>
          <a:xfrm>
            <a:off x="6543903" y="3054095"/>
            <a:ext cx="5099153" cy="1645922"/>
            <a:chOff x="0" y="0"/>
            <a:chExt cx="5099151" cy="1645920"/>
          </a:xfrm>
        </p:grpSpPr>
        <p:sp>
          <p:nvSpPr>
            <p:cNvPr id="132" name="hap_bg"/>
            <p:cNvSpPr/>
            <p:nvPr/>
          </p:nvSpPr>
          <p:spPr>
            <a:xfrm>
              <a:off x="0" y="0"/>
              <a:ext cx="5099152" cy="1645921"/>
            </a:xfrm>
            <a:prstGeom prst="roundRect">
              <a:avLst>
                <a:gd name="adj" fmla="val 5556"/>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33" name="hap_icon" descr="hap_icon"/>
            <p:cNvPicPr>
              <a:picLocks noChangeAspect="1"/>
            </p:cNvPicPr>
            <p:nvPr/>
          </p:nvPicPr>
          <p:blipFill>
            <a:blip r:embed="rId7">
              <a:extLst/>
            </a:blip>
            <a:stretch>
              <a:fillRect/>
            </a:stretch>
          </p:blipFill>
          <p:spPr>
            <a:xfrm>
              <a:off x="4532222" y="146304"/>
              <a:ext cx="384049" cy="384049"/>
            </a:xfrm>
            <a:prstGeom prst="rect">
              <a:avLst/>
            </a:prstGeom>
            <a:ln w="12700" cap="flat">
              <a:noFill/>
              <a:miter lim="400000"/>
            </a:ln>
            <a:effectLst/>
          </p:spPr>
        </p:pic>
        <p:sp>
          <p:nvSpPr>
            <p:cNvPr id="134" name="hap_h"/>
            <p:cNvSpPr txBox="1"/>
            <p:nvPr/>
          </p:nvSpPr>
          <p:spPr>
            <a:xfrm>
              <a:off x="219455" y="206502"/>
              <a:ext cx="4276193"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3D2B1F"/>
                  </a:solidFill>
                  <a:latin typeface="Georgia"/>
                  <a:ea typeface="Georgia"/>
                  <a:cs typeface="Georgia"/>
                  <a:sym typeface="Georgia"/>
                </a:defRPr>
              </a:lvl1pPr>
            </a:lstStyle>
            <a:p>
              <a:pPr/>
              <a:r>
                <a:t>WHAT ACTUALLY HAPPENED</a:t>
              </a:r>
            </a:p>
          </p:txBody>
        </p:sp>
        <p:sp>
          <p:nvSpPr>
            <p:cNvPr id="135" name="hap_t"/>
            <p:cNvSpPr txBox="1"/>
            <p:nvPr/>
          </p:nvSpPr>
          <p:spPr>
            <a:xfrm>
              <a:off x="219456" y="512063"/>
              <a:ext cx="4660240"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2A1D14"/>
                  </a:solidFill>
                  <a:latin typeface="Arial"/>
                  <a:ea typeface="Arial"/>
                  <a:cs typeface="Arial"/>
                  <a:sym typeface="Arial"/>
                </a:defRPr>
              </a:lvl1pPr>
            </a:lstStyle>
            <a:p>
              <a:pPr/>
              <a:r>
                <a:t>Hunting never slowed down. As the flocks shrank, pigeons could not find each other to breed in the huge colonies they needed. The last one died in 1914.</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6"/>
                                        </p:tgtEl>
                                        <p:attrNameLst>
                                          <p:attrName>style.visibility</p:attrName>
                                        </p:attrNameLst>
                                      </p:cBhvr>
                                      <p:to>
                                        <p:strVal val="visible"/>
                                      </p:to>
                                    </p:set>
                                    <p:animEffect filter="fade" transition="in">
                                      <p:cBhvr>
                                        <p:cTn id="11" dur="400"/>
                                        <p:tgtEl>
                                          <p:spTgt spid="12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1"/>
                                        </p:tgtEl>
                                        <p:attrNameLst>
                                          <p:attrName>style.visibility</p:attrName>
                                        </p:attrNameLst>
                                      </p:cBhvr>
                                      <p:to>
                                        <p:strVal val="visible"/>
                                      </p:to>
                                    </p:set>
                                    <p:animEffect filter="fade" transition="in">
                                      <p:cBhvr>
                                        <p:cTn id="16" dur="400"/>
                                        <p:tgtEl>
                                          <p:spTgt spid="13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6"/>
                                        </p:tgtEl>
                                        <p:attrNameLst>
                                          <p:attrName>style.visibility</p:attrName>
                                        </p:attrNameLst>
                                      </p:cBhvr>
                                      <p:to>
                                        <p:strVal val="visible"/>
                                      </p:to>
                                    </p:set>
                                    <p:animEffect filter="fade" transition="in">
                                      <p:cBhvr>
                                        <p:cTn id="21" dur="4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2" fill="hold" display="0">
                  <p:stCondLst>
                    <p:cond delay="indefinite"/>
                  </p:stCondLst>
                </p:cTn>
                <p:tgtEl>
                  <p:spTgt spid="119"/>
                </p:tgtEl>
              </p:cMediaNode>
            </p:video>
            <p:seq concurrent="1" prevAc="none" nextAc="seek">
              <p:cTn id="23" evtFilter="cancelBubble" nodeType="interactiveSeq" restart="whenNotActive" fill="hold">
                <p:stCondLst>
                  <p:cond delay="0" evt="onClick">
                    <p:tgtEl>
                      <p:spTgt spid="119"/>
                    </p:tgtEl>
                  </p:cond>
                </p:stCondLst>
                <p:endSync delay="0" evt="end">
                  <p:rtn val="all"/>
                </p:endSync>
                <p:childTnLst>
                  <p:par>
                    <p:cTn id="24" fill="hold">
                      <p:stCondLst>
                        <p:cond delay="0"/>
                      </p:stCondLst>
                      <p:childTnLst>
                        <p:par>
                          <p:cTn id="25" fill="hold">
                            <p:stCondLst>
                              <p:cond delay="0"/>
                            </p:stCondLst>
                            <p:childTnLst>
                              <p:par>
                                <p:cTn id="26" presetClass="mediacall" nodeType="clickEffect" presetSubtype="0" presetID="2" fill="hold">
                                  <p:stCondLst>
                                    <p:cond delay="0"/>
                                  </p:stCondLst>
                                  <p:childTnLst>
                                    <p:cmd type="call" cmd="togglePause">
                                      <p:cBhvr>
                                        <p:cTn id="27"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31" grpId="3"/>
      <p:bldP build="whole" bldLvl="1" animBg="1" rev="0" advAuto="0" spid="136" grpId="4"/>
      <p:bldP build="whole" bldLvl="1" animBg="1" rev="0" advAuto="0" spid="126"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4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43" name="phase_pill"/>
          <p:cNvGrpSpPr/>
          <p:nvPr/>
        </p:nvGrpSpPr>
        <p:grpSpPr>
          <a:xfrm>
            <a:off x="1170432" y="310895"/>
            <a:ext cx="1623975" cy="329185"/>
            <a:chOff x="0" y="0"/>
            <a:chExt cx="1623974" cy="329184"/>
          </a:xfrm>
        </p:grpSpPr>
        <p:sp>
          <p:nvSpPr>
            <p:cNvPr id="141" name="Rounded Rectangle"/>
            <p:cNvSpPr/>
            <p:nvPr/>
          </p:nvSpPr>
          <p:spPr>
            <a:xfrm>
              <a:off x="0" y="0"/>
              <a:ext cx="1623975"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42"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4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3D2B1F"/>
                </a:solidFill>
                <a:latin typeface="Georgia"/>
                <a:ea typeface="Georgia"/>
                <a:cs typeface="Georgia"/>
                <a:sym typeface="Georgia"/>
              </a:defRPr>
            </a:lvl1pPr>
          </a:lstStyle>
          <a:p>
            <a:pPr/>
            <a:r>
              <a:t>How a renewable resource is depleted</a:t>
            </a:r>
          </a:p>
        </p:txBody>
      </p:sp>
      <p:grpSp>
        <p:nvGrpSpPr>
          <p:cNvPr id="147" name="mdefg"/>
          <p:cNvGrpSpPr/>
          <p:nvPr/>
        </p:nvGrpSpPr>
        <p:grpSpPr>
          <a:xfrm>
            <a:off x="1170432" y="1920239"/>
            <a:ext cx="10472623" cy="914401"/>
            <a:chOff x="0" y="0"/>
            <a:chExt cx="10472622" cy="914400"/>
          </a:xfrm>
        </p:grpSpPr>
        <p:sp>
          <p:nvSpPr>
            <p:cNvPr id="145" name="mdef_bg"/>
            <p:cNvSpPr/>
            <p:nvPr/>
          </p:nvSpPr>
          <p:spPr>
            <a:xfrm>
              <a:off x="0" y="0"/>
              <a:ext cx="10472623" cy="914400"/>
            </a:xfrm>
            <a:prstGeom prst="roundRect">
              <a:avLst>
                <a:gd name="adj" fmla="val 10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46" name="mdef_t"/>
            <p:cNvSpPr txBox="1"/>
            <p:nvPr/>
          </p:nvSpPr>
          <p:spPr>
            <a:xfrm>
              <a:off x="274319" y="219845"/>
              <a:ext cx="9923984" cy="4747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900"/>
                </a:lnSpc>
                <a:defRPr sz="1500">
                  <a:solidFill>
                    <a:srgbClr val="2A1D14"/>
                  </a:solidFill>
                  <a:latin typeface="Arial"/>
                  <a:ea typeface="Arial"/>
                  <a:cs typeface="Arial"/>
                  <a:sym typeface="Arial"/>
                </a:defRPr>
              </a:pPr>
              <a:r>
                <a:t>A renewable resource can still run out. If used faster than it can replace itself (and for long enough), </a:t>
              </a:r>
              <a:r>
                <a:rPr b="1">
                  <a:solidFill>
                    <a:srgbClr val="8F6D2A"/>
                  </a:solidFill>
                </a:rPr>
                <a:t>there eventually will be too few left to recover</a:t>
              </a:r>
              <a:r>
                <a:t>.</a:t>
              </a:r>
            </a:p>
          </p:txBody>
        </p:sp>
      </p:grpSp>
      <p:grpSp>
        <p:nvGrpSpPr>
          <p:cNvPr id="151" name="mechg"/>
          <p:cNvGrpSpPr/>
          <p:nvPr/>
        </p:nvGrpSpPr>
        <p:grpSpPr>
          <a:xfrm>
            <a:off x="1170432" y="3054095"/>
            <a:ext cx="10472623" cy="1874522"/>
            <a:chOff x="0" y="0"/>
            <a:chExt cx="10472622" cy="1874520"/>
          </a:xfrm>
        </p:grpSpPr>
        <p:sp>
          <p:nvSpPr>
            <p:cNvPr id="148" name="mech_bg"/>
            <p:cNvSpPr/>
            <p:nvPr/>
          </p:nvSpPr>
          <p:spPr>
            <a:xfrm>
              <a:off x="0" y="0"/>
              <a:ext cx="10472623" cy="1874521"/>
            </a:xfrm>
            <a:prstGeom prst="roundRect">
              <a:avLst>
                <a:gd name="adj" fmla="val 487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49" name="mech_h"/>
            <p:cNvSpPr txBox="1"/>
            <p:nvPr/>
          </p:nvSpPr>
          <p:spPr>
            <a:xfrm>
              <a:off x="237743" y="206502"/>
              <a:ext cx="9997137"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3D2B1F"/>
                  </a:solidFill>
                  <a:latin typeface="Georgia"/>
                  <a:ea typeface="Georgia"/>
                  <a:cs typeface="Georgia"/>
                  <a:sym typeface="Georgia"/>
                </a:defRPr>
              </a:lvl1pPr>
            </a:lstStyle>
            <a:p>
              <a:pPr/>
              <a:r>
                <a:t>THE PASSENGER PIGEON</a:t>
              </a:r>
            </a:p>
          </p:txBody>
        </p:sp>
        <p:sp>
          <p:nvSpPr>
            <p:cNvPr id="150" name="mech_t"/>
            <p:cNvSpPr txBox="1"/>
            <p:nvPr/>
          </p:nvSpPr>
          <p:spPr>
            <a:xfrm>
              <a:off x="237743" y="493776"/>
              <a:ext cx="9997137" cy="1162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600"/>
                </a:lnSpc>
                <a:spcBef>
                  <a:spcPts val="600"/>
                </a:spcBef>
                <a:buSzPct val="100000"/>
                <a:buChar char="•"/>
                <a:defRPr sz="1300">
                  <a:solidFill>
                    <a:srgbClr val="2A1D14"/>
                  </a:solidFill>
                  <a:latin typeface="Arial"/>
                  <a:ea typeface="Arial"/>
                  <a:cs typeface="Arial"/>
                  <a:sym typeface="Arial"/>
                </a:defRPr>
              </a:pPr>
              <a:r>
                <a:t>Passenger pigeons bred in enormous colonies. The size of the colony itself kept them safe from predators and helped them find mates.</a:t>
              </a:r>
            </a:p>
            <a:p>
              <a:pPr marL="342900" indent="-342900">
                <a:lnSpc>
                  <a:spcPts val="1600"/>
                </a:lnSpc>
                <a:spcBef>
                  <a:spcPts val="600"/>
                </a:spcBef>
                <a:buSzPct val="100000"/>
                <a:buChar char="•"/>
                <a:defRPr sz="1300">
                  <a:solidFill>
                    <a:srgbClr val="2A1D14"/>
                  </a:solidFill>
                  <a:latin typeface="Arial"/>
                  <a:ea typeface="Arial"/>
                  <a:cs typeface="Arial"/>
                  <a:sym typeface="Arial"/>
                </a:defRPr>
              </a:pPr>
              <a:r>
                <a:t>As hunting shrank the flocks, colonies became too small and scattered.</a:t>
              </a:r>
            </a:p>
            <a:p>
              <a:pPr marL="342900" indent="-342900">
                <a:lnSpc>
                  <a:spcPts val="1600"/>
                </a:lnSpc>
                <a:buSzPct val="100000"/>
                <a:buChar char="•"/>
                <a:defRPr b="1" sz="1300">
                  <a:solidFill>
                    <a:srgbClr val="2A1D14"/>
                  </a:solidFill>
                  <a:latin typeface="Arial"/>
                  <a:ea typeface="Arial"/>
                  <a:cs typeface="Arial"/>
                  <a:sym typeface="Arial"/>
                </a:defRPr>
              </a:pPr>
              <a:r>
                <a:t>By the time hunting mattered less, there were too few birds left, in groups too small, to breed successfully. The species could have renewed itself forever, but it was prevented from doing so.</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4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47"/>
                                        </p:tgtEl>
                                        <p:attrNameLst>
                                          <p:attrName>style.visibility</p:attrName>
                                        </p:attrNameLst>
                                      </p:cBhvr>
                                      <p:to>
                                        <p:strVal val="visible"/>
                                      </p:to>
                                    </p:set>
                                    <p:animEffect filter="fade" transition="in">
                                      <p:cBhvr>
                                        <p:cTn id="11" dur="400"/>
                                        <p:tgtEl>
                                          <p:spTgt spid="14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51"/>
                                        </p:tgtEl>
                                        <p:attrNameLst>
                                          <p:attrName>style.visibility</p:attrName>
                                        </p:attrNameLst>
                                      </p:cBhvr>
                                      <p:to>
                                        <p:strVal val="visible"/>
                                      </p:to>
                                    </p:set>
                                    <p:animEffect filter="fade" transition="in">
                                      <p:cBhvr>
                                        <p:cTn id="16" dur="4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140"/>
                </p:tgtEl>
              </p:cMediaNode>
            </p:video>
            <p:seq concurrent="1" prevAc="none" nextAc="seek">
              <p:cTn id="18" evtFilter="cancelBubble" nodeType="interactiveSeq" restart="whenNotActive" fill="hold">
                <p:stCondLst>
                  <p:cond delay="0" evt="onClick">
                    <p:tgtEl>
                      <p:spTgt spid="140"/>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140"/>
                                        </p:tgtEl>
                                      </p:cBhvr>
                                    </p:cmd>
                                  </p:childTnLst>
                                </p:cTn>
                              </p:par>
                            </p:childTnLst>
                          </p:cTn>
                        </p:par>
                      </p:childTnLst>
                    </p:cTn>
                  </p:par>
                </p:childTnLst>
              </p:cTn>
              <p:nextCondLst>
                <p:cond delay="0" evt="onClick">
                  <p:tgtEl>
                    <p:spTgt spid="140"/>
                  </p:tgtEl>
                </p:cond>
              </p:nextCondLst>
            </p:seq>
          </p:childTnLst>
        </p:cTn>
      </p:par>
    </p:tnLst>
    <p:bldLst>
      <p:bldP build="whole" bldLvl="1" animBg="1" rev="0" advAuto="0" spid="147" grpId="2"/>
      <p:bldP build="whole" bldLvl="1" animBg="1" rev="0" advAuto="0" spid="151" grpId="3"/>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5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8" name="phase_pill"/>
          <p:cNvGrpSpPr/>
          <p:nvPr/>
        </p:nvGrpSpPr>
        <p:grpSpPr>
          <a:xfrm>
            <a:off x="1170432" y="310895"/>
            <a:ext cx="1713586" cy="329185"/>
            <a:chOff x="0" y="0"/>
            <a:chExt cx="1713585" cy="329184"/>
          </a:xfrm>
        </p:grpSpPr>
        <p:sp>
          <p:nvSpPr>
            <p:cNvPr id="156" name="Rounded Rectangle"/>
            <p:cNvSpPr/>
            <p:nvPr/>
          </p:nvSpPr>
          <p:spPr>
            <a:xfrm>
              <a:off x="0" y="0"/>
              <a:ext cx="1713586"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57"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59"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3D2B1F"/>
                </a:solidFill>
                <a:latin typeface="Georgia"/>
                <a:ea typeface="Georgia"/>
                <a:cs typeface="Georgia"/>
                <a:sym typeface="Georgia"/>
              </a:defRPr>
            </a:lvl1pPr>
          </a:lstStyle>
          <a:p>
            <a:pPr/>
            <a:r>
              <a:t>What on Earth happened?</a:t>
            </a:r>
          </a:p>
        </p:txBody>
      </p:sp>
      <p:sp>
        <p:nvSpPr>
          <p:cNvPr id="160"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B5A48"/>
                </a:solidFill>
                <a:latin typeface="Arial"/>
                <a:ea typeface="Arial"/>
                <a:cs typeface="Arial"/>
                <a:sym typeface="Arial"/>
              </a:defRPr>
            </a:lvl1pPr>
          </a:lstStyle>
          <a:p>
            <a:pPr/>
            <a:r>
              <a:t>Four resources that were pushed too far.</a:t>
            </a:r>
          </a:p>
        </p:txBody>
      </p:sp>
      <p:sp>
        <p:nvSpPr>
          <p:cNvPr id="161" name="wd0_bg"/>
          <p:cNvSpPr/>
          <p:nvPr/>
        </p:nvSpPr>
        <p:spPr>
          <a:xfrm>
            <a:off x="1170432" y="2322576"/>
            <a:ext cx="10472623" cy="841249"/>
          </a:xfrm>
          <a:prstGeom prst="roundRect">
            <a:avLst>
              <a:gd name="adj" fmla="val 10870"/>
            </a:avLst>
          </a:prstGeom>
          <a:solidFill>
            <a:srgbClr val="FFFFFF"/>
          </a:solidFill>
          <a:ln w="16510">
            <a:solidFill>
              <a:srgbClr val="D9C9A8"/>
            </a:solidFill>
          </a:ln>
        </p:spPr>
        <p:txBody>
          <a:bodyPr lIns="45719" rIns="45719"/>
          <a:lstStyle/>
          <a:p>
            <a:pPr/>
          </a:p>
        </p:txBody>
      </p:sp>
      <p:pic>
        <p:nvPicPr>
          <p:cNvPr id="162" name="wd0_icon" descr="wd0_icon"/>
          <p:cNvPicPr>
            <a:picLocks noChangeAspect="1"/>
          </p:cNvPicPr>
          <p:nvPr/>
        </p:nvPicPr>
        <p:blipFill>
          <a:blip r:embed="rId6">
            <a:extLst/>
          </a:blip>
          <a:stretch>
            <a:fillRect/>
          </a:stretch>
        </p:blipFill>
        <p:spPr>
          <a:xfrm>
            <a:off x="1353311" y="2496311"/>
            <a:ext cx="493777" cy="493777"/>
          </a:xfrm>
          <a:prstGeom prst="rect">
            <a:avLst/>
          </a:prstGeom>
          <a:ln w="12700">
            <a:miter lim="400000"/>
          </a:ln>
        </p:spPr>
      </p:pic>
      <p:sp>
        <p:nvSpPr>
          <p:cNvPr id="163" name="wd0_q"/>
          <p:cNvSpPr txBox="1"/>
          <p:nvPr/>
        </p:nvSpPr>
        <p:spPr>
          <a:xfrm>
            <a:off x="1993392" y="2531396"/>
            <a:ext cx="4389121"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Helium is non-renewable, and global demand has outpaced supply for years.</a:t>
            </a:r>
          </a:p>
        </p:txBody>
      </p:sp>
      <p:grpSp>
        <p:nvGrpSpPr>
          <p:cNvPr id="166" name="wd0_a"/>
          <p:cNvGrpSpPr/>
          <p:nvPr/>
        </p:nvGrpSpPr>
        <p:grpSpPr>
          <a:xfrm>
            <a:off x="6565392" y="2395727"/>
            <a:ext cx="4986224" cy="694946"/>
            <a:chOff x="0" y="0"/>
            <a:chExt cx="4986223" cy="694944"/>
          </a:xfrm>
        </p:grpSpPr>
        <p:sp>
          <p:nvSpPr>
            <p:cNvPr id="164" name="Rounded Rectangle"/>
            <p:cNvSpPr/>
            <p:nvPr/>
          </p:nvSpPr>
          <p:spPr>
            <a:xfrm>
              <a:off x="0" y="0"/>
              <a:ext cx="4986224" cy="694945"/>
            </a:xfrm>
            <a:prstGeom prst="roundRect">
              <a:avLst>
                <a:gd name="adj" fmla="val 13158"/>
              </a:avLst>
            </a:prstGeom>
            <a:solidFill>
              <a:srgbClr val="ECE1CB"/>
            </a:solidFill>
            <a:ln w="19050" cap="flat">
              <a:solidFill>
                <a:srgbClr val="8F6D2A"/>
              </a:solidFill>
              <a:prstDash val="solid"/>
              <a:round/>
            </a:ln>
            <a:effectLst/>
          </p:spPr>
          <p:txBody>
            <a:bodyPr wrap="square" lIns="45719" tIns="45719" rIns="45719" bIns="45719" numCol="1" anchor="ctr">
              <a:noAutofit/>
            </a:bodyPr>
            <a:lstStyle/>
            <a:p>
              <a:pPr>
                <a:lnSpc>
                  <a:spcPts val="1500"/>
                </a:lnSpc>
                <a:defRPr sz="1200"/>
              </a:pPr>
            </a:p>
          </p:txBody>
        </p:sp>
        <p:sp>
          <p:nvSpPr>
            <p:cNvPr id="165" name="Prices rose sharply. Many hospitals now ration helium, keeping it for MRI scanners instead of party balloons."/>
            <p:cNvSpPr txBox="1"/>
            <p:nvPr/>
          </p:nvSpPr>
          <p:spPr>
            <a:xfrm>
              <a:off x="36307" y="158858"/>
              <a:ext cx="4913609" cy="3772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nSpc>
                  <a:spcPts val="1500"/>
                </a:lnSpc>
                <a:defRPr b="1" sz="1200">
                  <a:solidFill>
                    <a:srgbClr val="3D2B1F"/>
                  </a:solidFill>
                  <a:latin typeface="Arial"/>
                  <a:ea typeface="Arial"/>
                  <a:cs typeface="Arial"/>
                  <a:sym typeface="Arial"/>
                </a:defRPr>
              </a:lvl1pPr>
            </a:lstStyle>
            <a:p>
              <a:pPr/>
              <a:r>
                <a:t>Prices rose sharply. Many hospitals now ration helium, keeping it for MRI scanners instead of party balloons.</a:t>
              </a:r>
            </a:p>
          </p:txBody>
        </p:sp>
      </p:grpSp>
      <p:sp>
        <p:nvSpPr>
          <p:cNvPr id="167" name="wd1_bg"/>
          <p:cNvSpPr/>
          <p:nvPr/>
        </p:nvSpPr>
        <p:spPr>
          <a:xfrm>
            <a:off x="1170432" y="3346703"/>
            <a:ext cx="10472623" cy="841249"/>
          </a:xfrm>
          <a:prstGeom prst="roundRect">
            <a:avLst>
              <a:gd name="adj" fmla="val 10870"/>
            </a:avLst>
          </a:prstGeom>
          <a:solidFill>
            <a:srgbClr val="FFFFFF"/>
          </a:solidFill>
          <a:ln w="16510">
            <a:solidFill>
              <a:srgbClr val="D9C9A8"/>
            </a:solidFill>
          </a:ln>
        </p:spPr>
        <p:txBody>
          <a:bodyPr lIns="45719" rIns="45719"/>
          <a:lstStyle/>
          <a:p>
            <a:pPr/>
          </a:p>
        </p:txBody>
      </p:sp>
      <p:pic>
        <p:nvPicPr>
          <p:cNvPr id="168" name="wd1_icon" descr="wd1_icon"/>
          <p:cNvPicPr>
            <a:picLocks noChangeAspect="1"/>
          </p:cNvPicPr>
          <p:nvPr/>
        </p:nvPicPr>
        <p:blipFill>
          <a:blip r:embed="rId7">
            <a:extLst/>
          </a:blip>
          <a:stretch>
            <a:fillRect/>
          </a:stretch>
        </p:blipFill>
        <p:spPr>
          <a:xfrm>
            <a:off x="1353311" y="3520440"/>
            <a:ext cx="493777" cy="493777"/>
          </a:xfrm>
          <a:prstGeom prst="rect">
            <a:avLst/>
          </a:prstGeom>
          <a:ln w="12700">
            <a:miter lim="400000"/>
          </a:ln>
        </p:spPr>
      </p:pic>
      <p:sp>
        <p:nvSpPr>
          <p:cNvPr id="169" name="wd1_q"/>
          <p:cNvSpPr txBox="1"/>
          <p:nvPr/>
        </p:nvSpPr>
        <p:spPr>
          <a:xfrm>
            <a:off x="1993392" y="3555524"/>
            <a:ext cx="4389121"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Rivers feeding Central Asia's Aral Sea were diverted for irrigation, starting in the 1960s.</a:t>
            </a:r>
          </a:p>
        </p:txBody>
      </p:sp>
      <p:grpSp>
        <p:nvGrpSpPr>
          <p:cNvPr id="172" name="wd1_a"/>
          <p:cNvGrpSpPr/>
          <p:nvPr/>
        </p:nvGrpSpPr>
        <p:grpSpPr>
          <a:xfrm>
            <a:off x="6565392" y="3419855"/>
            <a:ext cx="4986224" cy="694945"/>
            <a:chOff x="0" y="0"/>
            <a:chExt cx="4986223" cy="694944"/>
          </a:xfrm>
        </p:grpSpPr>
        <p:sp>
          <p:nvSpPr>
            <p:cNvPr id="170" name="Rounded Rectangle"/>
            <p:cNvSpPr/>
            <p:nvPr/>
          </p:nvSpPr>
          <p:spPr>
            <a:xfrm>
              <a:off x="0" y="0"/>
              <a:ext cx="4986224" cy="694945"/>
            </a:xfrm>
            <a:prstGeom prst="roundRect">
              <a:avLst>
                <a:gd name="adj" fmla="val 13158"/>
              </a:avLst>
            </a:prstGeom>
            <a:solidFill>
              <a:srgbClr val="ECE1CB"/>
            </a:solidFill>
            <a:ln w="19050" cap="flat">
              <a:solidFill>
                <a:srgbClr val="8F6D2A"/>
              </a:solidFill>
              <a:prstDash val="solid"/>
              <a:round/>
            </a:ln>
            <a:effectLst/>
          </p:spPr>
          <p:txBody>
            <a:bodyPr wrap="square" lIns="45719" tIns="45719" rIns="45719" bIns="45719" numCol="1" anchor="ctr">
              <a:noAutofit/>
            </a:bodyPr>
            <a:lstStyle/>
            <a:p>
              <a:pPr>
                <a:lnSpc>
                  <a:spcPts val="1500"/>
                </a:lnSpc>
                <a:defRPr sz="1200"/>
              </a:pPr>
            </a:p>
          </p:txBody>
        </p:sp>
        <p:sp>
          <p:nvSpPr>
            <p:cNvPr id="171" name="The sea lost over 90% of its volume. Commercial fishing ended completely, and thousands of workers lost their jobs."/>
            <p:cNvSpPr txBox="1"/>
            <p:nvPr/>
          </p:nvSpPr>
          <p:spPr>
            <a:xfrm>
              <a:off x="36307" y="158858"/>
              <a:ext cx="4913609" cy="3772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nSpc>
                  <a:spcPts val="1500"/>
                </a:lnSpc>
                <a:defRPr b="1" sz="1200">
                  <a:solidFill>
                    <a:srgbClr val="3D2B1F"/>
                  </a:solidFill>
                  <a:latin typeface="Arial"/>
                  <a:ea typeface="Arial"/>
                  <a:cs typeface="Arial"/>
                  <a:sym typeface="Arial"/>
                </a:defRPr>
              </a:lvl1pPr>
            </a:lstStyle>
            <a:p>
              <a:pPr/>
              <a:r>
                <a:t>The sea lost over 90% of its volume. Commercial fishing ended completely, and thousands of workers lost their jobs.</a:t>
              </a:r>
            </a:p>
          </p:txBody>
        </p:sp>
      </p:grpSp>
      <p:sp>
        <p:nvSpPr>
          <p:cNvPr id="173" name="wd2_bg"/>
          <p:cNvSpPr/>
          <p:nvPr/>
        </p:nvSpPr>
        <p:spPr>
          <a:xfrm>
            <a:off x="1170432" y="4370832"/>
            <a:ext cx="10472623" cy="841249"/>
          </a:xfrm>
          <a:prstGeom prst="roundRect">
            <a:avLst>
              <a:gd name="adj" fmla="val 10870"/>
            </a:avLst>
          </a:prstGeom>
          <a:solidFill>
            <a:srgbClr val="FFFFFF"/>
          </a:solidFill>
          <a:ln w="16510">
            <a:solidFill>
              <a:srgbClr val="D9C9A8"/>
            </a:solidFill>
          </a:ln>
        </p:spPr>
        <p:txBody>
          <a:bodyPr lIns="45719" rIns="45719"/>
          <a:lstStyle/>
          <a:p>
            <a:pPr/>
          </a:p>
        </p:txBody>
      </p:sp>
      <p:pic>
        <p:nvPicPr>
          <p:cNvPr id="174" name="wd2_icon" descr="wd2_icon"/>
          <p:cNvPicPr>
            <a:picLocks noChangeAspect="1"/>
          </p:cNvPicPr>
          <p:nvPr/>
        </p:nvPicPr>
        <p:blipFill>
          <a:blip r:embed="rId8">
            <a:extLst/>
          </a:blip>
          <a:stretch>
            <a:fillRect/>
          </a:stretch>
        </p:blipFill>
        <p:spPr>
          <a:xfrm>
            <a:off x="1353311" y="4544567"/>
            <a:ext cx="493777" cy="493777"/>
          </a:xfrm>
          <a:prstGeom prst="rect">
            <a:avLst/>
          </a:prstGeom>
          <a:ln w="12700">
            <a:miter lim="400000"/>
          </a:ln>
        </p:spPr>
      </p:pic>
      <p:sp>
        <p:nvSpPr>
          <p:cNvPr id="175" name="wd2_q"/>
          <p:cNvSpPr txBox="1"/>
          <p:nvPr/>
        </p:nvSpPr>
        <p:spPr>
          <a:xfrm>
            <a:off x="1993392" y="4579652"/>
            <a:ext cx="4389121"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Atlantic bluefin tuna were fished far faster than they could breed, for decades.</a:t>
            </a:r>
          </a:p>
        </p:txBody>
      </p:sp>
      <p:grpSp>
        <p:nvGrpSpPr>
          <p:cNvPr id="178" name="wd2_a"/>
          <p:cNvGrpSpPr/>
          <p:nvPr/>
        </p:nvGrpSpPr>
        <p:grpSpPr>
          <a:xfrm>
            <a:off x="6565392" y="4443984"/>
            <a:ext cx="4986224" cy="694945"/>
            <a:chOff x="0" y="0"/>
            <a:chExt cx="4986223" cy="694944"/>
          </a:xfrm>
        </p:grpSpPr>
        <p:sp>
          <p:nvSpPr>
            <p:cNvPr id="176" name="Rounded Rectangle"/>
            <p:cNvSpPr/>
            <p:nvPr/>
          </p:nvSpPr>
          <p:spPr>
            <a:xfrm>
              <a:off x="0" y="0"/>
              <a:ext cx="4986224" cy="694945"/>
            </a:xfrm>
            <a:prstGeom prst="roundRect">
              <a:avLst>
                <a:gd name="adj" fmla="val 13158"/>
              </a:avLst>
            </a:prstGeom>
            <a:solidFill>
              <a:srgbClr val="ECE1CB"/>
            </a:solidFill>
            <a:ln w="19050" cap="flat">
              <a:solidFill>
                <a:srgbClr val="8F6D2A"/>
              </a:solidFill>
              <a:prstDash val="solid"/>
              <a:round/>
            </a:ln>
            <a:effectLst/>
          </p:spPr>
          <p:txBody>
            <a:bodyPr wrap="square" lIns="45719" tIns="45719" rIns="45719" bIns="45719" numCol="1" anchor="ctr">
              <a:noAutofit/>
            </a:bodyPr>
            <a:lstStyle/>
            <a:p>
              <a:pPr>
                <a:lnSpc>
                  <a:spcPts val="1500"/>
                </a:lnSpc>
                <a:defRPr sz="1200"/>
              </a:pPr>
            </a:p>
          </p:txBody>
        </p:sp>
        <p:sp>
          <p:nvSpPr>
            <p:cNvPr id="177" name="Strict international quotas were introduced. A single large tuna can now sell for millions of dollars at auction."/>
            <p:cNvSpPr txBox="1"/>
            <p:nvPr/>
          </p:nvSpPr>
          <p:spPr>
            <a:xfrm>
              <a:off x="36307" y="158858"/>
              <a:ext cx="4913609" cy="3772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nSpc>
                  <a:spcPts val="1500"/>
                </a:lnSpc>
                <a:defRPr b="1" sz="1200">
                  <a:solidFill>
                    <a:srgbClr val="3D2B1F"/>
                  </a:solidFill>
                  <a:latin typeface="Arial"/>
                  <a:ea typeface="Arial"/>
                  <a:cs typeface="Arial"/>
                  <a:sym typeface="Arial"/>
                </a:defRPr>
              </a:lvl1pPr>
            </a:lstStyle>
            <a:p>
              <a:pPr/>
              <a:r>
                <a:t>Strict international quotas were introduced. A single large tuna can now sell for millions of dollars at auction.</a:t>
              </a:r>
            </a:p>
          </p:txBody>
        </p:sp>
      </p:grpSp>
      <p:sp>
        <p:nvSpPr>
          <p:cNvPr id="179" name="wd3_bg"/>
          <p:cNvSpPr/>
          <p:nvPr/>
        </p:nvSpPr>
        <p:spPr>
          <a:xfrm>
            <a:off x="1170432" y="5394959"/>
            <a:ext cx="10472623" cy="841249"/>
          </a:xfrm>
          <a:prstGeom prst="roundRect">
            <a:avLst>
              <a:gd name="adj" fmla="val 10870"/>
            </a:avLst>
          </a:prstGeom>
          <a:solidFill>
            <a:srgbClr val="FFFFFF"/>
          </a:solidFill>
          <a:ln w="16510">
            <a:solidFill>
              <a:srgbClr val="D9C9A8"/>
            </a:solidFill>
          </a:ln>
        </p:spPr>
        <p:txBody>
          <a:bodyPr lIns="45719" rIns="45719"/>
          <a:lstStyle/>
          <a:p>
            <a:pPr/>
          </a:p>
        </p:txBody>
      </p:sp>
      <p:pic>
        <p:nvPicPr>
          <p:cNvPr id="180" name="wd3_icon" descr="wd3_icon"/>
          <p:cNvPicPr>
            <a:picLocks noChangeAspect="1"/>
          </p:cNvPicPr>
          <p:nvPr/>
        </p:nvPicPr>
        <p:blipFill>
          <a:blip r:embed="rId9">
            <a:extLst/>
          </a:blip>
          <a:stretch>
            <a:fillRect/>
          </a:stretch>
        </p:blipFill>
        <p:spPr>
          <a:xfrm>
            <a:off x="1353311" y="5568696"/>
            <a:ext cx="493777" cy="493777"/>
          </a:xfrm>
          <a:prstGeom prst="rect">
            <a:avLst/>
          </a:prstGeom>
          <a:ln w="12700">
            <a:miter lim="400000"/>
          </a:ln>
        </p:spPr>
      </p:pic>
      <p:sp>
        <p:nvSpPr>
          <p:cNvPr id="181" name="wd3_q"/>
          <p:cNvSpPr txBox="1"/>
          <p:nvPr/>
        </p:nvSpPr>
        <p:spPr>
          <a:xfrm>
            <a:off x="1993392" y="5603780"/>
            <a:ext cx="4389121"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A1D14"/>
                </a:solidFill>
                <a:latin typeface="Arial"/>
                <a:ea typeface="Arial"/>
                <a:cs typeface="Arial"/>
                <a:sym typeface="Arial"/>
              </a:defRPr>
            </a:lvl1pPr>
          </a:lstStyle>
          <a:p>
            <a:pPr/>
            <a:r>
              <a:t>American bison numbered tens of millions in the 1850s. By 1889, only a few hundred remained.</a:t>
            </a:r>
          </a:p>
        </p:txBody>
      </p:sp>
      <p:grpSp>
        <p:nvGrpSpPr>
          <p:cNvPr id="184" name="wd3_a"/>
          <p:cNvGrpSpPr/>
          <p:nvPr/>
        </p:nvGrpSpPr>
        <p:grpSpPr>
          <a:xfrm>
            <a:off x="6565392" y="5468111"/>
            <a:ext cx="4986224" cy="694945"/>
            <a:chOff x="0" y="0"/>
            <a:chExt cx="4986223" cy="694944"/>
          </a:xfrm>
        </p:grpSpPr>
        <p:sp>
          <p:nvSpPr>
            <p:cNvPr id="182" name="Rounded Rectangle"/>
            <p:cNvSpPr/>
            <p:nvPr/>
          </p:nvSpPr>
          <p:spPr>
            <a:xfrm>
              <a:off x="0" y="0"/>
              <a:ext cx="4986224" cy="694945"/>
            </a:xfrm>
            <a:prstGeom prst="roundRect">
              <a:avLst>
                <a:gd name="adj" fmla="val 13158"/>
              </a:avLst>
            </a:prstGeom>
            <a:solidFill>
              <a:srgbClr val="ECE1CB"/>
            </a:solidFill>
            <a:ln w="19050" cap="flat">
              <a:solidFill>
                <a:srgbClr val="8F6D2A"/>
              </a:solidFill>
              <a:prstDash val="solid"/>
              <a:round/>
            </a:ln>
            <a:effectLst/>
          </p:spPr>
          <p:txBody>
            <a:bodyPr wrap="square" lIns="45719" tIns="45719" rIns="45719" bIns="45719" numCol="1" anchor="ctr">
              <a:noAutofit/>
            </a:bodyPr>
            <a:lstStyle/>
            <a:p>
              <a:pPr>
                <a:lnSpc>
                  <a:spcPts val="1500"/>
                </a:lnSpc>
                <a:defRPr sz="1200"/>
              </a:pPr>
            </a:p>
          </p:txBody>
        </p:sp>
        <p:sp>
          <p:nvSpPr>
            <p:cNvPr id="183" name="Indigenous Plains nations, who had depended on bison for food and survival, lost their main resource almost overnight."/>
            <p:cNvSpPr txBox="1"/>
            <p:nvPr/>
          </p:nvSpPr>
          <p:spPr>
            <a:xfrm>
              <a:off x="36307" y="158858"/>
              <a:ext cx="4913609" cy="3772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nSpc>
                  <a:spcPts val="1500"/>
                </a:lnSpc>
                <a:defRPr b="1" sz="1200">
                  <a:solidFill>
                    <a:srgbClr val="3D2B1F"/>
                  </a:solidFill>
                  <a:latin typeface="Arial"/>
                  <a:ea typeface="Arial"/>
                  <a:cs typeface="Arial"/>
                  <a:sym typeface="Arial"/>
                </a:defRPr>
              </a:lvl1pPr>
            </a:lstStyle>
            <a:p>
              <a:pPr/>
              <a:r>
                <a:t>Indigenous Plains nations, who had depended on bison for food and survival, lost their main resource almost overnight.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5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66"/>
                                        </p:tgtEl>
                                        <p:attrNameLst>
                                          <p:attrName>style.visibility</p:attrName>
                                        </p:attrNameLst>
                                      </p:cBhvr>
                                      <p:to>
                                        <p:strVal val="visible"/>
                                      </p:to>
                                    </p:set>
                                    <p:anim calcmode="lin" valueType="num">
                                      <p:cBhvr>
                                        <p:cTn id="11" dur="400" fill="hold"/>
                                        <p:tgtEl>
                                          <p:spTgt spid="166"/>
                                        </p:tgtEl>
                                        <p:attrNameLst>
                                          <p:attrName>ppt_w</p:attrName>
                                        </p:attrNameLst>
                                      </p:cBhvr>
                                      <p:tavLst>
                                        <p:tav tm="0">
                                          <p:val>
                                            <p:fltVal val="0"/>
                                          </p:val>
                                        </p:tav>
                                        <p:tav tm="100000">
                                          <p:val>
                                            <p:strVal val="#ppt_w"/>
                                          </p:val>
                                        </p:tav>
                                      </p:tavLst>
                                    </p:anim>
                                    <p:anim calcmode="lin" valueType="num">
                                      <p:cBhvr>
                                        <p:cTn id="12" dur="400" fill="hold"/>
                                        <p:tgtEl>
                                          <p:spTgt spid="166"/>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72"/>
                                        </p:tgtEl>
                                        <p:attrNameLst>
                                          <p:attrName>style.visibility</p:attrName>
                                        </p:attrNameLst>
                                      </p:cBhvr>
                                      <p:to>
                                        <p:strVal val="visible"/>
                                      </p:to>
                                    </p:set>
                                    <p:anim calcmode="lin" valueType="num">
                                      <p:cBhvr>
                                        <p:cTn id="17" dur="400" fill="hold"/>
                                        <p:tgtEl>
                                          <p:spTgt spid="172"/>
                                        </p:tgtEl>
                                        <p:attrNameLst>
                                          <p:attrName>ppt_w</p:attrName>
                                        </p:attrNameLst>
                                      </p:cBhvr>
                                      <p:tavLst>
                                        <p:tav tm="0">
                                          <p:val>
                                            <p:fltVal val="0"/>
                                          </p:val>
                                        </p:tav>
                                        <p:tav tm="100000">
                                          <p:val>
                                            <p:strVal val="#ppt_w"/>
                                          </p:val>
                                        </p:tav>
                                      </p:tavLst>
                                    </p:anim>
                                    <p:anim calcmode="lin" valueType="num">
                                      <p:cBhvr>
                                        <p:cTn id="18" dur="400" fill="hold"/>
                                        <p:tgtEl>
                                          <p:spTgt spid="17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78"/>
                                        </p:tgtEl>
                                        <p:attrNameLst>
                                          <p:attrName>style.visibility</p:attrName>
                                        </p:attrNameLst>
                                      </p:cBhvr>
                                      <p:to>
                                        <p:strVal val="visible"/>
                                      </p:to>
                                    </p:set>
                                    <p:anim calcmode="lin" valueType="num">
                                      <p:cBhvr>
                                        <p:cTn id="23" dur="400" fill="hold"/>
                                        <p:tgtEl>
                                          <p:spTgt spid="178"/>
                                        </p:tgtEl>
                                        <p:attrNameLst>
                                          <p:attrName>ppt_w</p:attrName>
                                        </p:attrNameLst>
                                      </p:cBhvr>
                                      <p:tavLst>
                                        <p:tav tm="0">
                                          <p:val>
                                            <p:fltVal val="0"/>
                                          </p:val>
                                        </p:tav>
                                        <p:tav tm="100000">
                                          <p:val>
                                            <p:strVal val="#ppt_w"/>
                                          </p:val>
                                        </p:tav>
                                      </p:tavLst>
                                    </p:anim>
                                    <p:anim calcmode="lin" valueType="num">
                                      <p:cBhvr>
                                        <p:cTn id="24" dur="400" fill="hold"/>
                                        <p:tgtEl>
                                          <p:spTgt spid="178"/>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84"/>
                                        </p:tgtEl>
                                        <p:attrNameLst>
                                          <p:attrName>style.visibility</p:attrName>
                                        </p:attrNameLst>
                                      </p:cBhvr>
                                      <p:to>
                                        <p:strVal val="visible"/>
                                      </p:to>
                                    </p:set>
                                    <p:anim calcmode="lin" valueType="num">
                                      <p:cBhvr>
                                        <p:cTn id="29" dur="400" fill="hold"/>
                                        <p:tgtEl>
                                          <p:spTgt spid="184"/>
                                        </p:tgtEl>
                                        <p:attrNameLst>
                                          <p:attrName>ppt_w</p:attrName>
                                        </p:attrNameLst>
                                      </p:cBhvr>
                                      <p:tavLst>
                                        <p:tav tm="0">
                                          <p:val>
                                            <p:fltVal val="0"/>
                                          </p:val>
                                        </p:tav>
                                        <p:tav tm="100000">
                                          <p:val>
                                            <p:strVal val="#ppt_w"/>
                                          </p:val>
                                        </p:tav>
                                      </p:tavLst>
                                    </p:anim>
                                    <p:anim calcmode="lin" valueType="num">
                                      <p:cBhvr>
                                        <p:cTn id="30" dur="400" fill="hold"/>
                                        <p:tgtEl>
                                          <p:spTgt spid="1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55"/>
                </p:tgtEl>
              </p:cMediaNode>
            </p:video>
            <p:seq concurrent="1" prevAc="none" nextAc="seek">
              <p:cTn id="32" evtFilter="cancelBubble" nodeType="interactiveSeq" restart="whenNotActive" fill="hold">
                <p:stCondLst>
                  <p:cond delay="0" evt="onClick">
                    <p:tgtEl>
                      <p:spTgt spid="155"/>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55"/>
                                        </p:tgtEl>
                                      </p:cBhvr>
                                    </p:cmd>
                                  </p:childTnLst>
                                </p:cTn>
                              </p:par>
                            </p:childTnLst>
                          </p:cTn>
                        </p:par>
                      </p:childTnLst>
                    </p:cTn>
                  </p:par>
                </p:childTnLst>
              </p:cTn>
              <p:nextCondLst>
                <p:cond delay="0" evt="onClick">
                  <p:tgtEl>
                    <p:spTgt spid="155"/>
                  </p:tgtEl>
                </p:cond>
              </p:nextCondLst>
            </p:seq>
          </p:childTnLst>
        </p:cTn>
      </p:par>
    </p:tnLst>
    <p:bldLst>
      <p:bldP build="whole" bldLvl="1" animBg="1" rev="0" advAuto="0" spid="166" grpId="2"/>
      <p:bldP build="whole" bldLvl="1" animBg="1" rev="0" advAuto="0" spid="184" grpId="5"/>
      <p:bldP build="whole" bldLvl="1" animBg="1" rev="0" advAuto="0" spid="178" grpId="4"/>
      <p:bldP build="whole" bldLvl="1" animBg="1" rev="0" advAuto="0" spid="172"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18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91" name="phase_pill"/>
          <p:cNvGrpSpPr/>
          <p:nvPr/>
        </p:nvGrpSpPr>
        <p:grpSpPr>
          <a:xfrm>
            <a:off x="1170432" y="310895"/>
            <a:ext cx="2072030" cy="329185"/>
            <a:chOff x="0" y="0"/>
            <a:chExt cx="2072029" cy="329184"/>
          </a:xfrm>
        </p:grpSpPr>
        <p:sp>
          <p:nvSpPr>
            <p:cNvPr id="189" name="Rounded Rectangle"/>
            <p:cNvSpPr/>
            <p:nvPr/>
          </p:nvSpPr>
          <p:spPr>
            <a:xfrm>
              <a:off x="0" y="0"/>
              <a:ext cx="2072030"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190"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192" name="c0_bg"/>
          <p:cNvSpPr/>
          <p:nvPr/>
        </p:nvSpPr>
        <p:spPr>
          <a:xfrm>
            <a:off x="1170432" y="960119"/>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193" name="c0_badge"/>
          <p:cNvSpPr/>
          <p:nvPr/>
        </p:nvSpPr>
        <p:spPr>
          <a:xfrm>
            <a:off x="1371600" y="1307591"/>
            <a:ext cx="384048" cy="384049"/>
          </a:xfrm>
          <a:prstGeom prst="ellipse">
            <a:avLst/>
          </a:prstGeom>
          <a:solidFill>
            <a:srgbClr val="C99A3D"/>
          </a:solidFill>
          <a:ln w="12700">
            <a:solidFill>
              <a:srgbClr val="C99A3D"/>
            </a:solidFill>
          </a:ln>
        </p:spPr>
        <p:txBody>
          <a:bodyPr lIns="45719" rIns="45719"/>
          <a:lstStyle/>
          <a:p>
            <a:pPr/>
          </a:p>
        </p:txBody>
      </p:sp>
      <p:sp>
        <p:nvSpPr>
          <p:cNvPr id="194"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1</a:t>
            </a:r>
          </a:p>
        </p:txBody>
      </p:sp>
      <p:sp>
        <p:nvSpPr>
          <p:cNvPr id="195" name="c0_q"/>
          <p:cNvSpPr txBox="1"/>
          <p:nvPr/>
        </p:nvSpPr>
        <p:spPr>
          <a:xfrm>
            <a:off x="1901951"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2A1D14"/>
                </a:solidFill>
                <a:latin typeface="Arial"/>
                <a:ea typeface="Arial"/>
                <a:cs typeface="Arial"/>
                <a:sym typeface="Arial"/>
              </a:defRPr>
            </a:lvl1pPr>
          </a:lstStyle>
          <a:p>
            <a:pPr/>
            <a:r>
              <a:t>State what resource depletion means.</a:t>
            </a:r>
          </a:p>
        </p:txBody>
      </p:sp>
      <p:grpSp>
        <p:nvGrpSpPr>
          <p:cNvPr id="198" name="c0_a"/>
          <p:cNvGrpSpPr/>
          <p:nvPr/>
        </p:nvGrpSpPr>
        <p:grpSpPr>
          <a:xfrm>
            <a:off x="1371600" y="1965960"/>
            <a:ext cx="4696817" cy="438913"/>
            <a:chOff x="0" y="0"/>
            <a:chExt cx="4696816" cy="438912"/>
          </a:xfrm>
        </p:grpSpPr>
        <p:sp>
          <p:nvSpPr>
            <p:cNvPr id="196"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197" name="Using up a resource faster than it can be replaced, until not enough is left to use as before."/>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Using up a resource faster than it can be replaced, until not enough is left to use as before.</a:t>
              </a:r>
            </a:p>
          </p:txBody>
        </p:sp>
      </p:grpSp>
      <p:sp>
        <p:nvSpPr>
          <p:cNvPr id="199" name="c1_bg"/>
          <p:cNvSpPr/>
          <p:nvPr/>
        </p:nvSpPr>
        <p:spPr>
          <a:xfrm>
            <a:off x="6543903" y="960119"/>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00" name="c1_badge"/>
          <p:cNvSpPr/>
          <p:nvPr/>
        </p:nvSpPr>
        <p:spPr>
          <a:xfrm>
            <a:off x="6745072" y="1307591"/>
            <a:ext cx="384049" cy="384049"/>
          </a:xfrm>
          <a:prstGeom prst="ellipse">
            <a:avLst/>
          </a:prstGeom>
          <a:solidFill>
            <a:srgbClr val="C99A3D"/>
          </a:solidFill>
          <a:ln w="12700">
            <a:solidFill>
              <a:srgbClr val="C99A3D"/>
            </a:solidFill>
          </a:ln>
        </p:spPr>
        <p:txBody>
          <a:bodyPr lIns="45719" rIns="45719"/>
          <a:lstStyle/>
          <a:p>
            <a:pPr/>
          </a:p>
        </p:txBody>
      </p:sp>
      <p:sp>
        <p:nvSpPr>
          <p:cNvPr id="201"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2</a:t>
            </a:r>
          </a:p>
        </p:txBody>
      </p:sp>
      <p:sp>
        <p:nvSpPr>
          <p:cNvPr id="202" name="c1_q"/>
          <p:cNvSpPr txBox="1"/>
          <p:nvPr/>
        </p:nvSpPr>
        <p:spPr>
          <a:xfrm>
            <a:off x="7275424"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2A1D14"/>
                </a:solidFill>
                <a:latin typeface="Arial"/>
                <a:ea typeface="Arial"/>
                <a:cs typeface="Arial"/>
                <a:sym typeface="Arial"/>
              </a:defRPr>
            </a:lvl1pPr>
          </a:lstStyle>
          <a:p>
            <a:pPr/>
            <a:r>
              <a:t>Explain how a resource that can renew itself, like a fish stock, can still run out completely.</a:t>
            </a:r>
          </a:p>
        </p:txBody>
      </p:sp>
      <p:grpSp>
        <p:nvGrpSpPr>
          <p:cNvPr id="205" name="c1_a"/>
          <p:cNvGrpSpPr/>
          <p:nvPr/>
        </p:nvGrpSpPr>
        <p:grpSpPr>
          <a:xfrm>
            <a:off x="6745072" y="1965960"/>
            <a:ext cx="4696817" cy="438913"/>
            <a:chOff x="0" y="0"/>
            <a:chExt cx="4696816" cy="438912"/>
          </a:xfrm>
        </p:grpSpPr>
        <p:sp>
          <p:nvSpPr>
            <p:cNvPr id="203"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204" name="Used faster than it replaces itself for long enough, there are eventually too few left to recover."/>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Used faster than it replaces itself for long enough, there are eventually too few left to recover.</a:t>
              </a:r>
            </a:p>
          </p:txBody>
        </p:sp>
      </p:grpSp>
      <p:sp>
        <p:nvSpPr>
          <p:cNvPr id="206" name="c2_bg"/>
          <p:cNvSpPr/>
          <p:nvPr/>
        </p:nvSpPr>
        <p:spPr>
          <a:xfrm>
            <a:off x="1170432" y="2679192"/>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07" name="c2_badge"/>
          <p:cNvSpPr/>
          <p:nvPr/>
        </p:nvSpPr>
        <p:spPr>
          <a:xfrm>
            <a:off x="1371600" y="3026664"/>
            <a:ext cx="384048" cy="384049"/>
          </a:xfrm>
          <a:prstGeom prst="ellipse">
            <a:avLst/>
          </a:prstGeom>
          <a:solidFill>
            <a:srgbClr val="C99A3D"/>
          </a:solidFill>
          <a:ln w="12700">
            <a:solidFill>
              <a:srgbClr val="C99A3D"/>
            </a:solidFill>
          </a:ln>
        </p:spPr>
        <p:txBody>
          <a:bodyPr lIns="45719" rIns="45719"/>
          <a:lstStyle/>
          <a:p>
            <a:pPr/>
          </a:p>
        </p:txBody>
      </p:sp>
      <p:sp>
        <p:nvSpPr>
          <p:cNvPr id="208"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3</a:t>
            </a:r>
          </a:p>
        </p:txBody>
      </p:sp>
      <p:sp>
        <p:nvSpPr>
          <p:cNvPr id="209" name="c2_q"/>
          <p:cNvSpPr txBox="1"/>
          <p:nvPr/>
        </p:nvSpPr>
        <p:spPr>
          <a:xfrm>
            <a:off x="1901951" y="2841557"/>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2A1D14"/>
                </a:solidFill>
                <a:latin typeface="Arial"/>
                <a:ea typeface="Arial"/>
                <a:cs typeface="Arial"/>
                <a:sym typeface="Arial"/>
              </a:defRPr>
            </a:lvl1pPr>
          </a:lstStyle>
          <a:p>
            <a:pPr/>
            <a:r>
              <a:t>A resource store of 160,000 tonnes loses half of what remains every year. Calculate how much is left after 3 years.</a:t>
            </a:r>
          </a:p>
        </p:txBody>
      </p:sp>
      <p:grpSp>
        <p:nvGrpSpPr>
          <p:cNvPr id="212" name="c2_a"/>
          <p:cNvGrpSpPr/>
          <p:nvPr/>
        </p:nvGrpSpPr>
        <p:grpSpPr>
          <a:xfrm>
            <a:off x="1371600" y="3685032"/>
            <a:ext cx="4696817" cy="438913"/>
            <a:chOff x="0" y="0"/>
            <a:chExt cx="4696816" cy="438912"/>
          </a:xfrm>
        </p:grpSpPr>
        <p:sp>
          <p:nvSpPr>
            <p:cNvPr id="210"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211" name="20,000 tonnes. 160,000 halved three time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20,000 tonnes. 160,000 halved three times.</a:t>
              </a:r>
            </a:p>
          </p:txBody>
        </p:sp>
      </p:grpSp>
      <p:sp>
        <p:nvSpPr>
          <p:cNvPr id="213" name="c3_bg"/>
          <p:cNvSpPr/>
          <p:nvPr/>
        </p:nvSpPr>
        <p:spPr>
          <a:xfrm>
            <a:off x="6543903" y="2679192"/>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14" name="c3_badge"/>
          <p:cNvSpPr/>
          <p:nvPr/>
        </p:nvSpPr>
        <p:spPr>
          <a:xfrm>
            <a:off x="6745072" y="3026664"/>
            <a:ext cx="384049" cy="384049"/>
          </a:xfrm>
          <a:prstGeom prst="ellipse">
            <a:avLst/>
          </a:prstGeom>
          <a:solidFill>
            <a:srgbClr val="C99A3D"/>
          </a:solidFill>
          <a:ln w="12700">
            <a:solidFill>
              <a:srgbClr val="C99A3D"/>
            </a:solidFill>
          </a:ln>
        </p:spPr>
        <p:txBody>
          <a:bodyPr lIns="45719" rIns="45719"/>
          <a:lstStyle/>
          <a:p>
            <a:pPr/>
          </a:p>
        </p:txBody>
      </p:sp>
      <p:sp>
        <p:nvSpPr>
          <p:cNvPr id="215"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4</a:t>
            </a:r>
          </a:p>
        </p:txBody>
      </p:sp>
      <p:sp>
        <p:nvSpPr>
          <p:cNvPr id="216"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2A1D14"/>
                </a:solidFill>
                <a:latin typeface="Arial"/>
                <a:ea typeface="Arial"/>
                <a:cs typeface="Arial"/>
                <a:sym typeface="Arial"/>
              </a:defRPr>
            </a:lvl1pPr>
          </a:lstStyle>
          <a:p>
            <a:pPr/>
            <a:r>
              <a:t>Name one real consequence when a resource runs very low, from today's examples.</a:t>
            </a:r>
          </a:p>
        </p:txBody>
      </p:sp>
      <p:grpSp>
        <p:nvGrpSpPr>
          <p:cNvPr id="219" name="c3_a"/>
          <p:cNvGrpSpPr/>
          <p:nvPr/>
        </p:nvGrpSpPr>
        <p:grpSpPr>
          <a:xfrm>
            <a:off x="6745072" y="3685032"/>
            <a:ext cx="4696817" cy="438913"/>
            <a:chOff x="0" y="0"/>
            <a:chExt cx="4696816" cy="438912"/>
          </a:xfrm>
        </p:grpSpPr>
        <p:sp>
          <p:nvSpPr>
            <p:cNvPr id="217"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218" name="Any one: prices rise, an industry collapses, strict quotas are introduced, a community loses its main resource."/>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Any one: prices rise, an industry collapses, strict quotas are introduced, a community loses its main resource.</a:t>
              </a:r>
            </a:p>
          </p:txBody>
        </p:sp>
      </p:grpSp>
      <p:sp>
        <p:nvSpPr>
          <p:cNvPr id="220" name="c4_bg"/>
          <p:cNvSpPr/>
          <p:nvPr/>
        </p:nvSpPr>
        <p:spPr>
          <a:xfrm>
            <a:off x="1170432" y="4398264"/>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21" name="c4_badge"/>
          <p:cNvSpPr/>
          <p:nvPr/>
        </p:nvSpPr>
        <p:spPr>
          <a:xfrm>
            <a:off x="1371600" y="4745735"/>
            <a:ext cx="384048" cy="384049"/>
          </a:xfrm>
          <a:prstGeom prst="ellipse">
            <a:avLst/>
          </a:prstGeom>
          <a:solidFill>
            <a:srgbClr val="C99A3D"/>
          </a:solidFill>
          <a:ln w="12700">
            <a:solidFill>
              <a:srgbClr val="C99A3D"/>
            </a:solidFill>
          </a:ln>
        </p:spPr>
        <p:txBody>
          <a:bodyPr lIns="45719" rIns="45719"/>
          <a:lstStyle/>
          <a:p>
            <a:pPr/>
          </a:p>
        </p:txBody>
      </p:sp>
      <p:sp>
        <p:nvSpPr>
          <p:cNvPr id="222"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5</a:t>
            </a:r>
          </a:p>
        </p:txBody>
      </p:sp>
      <p:sp>
        <p:nvSpPr>
          <p:cNvPr id="223"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2A1D14"/>
                </a:solidFill>
                <a:latin typeface="Arial"/>
                <a:ea typeface="Arial"/>
                <a:cs typeface="Arial"/>
                <a:sym typeface="Arial"/>
              </a:defRPr>
            </a:lvl1pPr>
          </a:lstStyle>
          <a:p>
            <a:pPr/>
            <a:r>
              <a:t>Explain why passenger pigeons went extinct, even though billions once existed.</a:t>
            </a:r>
          </a:p>
        </p:txBody>
      </p:sp>
      <p:grpSp>
        <p:nvGrpSpPr>
          <p:cNvPr id="226" name="c4_a"/>
          <p:cNvGrpSpPr/>
          <p:nvPr/>
        </p:nvGrpSpPr>
        <p:grpSpPr>
          <a:xfrm>
            <a:off x="1371600" y="5404103"/>
            <a:ext cx="4696817" cy="438913"/>
            <a:chOff x="0" y="0"/>
            <a:chExt cx="4696816" cy="438912"/>
          </a:xfrm>
        </p:grpSpPr>
        <p:sp>
          <p:nvSpPr>
            <p:cNvPr id="224"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225" name="Hunted faster than they could breed for decades, until flocks were too small and scattered to recover."/>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Hunted faster than they could breed for decades, until flocks were too small and scattered to recover.</a:t>
              </a:r>
            </a:p>
          </p:txBody>
        </p:sp>
      </p:grpSp>
      <p:sp>
        <p:nvSpPr>
          <p:cNvPr id="227" name="c5_bg"/>
          <p:cNvSpPr/>
          <p:nvPr/>
        </p:nvSpPr>
        <p:spPr>
          <a:xfrm>
            <a:off x="6543903" y="4398264"/>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28" name="c5_badge"/>
          <p:cNvSpPr/>
          <p:nvPr/>
        </p:nvSpPr>
        <p:spPr>
          <a:xfrm>
            <a:off x="6745072" y="4745735"/>
            <a:ext cx="384049" cy="384049"/>
          </a:xfrm>
          <a:prstGeom prst="ellipse">
            <a:avLst/>
          </a:prstGeom>
          <a:solidFill>
            <a:srgbClr val="C99A3D"/>
          </a:solidFill>
          <a:ln w="12700">
            <a:solidFill>
              <a:srgbClr val="C99A3D"/>
            </a:solidFill>
          </a:ln>
        </p:spPr>
        <p:txBody>
          <a:bodyPr lIns="45719" rIns="45719"/>
          <a:lstStyle/>
          <a:p>
            <a:pPr/>
          </a:p>
        </p:txBody>
      </p:sp>
      <p:sp>
        <p:nvSpPr>
          <p:cNvPr id="229"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3D2B1F"/>
                </a:solidFill>
                <a:latin typeface="Georgia"/>
                <a:ea typeface="Georgia"/>
                <a:cs typeface="Georgia"/>
                <a:sym typeface="Georgia"/>
              </a:defRPr>
            </a:lvl1pPr>
          </a:lstStyle>
          <a:p>
            <a:pPr/>
            <a:r>
              <a:t>6</a:t>
            </a:r>
          </a:p>
        </p:txBody>
      </p:sp>
      <p:sp>
        <p:nvSpPr>
          <p:cNvPr id="230" name="c5_q"/>
          <p:cNvSpPr txBox="1"/>
          <p:nvPr/>
        </p:nvSpPr>
        <p:spPr>
          <a:xfrm>
            <a:off x="7275424" y="4560629"/>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2A1D14"/>
                </a:solidFill>
                <a:latin typeface="Arial"/>
                <a:ea typeface="Arial"/>
                <a:cs typeface="Arial"/>
                <a:sym typeface="Arial"/>
              </a:defRPr>
            </a:lvl1pPr>
          </a:lstStyle>
          <a:p>
            <a:pPr/>
            <a:r>
              <a:t>State one thing that could have been done differently to stop passenger pigeons going extinct.</a:t>
            </a:r>
          </a:p>
        </p:txBody>
      </p:sp>
      <p:grpSp>
        <p:nvGrpSpPr>
          <p:cNvPr id="233" name="c5_a"/>
          <p:cNvGrpSpPr/>
          <p:nvPr/>
        </p:nvGrpSpPr>
        <p:grpSpPr>
          <a:xfrm>
            <a:off x="6745072" y="5404103"/>
            <a:ext cx="4696817" cy="438913"/>
            <a:chOff x="0" y="0"/>
            <a:chExt cx="4696816" cy="438912"/>
          </a:xfrm>
        </p:grpSpPr>
        <p:sp>
          <p:nvSpPr>
            <p:cNvPr id="231" name="Rounded Rectangle"/>
            <p:cNvSpPr/>
            <p:nvPr/>
          </p:nvSpPr>
          <p:spPr>
            <a:xfrm>
              <a:off x="0" y="0"/>
              <a:ext cx="4696817" cy="438913"/>
            </a:xfrm>
            <a:prstGeom prst="roundRect">
              <a:avLst>
                <a:gd name="adj" fmla="val 20833"/>
              </a:avLst>
            </a:prstGeom>
            <a:solidFill>
              <a:srgbClr val="ECE1CB"/>
            </a:solidFill>
            <a:ln w="16510" cap="flat">
              <a:solidFill>
                <a:srgbClr val="C99A3D"/>
              </a:solidFill>
              <a:prstDash val="solid"/>
              <a:round/>
            </a:ln>
            <a:effectLst/>
          </p:spPr>
          <p:txBody>
            <a:bodyPr wrap="square" lIns="45719" tIns="45719" rIns="45719" bIns="45719" numCol="1" anchor="ctr">
              <a:noAutofit/>
            </a:bodyPr>
            <a:lstStyle/>
            <a:p>
              <a:pPr>
                <a:defRPr sz="1300"/>
              </a:pPr>
            </a:p>
          </p:txBody>
        </p:sp>
        <p:sp>
          <p:nvSpPr>
            <p:cNvPr id="232" name="Any reasonable answer: limiting hunting, or protecting colonies, before numbers fell too low."/>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3D2B1F"/>
                  </a:solidFill>
                  <a:latin typeface="Arial"/>
                  <a:ea typeface="Arial"/>
                  <a:cs typeface="Arial"/>
                  <a:sym typeface="Arial"/>
                </a:defRPr>
              </a:lvl1pPr>
            </a:lstStyle>
            <a:p>
              <a:pPr/>
              <a:r>
                <a:t>Any reasonable answer: limiting hunting, or protecting colonies, before numbers fell too low.</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18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198"/>
                                        </p:tgtEl>
                                        <p:attrNameLst>
                                          <p:attrName>style.visibility</p:attrName>
                                        </p:attrNameLst>
                                      </p:cBhvr>
                                      <p:to>
                                        <p:strVal val="visible"/>
                                      </p:to>
                                    </p:set>
                                    <p:animEffect filter="wipe(left)" transition="in">
                                      <p:cBhvr>
                                        <p:cTn id="11" dur="400"/>
                                        <p:tgtEl>
                                          <p:spTgt spid="19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05"/>
                                        </p:tgtEl>
                                        <p:attrNameLst>
                                          <p:attrName>style.visibility</p:attrName>
                                        </p:attrNameLst>
                                      </p:cBhvr>
                                      <p:to>
                                        <p:strVal val="visible"/>
                                      </p:to>
                                    </p:set>
                                    <p:animEffect filter="wipe(left)" transition="in">
                                      <p:cBhvr>
                                        <p:cTn id="16" dur="400"/>
                                        <p:tgtEl>
                                          <p:spTgt spid="20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12"/>
                                        </p:tgtEl>
                                        <p:attrNameLst>
                                          <p:attrName>style.visibility</p:attrName>
                                        </p:attrNameLst>
                                      </p:cBhvr>
                                      <p:to>
                                        <p:strVal val="visible"/>
                                      </p:to>
                                    </p:set>
                                    <p:animEffect filter="wipe(left)" transition="in">
                                      <p:cBhvr>
                                        <p:cTn id="21" dur="400"/>
                                        <p:tgtEl>
                                          <p:spTgt spid="212"/>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19"/>
                                        </p:tgtEl>
                                        <p:attrNameLst>
                                          <p:attrName>style.visibility</p:attrName>
                                        </p:attrNameLst>
                                      </p:cBhvr>
                                      <p:to>
                                        <p:strVal val="visible"/>
                                      </p:to>
                                    </p:set>
                                    <p:animEffect filter="wipe(left)" transition="in">
                                      <p:cBhvr>
                                        <p:cTn id="26" dur="400"/>
                                        <p:tgtEl>
                                          <p:spTgt spid="219"/>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26"/>
                                        </p:tgtEl>
                                        <p:attrNameLst>
                                          <p:attrName>style.visibility</p:attrName>
                                        </p:attrNameLst>
                                      </p:cBhvr>
                                      <p:to>
                                        <p:strVal val="visible"/>
                                      </p:to>
                                    </p:set>
                                    <p:animEffect filter="wipe(left)" transition="in">
                                      <p:cBhvr>
                                        <p:cTn id="31" dur="400"/>
                                        <p:tgtEl>
                                          <p:spTgt spid="226"/>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33"/>
                                        </p:tgtEl>
                                        <p:attrNameLst>
                                          <p:attrName>style.visibility</p:attrName>
                                        </p:attrNameLst>
                                      </p:cBhvr>
                                      <p:to>
                                        <p:strVal val="visible"/>
                                      </p:to>
                                    </p:set>
                                    <p:animEffect filter="wipe(left)" transition="in">
                                      <p:cBhvr>
                                        <p:cTn id="36" dur="4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188"/>
                </p:tgtEl>
              </p:cMediaNode>
            </p:video>
            <p:seq concurrent="1" prevAc="none" nextAc="seek">
              <p:cTn id="38" evtFilter="cancelBubble" nodeType="interactiveSeq" restart="whenNotActive" fill="hold">
                <p:stCondLst>
                  <p:cond delay="0" evt="onClick">
                    <p:tgtEl>
                      <p:spTgt spid="188"/>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188"/>
                                        </p:tgtEl>
                                      </p:cBhvr>
                                    </p:cmd>
                                  </p:childTnLst>
                                </p:cTn>
                              </p:par>
                            </p:childTnLst>
                          </p:cTn>
                        </p:par>
                      </p:childTnLst>
                    </p:cTn>
                  </p:par>
                </p:childTnLst>
              </p:cTn>
              <p:nextCondLst>
                <p:cond delay="0" evt="onClick">
                  <p:tgtEl>
                    <p:spTgt spid="188"/>
                  </p:tgtEl>
                </p:cond>
              </p:nextCondLst>
            </p:seq>
          </p:childTnLst>
        </p:cTn>
      </p:par>
    </p:tnLst>
    <p:bldLst>
      <p:bldP build="whole" bldLvl="1" animBg="1" rev="0" advAuto="0" spid="226" grpId="6"/>
      <p:bldP build="whole" bldLvl="1" animBg="1" rev="0" advAuto="0" spid="212" grpId="4"/>
      <p:bldP build="whole" bldLvl="1" animBg="1" rev="0" advAuto="0" spid="198" grpId="2"/>
      <p:bldP build="whole" bldLvl="1" animBg="1" rev="0" advAuto="0" spid="233" grpId="7"/>
      <p:bldP build="whole" bldLvl="1" animBg="1" rev="0" advAuto="0" spid="219" grpId="5"/>
      <p:bldP build="whole" bldLvl="1" animBg="1" rev="0" advAuto="0" spid="205"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EBDD"/>
        </a:solidFill>
      </p:bgPr>
    </p:bg>
    <p:spTree>
      <p:nvGrpSpPr>
        <p:cNvPr id="1" name=""/>
        <p:cNvGrpSpPr/>
        <p:nvPr/>
      </p:nvGrpSpPr>
      <p:grpSpPr>
        <a:xfrm>
          <a:off x="0" y="0"/>
          <a:ext cx="0" cy="0"/>
          <a:chOff x="0" y="0"/>
          <a:chExt cx="0" cy="0"/>
        </a:xfrm>
      </p:grpSpPr>
      <p:pic>
        <p:nvPicPr>
          <p:cNvPr id="23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40" name="phase_pill"/>
          <p:cNvGrpSpPr/>
          <p:nvPr/>
        </p:nvGrpSpPr>
        <p:grpSpPr>
          <a:xfrm>
            <a:off x="1170432" y="310895"/>
            <a:ext cx="1892808" cy="329185"/>
            <a:chOff x="0" y="0"/>
            <a:chExt cx="1892807" cy="329184"/>
          </a:xfrm>
        </p:grpSpPr>
        <p:sp>
          <p:nvSpPr>
            <p:cNvPr id="238" name="Rounded Rectangle"/>
            <p:cNvSpPr/>
            <p:nvPr/>
          </p:nvSpPr>
          <p:spPr>
            <a:xfrm>
              <a:off x="0" y="0"/>
              <a:ext cx="1892808" cy="329185"/>
            </a:xfrm>
            <a:prstGeom prst="roundRect">
              <a:avLst>
                <a:gd name="adj" fmla="val 44444"/>
              </a:avLst>
            </a:prstGeom>
            <a:solidFill>
              <a:srgbClr val="3D2B1F"/>
            </a:solidFill>
            <a:ln w="12700" cap="flat">
              <a:noFill/>
              <a:miter lim="400000"/>
            </a:ln>
            <a:effectLst/>
          </p:spPr>
          <p:txBody>
            <a:bodyPr wrap="square" lIns="45719" tIns="45719" rIns="45719" bIns="45719" numCol="1" anchor="ctr">
              <a:noAutofit/>
            </a:bodyPr>
            <a:lstStyle/>
            <a:p>
              <a:pPr algn="ctr">
                <a:defRPr sz="1100"/>
              </a:pPr>
            </a:p>
          </p:txBody>
        </p:sp>
        <p:sp>
          <p:nvSpPr>
            <p:cNvPr id="239" name="YOU DO · 17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17 MIN</a:t>
              </a:r>
            </a:p>
          </p:txBody>
        </p:sp>
      </p:grpSp>
      <p:pic>
        <p:nvPicPr>
          <p:cNvPr id="241"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42"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3D2B1F"/>
                </a:solidFill>
                <a:latin typeface="Georgia"/>
                <a:ea typeface="Georgia"/>
                <a:cs typeface="Georgia"/>
                <a:sym typeface="Georgia"/>
              </a:defRPr>
            </a:lvl1pPr>
          </a:lstStyle>
          <a:p>
            <a:pPr/>
            <a:r>
              <a:t>Resource Depletion game</a:t>
            </a:r>
          </a:p>
        </p:txBody>
      </p:sp>
      <p:sp>
        <p:nvSpPr>
          <p:cNvPr id="243"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B5482E"/>
                </a:solidFill>
                <a:latin typeface="Arial"/>
                <a:ea typeface="Arial"/>
                <a:cs typeface="Arial"/>
                <a:sym typeface="Arial"/>
              </a:defRPr>
            </a:lvl1pPr>
          </a:lstStyle>
          <a:p>
            <a:pPr/>
            <a:r>
              <a:t>Open Google Classroom now.</a:t>
            </a:r>
          </a:p>
        </p:txBody>
      </p:sp>
      <p:grpSp>
        <p:nvGrpSpPr>
          <p:cNvPr id="248" name="t0"/>
          <p:cNvGrpSpPr/>
          <p:nvPr/>
        </p:nvGrpSpPr>
        <p:grpSpPr>
          <a:xfrm>
            <a:off x="1170432" y="2322576"/>
            <a:ext cx="3307994" cy="1920241"/>
            <a:chOff x="0" y="0"/>
            <a:chExt cx="3307993" cy="1920239"/>
          </a:xfrm>
        </p:grpSpPr>
        <p:sp>
          <p:nvSpPr>
            <p:cNvPr id="244" name="t0_bg"/>
            <p:cNvSpPr/>
            <p:nvPr/>
          </p:nvSpPr>
          <p:spPr>
            <a:xfrm>
              <a:off x="0" y="0"/>
              <a:ext cx="3307994" cy="1920240"/>
            </a:xfrm>
            <a:prstGeom prst="roundRect">
              <a:avLst>
                <a:gd name="adj" fmla="val 4762"/>
              </a:avLst>
            </a:prstGeom>
            <a:solidFill>
              <a:srgbClr val="F3E0DB"/>
            </a:solidFill>
            <a:ln w="20320" cap="flat">
              <a:solidFill>
                <a:srgbClr val="B5482E"/>
              </a:solidFill>
              <a:prstDash val="solid"/>
              <a:round/>
            </a:ln>
            <a:effectLst/>
          </p:spPr>
          <p:txBody>
            <a:bodyPr wrap="square" lIns="45719" tIns="45719" rIns="45719" bIns="45719" numCol="1" anchor="t">
              <a:noAutofit/>
            </a:bodyPr>
            <a:lstStyle/>
            <a:p>
              <a:pPr/>
            </a:p>
          </p:txBody>
        </p:sp>
        <p:sp>
          <p:nvSpPr>
            <p:cNvPr id="245"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B5482E"/>
                  </a:solidFill>
                  <a:latin typeface="Arial"/>
                  <a:ea typeface="Arial"/>
                  <a:cs typeface="Arial"/>
                  <a:sym typeface="Arial"/>
                </a:defRPr>
              </a:lvl1pPr>
            </a:lstStyle>
            <a:p>
              <a:pPr/>
              <a:r>
                <a:t>ROUND 1</a:t>
              </a:r>
            </a:p>
          </p:txBody>
        </p:sp>
        <p:sp>
          <p:nvSpPr>
            <p:cNvPr id="246" name="t0_s"/>
            <p:cNvSpPr txBox="1"/>
            <p:nvPr/>
          </p:nvSpPr>
          <p:spPr>
            <a:xfrm>
              <a:off x="237744" y="583967"/>
              <a:ext cx="2832506"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Arial"/>
                  <a:ea typeface="Arial"/>
                  <a:cs typeface="Arial"/>
                  <a:sym typeface="Arial"/>
                </a:defRPr>
              </a:lvl1pPr>
            </a:lstStyle>
            <a:p>
              <a:pPr/>
              <a:r>
                <a:t>How much is left?</a:t>
              </a:r>
            </a:p>
          </p:txBody>
        </p:sp>
        <p:sp>
          <p:nvSpPr>
            <p:cNvPr id="247" name="t0_b"/>
            <p:cNvSpPr txBox="1"/>
            <p:nvPr/>
          </p:nvSpPr>
          <p:spPr>
            <a:xfrm>
              <a:off x="237744" y="877823"/>
              <a:ext cx="2832506" cy="6395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6B5A48"/>
                  </a:solidFill>
                  <a:latin typeface="Arial"/>
                  <a:ea typeface="Arial"/>
                  <a:cs typeface="Arial"/>
                  <a:sym typeface="Arial"/>
                </a:defRPr>
              </a:lvl1pPr>
            </a:lstStyle>
            <a:p>
              <a:pPr/>
              <a:r>
                <a:t>A resource store, and how much it loses each period. Calculate what remains.</a:t>
              </a:r>
            </a:p>
          </p:txBody>
        </p:sp>
      </p:grpSp>
      <p:grpSp>
        <p:nvGrpSpPr>
          <p:cNvPr id="253" name="t1"/>
          <p:cNvGrpSpPr/>
          <p:nvPr/>
        </p:nvGrpSpPr>
        <p:grpSpPr>
          <a:xfrm>
            <a:off x="4752745" y="2322576"/>
            <a:ext cx="3307995" cy="1920241"/>
            <a:chOff x="0" y="0"/>
            <a:chExt cx="3307993" cy="1920239"/>
          </a:xfrm>
        </p:grpSpPr>
        <p:sp>
          <p:nvSpPr>
            <p:cNvPr id="249" name="t1_bg"/>
            <p:cNvSpPr/>
            <p:nvPr/>
          </p:nvSpPr>
          <p:spPr>
            <a:xfrm>
              <a:off x="0" y="0"/>
              <a:ext cx="3307994" cy="1920240"/>
            </a:xfrm>
            <a:prstGeom prst="roundRect">
              <a:avLst>
                <a:gd name="adj" fmla="val 4762"/>
              </a:avLst>
            </a:prstGeom>
            <a:solidFill>
              <a:srgbClr val="E2EEE8"/>
            </a:solidFill>
            <a:ln w="20320" cap="flat">
              <a:solidFill>
                <a:srgbClr val="6A8C9A"/>
              </a:solidFill>
              <a:prstDash val="solid"/>
              <a:round/>
            </a:ln>
            <a:effectLst/>
          </p:spPr>
          <p:txBody>
            <a:bodyPr wrap="square" lIns="45719" tIns="45719" rIns="45719" bIns="45719" numCol="1" anchor="t">
              <a:noAutofit/>
            </a:bodyPr>
            <a:lstStyle/>
            <a:p>
              <a:pPr/>
            </a:p>
          </p:txBody>
        </p:sp>
        <p:sp>
          <p:nvSpPr>
            <p:cNvPr id="250"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6A8C9A"/>
                  </a:solidFill>
                  <a:latin typeface="Arial"/>
                  <a:ea typeface="Arial"/>
                  <a:cs typeface="Arial"/>
                  <a:sym typeface="Arial"/>
                </a:defRPr>
              </a:lvl1pPr>
            </a:lstStyle>
            <a:p>
              <a:pPr/>
              <a:r>
                <a:t>ROUND 2</a:t>
              </a:r>
            </a:p>
          </p:txBody>
        </p:sp>
        <p:sp>
          <p:nvSpPr>
            <p:cNvPr id="251" name="t1_s"/>
            <p:cNvSpPr txBox="1"/>
            <p:nvPr/>
          </p:nvSpPr>
          <p:spPr>
            <a:xfrm>
              <a:off x="237744" y="469667"/>
              <a:ext cx="2832506" cy="450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Arial"/>
                  <a:ea typeface="Arial"/>
                  <a:cs typeface="Arial"/>
                  <a:sym typeface="Arial"/>
                </a:defRPr>
              </a:lvl1pPr>
            </a:lstStyle>
            <a:p>
              <a:pPr/>
              <a:r>
                <a:t>Being depleted, or sustainable?</a:t>
              </a:r>
            </a:p>
          </p:txBody>
        </p:sp>
        <p:sp>
          <p:nvSpPr>
            <p:cNvPr id="252" name="t1_b"/>
            <p:cNvSpPr txBox="1"/>
            <p:nvPr/>
          </p:nvSpPr>
          <p:spPr>
            <a:xfrm>
              <a:off x="237744" y="877823"/>
              <a:ext cx="2832506" cy="6395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6B5A48"/>
                  </a:solidFill>
                  <a:latin typeface="Arial"/>
                  <a:ea typeface="Arial"/>
                  <a:cs typeface="Arial"/>
                  <a:sym typeface="Arial"/>
                </a:defRPr>
              </a:lvl1pPr>
            </a:lstStyle>
            <a:p>
              <a:pPr/>
              <a:r>
                <a:t>Stock, growth rate, and what was actually taken. Decide what is happening to it.</a:t>
              </a:r>
            </a:p>
          </p:txBody>
        </p:sp>
      </p:grpSp>
      <p:grpSp>
        <p:nvGrpSpPr>
          <p:cNvPr id="258" name="t2"/>
          <p:cNvGrpSpPr/>
          <p:nvPr/>
        </p:nvGrpSpPr>
        <p:grpSpPr>
          <a:xfrm>
            <a:off x="8335061" y="2322576"/>
            <a:ext cx="3307994" cy="1920241"/>
            <a:chOff x="0" y="0"/>
            <a:chExt cx="3307993" cy="1920239"/>
          </a:xfrm>
        </p:grpSpPr>
        <p:sp>
          <p:nvSpPr>
            <p:cNvPr id="254" name="t2_bg"/>
            <p:cNvSpPr/>
            <p:nvPr/>
          </p:nvSpPr>
          <p:spPr>
            <a:xfrm>
              <a:off x="0" y="0"/>
              <a:ext cx="3307994" cy="1920240"/>
            </a:xfrm>
            <a:prstGeom prst="roundRect">
              <a:avLst>
                <a:gd name="adj" fmla="val 4762"/>
              </a:avLst>
            </a:prstGeom>
            <a:solidFill>
              <a:srgbClr val="ECE1CB"/>
            </a:solidFill>
            <a:ln w="20320" cap="flat">
              <a:solidFill>
                <a:srgbClr val="8F6D2A"/>
              </a:solidFill>
              <a:prstDash val="solid"/>
              <a:round/>
            </a:ln>
            <a:effectLst/>
          </p:spPr>
          <p:txBody>
            <a:bodyPr wrap="square" lIns="45719" tIns="45719" rIns="45719" bIns="45719" numCol="1" anchor="t">
              <a:noAutofit/>
            </a:bodyPr>
            <a:lstStyle/>
            <a:p>
              <a:pPr/>
            </a:p>
          </p:txBody>
        </p:sp>
        <p:sp>
          <p:nvSpPr>
            <p:cNvPr id="255"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8F6D2A"/>
                  </a:solidFill>
                  <a:latin typeface="Arial"/>
                  <a:ea typeface="Arial"/>
                  <a:cs typeface="Arial"/>
                  <a:sym typeface="Arial"/>
                </a:defRPr>
              </a:lvl1pPr>
            </a:lstStyle>
            <a:p>
              <a:pPr/>
              <a:r>
                <a:t>ROUND 3</a:t>
              </a:r>
            </a:p>
          </p:txBody>
        </p:sp>
        <p:sp>
          <p:nvSpPr>
            <p:cNvPr id="256" name="t2_s"/>
            <p:cNvSpPr txBox="1"/>
            <p:nvPr/>
          </p:nvSpPr>
          <p:spPr>
            <a:xfrm>
              <a:off x="237744" y="583967"/>
              <a:ext cx="2832506" cy="221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3D2B1F"/>
                  </a:solidFill>
                  <a:latin typeface="Arial"/>
                  <a:ea typeface="Arial"/>
                  <a:cs typeface="Arial"/>
                  <a:sym typeface="Arial"/>
                </a:defRPr>
              </a:lvl1pPr>
            </a:lstStyle>
            <a:p>
              <a:pPr/>
              <a:r>
                <a:t>Real cases</a:t>
              </a:r>
            </a:p>
          </p:txBody>
        </p:sp>
        <p:sp>
          <p:nvSpPr>
            <p:cNvPr id="257" name="t2_b"/>
            <p:cNvSpPr txBox="1"/>
            <p:nvPr/>
          </p:nvSpPr>
          <p:spPr>
            <a:xfrm>
              <a:off x="237744" y="877823"/>
              <a:ext cx="2832506" cy="4236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6B5A48"/>
                  </a:solidFill>
                  <a:latin typeface="Arial"/>
                  <a:ea typeface="Arial"/>
                  <a:cs typeface="Arial"/>
                  <a:sym typeface="Arial"/>
                </a:defRPr>
              </a:lvl1pPr>
            </a:lstStyle>
            <a:p>
              <a:pPr/>
              <a:r>
                <a:t>Very hard. The last two questions are meant to be almost impossible.</a:t>
              </a:r>
            </a:p>
          </p:txBody>
        </p:sp>
      </p:grpSp>
      <p:sp>
        <p:nvSpPr>
          <p:cNvPr id="259" name="yd_note"/>
          <p:cNvSpPr txBox="1"/>
          <p:nvPr/>
        </p:nvSpPr>
        <p:spPr>
          <a:xfrm>
            <a:off x="1170432" y="453542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3D2B1F"/>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020000" fill="hold"/>
                                        <p:tgtEl>
                                          <p:spTgt spid="23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48"/>
                                        </p:tgtEl>
                                        <p:attrNameLst>
                                          <p:attrName>style.visibility</p:attrName>
                                        </p:attrNameLst>
                                      </p:cBhvr>
                                      <p:to>
                                        <p:strVal val="visible"/>
                                      </p:to>
                                    </p:set>
                                    <p:animEffect filter="fade" transition="in">
                                      <p:cBhvr>
                                        <p:cTn id="11" dur="400"/>
                                        <p:tgtEl>
                                          <p:spTgt spid="24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53"/>
                                        </p:tgtEl>
                                        <p:attrNameLst>
                                          <p:attrName>style.visibility</p:attrName>
                                        </p:attrNameLst>
                                      </p:cBhvr>
                                      <p:to>
                                        <p:strVal val="visible"/>
                                      </p:to>
                                    </p:set>
                                    <p:animEffect filter="fade" transition="in">
                                      <p:cBhvr>
                                        <p:cTn id="16" dur="400"/>
                                        <p:tgtEl>
                                          <p:spTgt spid="253"/>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58"/>
                                        </p:tgtEl>
                                        <p:attrNameLst>
                                          <p:attrName>style.visibility</p:attrName>
                                        </p:attrNameLst>
                                      </p:cBhvr>
                                      <p:to>
                                        <p:strVal val="visible"/>
                                      </p:to>
                                    </p:set>
                                    <p:animEffect filter="fade" transition="in">
                                      <p:cBhvr>
                                        <p:cTn id="21" dur="400"/>
                                        <p:tgtEl>
                                          <p:spTgt spid="258"/>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59"/>
                                        </p:tgtEl>
                                        <p:attrNameLst>
                                          <p:attrName>style.visibility</p:attrName>
                                        </p:attrNameLst>
                                      </p:cBhvr>
                                      <p:to>
                                        <p:strVal val="visible"/>
                                      </p:to>
                                    </p:set>
                                    <p:animEffect filter="fade" transition="in">
                                      <p:cBhvr>
                                        <p:cTn id="26" dur="4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37"/>
                </p:tgtEl>
              </p:cMediaNode>
            </p:video>
            <p:seq concurrent="1" prevAc="none" nextAc="seek">
              <p:cTn id="28" evtFilter="cancelBubble" nodeType="interactiveSeq" restart="whenNotActive" fill="hold">
                <p:stCondLst>
                  <p:cond delay="0" evt="onClick">
                    <p:tgtEl>
                      <p:spTgt spid="237"/>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37"/>
                                        </p:tgtEl>
                                      </p:cBhvr>
                                    </p:cmd>
                                  </p:childTnLst>
                                </p:cTn>
                              </p:par>
                            </p:childTnLst>
                          </p:cTn>
                        </p:par>
                      </p:childTnLst>
                    </p:cTn>
                  </p:par>
                </p:childTnLst>
              </p:cTn>
              <p:nextCondLst>
                <p:cond delay="0" evt="onClick">
                  <p:tgtEl>
                    <p:spTgt spid="237"/>
                  </p:tgtEl>
                </p:cond>
              </p:nextCondLst>
            </p:seq>
          </p:childTnLst>
        </p:cTn>
      </p:par>
    </p:tnLst>
    <p:bldLst>
      <p:bldP build="whole" bldLvl="1" animBg="1" rev="0" advAuto="0" spid="248" grpId="2"/>
      <p:bldP build="whole" bldLvl="1" animBg="1" rev="0" advAuto="0" spid="258" grpId="4"/>
      <p:bldP build="whole" bldLvl="1" animBg="1" rev="0" advAuto="0" spid="259" grpId="5"/>
      <p:bldP build="whole" bldLvl="1" animBg="1" rev="0" advAuto="0" spid="253"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3D2B1F"/>
        </a:solidFill>
      </p:bgPr>
    </p:bg>
    <p:spTree>
      <p:nvGrpSpPr>
        <p:cNvPr id="1" name=""/>
        <p:cNvGrpSpPr/>
        <p:nvPr/>
      </p:nvGrpSpPr>
      <p:grpSpPr>
        <a:xfrm>
          <a:off x="0" y="0"/>
          <a:ext cx="0" cy="0"/>
          <a:chOff x="0" y="0"/>
          <a:chExt cx="0" cy="0"/>
        </a:xfrm>
      </p:grpSpPr>
      <p:pic>
        <p:nvPicPr>
          <p:cNvPr id="26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66" name="phase_pill"/>
          <p:cNvGrpSpPr/>
          <p:nvPr/>
        </p:nvGrpSpPr>
        <p:grpSpPr>
          <a:xfrm>
            <a:off x="1170432" y="310895"/>
            <a:ext cx="1892808" cy="329185"/>
            <a:chOff x="0" y="0"/>
            <a:chExt cx="1892807" cy="329184"/>
          </a:xfrm>
        </p:grpSpPr>
        <p:sp>
          <p:nvSpPr>
            <p:cNvPr id="264" name="Rounded Rectangle"/>
            <p:cNvSpPr/>
            <p:nvPr/>
          </p:nvSpPr>
          <p:spPr>
            <a:xfrm>
              <a:off x="0" y="0"/>
              <a:ext cx="1892808" cy="329185"/>
            </a:xfrm>
            <a:prstGeom prst="roundRect">
              <a:avLst>
                <a:gd name="adj" fmla="val 44444"/>
              </a:avLst>
            </a:prstGeom>
            <a:solidFill>
              <a:srgbClr val="C99A3D"/>
            </a:solidFill>
            <a:ln w="12700" cap="flat">
              <a:noFill/>
              <a:miter lim="400000"/>
            </a:ln>
            <a:effectLst/>
          </p:spPr>
          <p:txBody>
            <a:bodyPr wrap="square" lIns="45719" tIns="45719" rIns="45719" bIns="45719" numCol="1" anchor="ctr">
              <a:noAutofit/>
            </a:bodyPr>
            <a:lstStyle/>
            <a:p>
              <a:pPr algn="ctr">
                <a:defRPr sz="1100"/>
              </a:pPr>
            </a:p>
          </p:txBody>
        </p:sp>
        <p:sp>
          <p:nvSpPr>
            <p:cNvPr id="265"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3D2B1F"/>
                  </a:solidFill>
                  <a:latin typeface="Arial"/>
                  <a:ea typeface="Arial"/>
                  <a:cs typeface="Arial"/>
                  <a:sym typeface="Arial"/>
                </a:defRPr>
              </a:lvl1pPr>
            </a:lstStyle>
            <a:p>
              <a:pPr/>
              <a:r>
                <a:t>PLENARY · 3 MIN</a:t>
              </a:r>
            </a:p>
          </p:txBody>
        </p:sp>
      </p:grpSp>
      <p:sp>
        <p:nvSpPr>
          <p:cNvPr id="267"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2EBDD"/>
                </a:solidFill>
                <a:latin typeface="Georgia"/>
                <a:ea typeface="Georgia"/>
                <a:cs typeface="Georgia"/>
                <a:sym typeface="Georgia"/>
              </a:defRPr>
            </a:lvl1pPr>
          </a:lstStyle>
          <a:p>
            <a:pPr/>
            <a:r>
              <a:t>True or false?</a:t>
            </a:r>
          </a:p>
        </p:txBody>
      </p:sp>
      <p:grpSp>
        <p:nvGrpSpPr>
          <p:cNvPr id="270" name="p0_stmt"/>
          <p:cNvGrpSpPr/>
          <p:nvPr/>
        </p:nvGrpSpPr>
        <p:grpSpPr>
          <a:xfrm>
            <a:off x="1170432" y="2194560"/>
            <a:ext cx="8552383" cy="640081"/>
            <a:chOff x="0" y="0"/>
            <a:chExt cx="8552382" cy="640080"/>
          </a:xfrm>
        </p:grpSpPr>
        <p:sp>
          <p:nvSpPr>
            <p:cNvPr id="268" name="p0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269"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Resource depletion means using a resource up faster than it can be replaced.</a:t>
              </a:r>
            </a:p>
          </p:txBody>
        </p:sp>
      </p:grpSp>
      <p:sp>
        <p:nvSpPr>
          <p:cNvPr id="271"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274" name="p1_stmt"/>
          <p:cNvGrpSpPr/>
          <p:nvPr/>
        </p:nvGrpSpPr>
        <p:grpSpPr>
          <a:xfrm>
            <a:off x="1170432" y="2999232"/>
            <a:ext cx="8552383" cy="640081"/>
            <a:chOff x="0" y="0"/>
            <a:chExt cx="8552382" cy="640080"/>
          </a:xfrm>
        </p:grpSpPr>
        <p:sp>
          <p:nvSpPr>
            <p:cNvPr id="272" name="p1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273"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A resource that is renewable can never be depleted.</a:t>
              </a:r>
            </a:p>
          </p:txBody>
        </p:sp>
      </p:grpSp>
      <p:sp>
        <p:nvSpPr>
          <p:cNvPr id="275"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278" name="p2_stmt"/>
          <p:cNvGrpSpPr/>
          <p:nvPr/>
        </p:nvGrpSpPr>
        <p:grpSpPr>
          <a:xfrm>
            <a:off x="1170432" y="3803903"/>
            <a:ext cx="8552383" cy="640081"/>
            <a:chOff x="0" y="0"/>
            <a:chExt cx="8552382" cy="640080"/>
          </a:xfrm>
        </p:grpSpPr>
        <p:sp>
          <p:nvSpPr>
            <p:cNvPr id="276" name="p2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277"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When a resource becomes very scarce, its price usually falls.</a:t>
              </a:r>
            </a:p>
          </p:txBody>
        </p:sp>
      </p:grpSp>
      <p:sp>
        <p:nvSpPr>
          <p:cNvPr id="279"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C99A3D"/>
                </a:solidFill>
                <a:latin typeface="Arial"/>
                <a:ea typeface="Arial"/>
                <a:cs typeface="Arial"/>
                <a:sym typeface="Arial"/>
              </a:defRPr>
            </a:lvl1pPr>
          </a:lstStyle>
          <a:p>
            <a:pPr/>
            <a:r>
              <a:t>FALSE</a:t>
            </a:r>
          </a:p>
        </p:txBody>
      </p:sp>
      <p:grpSp>
        <p:nvGrpSpPr>
          <p:cNvPr id="282" name="p3_stmt"/>
          <p:cNvGrpSpPr/>
          <p:nvPr/>
        </p:nvGrpSpPr>
        <p:grpSpPr>
          <a:xfrm>
            <a:off x="1170432" y="4608576"/>
            <a:ext cx="8552383" cy="640081"/>
            <a:chOff x="0" y="0"/>
            <a:chExt cx="8552382" cy="640080"/>
          </a:xfrm>
        </p:grpSpPr>
        <p:sp>
          <p:nvSpPr>
            <p:cNvPr id="280" name="p3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281"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A quota or catch limit can help stop a resource being depleted.</a:t>
              </a:r>
            </a:p>
          </p:txBody>
        </p:sp>
      </p:grpSp>
      <p:sp>
        <p:nvSpPr>
          <p:cNvPr id="283"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grpSp>
        <p:nvGrpSpPr>
          <p:cNvPr id="286" name="p4_stmt"/>
          <p:cNvGrpSpPr/>
          <p:nvPr/>
        </p:nvGrpSpPr>
        <p:grpSpPr>
          <a:xfrm>
            <a:off x="1170432" y="5413247"/>
            <a:ext cx="8552383" cy="640081"/>
            <a:chOff x="0" y="0"/>
            <a:chExt cx="8552382" cy="640080"/>
          </a:xfrm>
        </p:grpSpPr>
        <p:sp>
          <p:nvSpPr>
            <p:cNvPr id="284" name="p4_bg"/>
            <p:cNvSpPr/>
            <p:nvPr/>
          </p:nvSpPr>
          <p:spPr>
            <a:xfrm>
              <a:off x="0" y="0"/>
              <a:ext cx="8552383" cy="640081"/>
            </a:xfrm>
            <a:prstGeom prst="roundRect">
              <a:avLst>
                <a:gd name="adj" fmla="val 14286"/>
              </a:avLst>
            </a:prstGeom>
            <a:solidFill>
              <a:srgbClr val="5C4530"/>
            </a:solidFill>
            <a:ln w="12700" cap="flat">
              <a:solidFill>
                <a:srgbClr val="5C4530"/>
              </a:solidFill>
              <a:prstDash val="solid"/>
              <a:round/>
            </a:ln>
            <a:effectLst/>
          </p:spPr>
          <p:txBody>
            <a:bodyPr wrap="square" lIns="45719" tIns="45719" rIns="45719" bIns="45719" numCol="1" anchor="t">
              <a:noAutofit/>
            </a:bodyPr>
            <a:lstStyle/>
            <a:p>
              <a:pPr/>
            </a:p>
          </p:txBody>
        </p:sp>
        <p:sp>
          <p:nvSpPr>
            <p:cNvPr id="285"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2EBDD"/>
                  </a:solidFill>
                  <a:latin typeface="Arial"/>
                  <a:ea typeface="Arial"/>
                  <a:cs typeface="Arial"/>
                  <a:sym typeface="Arial"/>
                </a:defRPr>
              </a:lvl1pPr>
            </a:lstStyle>
            <a:p>
              <a:pPr/>
              <a:r>
                <a:t>Passenger pigeons went extinct, even though billions once existed.</a:t>
              </a:r>
            </a:p>
          </p:txBody>
        </p:sp>
      </p:grpSp>
      <p:sp>
        <p:nvSpPr>
          <p:cNvPr id="287"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6A8C9A"/>
                </a:solidFill>
                <a:latin typeface="Arial"/>
                <a:ea typeface="Arial"/>
                <a:cs typeface="Arial"/>
                <a:sym typeface="Arial"/>
              </a:defRPr>
            </a:lvl1pPr>
          </a:lstStyle>
          <a:p>
            <a:pPr/>
            <a:r>
              <a:t>TRUE</a:t>
            </a:r>
          </a:p>
        </p:txBody>
      </p:sp>
      <p:sp>
        <p:nvSpPr>
          <p:cNvPr id="288"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C99A3D"/>
                </a:solidFill>
                <a:latin typeface="Arial"/>
                <a:ea typeface="Arial"/>
                <a:cs typeface="Arial"/>
                <a:sym typeface="Arial"/>
              </a:defRPr>
            </a:lvl1pPr>
          </a:lstStyle>
          <a:p>
            <a:pPr/>
            <a:r>
              <a:t>Resource depletion means using a resource faster than it can be replaced.</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6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70"/>
                                        </p:tgtEl>
                                        <p:attrNameLst>
                                          <p:attrName>style.visibility</p:attrName>
                                        </p:attrNameLst>
                                      </p:cBhvr>
                                      <p:to>
                                        <p:strVal val="visible"/>
                                      </p:to>
                                    </p:set>
                                    <p:animEffect filter="fade" transition="in">
                                      <p:cBhvr>
                                        <p:cTn id="11" dur="400"/>
                                        <p:tgtEl>
                                          <p:spTgt spid="27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271"/>
                                        </p:tgtEl>
                                        <p:attrNameLst>
                                          <p:attrName>style.visibility</p:attrName>
                                        </p:attrNameLst>
                                      </p:cBhvr>
                                      <p:to>
                                        <p:strVal val="visible"/>
                                      </p:to>
                                    </p:set>
                                    <p:anim calcmode="lin" valueType="num">
                                      <p:cBhvr>
                                        <p:cTn id="16" dur="400" fill="hold"/>
                                        <p:tgtEl>
                                          <p:spTgt spid="271"/>
                                        </p:tgtEl>
                                        <p:attrNameLst>
                                          <p:attrName>ppt_w</p:attrName>
                                        </p:attrNameLst>
                                      </p:cBhvr>
                                      <p:tavLst>
                                        <p:tav tm="0">
                                          <p:val>
                                            <p:fltVal val="0"/>
                                          </p:val>
                                        </p:tav>
                                        <p:tav tm="100000">
                                          <p:val>
                                            <p:strVal val="#ppt_w"/>
                                          </p:val>
                                        </p:tav>
                                      </p:tavLst>
                                    </p:anim>
                                    <p:anim calcmode="lin" valueType="num">
                                      <p:cBhvr>
                                        <p:cTn id="17" dur="400" fill="hold"/>
                                        <p:tgtEl>
                                          <p:spTgt spid="271"/>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74"/>
                                        </p:tgtEl>
                                        <p:attrNameLst>
                                          <p:attrName>style.visibility</p:attrName>
                                        </p:attrNameLst>
                                      </p:cBhvr>
                                      <p:to>
                                        <p:strVal val="visible"/>
                                      </p:to>
                                    </p:set>
                                    <p:animEffect filter="fade" transition="in">
                                      <p:cBhvr>
                                        <p:cTn id="22" dur="400"/>
                                        <p:tgtEl>
                                          <p:spTgt spid="27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275"/>
                                        </p:tgtEl>
                                        <p:attrNameLst>
                                          <p:attrName>style.visibility</p:attrName>
                                        </p:attrNameLst>
                                      </p:cBhvr>
                                      <p:to>
                                        <p:strVal val="visible"/>
                                      </p:to>
                                    </p:set>
                                    <p:anim calcmode="lin" valueType="num">
                                      <p:cBhvr>
                                        <p:cTn id="27" dur="400" fill="hold"/>
                                        <p:tgtEl>
                                          <p:spTgt spid="275"/>
                                        </p:tgtEl>
                                        <p:attrNameLst>
                                          <p:attrName>ppt_w</p:attrName>
                                        </p:attrNameLst>
                                      </p:cBhvr>
                                      <p:tavLst>
                                        <p:tav tm="0">
                                          <p:val>
                                            <p:fltVal val="0"/>
                                          </p:val>
                                        </p:tav>
                                        <p:tav tm="100000">
                                          <p:val>
                                            <p:strVal val="#ppt_w"/>
                                          </p:val>
                                        </p:tav>
                                      </p:tavLst>
                                    </p:anim>
                                    <p:anim calcmode="lin" valueType="num">
                                      <p:cBhvr>
                                        <p:cTn id="28" dur="400" fill="hold"/>
                                        <p:tgtEl>
                                          <p:spTgt spid="27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278"/>
                                        </p:tgtEl>
                                        <p:attrNameLst>
                                          <p:attrName>style.visibility</p:attrName>
                                        </p:attrNameLst>
                                      </p:cBhvr>
                                      <p:to>
                                        <p:strVal val="visible"/>
                                      </p:to>
                                    </p:set>
                                    <p:animEffect filter="fade" transition="in">
                                      <p:cBhvr>
                                        <p:cTn id="33" dur="400"/>
                                        <p:tgtEl>
                                          <p:spTgt spid="278"/>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279"/>
                                        </p:tgtEl>
                                        <p:attrNameLst>
                                          <p:attrName>style.visibility</p:attrName>
                                        </p:attrNameLst>
                                      </p:cBhvr>
                                      <p:to>
                                        <p:strVal val="visible"/>
                                      </p:to>
                                    </p:set>
                                    <p:anim calcmode="lin" valueType="num">
                                      <p:cBhvr>
                                        <p:cTn id="38" dur="400" fill="hold"/>
                                        <p:tgtEl>
                                          <p:spTgt spid="279"/>
                                        </p:tgtEl>
                                        <p:attrNameLst>
                                          <p:attrName>ppt_w</p:attrName>
                                        </p:attrNameLst>
                                      </p:cBhvr>
                                      <p:tavLst>
                                        <p:tav tm="0">
                                          <p:val>
                                            <p:fltVal val="0"/>
                                          </p:val>
                                        </p:tav>
                                        <p:tav tm="100000">
                                          <p:val>
                                            <p:strVal val="#ppt_w"/>
                                          </p:val>
                                        </p:tav>
                                      </p:tavLst>
                                    </p:anim>
                                    <p:anim calcmode="lin" valueType="num">
                                      <p:cBhvr>
                                        <p:cTn id="39" dur="400" fill="hold"/>
                                        <p:tgtEl>
                                          <p:spTgt spid="279"/>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282"/>
                                        </p:tgtEl>
                                        <p:attrNameLst>
                                          <p:attrName>style.visibility</p:attrName>
                                        </p:attrNameLst>
                                      </p:cBhvr>
                                      <p:to>
                                        <p:strVal val="visible"/>
                                      </p:to>
                                    </p:set>
                                    <p:animEffect filter="fade" transition="in">
                                      <p:cBhvr>
                                        <p:cTn id="44" dur="400"/>
                                        <p:tgtEl>
                                          <p:spTgt spid="282"/>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283"/>
                                        </p:tgtEl>
                                        <p:attrNameLst>
                                          <p:attrName>style.visibility</p:attrName>
                                        </p:attrNameLst>
                                      </p:cBhvr>
                                      <p:to>
                                        <p:strVal val="visible"/>
                                      </p:to>
                                    </p:set>
                                    <p:anim calcmode="lin" valueType="num">
                                      <p:cBhvr>
                                        <p:cTn id="49" dur="400" fill="hold"/>
                                        <p:tgtEl>
                                          <p:spTgt spid="283"/>
                                        </p:tgtEl>
                                        <p:attrNameLst>
                                          <p:attrName>ppt_w</p:attrName>
                                        </p:attrNameLst>
                                      </p:cBhvr>
                                      <p:tavLst>
                                        <p:tav tm="0">
                                          <p:val>
                                            <p:fltVal val="0"/>
                                          </p:val>
                                        </p:tav>
                                        <p:tav tm="100000">
                                          <p:val>
                                            <p:strVal val="#ppt_w"/>
                                          </p:val>
                                        </p:tav>
                                      </p:tavLst>
                                    </p:anim>
                                    <p:anim calcmode="lin" valueType="num">
                                      <p:cBhvr>
                                        <p:cTn id="50" dur="400" fill="hold"/>
                                        <p:tgtEl>
                                          <p:spTgt spid="283"/>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286"/>
                                        </p:tgtEl>
                                        <p:attrNameLst>
                                          <p:attrName>style.visibility</p:attrName>
                                        </p:attrNameLst>
                                      </p:cBhvr>
                                      <p:to>
                                        <p:strVal val="visible"/>
                                      </p:to>
                                    </p:set>
                                    <p:animEffect filter="fade" transition="in">
                                      <p:cBhvr>
                                        <p:cTn id="55" dur="400"/>
                                        <p:tgtEl>
                                          <p:spTgt spid="286"/>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287"/>
                                        </p:tgtEl>
                                        <p:attrNameLst>
                                          <p:attrName>style.visibility</p:attrName>
                                        </p:attrNameLst>
                                      </p:cBhvr>
                                      <p:to>
                                        <p:strVal val="visible"/>
                                      </p:to>
                                    </p:set>
                                    <p:anim calcmode="lin" valueType="num">
                                      <p:cBhvr>
                                        <p:cTn id="60" dur="400" fill="hold"/>
                                        <p:tgtEl>
                                          <p:spTgt spid="287"/>
                                        </p:tgtEl>
                                        <p:attrNameLst>
                                          <p:attrName>ppt_w</p:attrName>
                                        </p:attrNameLst>
                                      </p:cBhvr>
                                      <p:tavLst>
                                        <p:tav tm="0">
                                          <p:val>
                                            <p:fltVal val="0"/>
                                          </p:val>
                                        </p:tav>
                                        <p:tav tm="100000">
                                          <p:val>
                                            <p:strVal val="#ppt_w"/>
                                          </p:val>
                                        </p:tav>
                                      </p:tavLst>
                                    </p:anim>
                                    <p:anim calcmode="lin" valueType="num">
                                      <p:cBhvr>
                                        <p:cTn id="61" dur="400" fill="hold"/>
                                        <p:tgtEl>
                                          <p:spTgt spid="287"/>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288"/>
                                        </p:tgtEl>
                                        <p:attrNameLst>
                                          <p:attrName>style.visibility</p:attrName>
                                        </p:attrNameLst>
                                      </p:cBhvr>
                                      <p:to>
                                        <p:strVal val="visible"/>
                                      </p:to>
                                    </p:set>
                                    <p:animEffect filter="fade" transition="in">
                                      <p:cBhvr>
                                        <p:cTn id="66" dur="4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63"/>
                </p:tgtEl>
              </p:cMediaNode>
            </p:video>
            <p:seq concurrent="1" prevAc="none" nextAc="seek">
              <p:cTn id="68" evtFilter="cancelBubble" nodeType="interactiveSeq" restart="whenNotActive" fill="hold">
                <p:stCondLst>
                  <p:cond delay="0" evt="onClick">
                    <p:tgtEl>
                      <p:spTgt spid="263"/>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63"/>
                                        </p:tgtEl>
                                      </p:cBhvr>
                                    </p:cmd>
                                  </p:childTnLst>
                                </p:cTn>
                              </p:par>
                            </p:childTnLst>
                          </p:cTn>
                        </p:par>
                      </p:childTnLst>
                    </p:cTn>
                  </p:par>
                </p:childTnLst>
              </p:cTn>
              <p:nextCondLst>
                <p:cond delay="0" evt="onClick">
                  <p:tgtEl>
                    <p:spTgt spid="263"/>
                  </p:tgtEl>
                </p:cond>
              </p:nextCondLst>
            </p:seq>
          </p:childTnLst>
        </p:cTn>
      </p:par>
    </p:tnLst>
    <p:bldLst>
      <p:bldP build="whole" bldLvl="1" animBg="1" rev="0" advAuto="0" spid="283" grpId="9"/>
      <p:bldP build="whole" bldLvl="1" animBg="1" rev="0" advAuto="0" spid="271" grpId="3"/>
      <p:bldP build="whole" bldLvl="1" animBg="1" rev="0" advAuto="0" spid="270" grpId="2"/>
      <p:bldP build="whole" bldLvl="1" animBg="1" rev="0" advAuto="0" spid="286" grpId="10"/>
      <p:bldP build="whole" bldLvl="1" animBg="1" rev="0" advAuto="0" spid="282" grpId="8"/>
      <p:bldP build="whole" bldLvl="1" animBg="1" rev="0" advAuto="0" spid="287" grpId="11"/>
      <p:bldP build="whole" bldLvl="1" animBg="1" rev="0" advAuto="0" spid="274" grpId="4"/>
      <p:bldP build="whole" bldLvl="1" animBg="1" rev="0" advAuto="0" spid="278" grpId="6"/>
      <p:bldP build="whole" bldLvl="1" animBg="1" rev="0" advAuto="0" spid="288" grpId="12"/>
      <p:bldP build="whole" bldLvl="1" animBg="1" rev="0" advAuto="0" spid="275" grpId="5"/>
      <p:bldP build="whole" bldLvl="1" animBg="1" rev="0" advAuto="0" spid="279" grpId="7"/>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