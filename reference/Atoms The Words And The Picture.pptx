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media1.mp4" ContentType="video/unknown"/>
  <Override PartName="/ppt/notesSlides/notesSlide2.xml" ContentType="application/vnd.openxmlformats-officedocument.presentationml.notesSlide+xml"/>
  <Override PartName="/ppt/media/media2.mp4" ContentType="video/unknown"/>
  <Override PartName="/ppt/notesSlides/notesSlide3.xml" ContentType="application/vnd.openxmlformats-officedocument.presentationml.notesSlide+xml"/>
  <Override PartName="/ppt/media/media3.mp4" ContentType="video/unknown"/>
  <Override PartName="/ppt/notesSlides/notesSlide4.xml" ContentType="application/vnd.openxmlformats-officedocument.presentationml.notesSlide+xml"/>
  <Override PartName="/ppt/media/media4.mp4" ContentType="video/unknown"/>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media5.mp4" ContentType="video/unknown"/>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media/media6.mp4" ContentType="video/unknown"/>
  <Override PartName="/ppt/notesSlides/notesSlide12.xml" ContentType="application/vnd.openxmlformats-officedocument.presentationml.notesSlide+xml"/>
  <Override PartName="/ppt/media/media7.mp4" ContentType="vide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 name="Shape 33"/>
          <p:cNvSpPr/>
          <p:nvPr>
            <p:ph type="sldImg"/>
          </p:nvPr>
        </p:nvSpPr>
        <p:spPr>
          <a:prstGeom prst="rect">
            <a:avLst/>
          </a:prstGeom>
        </p:spPr>
        <p:txBody>
          <a:bodyPr/>
          <a:lstStyle/>
          <a:p>
            <a:pPr/>
          </a:p>
        </p:txBody>
      </p:sp>
      <p:sp>
        <p:nvSpPr>
          <p:cNvPr id="34" name="Shape 34"/>
          <p:cNvSpPr/>
          <p:nvPr>
            <p:ph type="body" sz="quarter" idx="1"/>
          </p:nvPr>
        </p:nvSpPr>
        <p:spPr>
          <a:prstGeom prst="rect">
            <a:avLst/>
          </a:prstGeom>
        </p:spPr>
        <p:txBody>
          <a:bodyPr/>
          <a:lstStyle/>
          <a:p>
            <a:pPr/>
            <a:r>
              <a:t>TITLE. 1 minute. No English needed.</a:t>
            </a:r>
          </a:p>
          <a:p>
            <a:pPr/>
          </a:p>
          <a:p>
            <a:pPr/>
            <a:r>
              <a:t>READ THE TITLE slowly, pointing at each line. The class reads it with you, then again without you.</a:t>
            </a:r>
          </a:p>
          <a:p>
            <a:pPr/>
          </a:p>
          <a:p>
            <a:pPr/>
            <a:r>
              <a:t>THIS LESSON COMES AFTER THE 7-DAY GAP AND ITS JOB IS TO GET THE WORDS BACK. Nothing here is new: no new word, no new picture. Every picture on every slide was in Atoms 1, Drawing an Atom or The Nucleus. If a student says "I have not seen this", that is a fault in the deck, not in the student.</a:t>
            </a:r>
          </a:p>
          <a:p>
            <a:pPr/>
          </a:p>
          <a:p>
            <a:pPr/>
            <a:r>
              <a:t>Point at the atom picture and say: "This is the atom we drew." Do not name the parts yet. That is the next ten minutes.</a:t>
            </a:r>
          </a:p>
          <a:p>
            <a:pPr/>
          </a:p>
          <a:p>
            <a:pPr/>
            <a:r>
              <a:t>GESTURES, fixed in Atoms 1 and kept all unit: atom = fingers circling. tiny = finger and thumb pinched together. part = chop one hand into the other palm. made of = hands building. Use them from the first minute today, they are the fastest way to get a word back.</a:t>
            </a:r>
          </a:p>
          <a:p>
            <a:pPr/>
          </a:p>
          <a:p>
            <a:pPr/>
            <a:r>
              <a:t>CHANGE THE DATE before you teach.</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 name="Shape 56"/>
          <p:cNvSpPr/>
          <p:nvPr>
            <p:ph type="sldImg"/>
          </p:nvPr>
        </p:nvSpPr>
        <p:spPr>
          <a:prstGeom prst="rect">
            <a:avLst/>
          </a:prstGeom>
        </p:spPr>
        <p:txBody>
          <a:bodyPr/>
          <a:lstStyle/>
          <a:p>
            <a:pPr/>
          </a:p>
        </p:txBody>
      </p:sp>
      <p:sp>
        <p:nvSpPr>
          <p:cNvPr id="57" name="Shape 57"/>
          <p:cNvSpPr/>
          <p:nvPr>
            <p:ph type="body" sz="quarter" idx="1"/>
          </p:nvPr>
        </p:nvSpPr>
        <p:spPr>
          <a:prstGeom prst="rect">
            <a:avLst/>
          </a:prstGeom>
        </p:spPr>
        <p:txBody>
          <a:bodyPr/>
          <a:lstStyle/>
          <a:p>
            <a:pPr/>
            <a:r>
              <a:t>TODAY. 2 minutes. Three clicks.</a:t>
            </a:r>
          </a:p>
          <a:p>
            <a:pPr/>
          </a:p>
          <a:p>
            <a:pPr/>
            <a:r>
              <a:t>Read each goal, the class repeats the key words only: "match", "draw", "write". Do the action with each one: point at a picture, draw a circle in the air, write in the air.</a:t>
            </a:r>
          </a:p>
          <a:p>
            <a:pPr/>
          </a:p>
          <a:p>
            <a:pPr/>
            <a:r>
              <a:t>THIS IS THE ORDER OF THE LESSON. Goal 1 is the next 12 minutes (words and pictures). Goal 2 is the drawing. Goal 3 is the sentences, said first and written on the worksheet.</a:t>
            </a:r>
          </a:p>
          <a:p>
            <a:pPr/>
          </a:p>
          <a:p>
            <a:pPr/>
            <a:r>
              <a:t>DO NOT READ LONG OBJECTIVES OUT. Three pictures, three short lines, move 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3" name="Shape 93"/>
          <p:cNvSpPr/>
          <p:nvPr>
            <p:ph type="sldImg"/>
          </p:nvPr>
        </p:nvSpPr>
        <p:spPr>
          <a:prstGeom prst="rect">
            <a:avLst/>
          </a:prstGeom>
        </p:spPr>
        <p:txBody>
          <a:bodyPr/>
          <a:lstStyle/>
          <a:p>
            <a:pPr/>
          </a:p>
        </p:txBody>
      </p:sp>
      <p:sp>
        <p:nvSpPr>
          <p:cNvPr id="94" name="Shape 94"/>
          <p:cNvSpPr/>
          <p:nvPr>
            <p:ph type="body" sz="quarter" idx="1"/>
          </p:nvPr>
        </p:nvSpPr>
        <p:spPr>
          <a:prstGeom prst="rect">
            <a:avLst/>
          </a:prstGeom>
        </p:spPr>
        <p:txBody>
          <a:bodyPr/>
          <a:lstStyle/>
          <a:p>
            <a:pPr/>
            <a:r>
              <a:t>LOOK AND SAY, ATOMS 1 WORDS. 4 minutes. Four clicks, one word each.</a:t>
            </a:r>
          </a:p>
          <a:p>
            <a:pPr/>
          </a:p>
          <a:p>
            <a:pPr/>
            <a:r>
              <a:t>THE ORDER MATTERS. The picture is on screen and the word is hidden. Point at the picture and WAIT. Let them try to say it. Only then click, and the word appears so they can check themselves. This is the drill's last step ("they say it off the picture alone") done first, because after a week it is the only real test of whether the word is still there.</a:t>
            </a:r>
          </a:p>
          <a:p>
            <a:pPr/>
          </a:p>
          <a:p>
            <a:pPr/>
            <a:r>
              <a:t>IF THE ROOM IS SILENT, run the full drill on that word: you say it, whole class, half the class, three individuals, then back to the picture. Thirty seconds. Do the gesture with it: atom = fingers circling, tiny = pinch, part = chop, matter = hold up a pen, then wave a hand through the air ("air is matter too").</a:t>
            </a:r>
          </a:p>
          <a:p>
            <a:pPr/>
          </a:p>
          <a:p>
            <a:pPr/>
            <a:r>
              <a:t>PRONUNCIATION: A-tom, stress on the FIRST beat, tap the desk twice. Thai speakers reach for "a-TOM". MAT-ter, two beats. TY-nee, two beats. PART, one beat, say the T at the end.</a:t>
            </a:r>
          </a:p>
          <a:p>
            <a:pPr/>
          </a:p>
          <a:p>
            <a:pPr/>
            <a:r>
              <a:t>PLURAL: they will say "atom" for "atoms" and leave the s off. Slide 9 needs "atoms" every time, so get the s in here: say "atom... atoms" and have them hiss the s.</a:t>
            </a:r>
          </a:p>
          <a:p>
            <a:pPr/>
          </a:p>
          <a:p>
            <a:pPr/>
            <a:r>
              <a:t>CHECK with either/or only, pointing at the pictures: "Atom or matter?" "Tiny or part?" No open questions yet.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 name="Shape 130"/>
          <p:cNvSpPr/>
          <p:nvPr>
            <p:ph type="sldImg"/>
          </p:nvPr>
        </p:nvSpPr>
        <p:spPr>
          <a:prstGeom prst="rect">
            <a:avLst/>
          </a:prstGeom>
        </p:spPr>
        <p:txBody>
          <a:bodyPr/>
          <a:lstStyle/>
          <a:p>
            <a:pPr/>
          </a:p>
        </p:txBody>
      </p:sp>
      <p:sp>
        <p:nvSpPr>
          <p:cNvPr id="131" name="Shape 131"/>
          <p:cNvSpPr/>
          <p:nvPr>
            <p:ph type="body" sz="quarter" idx="1"/>
          </p:nvPr>
        </p:nvSpPr>
        <p:spPr>
          <a:prstGeom prst="rect">
            <a:avLst/>
          </a:prstGeom>
        </p:spPr>
        <p:txBody>
          <a:bodyPr/>
          <a:lstStyle/>
          <a:p>
            <a:pPr/>
            <a:r>
              <a:t>LOOK AND SAY, ATOMS 2 WORDS. 5 minutes, one more than the last slide on purpose. Four clicks. Same order: picture, wait, click.</a:t>
            </a:r>
          </a:p>
          <a:p>
            <a:pPr/>
          </a:p>
          <a:p>
            <a:pPr/>
            <a:r>
              <a:t>NUCLEUS AND ELECTRON ARE THE TWO THEY FOUND HARD. Both are three beats. Spend the extra minute on them, and drill them BEFORE centre and outside.</a:t>
            </a:r>
          </a:p>
          <a:p>
            <a:pPr/>
          </a:p>
          <a:p>
            <a:pPr/>
            <a:r>
              <a:t>NUCLEUS: NEW-clee-us. Three beats, the loudest on NEW. Clap it: CLAP-clap-clap. Thai speakers often lose the middle beat ("NEW-kus") or say "nuclear". Have them hold up three fingers as they say it so the middle beat is counted. (The Nucleus lesson notes say the stress on nucleus is not on the first syllable. That is true of electron only. Nucleus is stressed on NEW.)</a:t>
            </a:r>
          </a:p>
          <a:p>
            <a:pPr/>
          </a:p>
          <a:p>
            <a:pPr/>
            <a:r>
              <a:t>ELECTRON: eh-LEK-tron. Three beats, the loudest on the MIDDLE one. Clap it: clap-CLAP-clap. That is the opposite of atom, matter, tiny, part, and it is why it sticks. Tap the desk lightly, lightly, hard, lightly. Common slips: stress on the first beat ("EL-ek-tron"), or a vowel dropped into the middle ("eh-lek-e-tron"). Then link it to a word they can already say: "eh-LEK-tron... NEW-tron", both end in -tron. That comes back on the next slide.</a:t>
            </a:r>
          </a:p>
          <a:p>
            <a:pPr/>
          </a:p>
          <a:p>
            <a:pPr/>
            <a:r>
              <a:t>THE PICTURES: nucleus is the cluster, centre is the four arrows pointing in, electron is the atom with the dots going round, outside is the hills and sky. The outside picture is a real outdoors scene, so say "outside the nucleus", pointing at the atom on slide 7, not just "outside".</a:t>
            </a:r>
          </a:p>
          <a:p>
            <a:pPr/>
          </a:p>
          <a:p>
            <a:pPr/>
            <a:r>
              <a:t>CENTRE: SEN-ter, two beats. Say it British: "centre", never "center".</a:t>
            </a:r>
          </a:p>
          <a:p>
            <a:pPr/>
          </a:p>
          <a:p>
            <a:pPr/>
            <a:r>
              <a:t>CHECK with either/or, pointing: "Centre or outside?" "Nucleus or electron?" Then yes/no: "Is the nucleus in the centre?"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Shape 154"/>
          <p:cNvSpPr/>
          <p:nvPr>
            <p:ph type="sldImg"/>
          </p:nvPr>
        </p:nvSpPr>
        <p:spPr>
          <a:prstGeom prst="rect">
            <a:avLst/>
          </a:prstGeom>
        </p:spPr>
        <p:txBody>
          <a:bodyPr/>
          <a:lstStyle/>
          <a:p>
            <a:pPr/>
          </a:p>
        </p:txBody>
      </p:sp>
      <p:sp>
        <p:nvSpPr>
          <p:cNvPr id="155" name="Shape 155"/>
          <p:cNvSpPr/>
          <p:nvPr>
            <p:ph type="body" sz="quarter" idx="1"/>
          </p:nvPr>
        </p:nvSpPr>
        <p:spPr>
          <a:prstGeom prst="rect">
            <a:avLst/>
          </a:prstGeom>
        </p:spPr>
        <p:txBody>
          <a:bodyPr/>
          <a:lstStyle/>
          <a:p>
            <a:pPr/>
            <a:r>
              <a:t>LOOK AND SAY, ATOMS 3 WORDS. 2 minutes. Three clicks: proton, neutron, then the pair strip.</a:t>
            </a:r>
          </a:p>
          <a:p>
            <a:pPr/>
          </a:p>
          <a:p>
            <a:pPr/>
            <a:r>
              <a:t>THE DOTS ARE THE SAME YELLOW AND ROSE DOTS FROM THE NUCLEUS LESSON. Yellow is proton, rose is neutron. Point at a dot first, wait, then click.</a:t>
            </a:r>
          </a:p>
          <a:p>
            <a:pPr/>
          </a:p>
          <a:p>
            <a:pPr/>
            <a:r>
              <a:t>PROTON: PRO-ton, two beats, loudest on PRO. This one should come back easily, it stresses the first beat like atom and matter.</a:t>
            </a:r>
          </a:p>
          <a:p>
            <a:pPr/>
          </a:p>
          <a:p>
            <a:pPr/>
            <a:r>
              <a:t>NEUTRON: NEW-tron, two beats. It starts with the same sound as nucleus, and that is the trap. The strip at the bottom is there for it: say "nucleus... neutron" side by side, three beats then two, and point out they are different words.</a:t>
            </a:r>
          </a:p>
          <a:p>
            <a:pPr/>
          </a:p>
          <a:p>
            <a:pPr/>
            <a:r>
              <a:t>THE STRIP ALSO PUTS ELECTRON NEXT TO NEUTRON, because they end the same way: -tron. Say the two together twice. That is the quickest fix for the stress on electron.</a:t>
            </a:r>
          </a:p>
          <a:p>
            <a:pPr/>
          </a:p>
          <a:p>
            <a:pPr/>
            <a:r>
              <a:t>GESTURES: the nucleus lesson only PROPOSED thumbs up for proton and a flat palm for neutron, it never fixed them. Use them if you kept them last time, and if you did not, pick them now and keep them for the rest of the unit.</a:t>
            </a:r>
          </a:p>
          <a:p>
            <a:pPr/>
          </a:p>
          <a:p>
            <a:pPr/>
            <a:r>
              <a:t>CHECK, pointing at each dot: "Proton or neutron?" Either/or only.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Shape 188"/>
          <p:cNvSpPr/>
          <p:nvPr>
            <p:ph type="sldImg"/>
          </p:nvPr>
        </p:nvSpPr>
        <p:spPr>
          <a:prstGeom prst="rect">
            <a:avLst/>
          </a:prstGeom>
        </p:spPr>
        <p:txBody>
          <a:bodyPr/>
          <a:lstStyle/>
          <a:p>
            <a:pPr/>
          </a:p>
        </p:txBody>
      </p:sp>
      <p:sp>
        <p:nvSpPr>
          <p:cNvPr id="189" name="Shape 189"/>
          <p:cNvSpPr/>
          <p:nvPr>
            <p:ph type="body" sz="quarter" idx="1"/>
          </p:nvPr>
        </p:nvSpPr>
        <p:spPr>
          <a:prstGeom prst="rect">
            <a:avLst/>
          </a:prstGeom>
        </p:spPr>
        <p:txBody>
          <a:bodyPr/>
          <a:lstStyle/>
          <a:p>
            <a:pPr/>
            <a:r>
              <a:t>MATTER, PART, ATOM. 5 minutes. Four clicks: matter, part, atom, then the sentence.</a:t>
            </a:r>
          </a:p>
          <a:p>
            <a:pPr/>
          </a:p>
          <a:p>
            <a:pPr/>
            <a:r>
              <a:t>THIS SLIDE EXISTS BECAUSE THEY MIX THESE THREE UP. All three mean something small or something material, and they are used in the same sentences ("an atom is a tiny part of matter"). Slow this slide down, it matters more than any other in the lesson.</a:t>
            </a:r>
          </a:p>
          <a:p>
            <a:pPr/>
          </a:p>
          <a:p>
            <a:pPr/>
            <a:r>
              <a:t>THE THREE IDEAS, in the plainest words: MATTER is the STUFF. Water, air, a rock, you. PART is a PIECE of something, any size. A leg is a part of a chair. ATOM is a tiny part of the stuff.</a:t>
            </a:r>
          </a:p>
          <a:p>
            <a:pPr/>
          </a:p>
          <a:p>
            <a:pPr/>
            <a:r>
              <a:t>MATTER: hold up a pen and say "this is matter". Wave a hand through the air: "this is matter too". The four small pictures (water, air, apple, you) are the same four from Atoms 1. Do not define matter as solid, liquid, gas, they do not have those words.</a:t>
            </a:r>
          </a:p>
          <a:p>
            <a:pPr/>
          </a:p>
          <a:p>
            <a:pPr/>
            <a:r>
              <a:t>PART: chop gesture. Point at the chair leg, then at the back: "a part of the chair". Part goes with "of": a part OF something. Have them say "a part of a chair" three times.</a:t>
            </a:r>
          </a:p>
          <a:p>
            <a:pPr/>
          </a:p>
          <a:p>
            <a:pPr/>
            <a:r>
              <a:t>ATOM: circling fingers. "An atom is a tiny part of matter": tiny, part, matter, atom, all four words from Atoms 1 in one sentence. Say it and do the gesture for each word as you say it.</a:t>
            </a:r>
          </a:p>
          <a:p>
            <a:pPr/>
          </a:p>
          <a:p>
            <a:pPr/>
            <a:r>
              <a:t>EITHER/OR CHECKS, pointing at the pictures: "Water. Matter or part?" (matter). "A leg of a chair. Matter or part?" (part). Then yes/no: "Is air matter?" (yes, and it surprises them). "Is an atom matter?" (an atom is a tiny part OF matter, so a good answer is "no, it is a part"). Take that one slowly, it is the hard one.</a:t>
            </a:r>
          </a:p>
          <a:p>
            <a:pPr/>
          </a:p>
          <a:p>
            <a:pPr/>
            <a:r>
              <a:t>ATOM AND ATOMS: one atom, two atoms. They drop the s. Say "an atom" with one finger up, "atoms" with a handful of fingers, and hiss the s. The plural is on every sentence in the lesson ("is made of atoms").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0" name="Shape 220"/>
          <p:cNvSpPr/>
          <p:nvPr>
            <p:ph type="sldImg"/>
          </p:nvPr>
        </p:nvSpPr>
        <p:spPr>
          <a:prstGeom prst="rect">
            <a:avLst/>
          </a:prstGeom>
        </p:spPr>
        <p:txBody>
          <a:bodyPr/>
          <a:lstStyle/>
          <a:p>
            <a:pPr/>
          </a:p>
        </p:txBody>
      </p:sp>
      <p:sp>
        <p:nvSpPr>
          <p:cNvPr id="221" name="Shape 221"/>
          <p:cNvSpPr/>
          <p:nvPr>
            <p:ph type="body" sz="quarter" idx="1"/>
          </p:nvPr>
        </p:nvSpPr>
        <p:spPr>
          <a:prstGeom prst="rect">
            <a:avLst/>
          </a:prstGeom>
        </p:spPr>
        <p:txBody>
          <a:bodyPr/>
          <a:lstStyle/>
          <a:p>
            <a:pPr/>
            <a:r>
              <a:t>DRAW AN ATOM. 7 minutes. Four clicks: circle, centre, outside, then the sentence. The class draws WITH you, on paper or mini boards, one step per click.</a:t>
            </a:r>
          </a:p>
          <a:p>
            <a:pPr/>
          </a:p>
          <a:p>
            <a:pPr/>
            <a:r>
              <a:t>THIS IS THE SAME DRAWING AS DRAWING AN ATOM: a circle, a yellow centre, green dots on the edge, the word "outside" in the area around the centre. Draw it live on the board as the slide builds so they see the hand move.</a:t>
            </a:r>
          </a:p>
          <a:p>
            <a:pPr/>
          </a:p>
          <a:p>
            <a:pPr/>
            <a:r>
              <a:t>CLICK 1: one big circle. "This is the atom." CLICK 2: the centre. "This is the centre." Point at it. "The nucleus is in the centre." CLICK 3: "outside" appears, and the four green dots. Point at the area around the centre: "This is the outside." Point at a dot: "This is an electron."</a:t>
            </a:r>
          </a:p>
          <a:p>
            <a:pPr/>
          </a:p>
          <a:p>
            <a:pPr/>
            <a:r>
              <a:t>THE MISCONCEPTIONS FROM DRAWING AN ATOM STILL APPLY. The centre is INSIDE the atom, never outside it. "Outside" means the area around the centre, still inside the circle, not another atom. And this is a simple picture, not a real-size atom: if someone asks why the centre is so big, that is exactly why it is only a picture.</a:t>
            </a:r>
          </a:p>
          <a:p>
            <a:pPr/>
          </a:p>
          <a:p>
            <a:pPr/>
            <a:r>
              <a:t>POINT FIRST, THEN SAY. Ask: "Point to the centre." "Point to the outside." "Point to an electron." Every student points before anyone speaks. Then the sentence from the banner, whole class, then pairs.</a:t>
            </a:r>
          </a:p>
          <a:p>
            <a:pPr/>
          </a:p>
          <a:p>
            <a:pPr/>
            <a:r>
              <a:t>WATCH FOR centre and outside swapped, and for a nucleus drawn touching the edge. Recast with the point routine, not more words: "the nucleus sits in the middle".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0" name="Shape 250"/>
          <p:cNvSpPr/>
          <p:nvPr>
            <p:ph type="sldImg"/>
          </p:nvPr>
        </p:nvSpPr>
        <p:spPr>
          <a:prstGeom prst="rect">
            <a:avLst/>
          </a:prstGeom>
        </p:spPr>
        <p:txBody>
          <a:bodyPr/>
          <a:lstStyle/>
          <a:p>
            <a:pPr/>
          </a:p>
        </p:txBody>
      </p:sp>
      <p:sp>
        <p:nvSpPr>
          <p:cNvPr id="251" name="Shape 251"/>
          <p:cNvSpPr/>
          <p:nvPr>
            <p:ph type="body" sz="quarter" idx="1"/>
          </p:nvPr>
        </p:nvSpPr>
        <p:spPr>
          <a:prstGeom prst="rect">
            <a:avLst/>
          </a:prstGeom>
        </p:spPr>
        <p:txBody>
          <a:bodyPr/>
          <a:lstStyle/>
          <a:p>
            <a:pPr/>
            <a:r>
              <a:t>INSIDE THE NUCLEUS. 2 minutes. Three clicks: proton, neutron, then the sentence. The picture is on screen from the start.</a:t>
            </a:r>
          </a:p>
          <a:p>
            <a:pPr/>
          </a:p>
          <a:p>
            <a:pPr/>
            <a:r>
              <a:t>THIS IS THE PICTURE FROM THE NUCLEUS LESSON: the dark nucleus with the yellow and rose dots. It is kept SEPARATE from the atom on slide 7 on purpose. Putting the electrons and the nucleus dots in one picture would be a picture they have not seen.</a:t>
            </a:r>
          </a:p>
          <a:p>
            <a:pPr/>
          </a:p>
          <a:p>
            <a:pPr/>
            <a:r>
              <a:t>POINT AT THE DARK CIRCLE: "the nucleus". Point at a yellow dot: "proton". Point at a rose dot: "neutron". Then the sentence, with the gesture for made of (hands building): "The nucleus... is made of... protons and neutrons." Whole class, twice.</a:t>
            </a:r>
          </a:p>
          <a:p>
            <a:pPr/>
          </a:p>
          <a:p>
            <a:pPr/>
            <a:r>
              <a:t>THE PLURAL AGAIN: protons and neutrons, with the s. There is more than one of each in the picture. Point at the dots as you hiss the s.</a:t>
            </a:r>
          </a:p>
          <a:p>
            <a:pPr/>
          </a:p>
          <a:p>
            <a:pPr/>
            <a:r>
              <a:t>WATCH FOR nucleus and proton mixed up: some students point at the whole dark circle for both. Recast once: "the nucleus is the whole dark circle, a proton is one yellow dot inside it".</a:t>
            </a:r>
          </a:p>
          <a:p>
            <a:pPr/>
          </a:p>
          <a:p>
            <a:pPr/>
            <a:r>
              <a:t>KEEP IT MODEL-ONLY. If someone asks how many protons an atom has, say it is a simple picture, not a real atom, and that is for a later lesson.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5" name="Shape 285"/>
          <p:cNvSpPr/>
          <p:nvPr>
            <p:ph type="sldImg"/>
          </p:nvPr>
        </p:nvSpPr>
        <p:spPr>
          <a:prstGeom prst="rect">
            <a:avLst/>
          </a:prstGeom>
        </p:spPr>
        <p:txBody>
          <a:bodyPr/>
          <a:lstStyle/>
          <a:p>
            <a:pPr/>
          </a:p>
        </p:txBody>
      </p:sp>
      <p:sp>
        <p:nvSpPr>
          <p:cNvPr id="286" name="Shape 286"/>
          <p:cNvSpPr/>
          <p:nvPr>
            <p:ph type="body" sz="quarter" idx="1"/>
          </p:nvPr>
        </p:nvSpPr>
        <p:spPr>
          <a:prstGeom prst="rect">
            <a:avLst/>
          </a:prstGeom>
        </p:spPr>
        <p:txBody>
          <a:bodyPr/>
          <a:lstStyle/>
          <a:p>
            <a:pPr/>
            <a:r>
              <a:t>YOU SAY, PART A. 5 minutes, the first half of the biggest block in the lesson. Six clicks: the frame, the four pictures, then the second sentence.</a:t>
            </a:r>
          </a:p>
          <a:p>
            <a:pPr/>
          </a:p>
          <a:p>
            <a:pPr/>
            <a:r>
              <a:t>THE FRAME GOES UP FIRST AND STAYS UP. Point at the gap, then at the picture, then wait. Do not say it for them.</a:t>
            </a:r>
          </a:p>
          <a:p>
            <a:pPr/>
          </a:p>
          <a:p>
            <a:pPr/>
            <a:r>
              <a:t>ORDER OF DIFFICULTY, and keep to it: 1) whole class together. 2) half the class. 3) PAIRS, turn and tell your partner. 4) individuals, the strongest first so the shy ones have heard it four times before their turn.</a:t>
            </a:r>
          </a:p>
          <a:p>
            <a:pPr/>
          </a:p>
          <a:p>
            <a:pPr/>
            <a:r>
              <a:t>PAIRS IS WHERE THE SPEAKING MINUTES ARE. Every student says the sentence out loud four times to one other person, far more than any whole-class round.</a:t>
            </a:r>
          </a:p>
          <a:p>
            <a:pPr/>
          </a:p>
          <a:p>
            <a:pPr/>
            <a:r>
              <a:t>THE SENTENCE MUST BE WHOLE, and the s must be on "atoms". They will say "Water is made of atom." Recast, do not explain: "atoms", with the hiss. Make the "made of" gesture (hands building) each time. They will say "made from": recast to "made of" and move on.</a:t>
            </a:r>
          </a:p>
          <a:p>
            <a:pPr/>
          </a:p>
          <a:p>
            <a:pPr/>
            <a:r>
              <a:t>THE SECOND SENTENCE, "An atom is a tiny part of matter", is the one from slide 6. Do the four gestures as they say it: atom (circle), tiny (pinch), part (chop), matter (hold up a pen). This is the sentence they found hardest, so it gets the most repeats.</a:t>
            </a:r>
          </a:p>
          <a:p>
            <a:pPr/>
          </a:p>
          <a:p>
            <a:pPr/>
            <a:r>
              <a:t>EXTENSION for anyone flying: point at anything in the room and they make the sentence. The window, the light, the air conditioning. All atoms.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3" name="Shape 313"/>
          <p:cNvSpPr/>
          <p:nvPr>
            <p:ph type="sldImg"/>
          </p:nvPr>
        </p:nvSpPr>
        <p:spPr>
          <a:prstGeom prst="rect">
            <a:avLst/>
          </a:prstGeom>
        </p:spPr>
        <p:txBody>
          <a:bodyPr/>
          <a:lstStyle/>
          <a:p>
            <a:pPr/>
          </a:p>
        </p:txBody>
      </p:sp>
      <p:sp>
        <p:nvSpPr>
          <p:cNvPr id="314" name="Shape 314"/>
          <p:cNvSpPr/>
          <p:nvPr>
            <p:ph type="body" sz="quarter" idx="1"/>
          </p:nvPr>
        </p:nvSpPr>
        <p:spPr>
          <a:prstGeom prst="rect">
            <a:avLst/>
          </a:prstGeom>
        </p:spPr>
        <p:txBody>
          <a:bodyPr/>
          <a:lstStyle/>
          <a:p>
            <a:pPr/>
            <a:r>
              <a:t>YOU SAY, PART B. 5 minutes, the second half of the biggest block. Three clicks, one answer each.</a:t>
            </a:r>
          </a:p>
          <a:p>
            <a:pPr/>
          </a:p>
          <a:p>
            <a:pPr/>
            <a:r>
              <a:t>EACH ROW: point at the picture, point at the gap, wait. They say the WHOLE sentence with the missing word in it. Then click and the word appears so they can check themselves.</a:t>
            </a:r>
          </a:p>
          <a:p>
            <a:pPr/>
          </a:p>
          <a:p>
            <a:pPr/>
            <a:r>
              <a:t>ROW 1, the centre picture (the four arrows pointing in): "The nucleus is in the centre of the atom." ROW 2, the electron picture: "The electron is outside the nucleus." ROW 3, the yellow and rose dots: "The nucleus is made of protons and neutrons." All three are sentences they have already said in Drawing an Atom and The Nucleus.</a:t>
            </a:r>
          </a:p>
          <a:p>
            <a:pPr/>
          </a:p>
          <a:p>
            <a:pPr/>
            <a:r>
              <a:t>SAME ORDER OF DIFFICULTY AS THE LAST SLIDE: whole class, half the class, pairs, then individuals. Pairs first for anyone who was quiet on the last slide.</a:t>
            </a:r>
          </a:p>
          <a:p>
            <a:pPr/>
          </a:p>
          <a:p>
            <a:pPr/>
            <a:r>
              <a:t>THE GAP WORD IS WHAT THEY GET WRONG. Row 1: "outside" for "centre" means centre and outside are swapped, go back to slide 7 and point at the atom. Row 2: they say "inside" or "in", recast to "outside". Row 3: they name only one of the two, usually proton, neutron is the one they are least sure of. Prompt with "and what else?" and do not supply the word.</a:t>
            </a:r>
          </a:p>
          <a:p>
            <a:pPr/>
          </a:p>
          <a:p>
            <a:pPr/>
            <a:r>
              <a:t>END THE BLOCK WITH ALL FIVE SENTENCES said in a row, whole class, without the screen. That is objective 3 said aloud, and it is what the worksheet asks them to write.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4" name="Shape 344"/>
          <p:cNvSpPr/>
          <p:nvPr>
            <p:ph type="sldImg"/>
          </p:nvPr>
        </p:nvSpPr>
        <p:spPr>
          <a:prstGeom prst="rect">
            <a:avLst/>
          </a:prstGeom>
        </p:spPr>
        <p:txBody>
          <a:bodyPr/>
          <a:lstStyle/>
          <a:p>
            <a:pPr/>
          </a:p>
        </p:txBody>
      </p:sp>
      <p:sp>
        <p:nvSpPr>
          <p:cNvPr id="345" name="Shape 345"/>
          <p:cNvSpPr/>
          <p:nvPr>
            <p:ph type="body" sz="quarter" idx="1"/>
          </p:nvPr>
        </p:nvSpPr>
        <p:spPr>
          <a:prstGeom prst="rect">
            <a:avLst/>
          </a:prstGeom>
        </p:spPr>
        <p:txBody>
          <a:bodyPr/>
          <a:lstStyle/>
          <a:p>
            <a:pPr/>
            <a:r>
              <a:t>YOU DO. 9 minutes. Four clicks: A, B, C, then the banner. The word bank stays on the screen.</a:t>
            </a:r>
          </a:p>
          <a:p>
            <a:pPr/>
          </a:p>
          <a:p>
            <a:pPr/>
            <a:r>
              <a:t>THE WORKSHEET HAS FOUR SECTIONS. A: ten pictures, write the word under each (objective 1). B: draw an atom, label the centre and the outside (objective 2). C: write the five sentences, filling the gaps from the word bank (objective 3). D: point and say with a partner.</a:t>
            </a:r>
          </a:p>
          <a:p>
            <a:pPr/>
          </a:p>
          <a:p>
            <a:pPr/>
            <a:r>
              <a:t>NO LINES TO DRAW. It is a word bank and a writing line, per the CLIL rules. Section A is copying with a picture to look at, and that is fine at this level.</a:t>
            </a:r>
          </a:p>
          <a:p>
            <a:pPr/>
          </a:p>
          <a:p>
            <a:pPr/>
            <a:r>
              <a:t>CIRCULATE AND ASK ONE THING: point at a picture on their sheet and wait. They say the word. Then point at a sentence: they say it. That is the oral check, started early.</a:t>
            </a:r>
          </a:p>
          <a:p>
            <a:pPr/>
          </a:p>
          <a:p>
            <a:pPr/>
            <a:r>
              <a:t>WHERE THEY WILL STALL: section C row 1, "an atom is a tiny ___ of ___", where part and matter get swapped. Send them back to slide 6, not to a new explanation.</a:t>
            </a:r>
          </a:p>
          <a:p>
            <a:pPr/>
          </a:p>
          <a:p>
            <a:pPr/>
            <a:r>
              <a:t>FAST FINISHERS: the back of the sheet has the same sentence about three more pictures. No new words.</a:t>
            </a:r>
          </a:p>
          <a:p>
            <a:pPr/>
          </a:p>
          <a:p>
            <a:pPr/>
            <a:r>
              <a:t>AT 2 MINUTES REMAINING, stop them. The last slide checks it together.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4" name="Shape 404"/>
          <p:cNvSpPr/>
          <p:nvPr>
            <p:ph type="sldImg"/>
          </p:nvPr>
        </p:nvSpPr>
        <p:spPr>
          <a:prstGeom prst="rect">
            <a:avLst/>
          </a:prstGeom>
        </p:spPr>
        <p:txBody>
          <a:bodyPr/>
          <a:lstStyle/>
          <a:p>
            <a:pPr/>
          </a:p>
        </p:txBody>
      </p:sp>
      <p:sp>
        <p:nvSpPr>
          <p:cNvPr id="405" name="Shape 405"/>
          <p:cNvSpPr/>
          <p:nvPr>
            <p:ph type="body" sz="quarter" idx="1"/>
          </p:nvPr>
        </p:nvSpPr>
        <p:spPr>
          <a:prstGeom prst="rect">
            <a:avLst/>
          </a:prstGeom>
        </p:spPr>
        <p:txBody>
          <a:bodyPr/>
          <a:lstStyle/>
          <a:p>
            <a:pPr/>
            <a:r>
              <a:t>SAY IT TOGETHER. 3 minutes. Five clicks, two pictures at a time, each with its word and a tick.</a:t>
            </a:r>
          </a:p>
          <a:p>
            <a:pPr/>
          </a:p>
          <a:p>
            <a:pPr/>
            <a:r>
              <a:t>THE SENTENCE FIRST, whole class, twice, with the four gestures.</a:t>
            </a:r>
          </a:p>
          <a:p>
            <a:pPr/>
          </a:p>
          <a:p>
            <a:pPr/>
            <a:r>
              <a:t>THEN THE PICTURES: point at each and the class says the word BEFORE the click. Every answer is right on purpose, so every student says ten correct words out loud and leaves having succeeded. If a word is weak, say it three times, do not correct it, and move on.</a:t>
            </a:r>
          </a:p>
          <a:p>
            <a:pPr/>
          </a:p>
          <a:p>
            <a:pPr/>
            <a:r>
              <a:t>THE TWO HARD ONES COME IN THE MIDDLE of the grid (nucleus, electron), where the room is warmed up and loud. Clap the beats once more as they say them.</a:t>
            </a:r>
          </a:p>
          <a:p>
            <a:pPr/>
          </a:p>
          <a:p>
            <a:pPr/>
            <a:r>
              <a:t>BEFORE THEY GO: ask two or three individuals to point at the atom picture from slide 7 and say where the centre is and where the outside is. Yes/no first if they hesitate: "Is the nucleus in the centre?"</a:t>
            </a:r>
          </a:p>
          <a:p>
            <a:pPr/>
          </a:p>
          <a:p>
            <a:pPr/>
            <a:r>
              <a:t>THE PROMISE ON THE SCREEN. The Nucleus lesson ended with "Next lesson: we build a real model", and today was a revision lesson instead, so that line is still owed. It is repeated here. CHANGE THIS LINE if the model-kit practical is not the next lesson.</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86661" y="6172200"/>
            <a:ext cx="2841838"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ideo" Target="../media/media1.mp4"/><Relationship Id="rId4" Type="http://schemas.microsoft.com/office/2007/relationships/media" Target="../media/media1.mp4"/><Relationship Id="rId5"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video" Target="../media/media2.mp4"/><Relationship Id="rId4" Type="http://schemas.microsoft.com/office/2007/relationships/media" Target="../media/media2.mp4"/><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video" Target="../media/media3.mp4"/><Relationship Id="rId4" Type="http://schemas.microsoft.com/office/2007/relationships/media" Target="../media/media3.mp4"/><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2.png"/><Relationship Id="rId6" Type="http://schemas.openxmlformats.org/officeDocument/2006/relationships/image" Target="../media/image10.png"/><Relationship Id="rId7" Type="http://schemas.openxmlformats.org/officeDocument/2006/relationships/image" Target="../media/image6.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ideo" Target="../media/media2.mp4"/><Relationship Id="rId4" Type="http://schemas.microsoft.com/office/2007/relationships/media" Target="../media/media2.mp4"/><Relationship Id="rId5" Type="http://schemas.openxmlformats.org/officeDocument/2006/relationships/image" Target="../media/image2.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2.png"/><Relationship Id="rId6" Type="http://schemas.openxmlformats.org/officeDocument/2006/relationships/image" Target="../media/image7.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7.png"/><Relationship Id="rId11" Type="http://schemas.openxmlformats.org/officeDocument/2006/relationships/image" Target="../media/image9.png"/><Relationship Id="rId12" Type="http://schemas.openxmlformats.org/officeDocument/2006/relationships/image" Target="../media/image4.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video" Target="../media/media5.mp4"/><Relationship Id="rId4" Type="http://schemas.microsoft.com/office/2007/relationships/media" Target="../media/media5.mp4"/><Relationship Id="rId5" Type="http://schemas.openxmlformats.org/officeDocument/2006/relationships/image" Target="../media/image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video" Target="../media/media2.mp4"/><Relationship Id="rId4" Type="http://schemas.microsoft.com/office/2007/relationships/media" Target="../media/media2.mp4"/><Relationship Id="rId5" Type="http://schemas.openxmlformats.org/officeDocument/2006/relationships/image" Target="../media/image2.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2.png"/><Relationship Id="rId6" Type="http://schemas.openxmlformats.org/officeDocument/2006/relationships/image" Target="../media/image14.png"/><Relationship Id="rId7" Type="http://schemas.openxmlformats.org/officeDocument/2006/relationships/image" Target="../media/image6.png"/><Relationship Id="rId8" Type="http://schemas.openxmlformats.org/officeDocument/2006/relationships/image" Target="../media/image16.png"/><Relationship Id="rId9" Type="http://schemas.openxmlformats.org/officeDocument/2006/relationships/image" Target="../media/image15.png"/><Relationship Id="rId10" Type="http://schemas.openxmlformats.org/officeDocument/2006/relationships/image" Target="../media/image18.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2.png"/><Relationship Id="rId6" Type="http://schemas.openxmlformats.org/officeDocument/2006/relationships/image" Target="../media/image11.png"/><Relationship Id="rId7" Type="http://schemas.openxmlformats.org/officeDocument/2006/relationships/image" Target="../media/image12.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video" Target="../media/media6.mp4"/><Relationship Id="rId4" Type="http://schemas.microsoft.com/office/2007/relationships/media" Target="../media/media6.mp4"/><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video" Target="../media/media7.mp4"/><Relationship Id="rId4" Type="http://schemas.microsoft.com/office/2007/relationships/media" Target="../media/media7.mp4"/><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image" Target="../media/image19.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23B54"/>
        </a:solidFill>
      </p:bgPr>
    </p:bg>
    <p:spTree>
      <p:nvGrpSpPr>
        <p:cNvPr id="1" name=""/>
        <p:cNvGrpSpPr/>
        <p:nvPr/>
      </p:nvGrpSpPr>
      <p:grpSpPr>
        <a:xfrm>
          <a:off x="0" y="0"/>
          <a:ext cx="0" cy="0"/>
          <a:chOff x="0" y="0"/>
          <a:chExt cx="0" cy="0"/>
        </a:xfrm>
      </p:grpSpPr>
      <p:pic>
        <p:nvPicPr>
          <p:cNvPr id="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sp>
        <p:nvSpPr>
          <p:cNvPr id="21" name="kicker"/>
          <p:cNvSpPr txBox="1"/>
          <p:nvPr/>
        </p:nvSpPr>
        <p:spPr>
          <a:xfrm>
            <a:off x="1170432" y="389080"/>
            <a:ext cx="2743201"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60" sz="1200">
                <a:solidFill>
                  <a:srgbClr val="FFD166"/>
                </a:solidFill>
                <a:latin typeface="Arial"/>
                <a:ea typeface="Arial"/>
                <a:cs typeface="Arial"/>
                <a:sym typeface="Arial"/>
              </a:defRPr>
            </a:lvl1pPr>
          </a:lstStyle>
          <a:p>
            <a:pPr/>
            <a:r>
              <a:t>ATOMS</a:t>
            </a:r>
          </a:p>
        </p:txBody>
      </p:sp>
      <p:sp>
        <p:nvSpPr>
          <p:cNvPr id="22" name="lesson_date"/>
          <p:cNvSpPr txBox="1"/>
          <p:nvPr/>
        </p:nvSpPr>
        <p:spPr>
          <a:xfrm>
            <a:off x="8351214" y="382938"/>
            <a:ext cx="3291842"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300">
                <a:solidFill>
                  <a:srgbClr val="D3E3EB"/>
                </a:solidFill>
                <a:latin typeface="Arial"/>
                <a:ea typeface="Arial"/>
                <a:cs typeface="Arial"/>
                <a:sym typeface="Arial"/>
              </a:defRPr>
            </a:lvl1pPr>
          </a:lstStyle>
          <a:p>
            <a:pPr/>
            <a:r>
              <a:t>Thursday 1 October 2026</a:t>
            </a:r>
          </a:p>
        </p:txBody>
      </p:sp>
      <p:sp>
        <p:nvSpPr>
          <p:cNvPr id="23" name="lesson_title"/>
          <p:cNvSpPr txBox="1"/>
          <p:nvPr/>
        </p:nvSpPr>
        <p:spPr>
          <a:xfrm>
            <a:off x="1170431" y="1600200"/>
            <a:ext cx="6035042" cy="18893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5000"/>
              </a:lnSpc>
              <a:defRPr b="1" sz="4000">
                <a:solidFill>
                  <a:srgbClr val="F4F8FA"/>
                </a:solidFill>
                <a:latin typeface="Georgia"/>
                <a:ea typeface="Georgia"/>
                <a:cs typeface="Georgia"/>
                <a:sym typeface="Georgia"/>
              </a:defRPr>
            </a:pPr>
            <a:r>
              <a:t>Atoms:</a:t>
            </a:r>
          </a:p>
          <a:p>
            <a:pPr>
              <a:lnSpc>
                <a:spcPts val="5000"/>
              </a:lnSpc>
              <a:defRPr b="1" sz="4000">
                <a:solidFill>
                  <a:srgbClr val="F4F8FA"/>
                </a:solidFill>
                <a:latin typeface="Georgia"/>
                <a:ea typeface="Georgia"/>
                <a:cs typeface="Georgia"/>
                <a:sym typeface="Georgia"/>
              </a:defRPr>
            </a:pPr>
            <a:r>
              <a:t>the words and</a:t>
            </a:r>
          </a:p>
          <a:p>
            <a:pPr>
              <a:lnSpc>
                <a:spcPts val="5000"/>
              </a:lnSpc>
              <a:defRPr b="1" sz="4000">
                <a:solidFill>
                  <a:srgbClr val="F4F8FA"/>
                </a:solidFill>
                <a:latin typeface="Georgia"/>
                <a:ea typeface="Georgia"/>
                <a:cs typeface="Georgia"/>
                <a:sym typeface="Georgia"/>
              </a:defRPr>
            </a:pPr>
            <a:r>
              <a:t>the picture</a:t>
            </a:r>
          </a:p>
        </p:txBody>
      </p:sp>
      <p:sp>
        <p:nvSpPr>
          <p:cNvPr id="24" name="lesson_sub"/>
          <p:cNvSpPr txBox="1"/>
          <p:nvPr/>
        </p:nvSpPr>
        <p:spPr>
          <a:xfrm>
            <a:off x="1170431" y="4276090"/>
            <a:ext cx="603504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FFD166"/>
                </a:solidFill>
                <a:latin typeface="Georgia"/>
                <a:ea typeface="Georgia"/>
                <a:cs typeface="Georgia"/>
                <a:sym typeface="Georgia"/>
              </a:defRPr>
            </a:lvl1pPr>
          </a:lstStyle>
          <a:p>
            <a:pPr/>
            <a:r>
              <a:t>Words. Picture. Sentences.</a:t>
            </a:r>
          </a:p>
        </p:txBody>
      </p:sp>
      <p:sp>
        <p:nvSpPr>
          <p:cNvPr id="25" name="hero_ring"/>
          <p:cNvSpPr/>
          <p:nvPr/>
        </p:nvSpPr>
        <p:spPr>
          <a:xfrm>
            <a:off x="7360919" y="1783079"/>
            <a:ext cx="3840481" cy="3840481"/>
          </a:xfrm>
          <a:prstGeom prst="ellipse">
            <a:avLst/>
          </a:prstGeom>
          <a:solidFill>
            <a:srgbClr val="174A67"/>
          </a:solidFill>
          <a:ln w="20320">
            <a:solidFill>
              <a:srgbClr val="DCE7EE"/>
            </a:solidFill>
          </a:ln>
        </p:spPr>
        <p:txBody>
          <a:bodyPr lIns="45719" rIns="45719"/>
          <a:lstStyle/>
          <a:p>
            <a:pPr/>
          </a:p>
        </p:txBody>
      </p:sp>
      <p:sp>
        <p:nvSpPr>
          <p:cNvPr id="26" name="hero_centre"/>
          <p:cNvSpPr/>
          <p:nvPr/>
        </p:nvSpPr>
        <p:spPr>
          <a:xfrm>
            <a:off x="8705088" y="3127248"/>
            <a:ext cx="1152145" cy="1152145"/>
          </a:xfrm>
          <a:prstGeom prst="ellipse">
            <a:avLst/>
          </a:prstGeom>
          <a:solidFill>
            <a:srgbClr val="FFD166"/>
          </a:solidFill>
          <a:ln w="15240">
            <a:solidFill>
              <a:srgbClr val="FFD166"/>
            </a:solidFill>
          </a:ln>
        </p:spPr>
        <p:txBody>
          <a:bodyPr lIns="45719" rIns="45719"/>
          <a:lstStyle/>
          <a:p>
            <a:pPr/>
          </a:p>
        </p:txBody>
      </p:sp>
      <p:sp>
        <p:nvSpPr>
          <p:cNvPr id="27" name="hero_centre_t"/>
          <p:cNvSpPr txBox="1"/>
          <p:nvPr/>
        </p:nvSpPr>
        <p:spPr>
          <a:xfrm>
            <a:off x="8705088" y="3604628"/>
            <a:ext cx="1152145"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23B54"/>
                </a:solidFill>
                <a:latin typeface="Arial"/>
                <a:ea typeface="Arial"/>
                <a:cs typeface="Arial"/>
                <a:sym typeface="Arial"/>
              </a:defRPr>
            </a:lvl1pPr>
          </a:lstStyle>
          <a:p>
            <a:pPr/>
            <a:r>
              <a:t>centre</a:t>
            </a:r>
          </a:p>
        </p:txBody>
      </p:sp>
      <p:sp>
        <p:nvSpPr>
          <p:cNvPr id="28" name="hero_outside_t"/>
          <p:cNvSpPr txBox="1"/>
          <p:nvPr/>
        </p:nvSpPr>
        <p:spPr>
          <a:xfrm>
            <a:off x="8688629" y="4856700"/>
            <a:ext cx="1645921"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500">
                <a:solidFill>
                  <a:srgbClr val="FFD166"/>
                </a:solidFill>
                <a:latin typeface="Arial"/>
                <a:ea typeface="Arial"/>
                <a:cs typeface="Arial"/>
                <a:sym typeface="Arial"/>
              </a:defRPr>
            </a:lvl1pPr>
          </a:lstStyle>
          <a:p>
            <a:pPr/>
            <a:r>
              <a:t>outside</a:t>
            </a:r>
          </a:p>
        </p:txBody>
      </p:sp>
      <p:sp>
        <p:nvSpPr>
          <p:cNvPr id="29" name="hero_e0"/>
          <p:cNvSpPr/>
          <p:nvPr/>
        </p:nvSpPr>
        <p:spPr>
          <a:xfrm>
            <a:off x="10164315" y="1940447"/>
            <a:ext cx="268835" cy="268835"/>
          </a:xfrm>
          <a:prstGeom prst="ellipse">
            <a:avLst/>
          </a:prstGeom>
          <a:solidFill>
            <a:srgbClr val="FFFFFF"/>
          </a:solidFill>
          <a:ln w="12700">
            <a:solidFill>
              <a:srgbClr val="FFFFFF"/>
            </a:solidFill>
          </a:ln>
        </p:spPr>
        <p:txBody>
          <a:bodyPr lIns="45719" rIns="45719"/>
          <a:lstStyle/>
          <a:p>
            <a:pPr/>
          </a:p>
        </p:txBody>
      </p:sp>
      <p:sp>
        <p:nvSpPr>
          <p:cNvPr id="30" name="hero_e1"/>
          <p:cNvSpPr/>
          <p:nvPr/>
        </p:nvSpPr>
        <p:spPr>
          <a:xfrm>
            <a:off x="10972999" y="4162290"/>
            <a:ext cx="268835" cy="268835"/>
          </a:xfrm>
          <a:prstGeom prst="ellipse">
            <a:avLst/>
          </a:prstGeom>
          <a:solidFill>
            <a:srgbClr val="FFFFFF"/>
          </a:solidFill>
          <a:ln w="12700">
            <a:solidFill>
              <a:srgbClr val="FFFFFF"/>
            </a:solidFill>
          </a:ln>
        </p:spPr>
        <p:txBody>
          <a:bodyPr lIns="45719" rIns="45719"/>
          <a:lstStyle/>
          <a:p>
            <a:pPr/>
          </a:p>
        </p:txBody>
      </p:sp>
      <p:sp>
        <p:nvSpPr>
          <p:cNvPr id="31" name="hero_e2"/>
          <p:cNvSpPr/>
          <p:nvPr/>
        </p:nvSpPr>
        <p:spPr>
          <a:xfrm>
            <a:off x="7675753" y="4803209"/>
            <a:ext cx="268835" cy="268835"/>
          </a:xfrm>
          <a:prstGeom prst="ellipse">
            <a:avLst/>
          </a:prstGeom>
          <a:solidFill>
            <a:srgbClr val="FFFFFF"/>
          </a:solidFill>
          <a:ln w="12700">
            <a:solidFill>
              <a:srgbClr val="FFFFFF"/>
            </a:solidFill>
          </a:ln>
        </p:spPr>
        <p:txBody>
          <a:bodyPr lIns="45719" rIns="45719"/>
          <a:lstStyle/>
          <a:p>
            <a:pPr/>
          </a:p>
        </p:txBody>
      </p:sp>
      <p:sp>
        <p:nvSpPr>
          <p:cNvPr id="32" name="hero_e3"/>
          <p:cNvSpPr/>
          <p:nvPr/>
        </p:nvSpPr>
        <p:spPr>
          <a:xfrm>
            <a:off x="7518286" y="2551331"/>
            <a:ext cx="268835" cy="268835"/>
          </a:xfrm>
          <a:prstGeom prst="ellipse">
            <a:avLst/>
          </a:prstGeom>
          <a:solidFill>
            <a:srgbClr val="FFFFFF"/>
          </a:solidFill>
          <a:ln w="12700">
            <a:solidFill>
              <a:srgbClr val="FFFFFF"/>
            </a:solidFill>
          </a:ln>
        </p:spPr>
        <p:txBody>
          <a:bodyPr lIns="45719" rIns="45719"/>
          <a:lstStyle/>
          <a:p>
            <a:pP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 fill="hold"/>
                                        <p:tgtEl>
                                          <p:spTgt spid="20"/>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7" fill="hold" display="0">
                  <p:stCondLst>
                    <p:cond delay="indefinite"/>
                  </p:stCondLst>
                </p:cTn>
                <p:tgtEl>
                  <p:spTgt spid="20"/>
                </p:tgtEl>
              </p:cMediaNode>
            </p:video>
            <p:seq concurrent="1" prevAc="none" nextAc="seek">
              <p:cTn id="8" evtFilter="cancelBubble" nodeType="interactiveSeq" restart="whenNotActive" fill="hold">
                <p:stCondLst>
                  <p:cond delay="0" evt="onClick">
                    <p:tgtEl>
                      <p:spTgt spid="20"/>
                    </p:tgtEl>
                  </p:cond>
                </p:stCondLst>
                <p:endSync delay="0" evt="end">
                  <p:rtn val="all"/>
                </p:endSync>
                <p:childTnLst>
                  <p:par>
                    <p:cTn id="9" fill="hold">
                      <p:stCondLst>
                        <p:cond delay="0"/>
                      </p:stCondLst>
                      <p:childTnLst>
                        <p:par>
                          <p:cTn id="10" fill="hold">
                            <p:stCondLst>
                              <p:cond delay="0"/>
                            </p:stCondLst>
                            <p:childTnLst>
                              <p:par>
                                <p:cTn id="11" presetClass="mediacall" nodeType="clickEffect" presetSubtype="0" presetID="2" fill="hold">
                                  <p:stCondLst>
                                    <p:cond delay="0"/>
                                  </p:stCondLst>
                                  <p:childTnLst>
                                    <p:cmd type="call" cmd="togglePause">
                                      <p:cBhvr>
                                        <p:cTn id="12" dur="1" fill="hold"/>
                                        <p:tgtEl>
                                          <p:spTgt spid="20"/>
                                        </p:tgtEl>
                                      </p:cBhvr>
                                    </p:cmd>
                                  </p:childTnLst>
                                </p:cTn>
                              </p:par>
                            </p:childTnLst>
                          </p:cTn>
                        </p:par>
                      </p:childTnLst>
                    </p:cTn>
                  </p:par>
                </p:childTnLst>
              </p:cTn>
              <p:nextCondLst>
                <p:cond delay="0" evt="onClick">
                  <p:tgtEl>
                    <p:spTgt spid="20"/>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8FA"/>
        </a:solidFill>
      </p:bgPr>
    </p:bg>
    <p:spTree>
      <p:nvGrpSpPr>
        <p:cNvPr id="1" name=""/>
        <p:cNvGrpSpPr/>
        <p:nvPr/>
      </p:nvGrpSpPr>
      <p:grpSpPr>
        <a:xfrm>
          <a:off x="0" y="0"/>
          <a:ext cx="0" cy="0"/>
          <a:chOff x="0" y="0"/>
          <a:chExt cx="0" cy="0"/>
        </a:xfrm>
      </p:grpSpPr>
      <p:pic>
        <p:nvPicPr>
          <p:cNvPr id="36"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39" name="phase_pill"/>
          <p:cNvGrpSpPr/>
          <p:nvPr/>
        </p:nvGrpSpPr>
        <p:grpSpPr>
          <a:xfrm>
            <a:off x="1170432" y="310895"/>
            <a:ext cx="1713586" cy="329185"/>
            <a:chOff x="0" y="0"/>
            <a:chExt cx="1713585" cy="329184"/>
          </a:xfrm>
        </p:grpSpPr>
        <p:sp>
          <p:nvSpPr>
            <p:cNvPr id="37" name="Rounded Rectangle"/>
            <p:cNvSpPr/>
            <p:nvPr/>
          </p:nvSpPr>
          <p:spPr>
            <a:xfrm>
              <a:off x="0" y="0"/>
              <a:ext cx="1713586" cy="329185"/>
            </a:xfrm>
            <a:prstGeom prst="roundRect">
              <a:avLst>
                <a:gd name="adj" fmla="val 44444"/>
              </a:avLst>
            </a:prstGeom>
            <a:solidFill>
              <a:srgbClr val="123B54"/>
            </a:solidFill>
            <a:ln w="12700" cap="flat">
              <a:noFill/>
              <a:miter lim="400000"/>
            </a:ln>
            <a:effectLst/>
          </p:spPr>
          <p:txBody>
            <a:bodyPr wrap="square" lIns="45719" tIns="45719" rIns="45719" bIns="45719" numCol="1" anchor="ctr">
              <a:noAutofit/>
            </a:bodyPr>
            <a:lstStyle/>
            <a:p>
              <a:pPr algn="ctr">
                <a:defRPr sz="1100"/>
              </a:pPr>
            </a:p>
          </p:txBody>
        </p:sp>
        <p:sp>
          <p:nvSpPr>
            <p:cNvPr id="38" name="TODAY · 2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TODAY · 2 MIN</a:t>
              </a:r>
            </a:p>
          </p:txBody>
        </p:sp>
      </p:grpSp>
      <p:sp>
        <p:nvSpPr>
          <p:cNvPr id="40"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123B54"/>
                </a:solidFill>
                <a:latin typeface="Georgia"/>
                <a:ea typeface="Georgia"/>
                <a:cs typeface="Georgia"/>
                <a:sym typeface="Georgia"/>
              </a:defRPr>
            </a:lvl1pPr>
          </a:lstStyle>
          <a:p>
            <a:pPr/>
            <a:r>
              <a:t>Today</a:t>
            </a:r>
          </a:p>
        </p:txBody>
      </p:sp>
      <p:grpSp>
        <p:nvGrpSpPr>
          <p:cNvPr id="45" name="o0"/>
          <p:cNvGrpSpPr/>
          <p:nvPr/>
        </p:nvGrpSpPr>
        <p:grpSpPr>
          <a:xfrm>
            <a:off x="1170432" y="2148839"/>
            <a:ext cx="3307994" cy="3200401"/>
            <a:chOff x="0" y="0"/>
            <a:chExt cx="3307993" cy="3200400"/>
          </a:xfrm>
        </p:grpSpPr>
        <p:sp>
          <p:nvSpPr>
            <p:cNvPr id="41" name="o0_bg"/>
            <p:cNvSpPr/>
            <p:nvPr/>
          </p:nvSpPr>
          <p:spPr>
            <a:xfrm>
              <a:off x="0" y="0"/>
              <a:ext cx="3307994" cy="3200400"/>
            </a:xfrm>
            <a:prstGeom prst="roundRect">
              <a:avLst>
                <a:gd name="adj" fmla="val 3429"/>
              </a:avLst>
            </a:prstGeom>
            <a:solidFill>
              <a:srgbClr val="FFFFFF"/>
            </a:solidFill>
            <a:ln w="16510" cap="flat">
              <a:solidFill>
                <a:srgbClr val="D3E3EB"/>
              </a:solidFill>
              <a:prstDash val="solid"/>
              <a:round/>
            </a:ln>
            <a:effectLst/>
          </p:spPr>
          <p:txBody>
            <a:bodyPr wrap="square" lIns="45719" tIns="45719" rIns="45719" bIns="45719" numCol="1" anchor="t">
              <a:noAutofit/>
            </a:bodyPr>
            <a:lstStyle/>
            <a:p>
              <a:pPr/>
            </a:p>
          </p:txBody>
        </p:sp>
        <p:sp>
          <p:nvSpPr>
            <p:cNvPr id="42" name="o0_num"/>
            <p:cNvSpPr txBox="1"/>
            <p:nvPr/>
          </p:nvSpPr>
          <p:spPr>
            <a:xfrm>
              <a:off x="219456" y="221741"/>
              <a:ext cx="457200"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400">
                  <a:solidFill>
                    <a:srgbClr val="A9741A"/>
                  </a:solidFill>
                  <a:latin typeface="Georgia"/>
                  <a:ea typeface="Georgia"/>
                  <a:cs typeface="Georgia"/>
                  <a:sym typeface="Georgia"/>
                </a:defRPr>
              </a:lvl1pPr>
            </a:lstStyle>
            <a:p>
              <a:pPr/>
              <a:r>
                <a:t>1</a:t>
              </a:r>
            </a:p>
          </p:txBody>
        </p:sp>
        <p:pic>
          <p:nvPicPr>
            <p:cNvPr id="43" name="o0_img" descr="o0_img"/>
            <p:cNvPicPr>
              <a:picLocks noChangeAspect="1"/>
            </p:cNvPicPr>
            <p:nvPr/>
          </p:nvPicPr>
          <p:blipFill>
            <a:blip r:embed="rId6">
              <a:extLst/>
            </a:blip>
            <a:stretch>
              <a:fillRect/>
            </a:stretch>
          </p:blipFill>
          <p:spPr>
            <a:xfrm>
              <a:off x="1151076" y="384047"/>
              <a:ext cx="1005841" cy="1005842"/>
            </a:xfrm>
            <a:prstGeom prst="rect">
              <a:avLst/>
            </a:prstGeom>
            <a:ln w="12700" cap="flat">
              <a:noFill/>
              <a:miter lim="400000"/>
            </a:ln>
            <a:effectLst/>
          </p:spPr>
        </p:pic>
        <p:sp>
          <p:nvSpPr>
            <p:cNvPr id="44" name="o0_t"/>
            <p:cNvSpPr txBox="1"/>
            <p:nvPr/>
          </p:nvSpPr>
          <p:spPr>
            <a:xfrm>
              <a:off x="256032" y="1691639"/>
              <a:ext cx="2795930" cy="54867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2200"/>
                </a:lnSpc>
                <a:defRPr b="1" sz="1700">
                  <a:solidFill>
                    <a:srgbClr val="0E2A3B"/>
                  </a:solidFill>
                  <a:latin typeface="Arial"/>
                  <a:ea typeface="Arial"/>
                  <a:cs typeface="Arial"/>
                  <a:sym typeface="Arial"/>
                </a:defRPr>
              </a:lvl1pPr>
            </a:lstStyle>
            <a:p>
              <a:pPr/>
              <a:r>
                <a:t>Match the words to the pictures.</a:t>
              </a:r>
            </a:p>
          </p:txBody>
        </p:sp>
      </p:grpSp>
      <p:grpSp>
        <p:nvGrpSpPr>
          <p:cNvPr id="50" name="o1"/>
          <p:cNvGrpSpPr/>
          <p:nvPr/>
        </p:nvGrpSpPr>
        <p:grpSpPr>
          <a:xfrm>
            <a:off x="4752745" y="2148839"/>
            <a:ext cx="3307995" cy="3200401"/>
            <a:chOff x="0" y="0"/>
            <a:chExt cx="3307993" cy="3200400"/>
          </a:xfrm>
        </p:grpSpPr>
        <p:sp>
          <p:nvSpPr>
            <p:cNvPr id="46" name="o1_bg"/>
            <p:cNvSpPr/>
            <p:nvPr/>
          </p:nvSpPr>
          <p:spPr>
            <a:xfrm>
              <a:off x="0" y="0"/>
              <a:ext cx="3307994" cy="3200400"/>
            </a:xfrm>
            <a:prstGeom prst="roundRect">
              <a:avLst>
                <a:gd name="adj" fmla="val 3429"/>
              </a:avLst>
            </a:prstGeom>
            <a:solidFill>
              <a:srgbClr val="FFFFFF"/>
            </a:solidFill>
            <a:ln w="16510" cap="flat">
              <a:solidFill>
                <a:srgbClr val="D3E3EB"/>
              </a:solidFill>
              <a:prstDash val="solid"/>
              <a:round/>
            </a:ln>
            <a:effectLst/>
          </p:spPr>
          <p:txBody>
            <a:bodyPr wrap="square" lIns="45719" tIns="45719" rIns="45719" bIns="45719" numCol="1" anchor="t">
              <a:noAutofit/>
            </a:bodyPr>
            <a:lstStyle/>
            <a:p>
              <a:pPr/>
            </a:p>
          </p:txBody>
        </p:sp>
        <p:sp>
          <p:nvSpPr>
            <p:cNvPr id="47" name="o1_num"/>
            <p:cNvSpPr txBox="1"/>
            <p:nvPr/>
          </p:nvSpPr>
          <p:spPr>
            <a:xfrm>
              <a:off x="219456" y="221741"/>
              <a:ext cx="457200"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400">
                  <a:solidFill>
                    <a:srgbClr val="A9741A"/>
                  </a:solidFill>
                  <a:latin typeface="Georgia"/>
                  <a:ea typeface="Georgia"/>
                  <a:cs typeface="Georgia"/>
                  <a:sym typeface="Georgia"/>
                </a:defRPr>
              </a:lvl1pPr>
            </a:lstStyle>
            <a:p>
              <a:pPr/>
              <a:r>
                <a:t>2</a:t>
              </a:r>
            </a:p>
          </p:txBody>
        </p:sp>
        <p:pic>
          <p:nvPicPr>
            <p:cNvPr id="48" name="o1_img" descr="o1_img"/>
            <p:cNvPicPr>
              <a:picLocks noChangeAspect="1"/>
            </p:cNvPicPr>
            <p:nvPr/>
          </p:nvPicPr>
          <p:blipFill>
            <a:blip r:embed="rId7">
              <a:extLst/>
            </a:blip>
            <a:stretch>
              <a:fillRect/>
            </a:stretch>
          </p:blipFill>
          <p:spPr>
            <a:xfrm>
              <a:off x="1151077" y="384047"/>
              <a:ext cx="1005841" cy="1005842"/>
            </a:xfrm>
            <a:prstGeom prst="rect">
              <a:avLst/>
            </a:prstGeom>
            <a:ln w="12700" cap="flat">
              <a:noFill/>
              <a:miter lim="400000"/>
            </a:ln>
            <a:effectLst/>
          </p:spPr>
        </p:pic>
        <p:sp>
          <p:nvSpPr>
            <p:cNvPr id="49" name="o1_t"/>
            <p:cNvSpPr txBox="1"/>
            <p:nvPr/>
          </p:nvSpPr>
          <p:spPr>
            <a:xfrm>
              <a:off x="256032" y="1691639"/>
              <a:ext cx="2795930" cy="54867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2200"/>
                </a:lnSpc>
                <a:defRPr b="1" sz="1700">
                  <a:solidFill>
                    <a:srgbClr val="0E2A3B"/>
                  </a:solidFill>
                  <a:latin typeface="Arial"/>
                  <a:ea typeface="Arial"/>
                  <a:cs typeface="Arial"/>
                  <a:sym typeface="Arial"/>
                </a:defRPr>
              </a:lvl1pPr>
            </a:lstStyle>
            <a:p>
              <a:pPr/>
              <a:r>
                <a:t>Draw an atom. Label the centre and the outside.</a:t>
              </a:r>
            </a:p>
          </p:txBody>
        </p:sp>
      </p:grpSp>
      <p:grpSp>
        <p:nvGrpSpPr>
          <p:cNvPr id="55" name="o2"/>
          <p:cNvGrpSpPr/>
          <p:nvPr/>
        </p:nvGrpSpPr>
        <p:grpSpPr>
          <a:xfrm>
            <a:off x="8335061" y="2148839"/>
            <a:ext cx="3307994" cy="3200401"/>
            <a:chOff x="0" y="0"/>
            <a:chExt cx="3307993" cy="3200400"/>
          </a:xfrm>
        </p:grpSpPr>
        <p:sp>
          <p:nvSpPr>
            <p:cNvPr id="51" name="o2_bg"/>
            <p:cNvSpPr/>
            <p:nvPr/>
          </p:nvSpPr>
          <p:spPr>
            <a:xfrm>
              <a:off x="0" y="0"/>
              <a:ext cx="3307994" cy="3200400"/>
            </a:xfrm>
            <a:prstGeom prst="roundRect">
              <a:avLst>
                <a:gd name="adj" fmla="val 3429"/>
              </a:avLst>
            </a:prstGeom>
            <a:solidFill>
              <a:srgbClr val="FFFFFF"/>
            </a:solidFill>
            <a:ln w="16510" cap="flat">
              <a:solidFill>
                <a:srgbClr val="D3E3EB"/>
              </a:solidFill>
              <a:prstDash val="solid"/>
              <a:round/>
            </a:ln>
            <a:effectLst/>
          </p:spPr>
          <p:txBody>
            <a:bodyPr wrap="square" lIns="45719" tIns="45719" rIns="45719" bIns="45719" numCol="1" anchor="t">
              <a:noAutofit/>
            </a:bodyPr>
            <a:lstStyle/>
            <a:p>
              <a:pPr/>
            </a:p>
          </p:txBody>
        </p:sp>
        <p:sp>
          <p:nvSpPr>
            <p:cNvPr id="52" name="o2_num"/>
            <p:cNvSpPr txBox="1"/>
            <p:nvPr/>
          </p:nvSpPr>
          <p:spPr>
            <a:xfrm>
              <a:off x="219456" y="221741"/>
              <a:ext cx="457200"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400">
                  <a:solidFill>
                    <a:srgbClr val="A9741A"/>
                  </a:solidFill>
                  <a:latin typeface="Georgia"/>
                  <a:ea typeface="Georgia"/>
                  <a:cs typeface="Georgia"/>
                  <a:sym typeface="Georgia"/>
                </a:defRPr>
              </a:lvl1pPr>
            </a:lstStyle>
            <a:p>
              <a:pPr/>
              <a:r>
                <a:t>3</a:t>
              </a:r>
            </a:p>
          </p:txBody>
        </p:sp>
        <p:pic>
          <p:nvPicPr>
            <p:cNvPr id="53" name="o2_img" descr="o2_img"/>
            <p:cNvPicPr>
              <a:picLocks noChangeAspect="1"/>
            </p:cNvPicPr>
            <p:nvPr/>
          </p:nvPicPr>
          <p:blipFill>
            <a:blip r:embed="rId8">
              <a:extLst/>
            </a:blip>
            <a:stretch>
              <a:fillRect/>
            </a:stretch>
          </p:blipFill>
          <p:spPr>
            <a:xfrm>
              <a:off x="1151076" y="384047"/>
              <a:ext cx="1005841" cy="1005842"/>
            </a:xfrm>
            <a:prstGeom prst="rect">
              <a:avLst/>
            </a:prstGeom>
            <a:ln w="12700" cap="flat">
              <a:noFill/>
              <a:miter lim="400000"/>
            </a:ln>
            <a:effectLst/>
          </p:spPr>
        </p:pic>
        <p:sp>
          <p:nvSpPr>
            <p:cNvPr id="54" name="o2_t"/>
            <p:cNvSpPr txBox="1"/>
            <p:nvPr/>
          </p:nvSpPr>
          <p:spPr>
            <a:xfrm>
              <a:off x="256032" y="1691639"/>
              <a:ext cx="2795930" cy="26927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2200"/>
                </a:lnSpc>
                <a:defRPr b="1" sz="1700">
                  <a:solidFill>
                    <a:srgbClr val="0E2A3B"/>
                  </a:solidFill>
                  <a:latin typeface="Arial"/>
                  <a:ea typeface="Arial"/>
                  <a:cs typeface="Arial"/>
                  <a:sym typeface="Arial"/>
                </a:defRPr>
              </a:lvl1pPr>
            </a:lstStyle>
            <a:p>
              <a:pPr/>
              <a:r>
                <a:t>Write the sentences.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20000" fill="hold"/>
                                        <p:tgtEl>
                                          <p:spTgt spid="36"/>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45"/>
                                        </p:tgtEl>
                                        <p:attrNameLst>
                                          <p:attrName>style.visibility</p:attrName>
                                        </p:attrNameLst>
                                      </p:cBhvr>
                                      <p:to>
                                        <p:strVal val="visible"/>
                                      </p:to>
                                    </p:set>
                                    <p:animEffect filter="fade" transition="in">
                                      <p:cBhvr>
                                        <p:cTn id="11" dur="400"/>
                                        <p:tgtEl>
                                          <p:spTgt spid="45"/>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50"/>
                                        </p:tgtEl>
                                        <p:attrNameLst>
                                          <p:attrName>style.visibility</p:attrName>
                                        </p:attrNameLst>
                                      </p:cBhvr>
                                      <p:to>
                                        <p:strVal val="visible"/>
                                      </p:to>
                                    </p:set>
                                    <p:animEffect filter="fade" transition="in">
                                      <p:cBhvr>
                                        <p:cTn id="16" dur="400"/>
                                        <p:tgtEl>
                                          <p:spTgt spid="5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55"/>
                                        </p:tgtEl>
                                        <p:attrNameLst>
                                          <p:attrName>style.visibility</p:attrName>
                                        </p:attrNameLst>
                                      </p:cBhvr>
                                      <p:to>
                                        <p:strVal val="visible"/>
                                      </p:to>
                                    </p:set>
                                    <p:animEffect filter="fade" transition="in">
                                      <p:cBhvr>
                                        <p:cTn id="21" dur="400"/>
                                        <p:tgtEl>
                                          <p:spTgt spid="55"/>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2" fill="hold" display="0">
                  <p:stCondLst>
                    <p:cond delay="indefinite"/>
                  </p:stCondLst>
                </p:cTn>
                <p:tgtEl>
                  <p:spTgt spid="36"/>
                </p:tgtEl>
              </p:cMediaNode>
            </p:video>
            <p:seq concurrent="1" prevAc="none" nextAc="seek">
              <p:cTn id="23" evtFilter="cancelBubble" nodeType="interactiveSeq" restart="whenNotActive" fill="hold">
                <p:stCondLst>
                  <p:cond delay="0" evt="onClick">
                    <p:tgtEl>
                      <p:spTgt spid="36"/>
                    </p:tgtEl>
                  </p:cond>
                </p:stCondLst>
                <p:endSync delay="0" evt="end">
                  <p:rtn val="all"/>
                </p:endSync>
                <p:childTnLst>
                  <p:par>
                    <p:cTn id="24" fill="hold">
                      <p:stCondLst>
                        <p:cond delay="0"/>
                      </p:stCondLst>
                      <p:childTnLst>
                        <p:par>
                          <p:cTn id="25" fill="hold">
                            <p:stCondLst>
                              <p:cond delay="0"/>
                            </p:stCondLst>
                            <p:childTnLst>
                              <p:par>
                                <p:cTn id="26" presetClass="mediacall" nodeType="clickEffect" presetSubtype="0" presetID="2" fill="hold">
                                  <p:stCondLst>
                                    <p:cond delay="0"/>
                                  </p:stCondLst>
                                  <p:childTnLst>
                                    <p:cmd type="call" cmd="togglePause">
                                      <p:cBhvr>
                                        <p:cTn id="27" dur="1" fill="hold"/>
                                        <p:tgtEl>
                                          <p:spTgt spid="36"/>
                                        </p:tgtEl>
                                      </p:cBhvr>
                                    </p:cmd>
                                  </p:childTnLst>
                                </p:cTn>
                              </p:par>
                            </p:childTnLst>
                          </p:cTn>
                        </p:par>
                      </p:childTnLst>
                    </p:cTn>
                  </p:par>
                </p:childTnLst>
              </p:cTn>
              <p:nextCondLst>
                <p:cond delay="0" evt="onClick">
                  <p:tgtEl>
                    <p:spTgt spid="36"/>
                  </p:tgtEl>
                </p:cond>
              </p:nextCondLst>
            </p:seq>
          </p:childTnLst>
        </p:cTn>
      </p:par>
    </p:tnLst>
    <p:bldLst>
      <p:bldP build="whole" bldLvl="1" animBg="1" rev="0" advAuto="0" spid="45" grpId="2"/>
      <p:bldP build="whole" bldLvl="1" animBg="1" rev="0" advAuto="0" spid="50" grpId="3"/>
      <p:bldP build="whole" bldLvl="1" animBg="1" rev="0" advAuto="0" spid="55" grpId="4"/>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8FA"/>
        </a:solidFill>
      </p:bgPr>
    </p:bg>
    <p:spTree>
      <p:nvGrpSpPr>
        <p:cNvPr id="1" name=""/>
        <p:cNvGrpSpPr/>
        <p:nvPr/>
      </p:nvGrpSpPr>
      <p:grpSpPr>
        <a:xfrm>
          <a:off x="0" y="0"/>
          <a:ext cx="0" cy="0"/>
          <a:chOff x="0" y="0"/>
          <a:chExt cx="0" cy="0"/>
        </a:xfrm>
      </p:grpSpPr>
      <p:pic>
        <p:nvPicPr>
          <p:cNvPr id="59"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62" name="phase_pill"/>
          <p:cNvGrpSpPr/>
          <p:nvPr/>
        </p:nvGrpSpPr>
        <p:grpSpPr>
          <a:xfrm>
            <a:off x="1170432" y="310895"/>
            <a:ext cx="2340865" cy="329185"/>
            <a:chOff x="0" y="0"/>
            <a:chExt cx="2340864" cy="329184"/>
          </a:xfrm>
        </p:grpSpPr>
        <p:sp>
          <p:nvSpPr>
            <p:cNvPr id="60" name="Rounded Rectangle"/>
            <p:cNvSpPr/>
            <p:nvPr/>
          </p:nvSpPr>
          <p:spPr>
            <a:xfrm>
              <a:off x="0" y="0"/>
              <a:ext cx="2340865" cy="329185"/>
            </a:xfrm>
            <a:prstGeom prst="roundRect">
              <a:avLst>
                <a:gd name="adj" fmla="val 44444"/>
              </a:avLst>
            </a:prstGeom>
            <a:solidFill>
              <a:srgbClr val="123B54"/>
            </a:solidFill>
            <a:ln w="12700" cap="flat">
              <a:noFill/>
              <a:miter lim="400000"/>
            </a:ln>
            <a:effectLst/>
          </p:spPr>
          <p:txBody>
            <a:bodyPr wrap="square" lIns="45719" tIns="45719" rIns="45719" bIns="45719" numCol="1" anchor="ctr">
              <a:noAutofit/>
            </a:bodyPr>
            <a:lstStyle/>
            <a:p>
              <a:pPr algn="ctr">
                <a:defRPr sz="1100"/>
              </a:pPr>
            </a:p>
          </p:txBody>
        </p:sp>
        <p:sp>
          <p:nvSpPr>
            <p:cNvPr id="61" name="LOOK AND SAY · 4 MIN"/>
            <p:cNvSpPr txBox="1"/>
            <p:nvPr/>
          </p:nvSpPr>
          <p:spPr>
            <a:xfrm>
              <a:off x="42851" y="90677"/>
              <a:ext cx="225516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LOOK AND SAY · 4 MIN</a:t>
              </a:r>
            </a:p>
          </p:txBody>
        </p:sp>
      </p:grpSp>
      <p:sp>
        <p:nvSpPr>
          <p:cNvPr id="63" name="keyword_strip"/>
          <p:cNvSpPr txBox="1"/>
          <p:nvPr/>
        </p:nvSpPr>
        <p:spPr>
          <a:xfrm>
            <a:off x="5790894" y="401573"/>
            <a:ext cx="585216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i="1" sz="1100">
                <a:solidFill>
                  <a:srgbClr val="06A77D"/>
                </a:solidFill>
                <a:latin typeface="Arial"/>
                <a:ea typeface="Arial"/>
                <a:cs typeface="Arial"/>
                <a:sym typeface="Arial"/>
              </a:defRPr>
            </a:lvl1pPr>
          </a:lstStyle>
          <a:p>
            <a:pPr/>
            <a:r>
              <a:t>atom   ·   matter   ·   tiny   ·   part</a:t>
            </a:r>
          </a:p>
        </p:txBody>
      </p:sp>
      <p:sp>
        <p:nvSpPr>
          <p:cNvPr id="64"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123B54"/>
                </a:solidFill>
                <a:latin typeface="Georgia"/>
                <a:ea typeface="Georgia"/>
                <a:cs typeface="Georgia"/>
                <a:sym typeface="Georgia"/>
              </a:defRPr>
            </a:lvl1pPr>
          </a:lstStyle>
          <a:p>
            <a:pPr/>
            <a:r>
              <a:t>Say the words</a:t>
            </a:r>
          </a:p>
        </p:txBody>
      </p:sp>
      <p:sp>
        <p:nvSpPr>
          <p:cNvPr id="65" name="w0_bg"/>
          <p:cNvSpPr/>
          <p:nvPr/>
        </p:nvSpPr>
        <p:spPr>
          <a:xfrm>
            <a:off x="1170432" y="1901951"/>
            <a:ext cx="2453565" cy="4160522"/>
          </a:xfrm>
          <a:prstGeom prst="roundRect">
            <a:avLst>
              <a:gd name="adj" fmla="val 4472"/>
            </a:avLst>
          </a:prstGeom>
          <a:solidFill>
            <a:srgbClr val="FFFFFF"/>
          </a:solidFill>
          <a:ln w="16510">
            <a:solidFill>
              <a:srgbClr val="D3E3EB"/>
            </a:solidFill>
          </a:ln>
        </p:spPr>
        <p:txBody>
          <a:bodyPr lIns="45719" rIns="45719"/>
          <a:lstStyle/>
          <a:p>
            <a:pPr/>
          </a:p>
        </p:txBody>
      </p:sp>
      <p:pic>
        <p:nvPicPr>
          <p:cNvPr id="66" name="w0_img" descr="w0_img"/>
          <p:cNvPicPr>
            <a:picLocks noChangeAspect="1"/>
          </p:cNvPicPr>
          <p:nvPr/>
        </p:nvPicPr>
        <p:blipFill>
          <a:blip r:embed="rId6">
            <a:extLst/>
          </a:blip>
          <a:stretch>
            <a:fillRect/>
          </a:stretch>
        </p:blipFill>
        <p:spPr>
          <a:xfrm>
            <a:off x="1505673" y="2157983"/>
            <a:ext cx="1783081" cy="1783081"/>
          </a:xfrm>
          <a:prstGeom prst="rect">
            <a:avLst/>
          </a:prstGeom>
          <a:ln w="12700">
            <a:miter lim="400000"/>
          </a:ln>
        </p:spPr>
      </p:pic>
      <p:grpSp>
        <p:nvGrpSpPr>
          <p:cNvPr id="70" name="wr0"/>
          <p:cNvGrpSpPr/>
          <p:nvPr/>
        </p:nvGrpSpPr>
        <p:grpSpPr>
          <a:xfrm>
            <a:off x="1261871" y="4176013"/>
            <a:ext cx="2270686" cy="1110322"/>
            <a:chOff x="0" y="0"/>
            <a:chExt cx="2270684" cy="1110320"/>
          </a:xfrm>
        </p:grpSpPr>
        <p:sp>
          <p:nvSpPr>
            <p:cNvPr id="67" name="w0_word"/>
            <p:cNvSpPr txBox="1"/>
            <p:nvPr/>
          </p:nvSpPr>
          <p:spPr>
            <a:xfrm>
              <a:off x="0" y="0"/>
              <a:ext cx="2270685" cy="4445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3000">
                  <a:solidFill>
                    <a:srgbClr val="123B54"/>
                  </a:solidFill>
                  <a:latin typeface="Georgia"/>
                  <a:ea typeface="Georgia"/>
                  <a:cs typeface="Georgia"/>
                  <a:sym typeface="Georgia"/>
                </a:defRPr>
              </a:lvl1pPr>
            </a:lstStyle>
            <a:p>
              <a:pPr/>
              <a:r>
                <a:t>atom</a:t>
              </a:r>
            </a:p>
          </p:txBody>
        </p:sp>
        <p:sp>
          <p:nvSpPr>
            <p:cNvPr id="68" name="w0_say"/>
            <p:cNvSpPr txBox="1"/>
            <p:nvPr/>
          </p:nvSpPr>
          <p:spPr>
            <a:xfrm>
              <a:off x="0" y="574616"/>
              <a:ext cx="2270685"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i="1" sz="1500">
                  <a:solidFill>
                    <a:srgbClr val="06A77D"/>
                  </a:solidFill>
                  <a:latin typeface="Arial"/>
                  <a:ea typeface="Arial"/>
                  <a:cs typeface="Arial"/>
                  <a:sym typeface="Arial"/>
                </a:defRPr>
              </a:lvl1pPr>
            </a:lstStyle>
            <a:p>
              <a:pPr/>
              <a:r>
                <a:t>A-tom</a:t>
              </a:r>
            </a:p>
          </p:txBody>
        </p:sp>
        <p:sp>
          <p:nvSpPr>
            <p:cNvPr id="69" name="w0_mean"/>
            <p:cNvSpPr txBox="1"/>
            <p:nvPr/>
          </p:nvSpPr>
          <p:spPr>
            <a:xfrm>
              <a:off x="91440" y="889762"/>
              <a:ext cx="2087805" cy="2205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1800"/>
                </a:lnSpc>
                <a:defRPr sz="1400">
                  <a:solidFill>
                    <a:srgbClr val="0E2A3B"/>
                  </a:solidFill>
                  <a:latin typeface="Arial"/>
                  <a:ea typeface="Arial"/>
                  <a:cs typeface="Arial"/>
                  <a:sym typeface="Arial"/>
                </a:defRPr>
              </a:lvl1pPr>
            </a:lstStyle>
            <a:p>
              <a:pPr/>
              <a:r>
                <a:t>A very, very small part.</a:t>
              </a:r>
            </a:p>
          </p:txBody>
        </p:sp>
      </p:grpSp>
      <p:pic>
        <p:nvPicPr>
          <p:cNvPr id="71" name="w0_bubble" descr="w0_bubble"/>
          <p:cNvPicPr>
            <a:picLocks noChangeAspect="1"/>
          </p:cNvPicPr>
          <p:nvPr/>
        </p:nvPicPr>
        <p:blipFill>
          <a:blip r:embed="rId7">
            <a:extLst/>
          </a:blip>
          <a:stretch>
            <a:fillRect/>
          </a:stretch>
        </p:blipFill>
        <p:spPr>
          <a:xfrm>
            <a:off x="2214334" y="5550408"/>
            <a:ext cx="365761" cy="365761"/>
          </a:xfrm>
          <a:prstGeom prst="rect">
            <a:avLst/>
          </a:prstGeom>
          <a:ln w="12700">
            <a:miter lim="400000"/>
          </a:ln>
        </p:spPr>
      </p:pic>
      <p:sp>
        <p:nvSpPr>
          <p:cNvPr id="72" name="w1_bg"/>
          <p:cNvSpPr/>
          <p:nvPr/>
        </p:nvSpPr>
        <p:spPr>
          <a:xfrm>
            <a:off x="3843451" y="1901951"/>
            <a:ext cx="2453565" cy="4160522"/>
          </a:xfrm>
          <a:prstGeom prst="roundRect">
            <a:avLst>
              <a:gd name="adj" fmla="val 4472"/>
            </a:avLst>
          </a:prstGeom>
          <a:solidFill>
            <a:srgbClr val="FFFFFF"/>
          </a:solidFill>
          <a:ln w="16510">
            <a:solidFill>
              <a:srgbClr val="D3E3EB"/>
            </a:solidFill>
          </a:ln>
        </p:spPr>
        <p:txBody>
          <a:bodyPr lIns="45719" rIns="45719"/>
          <a:lstStyle/>
          <a:p>
            <a:pPr/>
          </a:p>
        </p:txBody>
      </p:sp>
      <p:pic>
        <p:nvPicPr>
          <p:cNvPr id="73" name="w1_img" descr="w1_img"/>
          <p:cNvPicPr>
            <a:picLocks noChangeAspect="1"/>
          </p:cNvPicPr>
          <p:nvPr/>
        </p:nvPicPr>
        <p:blipFill>
          <a:blip r:embed="rId8">
            <a:extLst/>
          </a:blip>
          <a:stretch>
            <a:fillRect/>
          </a:stretch>
        </p:blipFill>
        <p:spPr>
          <a:xfrm>
            <a:off x="4178694" y="2157983"/>
            <a:ext cx="1783081" cy="1783081"/>
          </a:xfrm>
          <a:prstGeom prst="rect">
            <a:avLst/>
          </a:prstGeom>
          <a:ln w="12700">
            <a:miter lim="400000"/>
          </a:ln>
        </p:spPr>
      </p:pic>
      <p:grpSp>
        <p:nvGrpSpPr>
          <p:cNvPr id="77" name="wr1"/>
          <p:cNvGrpSpPr/>
          <p:nvPr/>
        </p:nvGrpSpPr>
        <p:grpSpPr>
          <a:xfrm>
            <a:off x="3934891" y="4176013"/>
            <a:ext cx="2270686" cy="1110322"/>
            <a:chOff x="0" y="0"/>
            <a:chExt cx="2270684" cy="1110320"/>
          </a:xfrm>
        </p:grpSpPr>
        <p:sp>
          <p:nvSpPr>
            <p:cNvPr id="74" name="w1_word"/>
            <p:cNvSpPr txBox="1"/>
            <p:nvPr/>
          </p:nvSpPr>
          <p:spPr>
            <a:xfrm>
              <a:off x="0" y="0"/>
              <a:ext cx="2270685" cy="4445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3000">
                  <a:solidFill>
                    <a:srgbClr val="123B54"/>
                  </a:solidFill>
                  <a:latin typeface="Georgia"/>
                  <a:ea typeface="Georgia"/>
                  <a:cs typeface="Georgia"/>
                  <a:sym typeface="Georgia"/>
                </a:defRPr>
              </a:lvl1pPr>
            </a:lstStyle>
            <a:p>
              <a:pPr/>
              <a:r>
                <a:t>matter</a:t>
              </a:r>
            </a:p>
          </p:txBody>
        </p:sp>
        <p:sp>
          <p:nvSpPr>
            <p:cNvPr id="75" name="w1_say"/>
            <p:cNvSpPr txBox="1"/>
            <p:nvPr/>
          </p:nvSpPr>
          <p:spPr>
            <a:xfrm>
              <a:off x="0" y="574616"/>
              <a:ext cx="2270685"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i="1" sz="1500">
                  <a:solidFill>
                    <a:srgbClr val="06A77D"/>
                  </a:solidFill>
                  <a:latin typeface="Arial"/>
                  <a:ea typeface="Arial"/>
                  <a:cs typeface="Arial"/>
                  <a:sym typeface="Arial"/>
                </a:defRPr>
              </a:lvl1pPr>
            </a:lstStyle>
            <a:p>
              <a:pPr/>
              <a:r>
                <a:t>MAT-ter</a:t>
              </a:r>
            </a:p>
          </p:txBody>
        </p:sp>
        <p:sp>
          <p:nvSpPr>
            <p:cNvPr id="76" name="w1_mean"/>
            <p:cNvSpPr txBox="1"/>
            <p:nvPr/>
          </p:nvSpPr>
          <p:spPr>
            <a:xfrm>
              <a:off x="91440" y="889762"/>
              <a:ext cx="2087805" cy="2205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1800"/>
                </a:lnSpc>
                <a:defRPr sz="1400">
                  <a:solidFill>
                    <a:srgbClr val="0E2A3B"/>
                  </a:solidFill>
                  <a:latin typeface="Arial"/>
                  <a:ea typeface="Arial"/>
                  <a:cs typeface="Arial"/>
                  <a:sym typeface="Arial"/>
                </a:defRPr>
              </a:lvl1pPr>
            </a:lstStyle>
            <a:p>
              <a:pPr/>
              <a:r>
                <a:t>Anything you can touch.</a:t>
              </a:r>
            </a:p>
          </p:txBody>
        </p:sp>
      </p:grpSp>
      <p:pic>
        <p:nvPicPr>
          <p:cNvPr id="78" name="w1_bubble" descr="w1_bubble"/>
          <p:cNvPicPr>
            <a:picLocks noChangeAspect="1"/>
          </p:cNvPicPr>
          <p:nvPr/>
        </p:nvPicPr>
        <p:blipFill>
          <a:blip r:embed="rId7">
            <a:extLst/>
          </a:blip>
          <a:stretch>
            <a:fillRect/>
          </a:stretch>
        </p:blipFill>
        <p:spPr>
          <a:xfrm>
            <a:off x="4887354" y="5550408"/>
            <a:ext cx="365760" cy="365761"/>
          </a:xfrm>
          <a:prstGeom prst="rect">
            <a:avLst/>
          </a:prstGeom>
          <a:ln w="12700">
            <a:miter lim="400000"/>
          </a:ln>
        </p:spPr>
      </p:pic>
      <p:sp>
        <p:nvSpPr>
          <p:cNvPr id="79" name="w2_bg"/>
          <p:cNvSpPr/>
          <p:nvPr/>
        </p:nvSpPr>
        <p:spPr>
          <a:xfrm>
            <a:off x="6516472" y="1901951"/>
            <a:ext cx="2453565" cy="4160522"/>
          </a:xfrm>
          <a:prstGeom prst="roundRect">
            <a:avLst>
              <a:gd name="adj" fmla="val 4472"/>
            </a:avLst>
          </a:prstGeom>
          <a:solidFill>
            <a:srgbClr val="FFFFFF"/>
          </a:solidFill>
          <a:ln w="16510">
            <a:solidFill>
              <a:srgbClr val="D3E3EB"/>
            </a:solidFill>
          </a:ln>
        </p:spPr>
        <p:txBody>
          <a:bodyPr lIns="45719" rIns="45719"/>
          <a:lstStyle/>
          <a:p>
            <a:pPr/>
          </a:p>
        </p:txBody>
      </p:sp>
      <p:pic>
        <p:nvPicPr>
          <p:cNvPr id="80" name="w2_img" descr="w2_img"/>
          <p:cNvPicPr>
            <a:picLocks noChangeAspect="1"/>
          </p:cNvPicPr>
          <p:nvPr/>
        </p:nvPicPr>
        <p:blipFill>
          <a:blip r:embed="rId9">
            <a:extLst/>
          </a:blip>
          <a:stretch>
            <a:fillRect/>
          </a:stretch>
        </p:blipFill>
        <p:spPr>
          <a:xfrm>
            <a:off x="6851714" y="2157983"/>
            <a:ext cx="1783081" cy="1783081"/>
          </a:xfrm>
          <a:prstGeom prst="rect">
            <a:avLst/>
          </a:prstGeom>
          <a:ln w="12700">
            <a:miter lim="400000"/>
          </a:ln>
        </p:spPr>
      </p:pic>
      <p:grpSp>
        <p:nvGrpSpPr>
          <p:cNvPr id="84" name="wr2"/>
          <p:cNvGrpSpPr/>
          <p:nvPr/>
        </p:nvGrpSpPr>
        <p:grpSpPr>
          <a:xfrm>
            <a:off x="6607912" y="4176013"/>
            <a:ext cx="2270685" cy="1110322"/>
            <a:chOff x="0" y="0"/>
            <a:chExt cx="2270684" cy="1110320"/>
          </a:xfrm>
        </p:grpSpPr>
        <p:sp>
          <p:nvSpPr>
            <p:cNvPr id="81" name="w2_word"/>
            <p:cNvSpPr txBox="1"/>
            <p:nvPr/>
          </p:nvSpPr>
          <p:spPr>
            <a:xfrm>
              <a:off x="0" y="0"/>
              <a:ext cx="2270685" cy="4445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3000">
                  <a:solidFill>
                    <a:srgbClr val="123B54"/>
                  </a:solidFill>
                  <a:latin typeface="Georgia"/>
                  <a:ea typeface="Georgia"/>
                  <a:cs typeface="Georgia"/>
                  <a:sym typeface="Georgia"/>
                </a:defRPr>
              </a:lvl1pPr>
            </a:lstStyle>
            <a:p>
              <a:pPr/>
              <a:r>
                <a:t>tiny</a:t>
              </a:r>
            </a:p>
          </p:txBody>
        </p:sp>
        <p:sp>
          <p:nvSpPr>
            <p:cNvPr id="82" name="w2_say"/>
            <p:cNvSpPr txBox="1"/>
            <p:nvPr/>
          </p:nvSpPr>
          <p:spPr>
            <a:xfrm>
              <a:off x="0" y="574616"/>
              <a:ext cx="2270685"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i="1" sz="1500">
                  <a:solidFill>
                    <a:srgbClr val="06A77D"/>
                  </a:solidFill>
                  <a:latin typeface="Arial"/>
                  <a:ea typeface="Arial"/>
                  <a:cs typeface="Arial"/>
                  <a:sym typeface="Arial"/>
                </a:defRPr>
              </a:lvl1pPr>
            </a:lstStyle>
            <a:p>
              <a:pPr/>
              <a:r>
                <a:t>TY-nee</a:t>
              </a:r>
            </a:p>
          </p:txBody>
        </p:sp>
        <p:sp>
          <p:nvSpPr>
            <p:cNvPr id="83" name="w2_mean"/>
            <p:cNvSpPr txBox="1"/>
            <p:nvPr/>
          </p:nvSpPr>
          <p:spPr>
            <a:xfrm>
              <a:off x="91440" y="889762"/>
              <a:ext cx="2087805" cy="2205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1800"/>
                </a:lnSpc>
                <a:defRPr sz="1400">
                  <a:solidFill>
                    <a:srgbClr val="0E2A3B"/>
                  </a:solidFill>
                  <a:latin typeface="Arial"/>
                  <a:ea typeface="Arial"/>
                  <a:cs typeface="Arial"/>
                  <a:sym typeface="Arial"/>
                </a:defRPr>
              </a:lvl1pPr>
            </a:lstStyle>
            <a:p>
              <a:pPr/>
              <a:r>
                <a:t>Very, very small.</a:t>
              </a:r>
            </a:p>
          </p:txBody>
        </p:sp>
      </p:grpSp>
      <p:pic>
        <p:nvPicPr>
          <p:cNvPr id="85" name="w2_bubble" descr="w2_bubble"/>
          <p:cNvPicPr>
            <a:picLocks noChangeAspect="1"/>
          </p:cNvPicPr>
          <p:nvPr/>
        </p:nvPicPr>
        <p:blipFill>
          <a:blip r:embed="rId7">
            <a:extLst/>
          </a:blip>
          <a:stretch>
            <a:fillRect/>
          </a:stretch>
        </p:blipFill>
        <p:spPr>
          <a:xfrm>
            <a:off x="7560374" y="5550408"/>
            <a:ext cx="365761" cy="365761"/>
          </a:xfrm>
          <a:prstGeom prst="rect">
            <a:avLst/>
          </a:prstGeom>
          <a:ln w="12700">
            <a:miter lim="400000"/>
          </a:ln>
        </p:spPr>
      </p:pic>
      <p:sp>
        <p:nvSpPr>
          <p:cNvPr id="86" name="w3_bg"/>
          <p:cNvSpPr/>
          <p:nvPr/>
        </p:nvSpPr>
        <p:spPr>
          <a:xfrm>
            <a:off x="9189491" y="1901951"/>
            <a:ext cx="2453565" cy="4160522"/>
          </a:xfrm>
          <a:prstGeom prst="roundRect">
            <a:avLst>
              <a:gd name="adj" fmla="val 4472"/>
            </a:avLst>
          </a:prstGeom>
          <a:solidFill>
            <a:srgbClr val="FFFFFF"/>
          </a:solidFill>
          <a:ln w="16510">
            <a:solidFill>
              <a:srgbClr val="D3E3EB"/>
            </a:solidFill>
          </a:ln>
        </p:spPr>
        <p:txBody>
          <a:bodyPr lIns="45719" rIns="45719"/>
          <a:lstStyle/>
          <a:p>
            <a:pPr/>
          </a:p>
        </p:txBody>
      </p:sp>
      <p:pic>
        <p:nvPicPr>
          <p:cNvPr id="87" name="w3_img" descr="w3_img"/>
          <p:cNvPicPr>
            <a:picLocks noChangeAspect="1"/>
          </p:cNvPicPr>
          <p:nvPr/>
        </p:nvPicPr>
        <p:blipFill>
          <a:blip r:embed="rId10">
            <a:extLst/>
          </a:blip>
          <a:stretch>
            <a:fillRect/>
          </a:stretch>
        </p:blipFill>
        <p:spPr>
          <a:xfrm>
            <a:off x="9524733" y="2157983"/>
            <a:ext cx="1783081" cy="1783081"/>
          </a:xfrm>
          <a:prstGeom prst="rect">
            <a:avLst/>
          </a:prstGeom>
          <a:ln w="12700">
            <a:miter lim="400000"/>
          </a:ln>
        </p:spPr>
      </p:pic>
      <p:grpSp>
        <p:nvGrpSpPr>
          <p:cNvPr id="91" name="wr3"/>
          <p:cNvGrpSpPr/>
          <p:nvPr/>
        </p:nvGrpSpPr>
        <p:grpSpPr>
          <a:xfrm>
            <a:off x="9280931" y="4176013"/>
            <a:ext cx="2270685" cy="1110322"/>
            <a:chOff x="0" y="0"/>
            <a:chExt cx="2270684" cy="1110320"/>
          </a:xfrm>
        </p:grpSpPr>
        <p:sp>
          <p:nvSpPr>
            <p:cNvPr id="88" name="w3_word"/>
            <p:cNvSpPr txBox="1"/>
            <p:nvPr/>
          </p:nvSpPr>
          <p:spPr>
            <a:xfrm>
              <a:off x="0" y="0"/>
              <a:ext cx="2270685" cy="4445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3000">
                  <a:solidFill>
                    <a:srgbClr val="123B54"/>
                  </a:solidFill>
                  <a:latin typeface="Georgia"/>
                  <a:ea typeface="Georgia"/>
                  <a:cs typeface="Georgia"/>
                  <a:sym typeface="Georgia"/>
                </a:defRPr>
              </a:lvl1pPr>
            </a:lstStyle>
            <a:p>
              <a:pPr/>
              <a:r>
                <a:t>part</a:t>
              </a:r>
            </a:p>
          </p:txBody>
        </p:sp>
        <p:sp>
          <p:nvSpPr>
            <p:cNvPr id="89" name="w3_say"/>
            <p:cNvSpPr txBox="1"/>
            <p:nvPr/>
          </p:nvSpPr>
          <p:spPr>
            <a:xfrm>
              <a:off x="0" y="574616"/>
              <a:ext cx="2270685"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i="1" sz="1500">
                  <a:solidFill>
                    <a:srgbClr val="06A77D"/>
                  </a:solidFill>
                  <a:latin typeface="Arial"/>
                  <a:ea typeface="Arial"/>
                  <a:cs typeface="Arial"/>
                  <a:sym typeface="Arial"/>
                </a:defRPr>
              </a:lvl1pPr>
            </a:lstStyle>
            <a:p>
              <a:pPr/>
              <a:r>
                <a:t>PART</a:t>
              </a:r>
            </a:p>
          </p:txBody>
        </p:sp>
        <p:sp>
          <p:nvSpPr>
            <p:cNvPr id="90" name="w3_mean"/>
            <p:cNvSpPr txBox="1"/>
            <p:nvPr/>
          </p:nvSpPr>
          <p:spPr>
            <a:xfrm>
              <a:off x="91440" y="889762"/>
              <a:ext cx="2087805" cy="2205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1800"/>
                </a:lnSpc>
                <a:defRPr sz="1400">
                  <a:solidFill>
                    <a:srgbClr val="0E2A3B"/>
                  </a:solidFill>
                  <a:latin typeface="Arial"/>
                  <a:ea typeface="Arial"/>
                  <a:cs typeface="Arial"/>
                  <a:sym typeface="Arial"/>
                </a:defRPr>
              </a:lvl1pPr>
            </a:lstStyle>
            <a:p>
              <a:pPr/>
              <a:r>
                <a:t>One piece of something.</a:t>
              </a:r>
            </a:p>
          </p:txBody>
        </p:sp>
      </p:grpSp>
      <p:pic>
        <p:nvPicPr>
          <p:cNvPr id="92" name="w3_bubble" descr="w3_bubble"/>
          <p:cNvPicPr>
            <a:picLocks noChangeAspect="1"/>
          </p:cNvPicPr>
          <p:nvPr/>
        </p:nvPicPr>
        <p:blipFill>
          <a:blip r:embed="rId7">
            <a:extLst/>
          </a:blip>
          <a:stretch>
            <a:fillRect/>
          </a:stretch>
        </p:blipFill>
        <p:spPr>
          <a:xfrm>
            <a:off x="10233393" y="5550408"/>
            <a:ext cx="365761" cy="365761"/>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240000" fill="hold"/>
                                        <p:tgtEl>
                                          <p:spTgt spid="59"/>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70"/>
                                        </p:tgtEl>
                                        <p:attrNameLst>
                                          <p:attrName>style.visibility</p:attrName>
                                        </p:attrNameLst>
                                      </p:cBhvr>
                                      <p:to>
                                        <p:strVal val="visible"/>
                                      </p:to>
                                    </p:set>
                                    <p:animEffect filter="fade" transition="in">
                                      <p:cBhvr>
                                        <p:cTn id="11" dur="400"/>
                                        <p:tgtEl>
                                          <p:spTgt spid="70"/>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77"/>
                                        </p:tgtEl>
                                        <p:attrNameLst>
                                          <p:attrName>style.visibility</p:attrName>
                                        </p:attrNameLst>
                                      </p:cBhvr>
                                      <p:to>
                                        <p:strVal val="visible"/>
                                      </p:to>
                                    </p:set>
                                    <p:animEffect filter="fade" transition="in">
                                      <p:cBhvr>
                                        <p:cTn id="16" dur="400"/>
                                        <p:tgtEl>
                                          <p:spTgt spid="77"/>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84"/>
                                        </p:tgtEl>
                                        <p:attrNameLst>
                                          <p:attrName>style.visibility</p:attrName>
                                        </p:attrNameLst>
                                      </p:cBhvr>
                                      <p:to>
                                        <p:strVal val="visible"/>
                                      </p:to>
                                    </p:set>
                                    <p:animEffect filter="fade" transition="in">
                                      <p:cBhvr>
                                        <p:cTn id="21" dur="400"/>
                                        <p:tgtEl>
                                          <p:spTgt spid="84"/>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91"/>
                                        </p:tgtEl>
                                        <p:attrNameLst>
                                          <p:attrName>style.visibility</p:attrName>
                                        </p:attrNameLst>
                                      </p:cBhvr>
                                      <p:to>
                                        <p:strVal val="visible"/>
                                      </p:to>
                                    </p:set>
                                    <p:animEffect filter="fade" transition="in">
                                      <p:cBhvr>
                                        <p:cTn id="26" dur="400"/>
                                        <p:tgtEl>
                                          <p:spTgt spid="91"/>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7" fill="hold" display="0">
                  <p:stCondLst>
                    <p:cond delay="indefinite"/>
                  </p:stCondLst>
                </p:cTn>
                <p:tgtEl>
                  <p:spTgt spid="59"/>
                </p:tgtEl>
              </p:cMediaNode>
            </p:video>
            <p:seq concurrent="1" prevAc="none" nextAc="seek">
              <p:cTn id="28" evtFilter="cancelBubble" nodeType="interactiveSeq" restart="whenNotActive" fill="hold">
                <p:stCondLst>
                  <p:cond delay="0" evt="onClick">
                    <p:tgtEl>
                      <p:spTgt spid="59"/>
                    </p:tgtEl>
                  </p:cond>
                </p:stCondLst>
                <p:endSync delay="0" evt="end">
                  <p:rtn val="all"/>
                </p:endSync>
                <p:childTnLst>
                  <p:par>
                    <p:cTn id="29" fill="hold">
                      <p:stCondLst>
                        <p:cond delay="0"/>
                      </p:stCondLst>
                      <p:childTnLst>
                        <p:par>
                          <p:cTn id="30" fill="hold">
                            <p:stCondLst>
                              <p:cond delay="0"/>
                            </p:stCondLst>
                            <p:childTnLst>
                              <p:par>
                                <p:cTn id="31" presetClass="mediacall" nodeType="clickEffect" presetSubtype="0" presetID="2" fill="hold">
                                  <p:stCondLst>
                                    <p:cond delay="0"/>
                                  </p:stCondLst>
                                  <p:childTnLst>
                                    <p:cmd type="call" cmd="togglePause">
                                      <p:cBhvr>
                                        <p:cTn id="32" dur="1" fill="hold"/>
                                        <p:tgtEl>
                                          <p:spTgt spid="59"/>
                                        </p:tgtEl>
                                      </p:cBhvr>
                                    </p:cmd>
                                  </p:childTnLst>
                                </p:cTn>
                              </p:par>
                            </p:childTnLst>
                          </p:cTn>
                        </p:par>
                      </p:childTnLst>
                    </p:cTn>
                  </p:par>
                </p:childTnLst>
              </p:cTn>
              <p:nextCondLst>
                <p:cond delay="0" evt="onClick">
                  <p:tgtEl>
                    <p:spTgt spid="59"/>
                  </p:tgtEl>
                </p:cond>
              </p:nextCondLst>
            </p:seq>
          </p:childTnLst>
        </p:cTn>
      </p:par>
    </p:tnLst>
    <p:bldLst>
      <p:bldP build="whole" bldLvl="1" animBg="1" rev="0" advAuto="0" spid="84" grpId="4"/>
      <p:bldP build="whole" bldLvl="1" animBg="1" rev="0" advAuto="0" spid="91" grpId="5"/>
      <p:bldP build="whole" bldLvl="1" animBg="1" rev="0" advAuto="0" spid="70" grpId="2"/>
      <p:bldP build="whole" bldLvl="1" animBg="1" rev="0" advAuto="0" spid="77" grpId="3"/>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8FA"/>
        </a:solidFill>
      </p:bgPr>
    </p:bg>
    <p:spTree>
      <p:nvGrpSpPr>
        <p:cNvPr id="1" name=""/>
        <p:cNvGrpSpPr/>
        <p:nvPr/>
      </p:nvGrpSpPr>
      <p:grpSpPr>
        <a:xfrm>
          <a:off x="0" y="0"/>
          <a:ext cx="0" cy="0"/>
          <a:chOff x="0" y="0"/>
          <a:chExt cx="0" cy="0"/>
        </a:xfrm>
      </p:grpSpPr>
      <p:pic>
        <p:nvPicPr>
          <p:cNvPr id="96"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99" name="phase_pill"/>
          <p:cNvGrpSpPr/>
          <p:nvPr/>
        </p:nvGrpSpPr>
        <p:grpSpPr>
          <a:xfrm>
            <a:off x="1170432" y="310895"/>
            <a:ext cx="2340865" cy="329185"/>
            <a:chOff x="0" y="0"/>
            <a:chExt cx="2340864" cy="329184"/>
          </a:xfrm>
        </p:grpSpPr>
        <p:sp>
          <p:nvSpPr>
            <p:cNvPr id="97" name="Rounded Rectangle"/>
            <p:cNvSpPr/>
            <p:nvPr/>
          </p:nvSpPr>
          <p:spPr>
            <a:xfrm>
              <a:off x="0" y="0"/>
              <a:ext cx="2340865" cy="329185"/>
            </a:xfrm>
            <a:prstGeom prst="roundRect">
              <a:avLst>
                <a:gd name="adj" fmla="val 44444"/>
              </a:avLst>
            </a:prstGeom>
            <a:solidFill>
              <a:srgbClr val="123B54"/>
            </a:solidFill>
            <a:ln w="12700" cap="flat">
              <a:noFill/>
              <a:miter lim="400000"/>
            </a:ln>
            <a:effectLst/>
          </p:spPr>
          <p:txBody>
            <a:bodyPr wrap="square" lIns="45719" tIns="45719" rIns="45719" bIns="45719" numCol="1" anchor="ctr">
              <a:noAutofit/>
            </a:bodyPr>
            <a:lstStyle/>
            <a:p>
              <a:pPr algn="ctr">
                <a:defRPr sz="1100"/>
              </a:pPr>
            </a:p>
          </p:txBody>
        </p:sp>
        <p:sp>
          <p:nvSpPr>
            <p:cNvPr id="98" name="LOOK AND SAY · 5 MIN"/>
            <p:cNvSpPr txBox="1"/>
            <p:nvPr/>
          </p:nvSpPr>
          <p:spPr>
            <a:xfrm>
              <a:off x="42851" y="90677"/>
              <a:ext cx="225516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LOOK AND SAY · 5 MIN</a:t>
              </a:r>
            </a:p>
          </p:txBody>
        </p:sp>
      </p:grpSp>
      <p:sp>
        <p:nvSpPr>
          <p:cNvPr id="100" name="keyword_strip"/>
          <p:cNvSpPr txBox="1"/>
          <p:nvPr/>
        </p:nvSpPr>
        <p:spPr>
          <a:xfrm>
            <a:off x="5790894" y="401573"/>
            <a:ext cx="585216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i="1" sz="1100">
                <a:solidFill>
                  <a:srgbClr val="06A77D"/>
                </a:solidFill>
                <a:latin typeface="Arial"/>
                <a:ea typeface="Arial"/>
                <a:cs typeface="Arial"/>
                <a:sym typeface="Arial"/>
              </a:defRPr>
            </a:lvl1pPr>
          </a:lstStyle>
          <a:p>
            <a:pPr/>
            <a:r>
              <a:t>nucleus   ·   centre   ·   electron   ·   outside</a:t>
            </a:r>
          </a:p>
        </p:txBody>
      </p:sp>
      <p:sp>
        <p:nvSpPr>
          <p:cNvPr id="101"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123B54"/>
                </a:solidFill>
                <a:latin typeface="Georgia"/>
                <a:ea typeface="Georgia"/>
                <a:cs typeface="Georgia"/>
                <a:sym typeface="Georgia"/>
              </a:defRPr>
            </a:lvl1pPr>
          </a:lstStyle>
          <a:p>
            <a:pPr/>
            <a:r>
              <a:t>Say the words</a:t>
            </a:r>
          </a:p>
        </p:txBody>
      </p:sp>
      <p:sp>
        <p:nvSpPr>
          <p:cNvPr id="102" name="w0_bg"/>
          <p:cNvSpPr/>
          <p:nvPr/>
        </p:nvSpPr>
        <p:spPr>
          <a:xfrm>
            <a:off x="1170432" y="1901951"/>
            <a:ext cx="2453565" cy="4160522"/>
          </a:xfrm>
          <a:prstGeom prst="roundRect">
            <a:avLst>
              <a:gd name="adj" fmla="val 4472"/>
            </a:avLst>
          </a:prstGeom>
          <a:solidFill>
            <a:srgbClr val="FFFFFF"/>
          </a:solidFill>
          <a:ln w="16510">
            <a:solidFill>
              <a:srgbClr val="D3E3EB"/>
            </a:solidFill>
          </a:ln>
        </p:spPr>
        <p:txBody>
          <a:bodyPr lIns="45719" rIns="45719"/>
          <a:lstStyle/>
          <a:p>
            <a:pPr/>
          </a:p>
        </p:txBody>
      </p:sp>
      <p:pic>
        <p:nvPicPr>
          <p:cNvPr id="103" name="w0_img" descr="w0_img"/>
          <p:cNvPicPr>
            <a:picLocks noChangeAspect="1"/>
          </p:cNvPicPr>
          <p:nvPr/>
        </p:nvPicPr>
        <p:blipFill>
          <a:blip r:embed="rId6">
            <a:extLst/>
          </a:blip>
          <a:stretch>
            <a:fillRect/>
          </a:stretch>
        </p:blipFill>
        <p:spPr>
          <a:xfrm>
            <a:off x="1505673" y="2157983"/>
            <a:ext cx="1783081" cy="1783081"/>
          </a:xfrm>
          <a:prstGeom prst="rect">
            <a:avLst/>
          </a:prstGeom>
          <a:ln w="12700">
            <a:miter lim="400000"/>
          </a:ln>
        </p:spPr>
      </p:pic>
      <p:grpSp>
        <p:nvGrpSpPr>
          <p:cNvPr id="107" name="wr0"/>
          <p:cNvGrpSpPr/>
          <p:nvPr/>
        </p:nvGrpSpPr>
        <p:grpSpPr>
          <a:xfrm>
            <a:off x="1261871" y="4176013"/>
            <a:ext cx="2270686" cy="1338922"/>
            <a:chOff x="0" y="0"/>
            <a:chExt cx="2270684" cy="1338920"/>
          </a:xfrm>
        </p:grpSpPr>
        <p:sp>
          <p:nvSpPr>
            <p:cNvPr id="104" name="w0_word"/>
            <p:cNvSpPr txBox="1"/>
            <p:nvPr/>
          </p:nvSpPr>
          <p:spPr>
            <a:xfrm>
              <a:off x="0" y="0"/>
              <a:ext cx="2270685" cy="4445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3000">
                  <a:solidFill>
                    <a:srgbClr val="123B54"/>
                  </a:solidFill>
                  <a:latin typeface="Georgia"/>
                  <a:ea typeface="Georgia"/>
                  <a:cs typeface="Georgia"/>
                  <a:sym typeface="Georgia"/>
                </a:defRPr>
              </a:lvl1pPr>
            </a:lstStyle>
            <a:p>
              <a:pPr/>
              <a:r>
                <a:t>nucleus</a:t>
              </a:r>
            </a:p>
          </p:txBody>
        </p:sp>
        <p:sp>
          <p:nvSpPr>
            <p:cNvPr id="105" name="w0_say"/>
            <p:cNvSpPr txBox="1"/>
            <p:nvPr/>
          </p:nvSpPr>
          <p:spPr>
            <a:xfrm>
              <a:off x="0" y="574616"/>
              <a:ext cx="2270685"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i="1" sz="1500">
                  <a:solidFill>
                    <a:srgbClr val="06A77D"/>
                  </a:solidFill>
                  <a:latin typeface="Arial"/>
                  <a:ea typeface="Arial"/>
                  <a:cs typeface="Arial"/>
                  <a:sym typeface="Arial"/>
                </a:defRPr>
              </a:lvl1pPr>
            </a:lstStyle>
            <a:p>
              <a:pPr/>
              <a:r>
                <a:t>NEW-clee-us</a:t>
              </a:r>
            </a:p>
          </p:txBody>
        </p:sp>
        <p:sp>
          <p:nvSpPr>
            <p:cNvPr id="106" name="w0_mean"/>
            <p:cNvSpPr txBox="1"/>
            <p:nvPr/>
          </p:nvSpPr>
          <p:spPr>
            <a:xfrm>
              <a:off x="91440" y="889762"/>
              <a:ext cx="2087805" cy="4491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1800"/>
                </a:lnSpc>
                <a:defRPr sz="1400">
                  <a:solidFill>
                    <a:srgbClr val="0E2A3B"/>
                  </a:solidFill>
                  <a:latin typeface="Arial"/>
                  <a:ea typeface="Arial"/>
                  <a:cs typeface="Arial"/>
                  <a:sym typeface="Arial"/>
                </a:defRPr>
              </a:lvl1pPr>
            </a:lstStyle>
            <a:p>
              <a:pPr/>
              <a:r>
                <a:t>It is in the centre of the atom.</a:t>
              </a:r>
            </a:p>
          </p:txBody>
        </p:sp>
      </p:grpSp>
      <p:pic>
        <p:nvPicPr>
          <p:cNvPr id="108" name="w0_bubble" descr="w0_bubble"/>
          <p:cNvPicPr>
            <a:picLocks noChangeAspect="1"/>
          </p:cNvPicPr>
          <p:nvPr/>
        </p:nvPicPr>
        <p:blipFill>
          <a:blip r:embed="rId7">
            <a:extLst/>
          </a:blip>
          <a:stretch>
            <a:fillRect/>
          </a:stretch>
        </p:blipFill>
        <p:spPr>
          <a:xfrm>
            <a:off x="2214334" y="5550408"/>
            <a:ext cx="365761" cy="365761"/>
          </a:xfrm>
          <a:prstGeom prst="rect">
            <a:avLst/>
          </a:prstGeom>
          <a:ln w="12700">
            <a:miter lim="400000"/>
          </a:ln>
        </p:spPr>
      </p:pic>
      <p:sp>
        <p:nvSpPr>
          <p:cNvPr id="109" name="w1_bg"/>
          <p:cNvSpPr/>
          <p:nvPr/>
        </p:nvSpPr>
        <p:spPr>
          <a:xfrm>
            <a:off x="3843451" y="1901951"/>
            <a:ext cx="2453565" cy="4160522"/>
          </a:xfrm>
          <a:prstGeom prst="roundRect">
            <a:avLst>
              <a:gd name="adj" fmla="val 4472"/>
            </a:avLst>
          </a:prstGeom>
          <a:solidFill>
            <a:srgbClr val="FFFFFF"/>
          </a:solidFill>
          <a:ln w="16510">
            <a:solidFill>
              <a:srgbClr val="D3E3EB"/>
            </a:solidFill>
          </a:ln>
        </p:spPr>
        <p:txBody>
          <a:bodyPr lIns="45719" rIns="45719"/>
          <a:lstStyle/>
          <a:p>
            <a:pPr/>
          </a:p>
        </p:txBody>
      </p:sp>
      <p:pic>
        <p:nvPicPr>
          <p:cNvPr id="110" name="w1_img" descr="w1_img"/>
          <p:cNvPicPr>
            <a:picLocks noChangeAspect="1"/>
          </p:cNvPicPr>
          <p:nvPr/>
        </p:nvPicPr>
        <p:blipFill>
          <a:blip r:embed="rId8">
            <a:extLst/>
          </a:blip>
          <a:stretch>
            <a:fillRect/>
          </a:stretch>
        </p:blipFill>
        <p:spPr>
          <a:xfrm>
            <a:off x="4107150" y="2157983"/>
            <a:ext cx="1926168" cy="1783081"/>
          </a:xfrm>
          <a:prstGeom prst="rect">
            <a:avLst/>
          </a:prstGeom>
          <a:ln w="12700">
            <a:miter lim="400000"/>
          </a:ln>
        </p:spPr>
      </p:pic>
      <p:grpSp>
        <p:nvGrpSpPr>
          <p:cNvPr id="114" name="wr1"/>
          <p:cNvGrpSpPr/>
          <p:nvPr/>
        </p:nvGrpSpPr>
        <p:grpSpPr>
          <a:xfrm>
            <a:off x="3934891" y="4176013"/>
            <a:ext cx="2270686" cy="1110322"/>
            <a:chOff x="0" y="0"/>
            <a:chExt cx="2270684" cy="1110320"/>
          </a:xfrm>
        </p:grpSpPr>
        <p:sp>
          <p:nvSpPr>
            <p:cNvPr id="111" name="w1_word"/>
            <p:cNvSpPr txBox="1"/>
            <p:nvPr/>
          </p:nvSpPr>
          <p:spPr>
            <a:xfrm>
              <a:off x="0" y="0"/>
              <a:ext cx="2270685" cy="4445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3000">
                  <a:solidFill>
                    <a:srgbClr val="123B54"/>
                  </a:solidFill>
                  <a:latin typeface="Georgia"/>
                  <a:ea typeface="Georgia"/>
                  <a:cs typeface="Georgia"/>
                  <a:sym typeface="Georgia"/>
                </a:defRPr>
              </a:lvl1pPr>
            </a:lstStyle>
            <a:p>
              <a:pPr/>
              <a:r>
                <a:t>centre</a:t>
              </a:r>
            </a:p>
          </p:txBody>
        </p:sp>
        <p:sp>
          <p:nvSpPr>
            <p:cNvPr id="112" name="w1_say"/>
            <p:cNvSpPr txBox="1"/>
            <p:nvPr/>
          </p:nvSpPr>
          <p:spPr>
            <a:xfrm>
              <a:off x="0" y="574616"/>
              <a:ext cx="2270685"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i="1" sz="1500">
                  <a:solidFill>
                    <a:srgbClr val="06A77D"/>
                  </a:solidFill>
                  <a:latin typeface="Arial"/>
                  <a:ea typeface="Arial"/>
                  <a:cs typeface="Arial"/>
                  <a:sym typeface="Arial"/>
                </a:defRPr>
              </a:lvl1pPr>
            </a:lstStyle>
            <a:p>
              <a:pPr/>
              <a:r>
                <a:t>SEN-ter</a:t>
              </a:r>
            </a:p>
          </p:txBody>
        </p:sp>
        <p:sp>
          <p:nvSpPr>
            <p:cNvPr id="113" name="w1_mean"/>
            <p:cNvSpPr txBox="1"/>
            <p:nvPr/>
          </p:nvSpPr>
          <p:spPr>
            <a:xfrm>
              <a:off x="91440" y="889762"/>
              <a:ext cx="2087805" cy="2205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1800"/>
                </a:lnSpc>
                <a:defRPr sz="1400">
                  <a:solidFill>
                    <a:srgbClr val="0E2A3B"/>
                  </a:solidFill>
                  <a:latin typeface="Arial"/>
                  <a:ea typeface="Arial"/>
                  <a:cs typeface="Arial"/>
                  <a:sym typeface="Arial"/>
                </a:defRPr>
              </a:lvl1pPr>
            </a:lstStyle>
            <a:p>
              <a:pPr/>
              <a:r>
                <a:t>The middle of something.</a:t>
              </a:r>
            </a:p>
          </p:txBody>
        </p:sp>
      </p:grpSp>
      <p:pic>
        <p:nvPicPr>
          <p:cNvPr id="115" name="w1_bubble" descr="w1_bubble"/>
          <p:cNvPicPr>
            <a:picLocks noChangeAspect="1"/>
          </p:cNvPicPr>
          <p:nvPr/>
        </p:nvPicPr>
        <p:blipFill>
          <a:blip r:embed="rId7">
            <a:extLst/>
          </a:blip>
          <a:stretch>
            <a:fillRect/>
          </a:stretch>
        </p:blipFill>
        <p:spPr>
          <a:xfrm>
            <a:off x="4887354" y="5550408"/>
            <a:ext cx="365760" cy="365761"/>
          </a:xfrm>
          <a:prstGeom prst="rect">
            <a:avLst/>
          </a:prstGeom>
          <a:ln w="12700">
            <a:miter lim="400000"/>
          </a:ln>
        </p:spPr>
      </p:pic>
      <p:sp>
        <p:nvSpPr>
          <p:cNvPr id="116" name="w2_bg"/>
          <p:cNvSpPr/>
          <p:nvPr/>
        </p:nvSpPr>
        <p:spPr>
          <a:xfrm>
            <a:off x="6516472" y="1901951"/>
            <a:ext cx="2453565" cy="4160522"/>
          </a:xfrm>
          <a:prstGeom prst="roundRect">
            <a:avLst>
              <a:gd name="adj" fmla="val 4472"/>
            </a:avLst>
          </a:prstGeom>
          <a:solidFill>
            <a:srgbClr val="FFFFFF"/>
          </a:solidFill>
          <a:ln w="16510">
            <a:solidFill>
              <a:srgbClr val="D3E3EB"/>
            </a:solidFill>
          </a:ln>
        </p:spPr>
        <p:txBody>
          <a:bodyPr lIns="45719" rIns="45719"/>
          <a:lstStyle/>
          <a:p>
            <a:pPr/>
          </a:p>
        </p:txBody>
      </p:sp>
      <p:pic>
        <p:nvPicPr>
          <p:cNvPr id="117" name="w2_img" descr="w2_img"/>
          <p:cNvPicPr>
            <a:picLocks noChangeAspect="1"/>
          </p:cNvPicPr>
          <p:nvPr/>
        </p:nvPicPr>
        <p:blipFill>
          <a:blip r:embed="rId9">
            <a:extLst/>
          </a:blip>
          <a:stretch>
            <a:fillRect/>
          </a:stretch>
        </p:blipFill>
        <p:spPr>
          <a:xfrm>
            <a:off x="6851714" y="2157983"/>
            <a:ext cx="1783081" cy="1783081"/>
          </a:xfrm>
          <a:prstGeom prst="rect">
            <a:avLst/>
          </a:prstGeom>
          <a:ln w="12700">
            <a:miter lim="400000"/>
          </a:ln>
        </p:spPr>
      </p:pic>
      <p:grpSp>
        <p:nvGrpSpPr>
          <p:cNvPr id="121" name="wr2"/>
          <p:cNvGrpSpPr/>
          <p:nvPr/>
        </p:nvGrpSpPr>
        <p:grpSpPr>
          <a:xfrm>
            <a:off x="6607912" y="4176013"/>
            <a:ext cx="2270685" cy="1110322"/>
            <a:chOff x="0" y="0"/>
            <a:chExt cx="2270684" cy="1110320"/>
          </a:xfrm>
        </p:grpSpPr>
        <p:sp>
          <p:nvSpPr>
            <p:cNvPr id="118" name="w2_word"/>
            <p:cNvSpPr txBox="1"/>
            <p:nvPr/>
          </p:nvSpPr>
          <p:spPr>
            <a:xfrm>
              <a:off x="0" y="0"/>
              <a:ext cx="2270685" cy="4445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3000">
                  <a:solidFill>
                    <a:srgbClr val="123B54"/>
                  </a:solidFill>
                  <a:latin typeface="Georgia"/>
                  <a:ea typeface="Georgia"/>
                  <a:cs typeface="Georgia"/>
                  <a:sym typeface="Georgia"/>
                </a:defRPr>
              </a:lvl1pPr>
            </a:lstStyle>
            <a:p>
              <a:pPr/>
              <a:r>
                <a:t>electron</a:t>
              </a:r>
            </a:p>
          </p:txBody>
        </p:sp>
        <p:sp>
          <p:nvSpPr>
            <p:cNvPr id="119" name="w2_say"/>
            <p:cNvSpPr txBox="1"/>
            <p:nvPr/>
          </p:nvSpPr>
          <p:spPr>
            <a:xfrm>
              <a:off x="0" y="574616"/>
              <a:ext cx="2270685"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i="1" sz="1500">
                  <a:solidFill>
                    <a:srgbClr val="06A77D"/>
                  </a:solidFill>
                  <a:latin typeface="Arial"/>
                  <a:ea typeface="Arial"/>
                  <a:cs typeface="Arial"/>
                  <a:sym typeface="Arial"/>
                </a:defRPr>
              </a:lvl1pPr>
            </a:lstStyle>
            <a:p>
              <a:pPr/>
              <a:r>
                <a:t>eh-LEK-tron</a:t>
              </a:r>
            </a:p>
          </p:txBody>
        </p:sp>
        <p:sp>
          <p:nvSpPr>
            <p:cNvPr id="120" name="w2_mean"/>
            <p:cNvSpPr txBox="1"/>
            <p:nvPr/>
          </p:nvSpPr>
          <p:spPr>
            <a:xfrm>
              <a:off x="91440" y="889762"/>
              <a:ext cx="2087805" cy="2205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1800"/>
                </a:lnSpc>
                <a:defRPr sz="1400">
                  <a:solidFill>
                    <a:srgbClr val="0E2A3B"/>
                  </a:solidFill>
                  <a:latin typeface="Arial"/>
                  <a:ea typeface="Arial"/>
                  <a:cs typeface="Arial"/>
                  <a:sym typeface="Arial"/>
                </a:defRPr>
              </a:lvl1pPr>
            </a:lstStyle>
            <a:p>
              <a:pPr/>
              <a:r>
                <a:t>A part of the atom.</a:t>
              </a:r>
            </a:p>
          </p:txBody>
        </p:sp>
      </p:grpSp>
      <p:pic>
        <p:nvPicPr>
          <p:cNvPr id="122" name="w2_bubble" descr="w2_bubble"/>
          <p:cNvPicPr>
            <a:picLocks noChangeAspect="1"/>
          </p:cNvPicPr>
          <p:nvPr/>
        </p:nvPicPr>
        <p:blipFill>
          <a:blip r:embed="rId7">
            <a:extLst/>
          </a:blip>
          <a:stretch>
            <a:fillRect/>
          </a:stretch>
        </p:blipFill>
        <p:spPr>
          <a:xfrm>
            <a:off x="7560374" y="5550408"/>
            <a:ext cx="365761" cy="365761"/>
          </a:xfrm>
          <a:prstGeom prst="rect">
            <a:avLst/>
          </a:prstGeom>
          <a:ln w="12700">
            <a:miter lim="400000"/>
          </a:ln>
        </p:spPr>
      </p:pic>
      <p:sp>
        <p:nvSpPr>
          <p:cNvPr id="123" name="w3_bg"/>
          <p:cNvSpPr/>
          <p:nvPr/>
        </p:nvSpPr>
        <p:spPr>
          <a:xfrm>
            <a:off x="9189491" y="1901951"/>
            <a:ext cx="2453565" cy="4160522"/>
          </a:xfrm>
          <a:prstGeom prst="roundRect">
            <a:avLst>
              <a:gd name="adj" fmla="val 4472"/>
            </a:avLst>
          </a:prstGeom>
          <a:solidFill>
            <a:srgbClr val="FFFFFF"/>
          </a:solidFill>
          <a:ln w="16510">
            <a:solidFill>
              <a:srgbClr val="D3E3EB"/>
            </a:solidFill>
          </a:ln>
        </p:spPr>
        <p:txBody>
          <a:bodyPr lIns="45719" rIns="45719"/>
          <a:lstStyle/>
          <a:p>
            <a:pPr/>
          </a:p>
        </p:txBody>
      </p:sp>
      <p:pic>
        <p:nvPicPr>
          <p:cNvPr id="124" name="w3_img" descr="w3_img"/>
          <p:cNvPicPr>
            <a:picLocks noChangeAspect="1"/>
          </p:cNvPicPr>
          <p:nvPr/>
        </p:nvPicPr>
        <p:blipFill>
          <a:blip r:embed="rId10">
            <a:extLst/>
          </a:blip>
          <a:stretch>
            <a:fillRect/>
          </a:stretch>
        </p:blipFill>
        <p:spPr>
          <a:xfrm>
            <a:off x="9418091" y="2323721"/>
            <a:ext cx="1996365" cy="1451605"/>
          </a:xfrm>
          <a:prstGeom prst="rect">
            <a:avLst/>
          </a:prstGeom>
          <a:ln w="12700">
            <a:miter lim="400000"/>
          </a:ln>
        </p:spPr>
      </p:pic>
      <p:grpSp>
        <p:nvGrpSpPr>
          <p:cNvPr id="128" name="wr3"/>
          <p:cNvGrpSpPr/>
          <p:nvPr/>
        </p:nvGrpSpPr>
        <p:grpSpPr>
          <a:xfrm>
            <a:off x="9280931" y="4176013"/>
            <a:ext cx="2270685" cy="1338922"/>
            <a:chOff x="0" y="0"/>
            <a:chExt cx="2270684" cy="1338920"/>
          </a:xfrm>
        </p:grpSpPr>
        <p:sp>
          <p:nvSpPr>
            <p:cNvPr id="125" name="w3_word"/>
            <p:cNvSpPr txBox="1"/>
            <p:nvPr/>
          </p:nvSpPr>
          <p:spPr>
            <a:xfrm>
              <a:off x="0" y="0"/>
              <a:ext cx="2270685" cy="4445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3000">
                  <a:solidFill>
                    <a:srgbClr val="123B54"/>
                  </a:solidFill>
                  <a:latin typeface="Georgia"/>
                  <a:ea typeface="Georgia"/>
                  <a:cs typeface="Georgia"/>
                  <a:sym typeface="Georgia"/>
                </a:defRPr>
              </a:lvl1pPr>
            </a:lstStyle>
            <a:p>
              <a:pPr/>
              <a:r>
                <a:t>outside</a:t>
              </a:r>
            </a:p>
          </p:txBody>
        </p:sp>
        <p:sp>
          <p:nvSpPr>
            <p:cNvPr id="126" name="w3_say"/>
            <p:cNvSpPr txBox="1"/>
            <p:nvPr/>
          </p:nvSpPr>
          <p:spPr>
            <a:xfrm>
              <a:off x="0" y="574616"/>
              <a:ext cx="2270685"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i="1" sz="1500">
                  <a:solidFill>
                    <a:srgbClr val="06A77D"/>
                  </a:solidFill>
                  <a:latin typeface="Arial"/>
                  <a:ea typeface="Arial"/>
                  <a:cs typeface="Arial"/>
                  <a:sym typeface="Arial"/>
                </a:defRPr>
              </a:lvl1pPr>
            </a:lstStyle>
            <a:p>
              <a:pPr/>
              <a:r>
                <a:t>OWT-side</a:t>
              </a:r>
            </a:p>
          </p:txBody>
        </p:sp>
        <p:sp>
          <p:nvSpPr>
            <p:cNvPr id="127" name="w3_mean"/>
            <p:cNvSpPr txBox="1"/>
            <p:nvPr/>
          </p:nvSpPr>
          <p:spPr>
            <a:xfrm>
              <a:off x="91440" y="889762"/>
              <a:ext cx="2087805" cy="4491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1800"/>
                </a:lnSpc>
                <a:defRPr sz="1400">
                  <a:solidFill>
                    <a:srgbClr val="0E2A3B"/>
                  </a:solidFill>
                  <a:latin typeface="Arial"/>
                  <a:ea typeface="Arial"/>
                  <a:cs typeface="Arial"/>
                  <a:sym typeface="Arial"/>
                </a:defRPr>
              </a:lvl1pPr>
            </a:lstStyle>
            <a:p>
              <a:pPr/>
              <a:r>
                <a:t>The electron is outside the nucleus.</a:t>
              </a:r>
            </a:p>
          </p:txBody>
        </p:sp>
      </p:grpSp>
      <p:pic>
        <p:nvPicPr>
          <p:cNvPr id="129" name="w3_bubble" descr="w3_bubble"/>
          <p:cNvPicPr>
            <a:picLocks noChangeAspect="1"/>
          </p:cNvPicPr>
          <p:nvPr/>
        </p:nvPicPr>
        <p:blipFill>
          <a:blip r:embed="rId7">
            <a:extLst/>
          </a:blip>
          <a:stretch>
            <a:fillRect/>
          </a:stretch>
        </p:blipFill>
        <p:spPr>
          <a:xfrm>
            <a:off x="10233393" y="5550408"/>
            <a:ext cx="365761" cy="365761"/>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00000" fill="hold"/>
                                        <p:tgtEl>
                                          <p:spTgt spid="96"/>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07"/>
                                        </p:tgtEl>
                                        <p:attrNameLst>
                                          <p:attrName>style.visibility</p:attrName>
                                        </p:attrNameLst>
                                      </p:cBhvr>
                                      <p:to>
                                        <p:strVal val="visible"/>
                                      </p:to>
                                    </p:set>
                                    <p:animEffect filter="fade" transition="in">
                                      <p:cBhvr>
                                        <p:cTn id="11" dur="400"/>
                                        <p:tgtEl>
                                          <p:spTgt spid="107"/>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14"/>
                                        </p:tgtEl>
                                        <p:attrNameLst>
                                          <p:attrName>style.visibility</p:attrName>
                                        </p:attrNameLst>
                                      </p:cBhvr>
                                      <p:to>
                                        <p:strVal val="visible"/>
                                      </p:to>
                                    </p:set>
                                    <p:animEffect filter="fade" transition="in">
                                      <p:cBhvr>
                                        <p:cTn id="16" dur="400"/>
                                        <p:tgtEl>
                                          <p:spTgt spid="114"/>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21"/>
                                        </p:tgtEl>
                                        <p:attrNameLst>
                                          <p:attrName>style.visibility</p:attrName>
                                        </p:attrNameLst>
                                      </p:cBhvr>
                                      <p:to>
                                        <p:strVal val="visible"/>
                                      </p:to>
                                    </p:set>
                                    <p:animEffect filter="fade" transition="in">
                                      <p:cBhvr>
                                        <p:cTn id="21" dur="400"/>
                                        <p:tgtEl>
                                          <p:spTgt spid="12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128"/>
                                        </p:tgtEl>
                                        <p:attrNameLst>
                                          <p:attrName>style.visibility</p:attrName>
                                        </p:attrNameLst>
                                      </p:cBhvr>
                                      <p:to>
                                        <p:strVal val="visible"/>
                                      </p:to>
                                    </p:set>
                                    <p:animEffect filter="fade" transition="in">
                                      <p:cBhvr>
                                        <p:cTn id="26" dur="400"/>
                                        <p:tgtEl>
                                          <p:spTgt spid="12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7" fill="hold" display="0">
                  <p:stCondLst>
                    <p:cond delay="indefinite"/>
                  </p:stCondLst>
                </p:cTn>
                <p:tgtEl>
                  <p:spTgt spid="96"/>
                </p:tgtEl>
              </p:cMediaNode>
            </p:video>
            <p:seq concurrent="1" prevAc="none" nextAc="seek">
              <p:cTn id="28" evtFilter="cancelBubble" nodeType="interactiveSeq" restart="whenNotActive" fill="hold">
                <p:stCondLst>
                  <p:cond delay="0" evt="onClick">
                    <p:tgtEl>
                      <p:spTgt spid="96"/>
                    </p:tgtEl>
                  </p:cond>
                </p:stCondLst>
                <p:endSync delay="0" evt="end">
                  <p:rtn val="all"/>
                </p:endSync>
                <p:childTnLst>
                  <p:par>
                    <p:cTn id="29" fill="hold">
                      <p:stCondLst>
                        <p:cond delay="0"/>
                      </p:stCondLst>
                      <p:childTnLst>
                        <p:par>
                          <p:cTn id="30" fill="hold">
                            <p:stCondLst>
                              <p:cond delay="0"/>
                            </p:stCondLst>
                            <p:childTnLst>
                              <p:par>
                                <p:cTn id="31" presetClass="mediacall" nodeType="clickEffect" presetSubtype="0" presetID="2" fill="hold">
                                  <p:stCondLst>
                                    <p:cond delay="0"/>
                                  </p:stCondLst>
                                  <p:childTnLst>
                                    <p:cmd type="call" cmd="togglePause">
                                      <p:cBhvr>
                                        <p:cTn id="32" dur="1" fill="hold"/>
                                        <p:tgtEl>
                                          <p:spTgt spid="96"/>
                                        </p:tgtEl>
                                      </p:cBhvr>
                                    </p:cmd>
                                  </p:childTnLst>
                                </p:cTn>
                              </p:par>
                            </p:childTnLst>
                          </p:cTn>
                        </p:par>
                      </p:childTnLst>
                    </p:cTn>
                  </p:par>
                </p:childTnLst>
              </p:cTn>
              <p:nextCondLst>
                <p:cond delay="0" evt="onClick">
                  <p:tgtEl>
                    <p:spTgt spid="96"/>
                  </p:tgtEl>
                </p:cond>
              </p:nextCondLst>
            </p:seq>
          </p:childTnLst>
        </p:cTn>
      </p:par>
    </p:tnLst>
    <p:bldLst>
      <p:bldP build="whole" bldLvl="1" animBg="1" rev="0" advAuto="0" spid="128" grpId="5"/>
      <p:bldP build="whole" bldLvl="1" animBg="1" rev="0" advAuto="0" spid="114" grpId="3"/>
      <p:bldP build="whole" bldLvl="1" animBg="1" rev="0" advAuto="0" spid="121" grpId="4"/>
      <p:bldP build="whole" bldLvl="1" animBg="1" rev="0" advAuto="0" spid="107" grpId="2"/>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8FA"/>
        </a:solidFill>
      </p:bgPr>
    </p:bg>
    <p:spTree>
      <p:nvGrpSpPr>
        <p:cNvPr id="1" name=""/>
        <p:cNvGrpSpPr/>
        <p:nvPr/>
      </p:nvGrpSpPr>
      <p:grpSpPr>
        <a:xfrm>
          <a:off x="0" y="0"/>
          <a:ext cx="0" cy="0"/>
          <a:chOff x="0" y="0"/>
          <a:chExt cx="0" cy="0"/>
        </a:xfrm>
      </p:grpSpPr>
      <p:pic>
        <p:nvPicPr>
          <p:cNvPr id="133"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36" name="phase_pill"/>
          <p:cNvGrpSpPr/>
          <p:nvPr/>
        </p:nvGrpSpPr>
        <p:grpSpPr>
          <a:xfrm>
            <a:off x="1170432" y="310895"/>
            <a:ext cx="2340865" cy="329185"/>
            <a:chOff x="0" y="0"/>
            <a:chExt cx="2340864" cy="329184"/>
          </a:xfrm>
        </p:grpSpPr>
        <p:sp>
          <p:nvSpPr>
            <p:cNvPr id="134" name="Rounded Rectangle"/>
            <p:cNvSpPr/>
            <p:nvPr/>
          </p:nvSpPr>
          <p:spPr>
            <a:xfrm>
              <a:off x="0" y="0"/>
              <a:ext cx="2340865" cy="329185"/>
            </a:xfrm>
            <a:prstGeom prst="roundRect">
              <a:avLst>
                <a:gd name="adj" fmla="val 44444"/>
              </a:avLst>
            </a:prstGeom>
            <a:solidFill>
              <a:srgbClr val="123B54"/>
            </a:solidFill>
            <a:ln w="12700" cap="flat">
              <a:noFill/>
              <a:miter lim="400000"/>
            </a:ln>
            <a:effectLst/>
          </p:spPr>
          <p:txBody>
            <a:bodyPr wrap="square" lIns="45719" tIns="45719" rIns="45719" bIns="45719" numCol="1" anchor="ctr">
              <a:noAutofit/>
            </a:bodyPr>
            <a:lstStyle/>
            <a:p>
              <a:pPr algn="ctr">
                <a:defRPr sz="1100"/>
              </a:pPr>
            </a:p>
          </p:txBody>
        </p:sp>
        <p:sp>
          <p:nvSpPr>
            <p:cNvPr id="135" name="LOOK AND SAY · 2 MIN"/>
            <p:cNvSpPr txBox="1"/>
            <p:nvPr/>
          </p:nvSpPr>
          <p:spPr>
            <a:xfrm>
              <a:off x="42851" y="90677"/>
              <a:ext cx="225516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LOOK AND SAY · 2 MIN</a:t>
              </a:r>
            </a:p>
          </p:txBody>
        </p:sp>
      </p:grpSp>
      <p:sp>
        <p:nvSpPr>
          <p:cNvPr id="137" name="keyword_strip"/>
          <p:cNvSpPr txBox="1"/>
          <p:nvPr/>
        </p:nvSpPr>
        <p:spPr>
          <a:xfrm>
            <a:off x="5790894" y="401573"/>
            <a:ext cx="585216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i="1" sz="1100">
                <a:solidFill>
                  <a:srgbClr val="06A77D"/>
                </a:solidFill>
                <a:latin typeface="Arial"/>
                <a:ea typeface="Arial"/>
                <a:cs typeface="Arial"/>
                <a:sym typeface="Arial"/>
              </a:defRPr>
            </a:lvl1pPr>
          </a:lstStyle>
          <a:p>
            <a:pPr/>
            <a:r>
              <a:t>proton   ·   neutron</a:t>
            </a:r>
          </a:p>
        </p:txBody>
      </p:sp>
      <p:sp>
        <p:nvSpPr>
          <p:cNvPr id="138"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123B54"/>
                </a:solidFill>
                <a:latin typeface="Georgia"/>
                <a:ea typeface="Georgia"/>
                <a:cs typeface="Georgia"/>
                <a:sym typeface="Georgia"/>
              </a:defRPr>
            </a:lvl1pPr>
          </a:lstStyle>
          <a:p>
            <a:pPr/>
            <a:r>
              <a:t>Say the words</a:t>
            </a:r>
          </a:p>
        </p:txBody>
      </p:sp>
      <p:sp>
        <p:nvSpPr>
          <p:cNvPr id="139" name="w0_bg"/>
          <p:cNvSpPr/>
          <p:nvPr/>
        </p:nvSpPr>
        <p:spPr>
          <a:xfrm>
            <a:off x="1170432" y="1901951"/>
            <a:ext cx="5099152" cy="2788922"/>
          </a:xfrm>
          <a:prstGeom prst="roundRect">
            <a:avLst>
              <a:gd name="adj" fmla="val 3934"/>
            </a:avLst>
          </a:prstGeom>
          <a:solidFill>
            <a:srgbClr val="FFFFFF"/>
          </a:solidFill>
          <a:ln w="16510">
            <a:solidFill>
              <a:srgbClr val="D3E3EB"/>
            </a:solidFill>
          </a:ln>
        </p:spPr>
        <p:txBody>
          <a:bodyPr lIns="45719" rIns="45719"/>
          <a:lstStyle/>
          <a:p>
            <a:pPr/>
          </a:p>
        </p:txBody>
      </p:sp>
      <p:sp>
        <p:nvSpPr>
          <p:cNvPr id="140" name="w0_img"/>
          <p:cNvSpPr/>
          <p:nvPr/>
        </p:nvSpPr>
        <p:spPr>
          <a:xfrm>
            <a:off x="1673351" y="2404872"/>
            <a:ext cx="1188721" cy="1188720"/>
          </a:xfrm>
          <a:prstGeom prst="ellipse">
            <a:avLst/>
          </a:prstGeom>
          <a:solidFill>
            <a:srgbClr val="FFD166"/>
          </a:solidFill>
          <a:ln w="12700">
            <a:solidFill>
              <a:srgbClr val="FFD166"/>
            </a:solidFill>
          </a:ln>
        </p:spPr>
        <p:txBody>
          <a:bodyPr lIns="45719" rIns="45719"/>
          <a:lstStyle/>
          <a:p>
            <a:pPr/>
          </a:p>
        </p:txBody>
      </p:sp>
      <p:grpSp>
        <p:nvGrpSpPr>
          <p:cNvPr id="144" name="wr0"/>
          <p:cNvGrpSpPr/>
          <p:nvPr/>
        </p:nvGrpSpPr>
        <p:grpSpPr>
          <a:xfrm>
            <a:off x="1673351" y="2496312"/>
            <a:ext cx="4367633" cy="1513570"/>
            <a:chOff x="0" y="0"/>
            <a:chExt cx="4367631" cy="1513569"/>
          </a:xfrm>
        </p:grpSpPr>
        <p:sp>
          <p:nvSpPr>
            <p:cNvPr id="141" name="w0_word"/>
            <p:cNvSpPr txBox="1"/>
            <p:nvPr/>
          </p:nvSpPr>
          <p:spPr>
            <a:xfrm>
              <a:off x="1463039" y="0"/>
              <a:ext cx="2904593" cy="4572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3200">
                  <a:solidFill>
                    <a:srgbClr val="123B54"/>
                  </a:solidFill>
                  <a:latin typeface="Georgia"/>
                  <a:ea typeface="Georgia"/>
                  <a:cs typeface="Georgia"/>
                  <a:sym typeface="Georgia"/>
                </a:defRPr>
              </a:lvl1pPr>
            </a:lstStyle>
            <a:p>
              <a:pPr/>
              <a:r>
                <a:t>proton</a:t>
              </a:r>
            </a:p>
          </p:txBody>
        </p:sp>
        <p:sp>
          <p:nvSpPr>
            <p:cNvPr id="142" name="w0_say"/>
            <p:cNvSpPr txBox="1"/>
            <p:nvPr/>
          </p:nvSpPr>
          <p:spPr>
            <a:xfrm>
              <a:off x="1463039" y="620543"/>
              <a:ext cx="2904593"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i="1" sz="1600">
                  <a:solidFill>
                    <a:srgbClr val="06A77D"/>
                  </a:solidFill>
                  <a:latin typeface="Arial"/>
                  <a:ea typeface="Arial"/>
                  <a:cs typeface="Arial"/>
                  <a:sym typeface="Arial"/>
                </a:defRPr>
              </a:lvl1pPr>
            </a:lstStyle>
            <a:p>
              <a:pPr/>
              <a:r>
                <a:t>PRO-ton</a:t>
              </a:r>
            </a:p>
          </p:txBody>
        </p:sp>
        <p:sp>
          <p:nvSpPr>
            <p:cNvPr id="143" name="w0_mean"/>
            <p:cNvSpPr txBox="1"/>
            <p:nvPr/>
          </p:nvSpPr>
          <p:spPr>
            <a:xfrm>
              <a:off x="0" y="1280159"/>
              <a:ext cx="4093312" cy="2334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sz="1500">
                  <a:solidFill>
                    <a:srgbClr val="0E2A3B"/>
                  </a:solidFill>
                  <a:latin typeface="Arial"/>
                  <a:ea typeface="Arial"/>
                  <a:cs typeface="Arial"/>
                  <a:sym typeface="Arial"/>
                </a:defRPr>
              </a:lvl1pPr>
            </a:lstStyle>
            <a:p>
              <a:pPr/>
              <a:r>
                <a:t>A small part inside the nucleus.</a:t>
              </a:r>
            </a:p>
          </p:txBody>
        </p:sp>
      </p:grpSp>
      <p:sp>
        <p:nvSpPr>
          <p:cNvPr id="145" name="w1_bg"/>
          <p:cNvSpPr/>
          <p:nvPr/>
        </p:nvSpPr>
        <p:spPr>
          <a:xfrm>
            <a:off x="6543903" y="1901951"/>
            <a:ext cx="5099153" cy="2788922"/>
          </a:xfrm>
          <a:prstGeom prst="roundRect">
            <a:avLst>
              <a:gd name="adj" fmla="val 3934"/>
            </a:avLst>
          </a:prstGeom>
          <a:solidFill>
            <a:srgbClr val="FFFFFF"/>
          </a:solidFill>
          <a:ln w="16510">
            <a:solidFill>
              <a:srgbClr val="D3E3EB"/>
            </a:solidFill>
          </a:ln>
        </p:spPr>
        <p:txBody>
          <a:bodyPr lIns="45719" rIns="45719"/>
          <a:lstStyle/>
          <a:p>
            <a:pPr/>
          </a:p>
        </p:txBody>
      </p:sp>
      <p:sp>
        <p:nvSpPr>
          <p:cNvPr id="146" name="w1_img"/>
          <p:cNvSpPr/>
          <p:nvPr/>
        </p:nvSpPr>
        <p:spPr>
          <a:xfrm>
            <a:off x="7046824" y="2404872"/>
            <a:ext cx="1188721" cy="1188720"/>
          </a:xfrm>
          <a:prstGeom prst="ellipse">
            <a:avLst/>
          </a:prstGeom>
          <a:solidFill>
            <a:srgbClr val="EF476F"/>
          </a:solidFill>
          <a:ln w="12700">
            <a:solidFill>
              <a:srgbClr val="EF476F"/>
            </a:solidFill>
          </a:ln>
        </p:spPr>
        <p:txBody>
          <a:bodyPr lIns="45719" rIns="45719"/>
          <a:lstStyle/>
          <a:p>
            <a:pPr/>
          </a:p>
        </p:txBody>
      </p:sp>
      <p:grpSp>
        <p:nvGrpSpPr>
          <p:cNvPr id="150" name="wr1"/>
          <p:cNvGrpSpPr/>
          <p:nvPr/>
        </p:nvGrpSpPr>
        <p:grpSpPr>
          <a:xfrm>
            <a:off x="7046824" y="2496312"/>
            <a:ext cx="4367632" cy="1513570"/>
            <a:chOff x="0" y="0"/>
            <a:chExt cx="4367631" cy="1513569"/>
          </a:xfrm>
        </p:grpSpPr>
        <p:sp>
          <p:nvSpPr>
            <p:cNvPr id="147" name="w1_word"/>
            <p:cNvSpPr txBox="1"/>
            <p:nvPr/>
          </p:nvSpPr>
          <p:spPr>
            <a:xfrm>
              <a:off x="1463039" y="0"/>
              <a:ext cx="2904593" cy="4572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3200">
                  <a:solidFill>
                    <a:srgbClr val="123B54"/>
                  </a:solidFill>
                  <a:latin typeface="Georgia"/>
                  <a:ea typeface="Georgia"/>
                  <a:cs typeface="Georgia"/>
                  <a:sym typeface="Georgia"/>
                </a:defRPr>
              </a:lvl1pPr>
            </a:lstStyle>
            <a:p>
              <a:pPr/>
              <a:r>
                <a:t>neutron</a:t>
              </a:r>
            </a:p>
          </p:txBody>
        </p:sp>
        <p:sp>
          <p:nvSpPr>
            <p:cNvPr id="148" name="w1_say"/>
            <p:cNvSpPr txBox="1"/>
            <p:nvPr/>
          </p:nvSpPr>
          <p:spPr>
            <a:xfrm>
              <a:off x="1463039" y="620543"/>
              <a:ext cx="2904593"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i="1" sz="1600">
                  <a:solidFill>
                    <a:srgbClr val="06A77D"/>
                  </a:solidFill>
                  <a:latin typeface="Arial"/>
                  <a:ea typeface="Arial"/>
                  <a:cs typeface="Arial"/>
                  <a:sym typeface="Arial"/>
                </a:defRPr>
              </a:lvl1pPr>
            </a:lstStyle>
            <a:p>
              <a:pPr/>
              <a:r>
                <a:t>NEW-tron</a:t>
              </a:r>
            </a:p>
          </p:txBody>
        </p:sp>
        <p:sp>
          <p:nvSpPr>
            <p:cNvPr id="149" name="w1_mean"/>
            <p:cNvSpPr txBox="1"/>
            <p:nvPr/>
          </p:nvSpPr>
          <p:spPr>
            <a:xfrm>
              <a:off x="0" y="1280159"/>
              <a:ext cx="4093312" cy="2334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sz="1500">
                  <a:solidFill>
                    <a:srgbClr val="0E2A3B"/>
                  </a:solidFill>
                  <a:latin typeface="Arial"/>
                  <a:ea typeface="Arial"/>
                  <a:cs typeface="Arial"/>
                  <a:sym typeface="Arial"/>
                </a:defRPr>
              </a:lvl1pPr>
            </a:lstStyle>
            <a:p>
              <a:pPr/>
              <a:r>
                <a:t>Another small part inside the nucleus.</a:t>
              </a:r>
            </a:p>
          </p:txBody>
        </p:sp>
      </p:grpSp>
      <p:grpSp>
        <p:nvGrpSpPr>
          <p:cNvPr id="153" name="pair"/>
          <p:cNvGrpSpPr/>
          <p:nvPr/>
        </p:nvGrpSpPr>
        <p:grpSpPr>
          <a:xfrm>
            <a:off x="1170432" y="4965191"/>
            <a:ext cx="10472623" cy="960121"/>
            <a:chOff x="0" y="0"/>
            <a:chExt cx="10472622" cy="960119"/>
          </a:xfrm>
        </p:grpSpPr>
        <p:sp>
          <p:nvSpPr>
            <p:cNvPr id="151" name="pair_bg"/>
            <p:cNvSpPr/>
            <p:nvPr/>
          </p:nvSpPr>
          <p:spPr>
            <a:xfrm>
              <a:off x="0" y="0"/>
              <a:ext cx="10472623" cy="960120"/>
            </a:xfrm>
            <a:prstGeom prst="roundRect">
              <a:avLst>
                <a:gd name="adj" fmla="val 11429"/>
              </a:avLst>
            </a:prstGeom>
            <a:solidFill>
              <a:srgbClr val="FDF3DC"/>
            </a:solidFill>
            <a:ln w="16510" cap="flat">
              <a:solidFill>
                <a:srgbClr val="FFD166"/>
              </a:solidFill>
              <a:prstDash val="solid"/>
              <a:round/>
            </a:ln>
            <a:effectLst/>
          </p:spPr>
          <p:txBody>
            <a:bodyPr wrap="square" lIns="45719" tIns="45719" rIns="45719" bIns="45719" numCol="1" anchor="t">
              <a:noAutofit/>
            </a:bodyPr>
            <a:lstStyle/>
            <a:p>
              <a:pPr/>
            </a:p>
          </p:txBody>
        </p:sp>
        <p:sp>
          <p:nvSpPr>
            <p:cNvPr id="152" name="pair_t"/>
            <p:cNvSpPr txBox="1"/>
            <p:nvPr/>
          </p:nvSpPr>
          <p:spPr>
            <a:xfrm>
              <a:off x="274319" y="356591"/>
              <a:ext cx="9923984"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gn="ctr">
                <a:defRPr b="1" sz="1700">
                  <a:solidFill>
                    <a:srgbClr val="123B54"/>
                  </a:solidFill>
                  <a:latin typeface="Arial"/>
                  <a:ea typeface="Arial"/>
                  <a:cs typeface="Arial"/>
                  <a:sym typeface="Arial"/>
                </a:defRPr>
              </a:pPr>
              <a:r>
                <a:t>nucleus   </a:t>
              </a:r>
              <a:r>
                <a:rPr>
                  <a:solidFill>
                    <a:srgbClr val="4D97D5">
                      <a:alpha val="62167"/>
                    </a:srgbClr>
                  </a:solidFill>
                </a:rPr>
                <a:t>NEW-clee-us</a:t>
              </a:r>
              <a:r>
                <a:t>          neutron   </a:t>
              </a:r>
              <a:r>
                <a:rPr>
                  <a:solidFill>
                    <a:srgbClr val="4D97D5">
                      <a:alpha val="62167"/>
                    </a:srgbClr>
                  </a:solidFill>
                </a:rPr>
                <a:t>NEW-tron </a:t>
              </a:r>
              <a:r>
                <a:t>         proton </a:t>
              </a:r>
              <a:r>
                <a:rPr>
                  <a:solidFill>
                    <a:srgbClr val="4D97D5">
                      <a:alpha val="62167"/>
                    </a:srgbClr>
                  </a:solidFill>
                </a:rPr>
                <a:t>PRO-ton</a:t>
              </a:r>
              <a:r>
                <a:t>         electron   </a:t>
              </a:r>
              <a:r>
                <a:rPr>
                  <a:solidFill>
                    <a:srgbClr val="4D97D5">
                      <a:alpha val="62167"/>
                    </a:srgbClr>
                  </a:solidFill>
                </a:rPr>
                <a:t>eh-LEK-tron</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20000" fill="hold"/>
                                        <p:tgtEl>
                                          <p:spTgt spid="133"/>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44"/>
                                        </p:tgtEl>
                                        <p:attrNameLst>
                                          <p:attrName>style.visibility</p:attrName>
                                        </p:attrNameLst>
                                      </p:cBhvr>
                                      <p:to>
                                        <p:strVal val="visible"/>
                                      </p:to>
                                    </p:set>
                                    <p:animEffect filter="fade" transition="in">
                                      <p:cBhvr>
                                        <p:cTn id="11" dur="400"/>
                                        <p:tgtEl>
                                          <p:spTgt spid="144"/>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50"/>
                                        </p:tgtEl>
                                        <p:attrNameLst>
                                          <p:attrName>style.visibility</p:attrName>
                                        </p:attrNameLst>
                                      </p:cBhvr>
                                      <p:to>
                                        <p:strVal val="visible"/>
                                      </p:to>
                                    </p:set>
                                    <p:animEffect filter="fade" transition="in">
                                      <p:cBhvr>
                                        <p:cTn id="16" dur="400"/>
                                        <p:tgtEl>
                                          <p:spTgt spid="15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53"/>
                                        </p:tgtEl>
                                        <p:attrNameLst>
                                          <p:attrName>style.visibility</p:attrName>
                                        </p:attrNameLst>
                                      </p:cBhvr>
                                      <p:to>
                                        <p:strVal val="visible"/>
                                      </p:to>
                                    </p:set>
                                    <p:animEffect filter="fade" transition="in">
                                      <p:cBhvr>
                                        <p:cTn id="21" dur="400"/>
                                        <p:tgtEl>
                                          <p:spTgt spid="153"/>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2" fill="hold" display="0">
                  <p:stCondLst>
                    <p:cond delay="indefinite"/>
                  </p:stCondLst>
                </p:cTn>
                <p:tgtEl>
                  <p:spTgt spid="133"/>
                </p:tgtEl>
              </p:cMediaNode>
            </p:video>
            <p:seq concurrent="1" prevAc="none" nextAc="seek">
              <p:cTn id="23" evtFilter="cancelBubble" nodeType="interactiveSeq" restart="whenNotActive" fill="hold">
                <p:stCondLst>
                  <p:cond delay="0" evt="onClick">
                    <p:tgtEl>
                      <p:spTgt spid="133"/>
                    </p:tgtEl>
                  </p:cond>
                </p:stCondLst>
                <p:endSync delay="0" evt="end">
                  <p:rtn val="all"/>
                </p:endSync>
                <p:childTnLst>
                  <p:par>
                    <p:cTn id="24" fill="hold">
                      <p:stCondLst>
                        <p:cond delay="0"/>
                      </p:stCondLst>
                      <p:childTnLst>
                        <p:par>
                          <p:cTn id="25" fill="hold">
                            <p:stCondLst>
                              <p:cond delay="0"/>
                            </p:stCondLst>
                            <p:childTnLst>
                              <p:par>
                                <p:cTn id="26" presetClass="mediacall" nodeType="clickEffect" presetSubtype="0" presetID="2" fill="hold">
                                  <p:stCondLst>
                                    <p:cond delay="0"/>
                                  </p:stCondLst>
                                  <p:childTnLst>
                                    <p:cmd type="call" cmd="togglePause">
                                      <p:cBhvr>
                                        <p:cTn id="27" dur="1" fill="hold"/>
                                        <p:tgtEl>
                                          <p:spTgt spid="133"/>
                                        </p:tgtEl>
                                      </p:cBhvr>
                                    </p:cmd>
                                  </p:childTnLst>
                                </p:cTn>
                              </p:par>
                            </p:childTnLst>
                          </p:cTn>
                        </p:par>
                      </p:childTnLst>
                    </p:cTn>
                  </p:par>
                </p:childTnLst>
              </p:cTn>
              <p:nextCondLst>
                <p:cond delay="0" evt="onClick">
                  <p:tgtEl>
                    <p:spTgt spid="133"/>
                  </p:tgtEl>
                </p:cond>
              </p:nextCondLst>
            </p:seq>
          </p:childTnLst>
        </p:cTn>
      </p:par>
    </p:tnLst>
    <p:bldLst>
      <p:bldP build="whole" bldLvl="1" animBg="1" rev="0" advAuto="0" spid="144" grpId="2"/>
      <p:bldP build="whole" bldLvl="1" animBg="1" rev="0" advAuto="0" spid="150" grpId="3"/>
      <p:bldP build="whole" bldLvl="1" animBg="1" rev="0" advAuto="0" spid="153" grpId="4"/>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8FA"/>
        </a:solidFill>
      </p:bgPr>
    </p:bg>
    <p:spTree>
      <p:nvGrpSpPr>
        <p:cNvPr id="1" name=""/>
        <p:cNvGrpSpPr/>
        <p:nvPr/>
      </p:nvGrpSpPr>
      <p:grpSpPr>
        <a:xfrm>
          <a:off x="0" y="0"/>
          <a:ext cx="0" cy="0"/>
          <a:chOff x="0" y="0"/>
          <a:chExt cx="0" cy="0"/>
        </a:xfrm>
      </p:grpSpPr>
      <p:pic>
        <p:nvPicPr>
          <p:cNvPr id="157"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60" name="phase_pill"/>
          <p:cNvGrpSpPr/>
          <p:nvPr/>
        </p:nvGrpSpPr>
        <p:grpSpPr>
          <a:xfrm>
            <a:off x="1170432" y="310895"/>
            <a:ext cx="2340865" cy="329185"/>
            <a:chOff x="0" y="0"/>
            <a:chExt cx="2340864" cy="329184"/>
          </a:xfrm>
        </p:grpSpPr>
        <p:sp>
          <p:nvSpPr>
            <p:cNvPr id="158" name="Rounded Rectangle"/>
            <p:cNvSpPr/>
            <p:nvPr/>
          </p:nvSpPr>
          <p:spPr>
            <a:xfrm>
              <a:off x="0" y="0"/>
              <a:ext cx="2340865" cy="329185"/>
            </a:xfrm>
            <a:prstGeom prst="roundRect">
              <a:avLst>
                <a:gd name="adj" fmla="val 44444"/>
              </a:avLst>
            </a:prstGeom>
            <a:solidFill>
              <a:srgbClr val="123B54"/>
            </a:solidFill>
            <a:ln w="12700" cap="flat">
              <a:noFill/>
              <a:miter lim="400000"/>
            </a:ln>
            <a:effectLst/>
          </p:spPr>
          <p:txBody>
            <a:bodyPr wrap="square" lIns="45719" tIns="45719" rIns="45719" bIns="45719" numCol="1" anchor="ctr">
              <a:noAutofit/>
            </a:bodyPr>
            <a:lstStyle/>
            <a:p>
              <a:pPr algn="ctr">
                <a:defRPr sz="1100"/>
              </a:pPr>
            </a:p>
          </p:txBody>
        </p:sp>
        <p:sp>
          <p:nvSpPr>
            <p:cNvPr id="159" name="LOOK AND SAY · 5 MIN"/>
            <p:cNvSpPr txBox="1"/>
            <p:nvPr/>
          </p:nvSpPr>
          <p:spPr>
            <a:xfrm>
              <a:off x="42851" y="90677"/>
              <a:ext cx="225516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LOOK AND SAY · 5 MIN</a:t>
              </a:r>
            </a:p>
          </p:txBody>
        </p:sp>
      </p:grpSp>
      <p:sp>
        <p:nvSpPr>
          <p:cNvPr id="161" name="keyword_strip"/>
          <p:cNvSpPr txBox="1"/>
          <p:nvPr/>
        </p:nvSpPr>
        <p:spPr>
          <a:xfrm>
            <a:off x="5790894" y="401573"/>
            <a:ext cx="585216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i="1" sz="1100">
                <a:solidFill>
                  <a:srgbClr val="06A77D"/>
                </a:solidFill>
                <a:latin typeface="Arial"/>
                <a:ea typeface="Arial"/>
                <a:cs typeface="Arial"/>
                <a:sym typeface="Arial"/>
              </a:defRPr>
            </a:lvl1pPr>
          </a:lstStyle>
          <a:p>
            <a:pPr/>
            <a:r>
              <a:t>matter   ·   part   ·   atom</a:t>
            </a:r>
          </a:p>
        </p:txBody>
      </p:sp>
      <p:sp>
        <p:nvSpPr>
          <p:cNvPr id="162"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123B54"/>
                </a:solidFill>
                <a:latin typeface="Georgia"/>
                <a:ea typeface="Georgia"/>
                <a:cs typeface="Georgia"/>
                <a:sym typeface="Georgia"/>
              </a:defRPr>
            </a:lvl1pPr>
          </a:lstStyle>
          <a:p>
            <a:pPr/>
            <a:r>
              <a:t>Matter. Part. Atom.</a:t>
            </a:r>
          </a:p>
        </p:txBody>
      </p:sp>
      <p:grpSp>
        <p:nvGrpSpPr>
          <p:cNvPr id="172" name="pm0"/>
          <p:cNvGrpSpPr/>
          <p:nvPr/>
        </p:nvGrpSpPr>
        <p:grpSpPr>
          <a:xfrm>
            <a:off x="1170432" y="1901951"/>
            <a:ext cx="3307994" cy="3429001"/>
            <a:chOff x="0" y="0"/>
            <a:chExt cx="3307993" cy="3429000"/>
          </a:xfrm>
        </p:grpSpPr>
        <p:sp>
          <p:nvSpPr>
            <p:cNvPr id="163" name="pm0_bg"/>
            <p:cNvSpPr/>
            <p:nvPr/>
          </p:nvSpPr>
          <p:spPr>
            <a:xfrm>
              <a:off x="0" y="0"/>
              <a:ext cx="3307994" cy="3429000"/>
            </a:xfrm>
            <a:prstGeom prst="roundRect">
              <a:avLst>
                <a:gd name="adj" fmla="val 3317"/>
              </a:avLst>
            </a:prstGeom>
            <a:solidFill>
              <a:srgbClr val="FFFFFF"/>
            </a:solidFill>
            <a:ln w="16510" cap="flat">
              <a:solidFill>
                <a:srgbClr val="D3E3EB"/>
              </a:solidFill>
              <a:prstDash val="solid"/>
              <a:round/>
            </a:ln>
            <a:effectLst/>
          </p:spPr>
          <p:txBody>
            <a:bodyPr wrap="square" lIns="45719" tIns="45719" rIns="45719" bIns="45719" numCol="1" anchor="t">
              <a:noAutofit/>
            </a:bodyPr>
            <a:lstStyle/>
            <a:p>
              <a:pPr/>
            </a:p>
          </p:txBody>
        </p:sp>
        <p:pic>
          <p:nvPicPr>
            <p:cNvPr id="164" name="pm0_img" descr="pm0_img"/>
            <p:cNvPicPr>
              <a:picLocks noChangeAspect="1"/>
            </p:cNvPicPr>
            <p:nvPr/>
          </p:nvPicPr>
          <p:blipFill>
            <a:blip r:embed="rId6">
              <a:extLst/>
            </a:blip>
            <a:stretch>
              <a:fillRect/>
            </a:stretch>
          </p:blipFill>
          <p:spPr>
            <a:xfrm>
              <a:off x="1196796" y="201167"/>
              <a:ext cx="914401" cy="914401"/>
            </a:xfrm>
            <a:prstGeom prst="rect">
              <a:avLst/>
            </a:prstGeom>
            <a:ln w="12700" cap="flat">
              <a:noFill/>
              <a:miter lim="400000"/>
            </a:ln>
            <a:effectLst/>
          </p:spPr>
        </p:pic>
        <p:sp>
          <p:nvSpPr>
            <p:cNvPr id="165" name="pm0_word"/>
            <p:cNvSpPr txBox="1"/>
            <p:nvPr/>
          </p:nvSpPr>
          <p:spPr>
            <a:xfrm>
              <a:off x="91439" y="1236979"/>
              <a:ext cx="3125115" cy="406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800">
                  <a:solidFill>
                    <a:srgbClr val="123B54"/>
                  </a:solidFill>
                  <a:latin typeface="Georgia"/>
                  <a:ea typeface="Georgia"/>
                  <a:cs typeface="Georgia"/>
                  <a:sym typeface="Georgia"/>
                </a:defRPr>
              </a:lvl1pPr>
            </a:lstStyle>
            <a:p>
              <a:pPr/>
              <a:r>
                <a:t>matter</a:t>
              </a:r>
            </a:p>
          </p:txBody>
        </p:sp>
        <p:sp>
          <p:nvSpPr>
            <p:cNvPr id="166" name="pm0_mean"/>
            <p:cNvSpPr txBox="1"/>
            <p:nvPr/>
          </p:nvSpPr>
          <p:spPr>
            <a:xfrm>
              <a:off x="182880" y="1797118"/>
              <a:ext cx="2942234"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500">
                  <a:solidFill>
                    <a:srgbClr val="0E2A3B"/>
                  </a:solidFill>
                  <a:latin typeface="Arial"/>
                  <a:ea typeface="Arial"/>
                  <a:cs typeface="Arial"/>
                  <a:sym typeface="Arial"/>
                </a:defRPr>
              </a:lvl1pPr>
            </a:lstStyle>
            <a:p>
              <a:pPr/>
              <a:r>
                <a:t>Anything you can touch.</a:t>
              </a:r>
            </a:p>
          </p:txBody>
        </p:sp>
        <p:sp>
          <p:nvSpPr>
            <p:cNvPr id="167" name="pm0_say"/>
            <p:cNvSpPr txBox="1"/>
            <p:nvPr/>
          </p:nvSpPr>
          <p:spPr>
            <a:xfrm>
              <a:off x="182880" y="2912686"/>
              <a:ext cx="2942234"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i="1" sz="1500">
                  <a:solidFill>
                    <a:srgbClr val="06A77D"/>
                  </a:solidFill>
                  <a:latin typeface="Arial"/>
                  <a:ea typeface="Arial"/>
                  <a:cs typeface="Arial"/>
                  <a:sym typeface="Arial"/>
                </a:defRPr>
              </a:lvl1pPr>
            </a:lstStyle>
            <a:p>
              <a:pPr/>
              <a:r>
                <a:t>"Water is matter."</a:t>
              </a:r>
            </a:p>
          </p:txBody>
        </p:sp>
        <p:pic>
          <p:nvPicPr>
            <p:cNvPr id="168" name="pm0_s0" descr="pm0_s0"/>
            <p:cNvPicPr>
              <a:picLocks noChangeAspect="1"/>
            </p:cNvPicPr>
            <p:nvPr/>
          </p:nvPicPr>
          <p:blipFill>
            <a:blip r:embed="rId7">
              <a:extLst/>
            </a:blip>
            <a:stretch>
              <a:fillRect/>
            </a:stretch>
          </p:blipFill>
          <p:spPr>
            <a:xfrm>
              <a:off x="520141" y="2176272"/>
              <a:ext cx="457200" cy="457201"/>
            </a:xfrm>
            <a:prstGeom prst="rect">
              <a:avLst/>
            </a:prstGeom>
            <a:ln w="12700" cap="flat">
              <a:noFill/>
              <a:miter lim="400000"/>
            </a:ln>
            <a:effectLst/>
          </p:spPr>
        </p:pic>
        <p:pic>
          <p:nvPicPr>
            <p:cNvPr id="169" name="pm0_s1" descr="pm0_s1"/>
            <p:cNvPicPr>
              <a:picLocks noChangeAspect="1"/>
            </p:cNvPicPr>
            <p:nvPr/>
          </p:nvPicPr>
          <p:blipFill>
            <a:blip r:embed="rId8">
              <a:extLst/>
            </a:blip>
            <a:stretch>
              <a:fillRect/>
            </a:stretch>
          </p:blipFill>
          <p:spPr>
            <a:xfrm>
              <a:off x="1123644" y="2176272"/>
              <a:ext cx="457201" cy="457201"/>
            </a:xfrm>
            <a:prstGeom prst="rect">
              <a:avLst/>
            </a:prstGeom>
            <a:ln w="12700" cap="flat">
              <a:noFill/>
              <a:miter lim="400000"/>
            </a:ln>
            <a:effectLst/>
          </p:spPr>
        </p:pic>
        <p:pic>
          <p:nvPicPr>
            <p:cNvPr id="170" name="pm0_s2" descr="pm0_s2"/>
            <p:cNvPicPr>
              <a:picLocks noChangeAspect="1"/>
            </p:cNvPicPr>
            <p:nvPr/>
          </p:nvPicPr>
          <p:blipFill>
            <a:blip r:embed="rId9">
              <a:extLst/>
            </a:blip>
            <a:stretch>
              <a:fillRect/>
            </a:stretch>
          </p:blipFill>
          <p:spPr>
            <a:xfrm>
              <a:off x="1727148" y="2176272"/>
              <a:ext cx="457201" cy="457201"/>
            </a:xfrm>
            <a:prstGeom prst="rect">
              <a:avLst/>
            </a:prstGeom>
            <a:ln w="12700" cap="flat">
              <a:noFill/>
              <a:miter lim="400000"/>
            </a:ln>
            <a:effectLst/>
          </p:spPr>
        </p:pic>
        <p:pic>
          <p:nvPicPr>
            <p:cNvPr id="171" name="pm0_s3" descr="pm0_s3"/>
            <p:cNvPicPr>
              <a:picLocks noChangeAspect="1"/>
            </p:cNvPicPr>
            <p:nvPr/>
          </p:nvPicPr>
          <p:blipFill>
            <a:blip r:embed="rId10">
              <a:extLst/>
            </a:blip>
            <a:stretch>
              <a:fillRect/>
            </a:stretch>
          </p:blipFill>
          <p:spPr>
            <a:xfrm>
              <a:off x="2330652" y="2176272"/>
              <a:ext cx="457201" cy="457201"/>
            </a:xfrm>
            <a:prstGeom prst="rect">
              <a:avLst/>
            </a:prstGeom>
            <a:ln w="12700" cap="flat">
              <a:noFill/>
              <a:miter lim="400000"/>
            </a:ln>
            <a:effectLst/>
          </p:spPr>
        </p:pic>
      </p:grpSp>
      <p:grpSp>
        <p:nvGrpSpPr>
          <p:cNvPr id="178" name="pm1"/>
          <p:cNvGrpSpPr/>
          <p:nvPr/>
        </p:nvGrpSpPr>
        <p:grpSpPr>
          <a:xfrm>
            <a:off x="4752745" y="1901951"/>
            <a:ext cx="3307995" cy="3429001"/>
            <a:chOff x="0" y="0"/>
            <a:chExt cx="3307993" cy="3429000"/>
          </a:xfrm>
        </p:grpSpPr>
        <p:sp>
          <p:nvSpPr>
            <p:cNvPr id="173" name="pm1_bg"/>
            <p:cNvSpPr/>
            <p:nvPr/>
          </p:nvSpPr>
          <p:spPr>
            <a:xfrm>
              <a:off x="0" y="0"/>
              <a:ext cx="3307994" cy="3429000"/>
            </a:xfrm>
            <a:prstGeom prst="roundRect">
              <a:avLst>
                <a:gd name="adj" fmla="val 3317"/>
              </a:avLst>
            </a:prstGeom>
            <a:solidFill>
              <a:srgbClr val="FFFFFF"/>
            </a:solidFill>
            <a:ln w="16510" cap="flat">
              <a:solidFill>
                <a:srgbClr val="D3E3EB"/>
              </a:solidFill>
              <a:prstDash val="solid"/>
              <a:round/>
            </a:ln>
            <a:effectLst/>
          </p:spPr>
          <p:txBody>
            <a:bodyPr wrap="square" lIns="45719" tIns="45719" rIns="45719" bIns="45719" numCol="1" anchor="t">
              <a:noAutofit/>
            </a:bodyPr>
            <a:lstStyle/>
            <a:p>
              <a:pPr/>
            </a:p>
          </p:txBody>
        </p:sp>
        <p:pic>
          <p:nvPicPr>
            <p:cNvPr id="174" name="pm1_img" descr="pm1_img"/>
            <p:cNvPicPr>
              <a:picLocks noChangeAspect="1"/>
            </p:cNvPicPr>
            <p:nvPr/>
          </p:nvPicPr>
          <p:blipFill>
            <a:blip r:embed="rId11">
              <a:extLst/>
            </a:blip>
            <a:stretch>
              <a:fillRect/>
            </a:stretch>
          </p:blipFill>
          <p:spPr>
            <a:xfrm>
              <a:off x="1196797" y="201167"/>
              <a:ext cx="914401" cy="914401"/>
            </a:xfrm>
            <a:prstGeom prst="rect">
              <a:avLst/>
            </a:prstGeom>
            <a:ln w="12700" cap="flat">
              <a:noFill/>
              <a:miter lim="400000"/>
            </a:ln>
            <a:effectLst/>
          </p:spPr>
        </p:pic>
        <p:sp>
          <p:nvSpPr>
            <p:cNvPr id="175" name="pm1_word"/>
            <p:cNvSpPr txBox="1"/>
            <p:nvPr/>
          </p:nvSpPr>
          <p:spPr>
            <a:xfrm>
              <a:off x="91439" y="1236979"/>
              <a:ext cx="3125115" cy="406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800">
                  <a:solidFill>
                    <a:srgbClr val="123B54"/>
                  </a:solidFill>
                  <a:latin typeface="Georgia"/>
                  <a:ea typeface="Georgia"/>
                  <a:cs typeface="Georgia"/>
                  <a:sym typeface="Georgia"/>
                </a:defRPr>
              </a:lvl1pPr>
            </a:lstStyle>
            <a:p>
              <a:pPr/>
              <a:r>
                <a:t>part</a:t>
              </a:r>
            </a:p>
          </p:txBody>
        </p:sp>
        <p:sp>
          <p:nvSpPr>
            <p:cNvPr id="176" name="pm1_mean"/>
            <p:cNvSpPr txBox="1"/>
            <p:nvPr/>
          </p:nvSpPr>
          <p:spPr>
            <a:xfrm>
              <a:off x="182880" y="1797118"/>
              <a:ext cx="2942234"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500">
                  <a:solidFill>
                    <a:srgbClr val="0E2A3B"/>
                  </a:solidFill>
                  <a:latin typeface="Arial"/>
                  <a:ea typeface="Arial"/>
                  <a:cs typeface="Arial"/>
                  <a:sym typeface="Arial"/>
                </a:defRPr>
              </a:lvl1pPr>
            </a:lstStyle>
            <a:p>
              <a:pPr/>
              <a:r>
                <a:t>One piece of something.</a:t>
              </a:r>
            </a:p>
          </p:txBody>
        </p:sp>
        <p:sp>
          <p:nvSpPr>
            <p:cNvPr id="177" name="pm1_say"/>
            <p:cNvSpPr txBox="1"/>
            <p:nvPr/>
          </p:nvSpPr>
          <p:spPr>
            <a:xfrm>
              <a:off x="182880" y="2912686"/>
              <a:ext cx="2942234"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i="1" sz="1500">
                  <a:solidFill>
                    <a:srgbClr val="06A77D"/>
                  </a:solidFill>
                  <a:latin typeface="Arial"/>
                  <a:ea typeface="Arial"/>
                  <a:cs typeface="Arial"/>
                  <a:sym typeface="Arial"/>
                </a:defRPr>
              </a:lvl1pPr>
            </a:lstStyle>
            <a:p>
              <a:pPr/>
              <a:r>
                <a:t>"A leg is a part of a chair."</a:t>
              </a:r>
            </a:p>
          </p:txBody>
        </p:sp>
      </p:grpSp>
      <p:grpSp>
        <p:nvGrpSpPr>
          <p:cNvPr id="184" name="pm2"/>
          <p:cNvGrpSpPr/>
          <p:nvPr/>
        </p:nvGrpSpPr>
        <p:grpSpPr>
          <a:xfrm>
            <a:off x="8335061" y="1901951"/>
            <a:ext cx="3307994" cy="3429001"/>
            <a:chOff x="0" y="0"/>
            <a:chExt cx="3307993" cy="3429000"/>
          </a:xfrm>
        </p:grpSpPr>
        <p:sp>
          <p:nvSpPr>
            <p:cNvPr id="179" name="pm2_bg"/>
            <p:cNvSpPr/>
            <p:nvPr/>
          </p:nvSpPr>
          <p:spPr>
            <a:xfrm>
              <a:off x="0" y="0"/>
              <a:ext cx="3307994" cy="3429000"/>
            </a:xfrm>
            <a:prstGeom prst="roundRect">
              <a:avLst>
                <a:gd name="adj" fmla="val 3317"/>
              </a:avLst>
            </a:prstGeom>
            <a:solidFill>
              <a:srgbClr val="FFFFFF"/>
            </a:solidFill>
            <a:ln w="16510" cap="flat">
              <a:solidFill>
                <a:srgbClr val="D3E3EB"/>
              </a:solidFill>
              <a:prstDash val="solid"/>
              <a:round/>
            </a:ln>
            <a:effectLst/>
          </p:spPr>
          <p:txBody>
            <a:bodyPr wrap="square" lIns="45719" tIns="45719" rIns="45719" bIns="45719" numCol="1" anchor="t">
              <a:noAutofit/>
            </a:bodyPr>
            <a:lstStyle/>
            <a:p>
              <a:pPr/>
            </a:p>
          </p:txBody>
        </p:sp>
        <p:pic>
          <p:nvPicPr>
            <p:cNvPr id="180" name="pm2_img" descr="pm2_img"/>
            <p:cNvPicPr>
              <a:picLocks noChangeAspect="1"/>
            </p:cNvPicPr>
            <p:nvPr/>
          </p:nvPicPr>
          <p:blipFill>
            <a:blip r:embed="rId12">
              <a:extLst/>
            </a:blip>
            <a:stretch>
              <a:fillRect/>
            </a:stretch>
          </p:blipFill>
          <p:spPr>
            <a:xfrm>
              <a:off x="1196796" y="201167"/>
              <a:ext cx="914401" cy="914401"/>
            </a:xfrm>
            <a:prstGeom prst="rect">
              <a:avLst/>
            </a:prstGeom>
            <a:ln w="12700" cap="flat">
              <a:noFill/>
              <a:miter lim="400000"/>
            </a:ln>
            <a:effectLst/>
          </p:spPr>
        </p:pic>
        <p:sp>
          <p:nvSpPr>
            <p:cNvPr id="181" name="pm2_word"/>
            <p:cNvSpPr txBox="1"/>
            <p:nvPr/>
          </p:nvSpPr>
          <p:spPr>
            <a:xfrm>
              <a:off x="91439" y="1236979"/>
              <a:ext cx="3125115" cy="406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800">
                  <a:solidFill>
                    <a:srgbClr val="123B54"/>
                  </a:solidFill>
                  <a:latin typeface="Georgia"/>
                  <a:ea typeface="Georgia"/>
                  <a:cs typeface="Georgia"/>
                  <a:sym typeface="Georgia"/>
                </a:defRPr>
              </a:lvl1pPr>
            </a:lstStyle>
            <a:p>
              <a:pPr/>
              <a:r>
                <a:t>atom</a:t>
              </a:r>
            </a:p>
          </p:txBody>
        </p:sp>
        <p:sp>
          <p:nvSpPr>
            <p:cNvPr id="182" name="pm2_mean"/>
            <p:cNvSpPr txBox="1"/>
            <p:nvPr/>
          </p:nvSpPr>
          <p:spPr>
            <a:xfrm>
              <a:off x="182880" y="1797118"/>
              <a:ext cx="2942234"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500">
                  <a:solidFill>
                    <a:srgbClr val="0E2A3B"/>
                  </a:solidFill>
                  <a:latin typeface="Arial"/>
                  <a:ea typeface="Arial"/>
                  <a:cs typeface="Arial"/>
                  <a:sym typeface="Arial"/>
                </a:defRPr>
              </a:lvl1pPr>
            </a:lstStyle>
            <a:p>
              <a:pPr/>
              <a:r>
                <a:t>A tiny part of matter.</a:t>
              </a:r>
            </a:p>
          </p:txBody>
        </p:sp>
        <p:sp>
          <p:nvSpPr>
            <p:cNvPr id="183" name="pm2_say"/>
            <p:cNvSpPr txBox="1"/>
            <p:nvPr/>
          </p:nvSpPr>
          <p:spPr>
            <a:xfrm>
              <a:off x="182880" y="2912686"/>
              <a:ext cx="2942234"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i="1" sz="1500">
                  <a:solidFill>
                    <a:srgbClr val="06A77D"/>
                  </a:solidFill>
                  <a:latin typeface="Arial"/>
                  <a:ea typeface="Arial"/>
                  <a:cs typeface="Arial"/>
                  <a:sym typeface="Arial"/>
                </a:defRPr>
              </a:lvl1pPr>
            </a:lstStyle>
            <a:p>
              <a:pPr/>
              <a:r>
                <a:t>"An atom is a tiny part."</a:t>
              </a:r>
            </a:p>
          </p:txBody>
        </p:sp>
      </p:grpSp>
      <p:grpSp>
        <p:nvGrpSpPr>
          <p:cNvPr id="187" name="pm_banner"/>
          <p:cNvGrpSpPr/>
          <p:nvPr/>
        </p:nvGrpSpPr>
        <p:grpSpPr>
          <a:xfrm>
            <a:off x="1170432" y="5559552"/>
            <a:ext cx="10472623" cy="777241"/>
            <a:chOff x="0" y="0"/>
            <a:chExt cx="10472622" cy="777240"/>
          </a:xfrm>
        </p:grpSpPr>
        <p:sp>
          <p:nvSpPr>
            <p:cNvPr id="185" name="Rounded Rectangle"/>
            <p:cNvSpPr/>
            <p:nvPr/>
          </p:nvSpPr>
          <p:spPr>
            <a:xfrm>
              <a:off x="0" y="0"/>
              <a:ext cx="10472623" cy="777241"/>
            </a:xfrm>
            <a:prstGeom prst="roundRect">
              <a:avLst>
                <a:gd name="adj" fmla="val 14118"/>
              </a:avLst>
            </a:prstGeom>
            <a:solidFill>
              <a:srgbClr val="123B54"/>
            </a:solidFill>
            <a:ln w="9525" cap="flat">
              <a:solidFill>
                <a:srgbClr val="123B54"/>
              </a:solidFill>
              <a:prstDash val="solid"/>
              <a:round/>
            </a:ln>
            <a:effectLst/>
          </p:spPr>
          <p:txBody>
            <a:bodyPr wrap="square" lIns="45719" tIns="45719" rIns="45719" bIns="45719" numCol="1" anchor="ctr">
              <a:noAutofit/>
            </a:bodyPr>
            <a:lstStyle/>
            <a:p>
              <a:pPr algn="ctr">
                <a:defRPr sz="2500"/>
              </a:pPr>
            </a:p>
          </p:txBody>
        </p:sp>
        <p:sp>
          <p:nvSpPr>
            <p:cNvPr id="186" name="An atom is a tiny part of matter."/>
            <p:cNvSpPr txBox="1"/>
            <p:nvPr/>
          </p:nvSpPr>
          <p:spPr>
            <a:xfrm>
              <a:off x="36901" y="210820"/>
              <a:ext cx="10398821"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500">
                  <a:solidFill>
                    <a:srgbClr val="FFD166"/>
                  </a:solidFill>
                  <a:latin typeface="Georgia"/>
                  <a:ea typeface="Georgia"/>
                  <a:cs typeface="Georgia"/>
                  <a:sym typeface="Georgia"/>
                </a:defRPr>
              </a:lvl1pPr>
            </a:lstStyle>
            <a:p>
              <a:pPr/>
              <a:r>
                <a:t>An atom is a tiny part of matter.</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00000" fill="hold"/>
                                        <p:tgtEl>
                                          <p:spTgt spid="157"/>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72"/>
                                        </p:tgtEl>
                                        <p:attrNameLst>
                                          <p:attrName>style.visibility</p:attrName>
                                        </p:attrNameLst>
                                      </p:cBhvr>
                                      <p:to>
                                        <p:strVal val="visible"/>
                                      </p:to>
                                    </p:set>
                                    <p:animEffect filter="fade" transition="in">
                                      <p:cBhvr>
                                        <p:cTn id="11" dur="400"/>
                                        <p:tgtEl>
                                          <p:spTgt spid="172"/>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78"/>
                                        </p:tgtEl>
                                        <p:attrNameLst>
                                          <p:attrName>style.visibility</p:attrName>
                                        </p:attrNameLst>
                                      </p:cBhvr>
                                      <p:to>
                                        <p:strVal val="visible"/>
                                      </p:to>
                                    </p:set>
                                    <p:animEffect filter="fade" transition="in">
                                      <p:cBhvr>
                                        <p:cTn id="16" dur="400"/>
                                        <p:tgtEl>
                                          <p:spTgt spid="178"/>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84"/>
                                        </p:tgtEl>
                                        <p:attrNameLst>
                                          <p:attrName>style.visibility</p:attrName>
                                        </p:attrNameLst>
                                      </p:cBhvr>
                                      <p:to>
                                        <p:strVal val="visible"/>
                                      </p:to>
                                    </p:set>
                                    <p:animEffect filter="fade" transition="in">
                                      <p:cBhvr>
                                        <p:cTn id="21" dur="400"/>
                                        <p:tgtEl>
                                          <p:spTgt spid="184"/>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16" presetID="23" grpId="5" fill="hold">
                                  <p:stCondLst>
                                    <p:cond delay="0"/>
                                  </p:stCondLst>
                                  <p:iterate type="el" backwards="0">
                                    <p:tmAbs val="0"/>
                                  </p:iterate>
                                  <p:childTnLst>
                                    <p:set>
                                      <p:cBhvr>
                                        <p:cTn id="25" fill="hold"/>
                                        <p:tgtEl>
                                          <p:spTgt spid="187"/>
                                        </p:tgtEl>
                                        <p:attrNameLst>
                                          <p:attrName>style.visibility</p:attrName>
                                        </p:attrNameLst>
                                      </p:cBhvr>
                                      <p:to>
                                        <p:strVal val="visible"/>
                                      </p:to>
                                    </p:set>
                                    <p:anim calcmode="lin" valueType="num">
                                      <p:cBhvr>
                                        <p:cTn id="26" dur="400" fill="hold"/>
                                        <p:tgtEl>
                                          <p:spTgt spid="187"/>
                                        </p:tgtEl>
                                        <p:attrNameLst>
                                          <p:attrName>ppt_w</p:attrName>
                                        </p:attrNameLst>
                                      </p:cBhvr>
                                      <p:tavLst>
                                        <p:tav tm="0">
                                          <p:val>
                                            <p:fltVal val="0"/>
                                          </p:val>
                                        </p:tav>
                                        <p:tav tm="100000">
                                          <p:val>
                                            <p:strVal val="#ppt_w"/>
                                          </p:val>
                                        </p:tav>
                                      </p:tavLst>
                                    </p:anim>
                                    <p:anim calcmode="lin" valueType="num">
                                      <p:cBhvr>
                                        <p:cTn id="27" dur="400" fill="hold"/>
                                        <p:tgtEl>
                                          <p:spTgt spid="18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8" fill="hold" display="0">
                  <p:stCondLst>
                    <p:cond delay="indefinite"/>
                  </p:stCondLst>
                </p:cTn>
                <p:tgtEl>
                  <p:spTgt spid="157"/>
                </p:tgtEl>
              </p:cMediaNode>
            </p:video>
            <p:seq concurrent="1" prevAc="none" nextAc="seek">
              <p:cTn id="29" evtFilter="cancelBubble" nodeType="interactiveSeq" restart="whenNotActive" fill="hold">
                <p:stCondLst>
                  <p:cond delay="0" evt="onClick">
                    <p:tgtEl>
                      <p:spTgt spid="157"/>
                    </p:tgtEl>
                  </p:cond>
                </p:stCondLst>
                <p:endSync delay="0" evt="end">
                  <p:rtn val="all"/>
                </p:endSync>
                <p:childTnLst>
                  <p:par>
                    <p:cTn id="30" fill="hold">
                      <p:stCondLst>
                        <p:cond delay="0"/>
                      </p:stCondLst>
                      <p:childTnLst>
                        <p:par>
                          <p:cTn id="31" fill="hold">
                            <p:stCondLst>
                              <p:cond delay="0"/>
                            </p:stCondLst>
                            <p:childTnLst>
                              <p:par>
                                <p:cTn id="32" presetClass="mediacall" nodeType="clickEffect" presetSubtype="0" presetID="2" fill="hold">
                                  <p:stCondLst>
                                    <p:cond delay="0"/>
                                  </p:stCondLst>
                                  <p:childTnLst>
                                    <p:cmd type="call" cmd="togglePause">
                                      <p:cBhvr>
                                        <p:cTn id="33" dur="1" fill="hold"/>
                                        <p:tgtEl>
                                          <p:spTgt spid="157"/>
                                        </p:tgtEl>
                                      </p:cBhvr>
                                    </p:cmd>
                                  </p:childTnLst>
                                </p:cTn>
                              </p:par>
                            </p:childTnLst>
                          </p:cTn>
                        </p:par>
                      </p:childTnLst>
                    </p:cTn>
                  </p:par>
                </p:childTnLst>
              </p:cTn>
              <p:nextCondLst>
                <p:cond delay="0" evt="onClick">
                  <p:tgtEl>
                    <p:spTgt spid="157"/>
                  </p:tgtEl>
                </p:cond>
              </p:nextCondLst>
            </p:seq>
          </p:childTnLst>
        </p:cTn>
      </p:par>
    </p:tnLst>
    <p:bldLst>
      <p:bldP build="whole" bldLvl="1" animBg="1" rev="0" advAuto="0" spid="187" grpId="5"/>
      <p:bldP build="whole" bldLvl="1" animBg="1" rev="0" advAuto="0" spid="184" grpId="4"/>
      <p:bldP build="whole" bldLvl="1" animBg="1" rev="0" advAuto="0" spid="172" grpId="2"/>
      <p:bldP build="whole" bldLvl="1" animBg="1" rev="0" advAuto="0" spid="178" grpId="3"/>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8FA"/>
        </a:solidFill>
      </p:bgPr>
    </p:bg>
    <p:spTree>
      <p:nvGrpSpPr>
        <p:cNvPr id="1" name=""/>
        <p:cNvGrpSpPr/>
        <p:nvPr/>
      </p:nvGrpSpPr>
      <p:grpSpPr>
        <a:xfrm>
          <a:off x="0" y="0"/>
          <a:ext cx="0" cy="0"/>
          <a:chOff x="0" y="0"/>
          <a:chExt cx="0" cy="0"/>
        </a:xfrm>
      </p:grpSpPr>
      <p:pic>
        <p:nvPicPr>
          <p:cNvPr id="191"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94" name="phase_pill"/>
          <p:cNvGrpSpPr/>
          <p:nvPr/>
        </p:nvGrpSpPr>
        <p:grpSpPr>
          <a:xfrm>
            <a:off x="1170432" y="310895"/>
            <a:ext cx="1623975" cy="329185"/>
            <a:chOff x="0" y="0"/>
            <a:chExt cx="1623974" cy="329184"/>
          </a:xfrm>
        </p:grpSpPr>
        <p:sp>
          <p:nvSpPr>
            <p:cNvPr id="192" name="Rounded Rectangle"/>
            <p:cNvSpPr/>
            <p:nvPr/>
          </p:nvSpPr>
          <p:spPr>
            <a:xfrm>
              <a:off x="0" y="0"/>
              <a:ext cx="1623975" cy="329185"/>
            </a:xfrm>
            <a:prstGeom prst="roundRect">
              <a:avLst>
                <a:gd name="adj" fmla="val 44444"/>
              </a:avLst>
            </a:prstGeom>
            <a:solidFill>
              <a:srgbClr val="123B54"/>
            </a:solidFill>
            <a:ln w="12700" cap="flat">
              <a:noFill/>
              <a:miter lim="400000"/>
            </a:ln>
            <a:effectLst/>
          </p:spPr>
          <p:txBody>
            <a:bodyPr wrap="square" lIns="45719" tIns="45719" rIns="45719" bIns="45719" numCol="1" anchor="ctr">
              <a:noAutofit/>
            </a:bodyPr>
            <a:lstStyle/>
            <a:p>
              <a:pPr algn="ctr">
                <a:defRPr sz="1100"/>
              </a:pPr>
            </a:p>
          </p:txBody>
        </p:sp>
        <p:sp>
          <p:nvSpPr>
            <p:cNvPr id="193" name="DRAW · 7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DRAW · 7 MIN</a:t>
              </a:r>
            </a:p>
          </p:txBody>
        </p:sp>
      </p:grpSp>
      <p:sp>
        <p:nvSpPr>
          <p:cNvPr id="195" name="keyword_strip"/>
          <p:cNvSpPr txBox="1"/>
          <p:nvPr/>
        </p:nvSpPr>
        <p:spPr>
          <a:xfrm>
            <a:off x="5790894" y="401573"/>
            <a:ext cx="585216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i="1" sz="1100">
                <a:solidFill>
                  <a:srgbClr val="06A77D"/>
                </a:solidFill>
                <a:latin typeface="Arial"/>
                <a:ea typeface="Arial"/>
                <a:cs typeface="Arial"/>
                <a:sym typeface="Arial"/>
              </a:defRPr>
            </a:lvl1pPr>
          </a:lstStyle>
          <a:p>
            <a:pPr/>
            <a:r>
              <a:t>atom   ·   centre   ·   outside   ·   electron</a:t>
            </a:r>
          </a:p>
        </p:txBody>
      </p:sp>
      <p:sp>
        <p:nvSpPr>
          <p:cNvPr id="196"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123B54"/>
                </a:solidFill>
                <a:latin typeface="Georgia"/>
                <a:ea typeface="Georgia"/>
                <a:cs typeface="Georgia"/>
                <a:sym typeface="Georgia"/>
              </a:defRPr>
            </a:lvl1pPr>
          </a:lstStyle>
          <a:p>
            <a:pPr/>
            <a:r>
              <a:t>Draw an atom</a:t>
            </a:r>
          </a:p>
        </p:txBody>
      </p:sp>
      <p:grpSp>
        <p:nvGrpSpPr>
          <p:cNvPr id="201" name="d1"/>
          <p:cNvGrpSpPr/>
          <p:nvPr/>
        </p:nvGrpSpPr>
        <p:grpSpPr>
          <a:xfrm>
            <a:off x="1170432" y="1965960"/>
            <a:ext cx="9802369" cy="3566160"/>
            <a:chOff x="0" y="0"/>
            <a:chExt cx="9802368" cy="3566159"/>
          </a:xfrm>
        </p:grpSpPr>
        <p:sp>
          <p:nvSpPr>
            <p:cNvPr id="197" name="st0_bg"/>
            <p:cNvSpPr/>
            <p:nvPr/>
          </p:nvSpPr>
          <p:spPr>
            <a:xfrm>
              <a:off x="0" y="0"/>
              <a:ext cx="4846321" cy="960120"/>
            </a:xfrm>
            <a:prstGeom prst="roundRect">
              <a:avLst>
                <a:gd name="adj" fmla="val 11429"/>
              </a:avLst>
            </a:prstGeom>
            <a:solidFill>
              <a:srgbClr val="FFFFFF"/>
            </a:solidFill>
            <a:ln w="16510" cap="flat">
              <a:solidFill>
                <a:srgbClr val="D3E3EB"/>
              </a:solidFill>
              <a:prstDash val="solid"/>
              <a:round/>
            </a:ln>
            <a:effectLst/>
          </p:spPr>
          <p:txBody>
            <a:bodyPr wrap="square" lIns="45719" tIns="45719" rIns="45719" bIns="45719" numCol="1" anchor="t">
              <a:noAutofit/>
            </a:bodyPr>
            <a:lstStyle/>
            <a:p>
              <a:pPr/>
            </a:p>
          </p:txBody>
        </p:sp>
        <p:sp>
          <p:nvSpPr>
            <p:cNvPr id="198" name="st0_n"/>
            <p:cNvSpPr txBox="1"/>
            <p:nvPr/>
          </p:nvSpPr>
          <p:spPr>
            <a:xfrm>
              <a:off x="228600" y="308609"/>
              <a:ext cx="457201"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400">
                  <a:solidFill>
                    <a:srgbClr val="A9741A"/>
                  </a:solidFill>
                  <a:latin typeface="Georgia"/>
                  <a:ea typeface="Georgia"/>
                  <a:cs typeface="Georgia"/>
                  <a:sym typeface="Georgia"/>
                </a:defRPr>
              </a:lvl1pPr>
            </a:lstStyle>
            <a:p>
              <a:pPr/>
              <a:r>
                <a:t>1</a:t>
              </a:r>
            </a:p>
          </p:txBody>
        </p:sp>
        <p:sp>
          <p:nvSpPr>
            <p:cNvPr id="199" name="st0_t"/>
            <p:cNvSpPr txBox="1"/>
            <p:nvPr/>
          </p:nvSpPr>
          <p:spPr>
            <a:xfrm>
              <a:off x="822960" y="343240"/>
              <a:ext cx="3840481" cy="2736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200"/>
                </a:lnSpc>
                <a:defRPr b="1">
                  <a:solidFill>
                    <a:srgbClr val="123B54"/>
                  </a:solidFill>
                  <a:latin typeface="Georgia"/>
                  <a:ea typeface="Georgia"/>
                  <a:cs typeface="Georgia"/>
                  <a:sym typeface="Georgia"/>
                </a:defRPr>
              </a:lvl1pPr>
            </a:lstStyle>
            <a:p>
              <a:pPr/>
              <a:r>
                <a:t>Draw one big circle.</a:t>
              </a:r>
            </a:p>
          </p:txBody>
        </p:sp>
        <p:sp>
          <p:nvSpPr>
            <p:cNvPr id="200" name="dr_ring"/>
            <p:cNvSpPr/>
            <p:nvPr/>
          </p:nvSpPr>
          <p:spPr>
            <a:xfrm>
              <a:off x="6419088" y="182879"/>
              <a:ext cx="3383281" cy="3383281"/>
            </a:xfrm>
            <a:prstGeom prst="ellipse">
              <a:avLst/>
            </a:prstGeom>
            <a:solidFill>
              <a:srgbClr val="EDF5F8"/>
            </a:solidFill>
            <a:ln w="20320" cap="flat">
              <a:solidFill>
                <a:srgbClr val="123B54"/>
              </a:solidFill>
              <a:prstDash val="solid"/>
              <a:round/>
            </a:ln>
            <a:effectLst/>
          </p:spPr>
          <p:txBody>
            <a:bodyPr wrap="square" lIns="45719" tIns="45719" rIns="45719" bIns="45719" numCol="1" anchor="t">
              <a:noAutofit/>
            </a:bodyPr>
            <a:lstStyle/>
            <a:p>
              <a:pPr/>
            </a:p>
          </p:txBody>
        </p:sp>
      </p:grpSp>
      <p:grpSp>
        <p:nvGrpSpPr>
          <p:cNvPr id="207" name="d2"/>
          <p:cNvGrpSpPr/>
          <p:nvPr/>
        </p:nvGrpSpPr>
        <p:grpSpPr>
          <a:xfrm>
            <a:off x="1170432" y="3108960"/>
            <a:ext cx="8618220" cy="1239013"/>
            <a:chOff x="0" y="0"/>
            <a:chExt cx="8618219" cy="1239011"/>
          </a:xfrm>
        </p:grpSpPr>
        <p:sp>
          <p:nvSpPr>
            <p:cNvPr id="202" name="st1_bg"/>
            <p:cNvSpPr/>
            <p:nvPr/>
          </p:nvSpPr>
          <p:spPr>
            <a:xfrm>
              <a:off x="0" y="-1"/>
              <a:ext cx="4846320" cy="960121"/>
            </a:xfrm>
            <a:prstGeom prst="roundRect">
              <a:avLst>
                <a:gd name="adj" fmla="val 11429"/>
              </a:avLst>
            </a:prstGeom>
            <a:solidFill>
              <a:srgbClr val="FFFFFF"/>
            </a:solidFill>
            <a:ln w="16510" cap="flat">
              <a:solidFill>
                <a:srgbClr val="D3E3EB"/>
              </a:solidFill>
              <a:prstDash val="solid"/>
              <a:round/>
            </a:ln>
            <a:effectLst/>
          </p:spPr>
          <p:txBody>
            <a:bodyPr wrap="square" lIns="45719" tIns="45719" rIns="45719" bIns="45719" numCol="1" anchor="t">
              <a:noAutofit/>
            </a:bodyPr>
            <a:lstStyle/>
            <a:p>
              <a:pPr/>
            </a:p>
          </p:txBody>
        </p:sp>
        <p:sp>
          <p:nvSpPr>
            <p:cNvPr id="203" name="st1_n"/>
            <p:cNvSpPr txBox="1"/>
            <p:nvPr/>
          </p:nvSpPr>
          <p:spPr>
            <a:xfrm>
              <a:off x="228600" y="308609"/>
              <a:ext cx="457200"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400">
                  <a:solidFill>
                    <a:srgbClr val="A9741A"/>
                  </a:solidFill>
                  <a:latin typeface="Georgia"/>
                  <a:ea typeface="Georgia"/>
                  <a:cs typeface="Georgia"/>
                  <a:sym typeface="Georgia"/>
                </a:defRPr>
              </a:lvl1pPr>
            </a:lstStyle>
            <a:p>
              <a:pPr/>
              <a:r>
                <a:t>2</a:t>
              </a:r>
            </a:p>
          </p:txBody>
        </p:sp>
        <p:sp>
          <p:nvSpPr>
            <p:cNvPr id="204" name="st1_t"/>
            <p:cNvSpPr txBox="1"/>
            <p:nvPr/>
          </p:nvSpPr>
          <p:spPr>
            <a:xfrm>
              <a:off x="822960" y="343241"/>
              <a:ext cx="3840480" cy="2736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200"/>
                </a:lnSpc>
                <a:defRPr b="1">
                  <a:solidFill>
                    <a:srgbClr val="123B54"/>
                  </a:solidFill>
                  <a:latin typeface="Georgia"/>
                  <a:ea typeface="Georgia"/>
                  <a:cs typeface="Georgia"/>
                  <a:sym typeface="Georgia"/>
                </a:defRPr>
              </a:lvl1pPr>
            </a:lstStyle>
            <a:p>
              <a:pPr/>
              <a:r>
                <a:t>Draw the centre.</a:t>
              </a:r>
            </a:p>
          </p:txBody>
        </p:sp>
        <p:sp>
          <p:nvSpPr>
            <p:cNvPr id="205" name="dr_centre"/>
            <p:cNvSpPr/>
            <p:nvPr/>
          </p:nvSpPr>
          <p:spPr>
            <a:xfrm>
              <a:off x="7603235" y="224028"/>
              <a:ext cx="1014985" cy="1014984"/>
            </a:xfrm>
            <a:prstGeom prst="ellipse">
              <a:avLst/>
            </a:prstGeom>
            <a:solidFill>
              <a:srgbClr val="FFD166"/>
            </a:solidFill>
            <a:ln w="15240" cap="flat">
              <a:solidFill>
                <a:srgbClr val="123B54"/>
              </a:solidFill>
              <a:prstDash val="solid"/>
              <a:round/>
            </a:ln>
            <a:effectLst/>
          </p:spPr>
          <p:txBody>
            <a:bodyPr wrap="square" lIns="45719" tIns="45719" rIns="45719" bIns="45719" numCol="1" anchor="t">
              <a:noAutofit/>
            </a:bodyPr>
            <a:lstStyle/>
            <a:p>
              <a:pPr/>
            </a:p>
          </p:txBody>
        </p:sp>
        <p:sp>
          <p:nvSpPr>
            <p:cNvPr id="206" name="dr_centre_t"/>
            <p:cNvSpPr txBox="1"/>
            <p:nvPr/>
          </p:nvSpPr>
          <p:spPr>
            <a:xfrm>
              <a:off x="7603235" y="632828"/>
              <a:ext cx="1014984"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23B54"/>
                  </a:solidFill>
                  <a:latin typeface="Arial"/>
                  <a:ea typeface="Arial"/>
                  <a:cs typeface="Arial"/>
                  <a:sym typeface="Arial"/>
                </a:defRPr>
              </a:lvl1pPr>
            </a:lstStyle>
            <a:p>
              <a:pPr/>
              <a:r>
                <a:t>centre</a:t>
              </a:r>
            </a:p>
          </p:txBody>
        </p:sp>
      </p:grpSp>
      <p:grpSp>
        <p:nvGrpSpPr>
          <p:cNvPr id="216" name="d3"/>
          <p:cNvGrpSpPr/>
          <p:nvPr/>
        </p:nvGrpSpPr>
        <p:grpSpPr>
          <a:xfrm>
            <a:off x="1170432" y="2287472"/>
            <a:ext cx="9837988" cy="2924608"/>
            <a:chOff x="0" y="0"/>
            <a:chExt cx="9837988" cy="2924607"/>
          </a:xfrm>
        </p:grpSpPr>
        <p:sp>
          <p:nvSpPr>
            <p:cNvPr id="208" name="st2_bg"/>
            <p:cNvSpPr/>
            <p:nvPr/>
          </p:nvSpPr>
          <p:spPr>
            <a:xfrm>
              <a:off x="-1" y="1964486"/>
              <a:ext cx="4846321" cy="960121"/>
            </a:xfrm>
            <a:prstGeom prst="roundRect">
              <a:avLst>
                <a:gd name="adj" fmla="val 11429"/>
              </a:avLst>
            </a:prstGeom>
            <a:solidFill>
              <a:srgbClr val="FFFFFF"/>
            </a:solidFill>
            <a:ln w="16510" cap="flat">
              <a:solidFill>
                <a:srgbClr val="D3E3EB"/>
              </a:solidFill>
              <a:prstDash val="solid"/>
              <a:round/>
            </a:ln>
            <a:effectLst/>
          </p:spPr>
          <p:txBody>
            <a:bodyPr wrap="square" lIns="45719" tIns="45719" rIns="45719" bIns="45719" numCol="1" anchor="t">
              <a:noAutofit/>
            </a:bodyPr>
            <a:lstStyle/>
            <a:p>
              <a:pPr/>
            </a:p>
          </p:txBody>
        </p:sp>
        <p:sp>
          <p:nvSpPr>
            <p:cNvPr id="209" name="st2_n"/>
            <p:cNvSpPr txBox="1"/>
            <p:nvPr/>
          </p:nvSpPr>
          <p:spPr>
            <a:xfrm>
              <a:off x="228599" y="2273096"/>
              <a:ext cx="457201"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400">
                  <a:solidFill>
                    <a:srgbClr val="A9741A"/>
                  </a:solidFill>
                  <a:latin typeface="Georgia"/>
                  <a:ea typeface="Georgia"/>
                  <a:cs typeface="Georgia"/>
                  <a:sym typeface="Georgia"/>
                </a:defRPr>
              </a:lvl1pPr>
            </a:lstStyle>
            <a:p>
              <a:pPr/>
              <a:r>
                <a:t>3</a:t>
              </a:r>
            </a:p>
          </p:txBody>
        </p:sp>
        <p:sp>
          <p:nvSpPr>
            <p:cNvPr id="210" name="st2_t"/>
            <p:cNvSpPr txBox="1"/>
            <p:nvPr/>
          </p:nvSpPr>
          <p:spPr>
            <a:xfrm>
              <a:off x="822959" y="2168028"/>
              <a:ext cx="3840481" cy="5530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200"/>
                </a:lnSpc>
                <a:defRPr b="1">
                  <a:solidFill>
                    <a:srgbClr val="123B54"/>
                  </a:solidFill>
                  <a:latin typeface="Georgia"/>
                  <a:ea typeface="Georgia"/>
                  <a:cs typeface="Georgia"/>
                  <a:sym typeface="Georgia"/>
                </a:defRPr>
              </a:lvl1pPr>
            </a:lstStyle>
            <a:p>
              <a:pPr/>
              <a:r>
                <a:t>Label the centre. Label the outside.</a:t>
              </a:r>
            </a:p>
          </p:txBody>
        </p:sp>
        <p:sp>
          <p:nvSpPr>
            <p:cNvPr id="211" name="dr_outside_t"/>
            <p:cNvSpPr txBox="1"/>
            <p:nvPr/>
          </p:nvSpPr>
          <p:spPr>
            <a:xfrm>
              <a:off x="7490764" y="2578371"/>
              <a:ext cx="1645921"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solidFill>
                    <a:srgbClr val="2E8B57"/>
                  </a:solidFill>
                  <a:latin typeface="Arial"/>
                  <a:ea typeface="Arial"/>
                  <a:cs typeface="Arial"/>
                  <a:sym typeface="Arial"/>
                </a:defRPr>
              </a:lvl1pPr>
            </a:lstStyle>
            <a:p>
              <a:pPr/>
              <a:r>
                <a:t>outside</a:t>
              </a:r>
            </a:p>
          </p:txBody>
        </p:sp>
        <p:sp>
          <p:nvSpPr>
            <p:cNvPr id="212" name="dr_e0"/>
            <p:cNvSpPr/>
            <p:nvPr/>
          </p:nvSpPr>
          <p:spPr>
            <a:xfrm>
              <a:off x="8888745" y="-1"/>
              <a:ext cx="236831" cy="236831"/>
            </a:xfrm>
            <a:prstGeom prst="ellipse">
              <a:avLst/>
            </a:prstGeom>
            <a:solidFill>
              <a:srgbClr val="2E8B57"/>
            </a:solidFill>
            <a:ln w="12700" cap="flat">
              <a:solidFill>
                <a:srgbClr val="2E8B57"/>
              </a:solidFill>
              <a:prstDash val="solid"/>
              <a:round/>
            </a:ln>
            <a:effectLst/>
          </p:spPr>
          <p:txBody>
            <a:bodyPr wrap="square" lIns="45719" tIns="45719" rIns="45719" bIns="45719" numCol="1" anchor="t">
              <a:noAutofit/>
            </a:bodyPr>
            <a:lstStyle/>
            <a:p>
              <a:pPr/>
            </a:p>
          </p:txBody>
        </p:sp>
        <p:sp>
          <p:nvSpPr>
            <p:cNvPr id="213" name="dr_e1"/>
            <p:cNvSpPr/>
            <p:nvPr/>
          </p:nvSpPr>
          <p:spPr>
            <a:xfrm>
              <a:off x="9601158" y="1957337"/>
              <a:ext cx="236831" cy="236831"/>
            </a:xfrm>
            <a:prstGeom prst="ellipse">
              <a:avLst/>
            </a:prstGeom>
            <a:solidFill>
              <a:srgbClr val="2E8B57"/>
            </a:solidFill>
            <a:ln w="12700" cap="flat">
              <a:solidFill>
                <a:srgbClr val="2E8B57"/>
              </a:solidFill>
              <a:prstDash val="solid"/>
              <a:round/>
            </a:ln>
            <a:effectLst/>
          </p:spPr>
          <p:txBody>
            <a:bodyPr wrap="square" lIns="45719" tIns="45719" rIns="45719" bIns="45719" numCol="1" anchor="t">
              <a:noAutofit/>
            </a:bodyPr>
            <a:lstStyle/>
            <a:p>
              <a:pPr/>
            </a:p>
          </p:txBody>
        </p:sp>
        <p:sp>
          <p:nvSpPr>
            <p:cNvPr id="214" name="dr_e2"/>
            <p:cNvSpPr/>
            <p:nvPr/>
          </p:nvSpPr>
          <p:spPr>
            <a:xfrm>
              <a:off x="6696441" y="2521956"/>
              <a:ext cx="236831" cy="236831"/>
            </a:xfrm>
            <a:prstGeom prst="ellipse">
              <a:avLst/>
            </a:prstGeom>
            <a:solidFill>
              <a:srgbClr val="2E8B57"/>
            </a:solidFill>
            <a:ln w="12700" cap="flat">
              <a:solidFill>
                <a:srgbClr val="2E8B57"/>
              </a:solidFill>
              <a:prstDash val="solid"/>
              <a:round/>
            </a:ln>
            <a:effectLst/>
          </p:spPr>
          <p:txBody>
            <a:bodyPr wrap="square" lIns="45719" tIns="45719" rIns="45719" bIns="45719" numCol="1" anchor="t">
              <a:noAutofit/>
            </a:bodyPr>
            <a:lstStyle/>
            <a:p>
              <a:pPr/>
            </a:p>
          </p:txBody>
        </p:sp>
        <p:sp>
          <p:nvSpPr>
            <p:cNvPr id="215" name="dr_e3"/>
            <p:cNvSpPr/>
            <p:nvPr/>
          </p:nvSpPr>
          <p:spPr>
            <a:xfrm>
              <a:off x="6557720" y="538159"/>
              <a:ext cx="236831" cy="236831"/>
            </a:xfrm>
            <a:prstGeom prst="ellipse">
              <a:avLst/>
            </a:prstGeom>
            <a:solidFill>
              <a:srgbClr val="2E8B57"/>
            </a:solidFill>
            <a:ln w="12700" cap="flat">
              <a:solidFill>
                <a:srgbClr val="2E8B57"/>
              </a:solidFill>
              <a:prstDash val="solid"/>
              <a:round/>
            </a:ln>
            <a:effectLst/>
          </p:spPr>
          <p:txBody>
            <a:bodyPr wrap="square" lIns="45719" tIns="45719" rIns="45719" bIns="45719" numCol="1" anchor="t">
              <a:noAutofit/>
            </a:bodyPr>
            <a:lstStyle/>
            <a:p>
              <a:pPr/>
            </a:p>
          </p:txBody>
        </p:sp>
      </p:grpSp>
      <p:grpSp>
        <p:nvGrpSpPr>
          <p:cNvPr id="219" name="dr_banner"/>
          <p:cNvGrpSpPr/>
          <p:nvPr/>
        </p:nvGrpSpPr>
        <p:grpSpPr>
          <a:xfrm>
            <a:off x="1170432" y="5806440"/>
            <a:ext cx="10472623" cy="566929"/>
            <a:chOff x="0" y="0"/>
            <a:chExt cx="10472622" cy="566927"/>
          </a:xfrm>
        </p:grpSpPr>
        <p:sp>
          <p:nvSpPr>
            <p:cNvPr id="217" name="Rounded Rectangle"/>
            <p:cNvSpPr/>
            <p:nvPr/>
          </p:nvSpPr>
          <p:spPr>
            <a:xfrm>
              <a:off x="0" y="0"/>
              <a:ext cx="10472623" cy="566928"/>
            </a:xfrm>
            <a:prstGeom prst="roundRect">
              <a:avLst>
                <a:gd name="adj" fmla="val 19355"/>
              </a:avLst>
            </a:prstGeom>
            <a:solidFill>
              <a:srgbClr val="123B54"/>
            </a:solidFill>
            <a:ln w="9525" cap="flat">
              <a:solidFill>
                <a:srgbClr val="123B54"/>
              </a:solidFill>
              <a:prstDash val="solid"/>
              <a:round/>
            </a:ln>
            <a:effectLst/>
          </p:spPr>
          <p:txBody>
            <a:bodyPr wrap="square" lIns="45719" tIns="45719" rIns="45719" bIns="45719" numCol="1" anchor="ctr">
              <a:noAutofit/>
            </a:bodyPr>
            <a:lstStyle/>
            <a:p>
              <a:pPr algn="ctr">
                <a:defRPr sz="1900"/>
              </a:pPr>
            </a:p>
          </p:txBody>
        </p:sp>
        <p:sp>
          <p:nvSpPr>
            <p:cNvPr id="218" name="The nucleus is in the centre of the atom."/>
            <p:cNvSpPr txBox="1"/>
            <p:nvPr/>
          </p:nvSpPr>
          <p:spPr>
            <a:xfrm>
              <a:off x="36901" y="150114"/>
              <a:ext cx="1039882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900">
                  <a:solidFill>
                    <a:srgbClr val="FFD166"/>
                  </a:solidFill>
                  <a:latin typeface="Georgia"/>
                  <a:ea typeface="Georgia"/>
                  <a:cs typeface="Georgia"/>
                  <a:sym typeface="Georgia"/>
                </a:defRPr>
              </a:lvl1pPr>
            </a:lstStyle>
            <a:p>
              <a:pPr/>
              <a:r>
                <a:t>The nucleus is in the centre of the atom.</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420000" fill="hold"/>
                                        <p:tgtEl>
                                          <p:spTgt spid="191"/>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01"/>
                                        </p:tgtEl>
                                        <p:attrNameLst>
                                          <p:attrName>style.visibility</p:attrName>
                                        </p:attrNameLst>
                                      </p:cBhvr>
                                      <p:to>
                                        <p:strVal val="visible"/>
                                      </p:to>
                                    </p:set>
                                    <p:animEffect filter="fade" transition="in">
                                      <p:cBhvr>
                                        <p:cTn id="11" dur="400"/>
                                        <p:tgtEl>
                                          <p:spTgt spid="20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07"/>
                                        </p:tgtEl>
                                        <p:attrNameLst>
                                          <p:attrName>style.visibility</p:attrName>
                                        </p:attrNameLst>
                                      </p:cBhvr>
                                      <p:to>
                                        <p:strVal val="visible"/>
                                      </p:to>
                                    </p:set>
                                    <p:animEffect filter="fade" transition="in">
                                      <p:cBhvr>
                                        <p:cTn id="16" dur="400"/>
                                        <p:tgtEl>
                                          <p:spTgt spid="207"/>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216"/>
                                        </p:tgtEl>
                                        <p:attrNameLst>
                                          <p:attrName>style.visibility</p:attrName>
                                        </p:attrNameLst>
                                      </p:cBhvr>
                                      <p:to>
                                        <p:strVal val="visible"/>
                                      </p:to>
                                    </p:set>
                                    <p:animEffect filter="fade" transition="in">
                                      <p:cBhvr>
                                        <p:cTn id="21" dur="400"/>
                                        <p:tgtEl>
                                          <p:spTgt spid="216"/>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16" presetID="23" grpId="5" fill="hold">
                                  <p:stCondLst>
                                    <p:cond delay="0"/>
                                  </p:stCondLst>
                                  <p:iterate type="el" backwards="0">
                                    <p:tmAbs val="0"/>
                                  </p:iterate>
                                  <p:childTnLst>
                                    <p:set>
                                      <p:cBhvr>
                                        <p:cTn id="25" fill="hold"/>
                                        <p:tgtEl>
                                          <p:spTgt spid="219"/>
                                        </p:tgtEl>
                                        <p:attrNameLst>
                                          <p:attrName>style.visibility</p:attrName>
                                        </p:attrNameLst>
                                      </p:cBhvr>
                                      <p:to>
                                        <p:strVal val="visible"/>
                                      </p:to>
                                    </p:set>
                                    <p:anim calcmode="lin" valueType="num">
                                      <p:cBhvr>
                                        <p:cTn id="26" dur="400" fill="hold"/>
                                        <p:tgtEl>
                                          <p:spTgt spid="219"/>
                                        </p:tgtEl>
                                        <p:attrNameLst>
                                          <p:attrName>ppt_w</p:attrName>
                                        </p:attrNameLst>
                                      </p:cBhvr>
                                      <p:tavLst>
                                        <p:tav tm="0">
                                          <p:val>
                                            <p:fltVal val="0"/>
                                          </p:val>
                                        </p:tav>
                                        <p:tav tm="100000">
                                          <p:val>
                                            <p:strVal val="#ppt_w"/>
                                          </p:val>
                                        </p:tav>
                                      </p:tavLst>
                                    </p:anim>
                                    <p:anim calcmode="lin" valueType="num">
                                      <p:cBhvr>
                                        <p:cTn id="27" dur="400" fill="hold"/>
                                        <p:tgtEl>
                                          <p:spTgt spid="21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8" fill="hold" display="0">
                  <p:stCondLst>
                    <p:cond delay="indefinite"/>
                  </p:stCondLst>
                </p:cTn>
                <p:tgtEl>
                  <p:spTgt spid="191"/>
                </p:tgtEl>
              </p:cMediaNode>
            </p:video>
            <p:seq concurrent="1" prevAc="none" nextAc="seek">
              <p:cTn id="29" evtFilter="cancelBubble" nodeType="interactiveSeq" restart="whenNotActive" fill="hold">
                <p:stCondLst>
                  <p:cond delay="0" evt="onClick">
                    <p:tgtEl>
                      <p:spTgt spid="191"/>
                    </p:tgtEl>
                  </p:cond>
                </p:stCondLst>
                <p:endSync delay="0" evt="end">
                  <p:rtn val="all"/>
                </p:endSync>
                <p:childTnLst>
                  <p:par>
                    <p:cTn id="30" fill="hold">
                      <p:stCondLst>
                        <p:cond delay="0"/>
                      </p:stCondLst>
                      <p:childTnLst>
                        <p:par>
                          <p:cTn id="31" fill="hold">
                            <p:stCondLst>
                              <p:cond delay="0"/>
                            </p:stCondLst>
                            <p:childTnLst>
                              <p:par>
                                <p:cTn id="32" presetClass="mediacall" nodeType="clickEffect" presetSubtype="0" presetID="2" fill="hold">
                                  <p:stCondLst>
                                    <p:cond delay="0"/>
                                  </p:stCondLst>
                                  <p:childTnLst>
                                    <p:cmd type="call" cmd="togglePause">
                                      <p:cBhvr>
                                        <p:cTn id="33" dur="1" fill="hold"/>
                                        <p:tgtEl>
                                          <p:spTgt spid="191"/>
                                        </p:tgtEl>
                                      </p:cBhvr>
                                    </p:cmd>
                                  </p:childTnLst>
                                </p:cTn>
                              </p:par>
                            </p:childTnLst>
                          </p:cTn>
                        </p:par>
                      </p:childTnLst>
                    </p:cTn>
                  </p:par>
                </p:childTnLst>
              </p:cTn>
              <p:nextCondLst>
                <p:cond delay="0" evt="onClick">
                  <p:tgtEl>
                    <p:spTgt spid="191"/>
                  </p:tgtEl>
                </p:cond>
              </p:nextCondLst>
            </p:seq>
          </p:childTnLst>
        </p:cTn>
      </p:par>
    </p:tnLst>
    <p:bldLst>
      <p:bldP build="whole" bldLvl="1" animBg="1" rev="0" advAuto="0" spid="201" grpId="2"/>
      <p:bldP build="whole" bldLvl="1" animBg="1" rev="0" advAuto="0" spid="207" grpId="3"/>
      <p:bldP build="whole" bldLvl="1" animBg="1" rev="0" advAuto="0" spid="216" grpId="4"/>
      <p:bldP build="whole" bldLvl="1" animBg="1" rev="0" advAuto="0" spid="219" grpId="5"/>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8FA"/>
        </a:solidFill>
      </p:bgPr>
    </p:bg>
    <p:spTree>
      <p:nvGrpSpPr>
        <p:cNvPr id="1" name=""/>
        <p:cNvGrpSpPr/>
        <p:nvPr/>
      </p:nvGrpSpPr>
      <p:grpSpPr>
        <a:xfrm>
          <a:off x="0" y="0"/>
          <a:ext cx="0" cy="0"/>
          <a:chOff x="0" y="0"/>
          <a:chExt cx="0" cy="0"/>
        </a:xfrm>
      </p:grpSpPr>
      <p:pic>
        <p:nvPicPr>
          <p:cNvPr id="223"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26" name="phase_pill"/>
          <p:cNvGrpSpPr/>
          <p:nvPr/>
        </p:nvGrpSpPr>
        <p:grpSpPr>
          <a:xfrm>
            <a:off x="1170432" y="310895"/>
            <a:ext cx="2340865" cy="329185"/>
            <a:chOff x="0" y="0"/>
            <a:chExt cx="2340864" cy="329184"/>
          </a:xfrm>
        </p:grpSpPr>
        <p:sp>
          <p:nvSpPr>
            <p:cNvPr id="224" name="Rounded Rectangle"/>
            <p:cNvSpPr/>
            <p:nvPr/>
          </p:nvSpPr>
          <p:spPr>
            <a:xfrm>
              <a:off x="0" y="0"/>
              <a:ext cx="2340865" cy="329185"/>
            </a:xfrm>
            <a:prstGeom prst="roundRect">
              <a:avLst>
                <a:gd name="adj" fmla="val 44444"/>
              </a:avLst>
            </a:prstGeom>
            <a:solidFill>
              <a:srgbClr val="123B54"/>
            </a:solidFill>
            <a:ln w="12700" cap="flat">
              <a:noFill/>
              <a:miter lim="400000"/>
            </a:ln>
            <a:effectLst/>
          </p:spPr>
          <p:txBody>
            <a:bodyPr wrap="square" lIns="45719" tIns="45719" rIns="45719" bIns="45719" numCol="1" anchor="ctr">
              <a:noAutofit/>
            </a:bodyPr>
            <a:lstStyle/>
            <a:p>
              <a:pPr algn="ctr">
                <a:defRPr sz="1100"/>
              </a:pPr>
            </a:p>
          </p:txBody>
        </p:sp>
        <p:sp>
          <p:nvSpPr>
            <p:cNvPr id="225" name="LOOK AND SAY · 2 MIN"/>
            <p:cNvSpPr txBox="1"/>
            <p:nvPr/>
          </p:nvSpPr>
          <p:spPr>
            <a:xfrm>
              <a:off x="42851" y="90677"/>
              <a:ext cx="225516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LOOK AND SAY · 2 MIN</a:t>
              </a:r>
            </a:p>
          </p:txBody>
        </p:sp>
      </p:grpSp>
      <p:sp>
        <p:nvSpPr>
          <p:cNvPr id="227" name="keyword_strip"/>
          <p:cNvSpPr txBox="1"/>
          <p:nvPr/>
        </p:nvSpPr>
        <p:spPr>
          <a:xfrm>
            <a:off x="5790894" y="401573"/>
            <a:ext cx="585216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i="1" sz="1100">
                <a:solidFill>
                  <a:srgbClr val="06A77D"/>
                </a:solidFill>
                <a:latin typeface="Arial"/>
                <a:ea typeface="Arial"/>
                <a:cs typeface="Arial"/>
                <a:sym typeface="Arial"/>
              </a:defRPr>
            </a:lvl1pPr>
          </a:lstStyle>
          <a:p>
            <a:pPr/>
            <a:r>
              <a:t>nucleus   ·   proton   ·   neutron</a:t>
            </a:r>
          </a:p>
        </p:txBody>
      </p:sp>
      <p:sp>
        <p:nvSpPr>
          <p:cNvPr id="228"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123B54"/>
                </a:solidFill>
                <a:latin typeface="Georgia"/>
                <a:ea typeface="Georgia"/>
                <a:cs typeface="Georgia"/>
                <a:sym typeface="Georgia"/>
              </a:defRPr>
            </a:lvl1pPr>
          </a:lstStyle>
          <a:p>
            <a:pPr/>
            <a:r>
              <a:t>Inside the nucleus</a:t>
            </a:r>
          </a:p>
        </p:txBody>
      </p:sp>
      <p:sp>
        <p:nvSpPr>
          <p:cNvPr id="229" name="in_atom"/>
          <p:cNvSpPr/>
          <p:nvPr/>
        </p:nvSpPr>
        <p:spPr>
          <a:xfrm>
            <a:off x="1783079" y="2468879"/>
            <a:ext cx="3200401" cy="3200401"/>
          </a:xfrm>
          <a:prstGeom prst="ellipse">
            <a:avLst/>
          </a:prstGeom>
          <a:solidFill>
            <a:srgbClr val="FFFFFF"/>
          </a:solidFill>
          <a:ln w="20320">
            <a:solidFill>
              <a:srgbClr val="5B7484"/>
            </a:solidFill>
          </a:ln>
        </p:spPr>
        <p:txBody>
          <a:bodyPr lIns="45719" rIns="45719"/>
          <a:lstStyle/>
          <a:p>
            <a:pPr/>
          </a:p>
        </p:txBody>
      </p:sp>
      <p:sp>
        <p:nvSpPr>
          <p:cNvPr id="230" name="in_nucleus"/>
          <p:cNvSpPr/>
          <p:nvPr/>
        </p:nvSpPr>
        <p:spPr>
          <a:xfrm>
            <a:off x="2679192" y="3364991"/>
            <a:ext cx="1408177" cy="1408177"/>
          </a:xfrm>
          <a:prstGeom prst="ellipse">
            <a:avLst/>
          </a:prstGeom>
          <a:solidFill>
            <a:srgbClr val="123B54"/>
          </a:solidFill>
          <a:ln w="12700">
            <a:solidFill>
              <a:srgbClr val="123B54"/>
            </a:solidFill>
          </a:ln>
        </p:spPr>
        <p:txBody>
          <a:bodyPr lIns="45719" rIns="45719"/>
          <a:lstStyle/>
          <a:p>
            <a:pPr/>
          </a:p>
        </p:txBody>
      </p:sp>
      <p:sp>
        <p:nvSpPr>
          <p:cNvPr id="231" name="in_p0"/>
          <p:cNvSpPr/>
          <p:nvPr/>
        </p:nvSpPr>
        <p:spPr>
          <a:xfrm>
            <a:off x="2876337" y="3660709"/>
            <a:ext cx="422455" cy="422455"/>
          </a:xfrm>
          <a:prstGeom prst="ellipse">
            <a:avLst/>
          </a:prstGeom>
          <a:solidFill>
            <a:srgbClr val="FFD166"/>
          </a:solidFill>
          <a:ln w="12700">
            <a:solidFill>
              <a:srgbClr val="FFD166"/>
            </a:solidFill>
          </a:ln>
        </p:spPr>
        <p:txBody>
          <a:bodyPr lIns="45719" rIns="45719"/>
          <a:lstStyle/>
          <a:p>
            <a:pPr/>
          </a:p>
        </p:txBody>
      </p:sp>
      <p:sp>
        <p:nvSpPr>
          <p:cNvPr id="232" name="in_n1"/>
          <p:cNvSpPr/>
          <p:nvPr/>
        </p:nvSpPr>
        <p:spPr>
          <a:xfrm>
            <a:off x="3383279" y="3562136"/>
            <a:ext cx="422455" cy="422455"/>
          </a:xfrm>
          <a:prstGeom prst="ellipse">
            <a:avLst/>
          </a:prstGeom>
          <a:solidFill>
            <a:srgbClr val="EF476F"/>
          </a:solidFill>
          <a:ln w="12700">
            <a:solidFill>
              <a:srgbClr val="EF476F"/>
            </a:solidFill>
          </a:ln>
        </p:spPr>
        <p:txBody>
          <a:bodyPr lIns="45719" rIns="45719"/>
          <a:lstStyle/>
          <a:p>
            <a:pPr/>
          </a:p>
        </p:txBody>
      </p:sp>
      <p:sp>
        <p:nvSpPr>
          <p:cNvPr id="233" name="in_p2"/>
          <p:cNvSpPr/>
          <p:nvPr/>
        </p:nvSpPr>
        <p:spPr>
          <a:xfrm>
            <a:off x="3129807" y="3900099"/>
            <a:ext cx="422455" cy="422455"/>
          </a:xfrm>
          <a:prstGeom prst="ellipse">
            <a:avLst/>
          </a:prstGeom>
          <a:solidFill>
            <a:srgbClr val="FFD166"/>
          </a:solidFill>
          <a:ln w="12700">
            <a:solidFill>
              <a:srgbClr val="FFD166"/>
            </a:solidFill>
          </a:ln>
        </p:spPr>
        <p:txBody>
          <a:bodyPr lIns="45719" rIns="45719"/>
          <a:lstStyle/>
          <a:p>
            <a:pPr/>
          </a:p>
        </p:txBody>
      </p:sp>
      <p:sp>
        <p:nvSpPr>
          <p:cNvPr id="234" name="in_n3"/>
          <p:cNvSpPr/>
          <p:nvPr/>
        </p:nvSpPr>
        <p:spPr>
          <a:xfrm>
            <a:off x="3453689" y="3998671"/>
            <a:ext cx="422455" cy="422455"/>
          </a:xfrm>
          <a:prstGeom prst="ellipse">
            <a:avLst/>
          </a:prstGeom>
          <a:solidFill>
            <a:srgbClr val="EF476F"/>
          </a:solidFill>
          <a:ln w="12700">
            <a:solidFill>
              <a:srgbClr val="EF476F"/>
            </a:solidFill>
          </a:ln>
        </p:spPr>
        <p:txBody>
          <a:bodyPr lIns="45719" rIns="45719"/>
          <a:lstStyle/>
          <a:p>
            <a:pPr/>
          </a:p>
        </p:txBody>
      </p:sp>
      <p:sp>
        <p:nvSpPr>
          <p:cNvPr id="235" name="in_p4"/>
          <p:cNvSpPr/>
          <p:nvPr/>
        </p:nvSpPr>
        <p:spPr>
          <a:xfrm>
            <a:off x="2848173" y="4069079"/>
            <a:ext cx="422455" cy="422455"/>
          </a:xfrm>
          <a:prstGeom prst="ellipse">
            <a:avLst/>
          </a:prstGeom>
          <a:solidFill>
            <a:srgbClr val="FFD166"/>
          </a:solidFill>
          <a:ln w="12700">
            <a:solidFill>
              <a:srgbClr val="FFD166"/>
            </a:solidFill>
          </a:ln>
        </p:spPr>
        <p:txBody>
          <a:bodyPr lIns="45719" rIns="45719"/>
          <a:lstStyle/>
          <a:p>
            <a:pPr/>
          </a:p>
        </p:txBody>
      </p:sp>
      <p:sp>
        <p:nvSpPr>
          <p:cNvPr id="236" name="in_n5"/>
          <p:cNvSpPr/>
          <p:nvPr/>
        </p:nvSpPr>
        <p:spPr>
          <a:xfrm>
            <a:off x="3228381" y="3843771"/>
            <a:ext cx="422455" cy="422455"/>
          </a:xfrm>
          <a:prstGeom prst="ellipse">
            <a:avLst/>
          </a:prstGeom>
          <a:solidFill>
            <a:srgbClr val="EF476F"/>
          </a:solidFill>
          <a:ln w="12700">
            <a:solidFill>
              <a:srgbClr val="EF476F"/>
            </a:solidFill>
          </a:ln>
        </p:spPr>
        <p:txBody>
          <a:bodyPr lIns="45719" rIns="45719"/>
          <a:lstStyle/>
          <a:p>
            <a:pPr/>
          </a:p>
        </p:txBody>
      </p:sp>
      <p:grpSp>
        <p:nvGrpSpPr>
          <p:cNvPr id="241" name="ip0"/>
          <p:cNvGrpSpPr/>
          <p:nvPr/>
        </p:nvGrpSpPr>
        <p:grpSpPr>
          <a:xfrm>
            <a:off x="5943599" y="2057400"/>
            <a:ext cx="5699457" cy="1005840"/>
            <a:chOff x="0" y="0"/>
            <a:chExt cx="5699455" cy="1005839"/>
          </a:xfrm>
        </p:grpSpPr>
        <p:sp>
          <p:nvSpPr>
            <p:cNvPr id="237" name="ip0_bg"/>
            <p:cNvSpPr/>
            <p:nvPr/>
          </p:nvSpPr>
          <p:spPr>
            <a:xfrm>
              <a:off x="-1" y="0"/>
              <a:ext cx="5699457" cy="1005840"/>
            </a:xfrm>
            <a:prstGeom prst="roundRect">
              <a:avLst>
                <a:gd name="adj" fmla="val 10909"/>
              </a:avLst>
            </a:prstGeom>
            <a:solidFill>
              <a:srgbClr val="FFFFFF"/>
            </a:solidFill>
            <a:ln w="16510" cap="flat">
              <a:solidFill>
                <a:srgbClr val="D3E3EB"/>
              </a:solidFill>
              <a:prstDash val="solid"/>
              <a:round/>
            </a:ln>
            <a:effectLst/>
          </p:spPr>
          <p:txBody>
            <a:bodyPr wrap="square" lIns="45719" tIns="45719" rIns="45719" bIns="45719" numCol="1" anchor="t">
              <a:noAutofit/>
            </a:bodyPr>
            <a:lstStyle/>
            <a:p>
              <a:pPr/>
            </a:p>
          </p:txBody>
        </p:sp>
        <p:sp>
          <p:nvSpPr>
            <p:cNvPr id="238" name="ip0_dot"/>
            <p:cNvSpPr/>
            <p:nvPr/>
          </p:nvSpPr>
          <p:spPr>
            <a:xfrm>
              <a:off x="274319" y="246888"/>
              <a:ext cx="512065" cy="512065"/>
            </a:xfrm>
            <a:prstGeom prst="ellipse">
              <a:avLst/>
            </a:prstGeom>
            <a:solidFill>
              <a:srgbClr val="FFD166"/>
            </a:solidFill>
            <a:ln w="12700" cap="flat">
              <a:solidFill>
                <a:srgbClr val="FFD166"/>
              </a:solidFill>
              <a:prstDash val="solid"/>
              <a:round/>
            </a:ln>
            <a:effectLst/>
          </p:spPr>
          <p:txBody>
            <a:bodyPr wrap="square" lIns="45719" tIns="45719" rIns="45719" bIns="45719" numCol="1" anchor="t">
              <a:noAutofit/>
            </a:bodyPr>
            <a:lstStyle/>
            <a:p>
              <a:pPr/>
            </a:p>
          </p:txBody>
        </p:sp>
        <p:sp>
          <p:nvSpPr>
            <p:cNvPr id="239" name="ip0_w"/>
            <p:cNvSpPr txBox="1"/>
            <p:nvPr/>
          </p:nvSpPr>
          <p:spPr>
            <a:xfrm>
              <a:off x="1005839" y="312419"/>
              <a:ext cx="2377441"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123B54"/>
                  </a:solidFill>
                  <a:latin typeface="Georgia"/>
                  <a:ea typeface="Georgia"/>
                  <a:cs typeface="Georgia"/>
                  <a:sym typeface="Georgia"/>
                </a:defRPr>
              </a:lvl1pPr>
            </a:lstStyle>
            <a:p>
              <a:pPr/>
              <a:r>
                <a:t>proton</a:t>
              </a:r>
            </a:p>
          </p:txBody>
        </p:sp>
        <p:sp>
          <p:nvSpPr>
            <p:cNvPr id="240" name="ip0_say"/>
            <p:cNvSpPr txBox="1"/>
            <p:nvPr/>
          </p:nvSpPr>
          <p:spPr>
            <a:xfrm>
              <a:off x="3383279" y="391943"/>
              <a:ext cx="2133296" cy="2219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i="1" sz="1600">
                  <a:solidFill>
                    <a:srgbClr val="06A77D"/>
                  </a:solidFill>
                  <a:latin typeface="Arial"/>
                  <a:ea typeface="Arial"/>
                  <a:cs typeface="Arial"/>
                  <a:sym typeface="Arial"/>
                </a:defRPr>
              </a:lvl1pPr>
            </a:lstStyle>
            <a:p>
              <a:pPr/>
              <a:r>
                <a:t>PRO-ton</a:t>
              </a:r>
            </a:p>
          </p:txBody>
        </p:sp>
      </p:grpSp>
      <p:grpSp>
        <p:nvGrpSpPr>
          <p:cNvPr id="246" name="ip1"/>
          <p:cNvGrpSpPr/>
          <p:nvPr/>
        </p:nvGrpSpPr>
        <p:grpSpPr>
          <a:xfrm>
            <a:off x="5943599" y="3246120"/>
            <a:ext cx="5699457" cy="1005841"/>
            <a:chOff x="0" y="0"/>
            <a:chExt cx="5699455" cy="1005839"/>
          </a:xfrm>
        </p:grpSpPr>
        <p:sp>
          <p:nvSpPr>
            <p:cNvPr id="242" name="ip1_bg"/>
            <p:cNvSpPr/>
            <p:nvPr/>
          </p:nvSpPr>
          <p:spPr>
            <a:xfrm>
              <a:off x="-1" y="0"/>
              <a:ext cx="5699457" cy="1005840"/>
            </a:xfrm>
            <a:prstGeom prst="roundRect">
              <a:avLst>
                <a:gd name="adj" fmla="val 10909"/>
              </a:avLst>
            </a:prstGeom>
            <a:solidFill>
              <a:srgbClr val="FFFFFF"/>
            </a:solidFill>
            <a:ln w="16510" cap="flat">
              <a:solidFill>
                <a:srgbClr val="D3E3EB"/>
              </a:solidFill>
              <a:prstDash val="solid"/>
              <a:round/>
            </a:ln>
            <a:effectLst/>
          </p:spPr>
          <p:txBody>
            <a:bodyPr wrap="square" lIns="45719" tIns="45719" rIns="45719" bIns="45719" numCol="1" anchor="t">
              <a:noAutofit/>
            </a:bodyPr>
            <a:lstStyle/>
            <a:p>
              <a:pPr/>
            </a:p>
          </p:txBody>
        </p:sp>
        <p:sp>
          <p:nvSpPr>
            <p:cNvPr id="243" name="ip1_dot"/>
            <p:cNvSpPr/>
            <p:nvPr/>
          </p:nvSpPr>
          <p:spPr>
            <a:xfrm>
              <a:off x="274319" y="246888"/>
              <a:ext cx="512065" cy="512065"/>
            </a:xfrm>
            <a:prstGeom prst="ellipse">
              <a:avLst/>
            </a:prstGeom>
            <a:solidFill>
              <a:srgbClr val="EF476F"/>
            </a:solidFill>
            <a:ln w="12700" cap="flat">
              <a:solidFill>
                <a:srgbClr val="EF476F"/>
              </a:solidFill>
              <a:prstDash val="solid"/>
              <a:round/>
            </a:ln>
            <a:effectLst/>
          </p:spPr>
          <p:txBody>
            <a:bodyPr wrap="square" lIns="45719" tIns="45719" rIns="45719" bIns="45719" numCol="1" anchor="t">
              <a:noAutofit/>
            </a:bodyPr>
            <a:lstStyle/>
            <a:p>
              <a:pPr/>
            </a:p>
          </p:txBody>
        </p:sp>
        <p:sp>
          <p:nvSpPr>
            <p:cNvPr id="244" name="ip1_w"/>
            <p:cNvSpPr txBox="1"/>
            <p:nvPr/>
          </p:nvSpPr>
          <p:spPr>
            <a:xfrm>
              <a:off x="1005839" y="312419"/>
              <a:ext cx="2377441"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123B54"/>
                  </a:solidFill>
                  <a:latin typeface="Georgia"/>
                  <a:ea typeface="Georgia"/>
                  <a:cs typeface="Georgia"/>
                  <a:sym typeface="Georgia"/>
                </a:defRPr>
              </a:lvl1pPr>
            </a:lstStyle>
            <a:p>
              <a:pPr/>
              <a:r>
                <a:t>neutron</a:t>
              </a:r>
            </a:p>
          </p:txBody>
        </p:sp>
        <p:sp>
          <p:nvSpPr>
            <p:cNvPr id="245" name="ip1_say"/>
            <p:cNvSpPr txBox="1"/>
            <p:nvPr/>
          </p:nvSpPr>
          <p:spPr>
            <a:xfrm>
              <a:off x="3383279" y="391943"/>
              <a:ext cx="2133296" cy="2219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i="1" sz="1600">
                  <a:solidFill>
                    <a:srgbClr val="06A77D"/>
                  </a:solidFill>
                  <a:latin typeface="Arial"/>
                  <a:ea typeface="Arial"/>
                  <a:cs typeface="Arial"/>
                  <a:sym typeface="Arial"/>
                </a:defRPr>
              </a:lvl1pPr>
            </a:lstStyle>
            <a:p>
              <a:pPr/>
              <a:r>
                <a:t>NEW-tron</a:t>
              </a:r>
            </a:p>
          </p:txBody>
        </p:sp>
      </p:grpSp>
      <p:grpSp>
        <p:nvGrpSpPr>
          <p:cNvPr id="249" name="in_sentence"/>
          <p:cNvGrpSpPr/>
          <p:nvPr/>
        </p:nvGrpSpPr>
        <p:grpSpPr>
          <a:xfrm>
            <a:off x="5943600" y="4572000"/>
            <a:ext cx="5699455" cy="1051561"/>
            <a:chOff x="0" y="0"/>
            <a:chExt cx="5699454" cy="1051560"/>
          </a:xfrm>
        </p:grpSpPr>
        <p:sp>
          <p:nvSpPr>
            <p:cNvPr id="247" name="Rounded Rectangle"/>
            <p:cNvSpPr/>
            <p:nvPr/>
          </p:nvSpPr>
          <p:spPr>
            <a:xfrm>
              <a:off x="0" y="0"/>
              <a:ext cx="5699455" cy="1051561"/>
            </a:xfrm>
            <a:prstGeom prst="roundRect">
              <a:avLst>
                <a:gd name="adj" fmla="val 10435"/>
              </a:avLst>
            </a:prstGeom>
            <a:solidFill>
              <a:srgbClr val="123B54"/>
            </a:solidFill>
            <a:ln w="9525" cap="flat">
              <a:solidFill>
                <a:srgbClr val="123B54"/>
              </a:solidFill>
              <a:prstDash val="solid"/>
              <a:round/>
            </a:ln>
            <a:effectLst/>
          </p:spPr>
          <p:txBody>
            <a:bodyPr wrap="square" lIns="45719" tIns="45719" rIns="45719" bIns="45719" numCol="1" anchor="ctr">
              <a:noAutofit/>
            </a:bodyPr>
            <a:lstStyle/>
            <a:p>
              <a:pPr algn="ctr">
                <a:defRPr sz="2100"/>
              </a:pPr>
            </a:p>
          </p:txBody>
        </p:sp>
        <p:sp>
          <p:nvSpPr>
            <p:cNvPr id="248" name="The nucleus is made of protons and neutrons."/>
            <p:cNvSpPr txBox="1"/>
            <p:nvPr/>
          </p:nvSpPr>
          <p:spPr>
            <a:xfrm>
              <a:off x="36901" y="219075"/>
              <a:ext cx="5625653" cy="6134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905" tIns="1905" rIns="1905" bIns="1905" numCol="1" anchor="ctr">
              <a:spAutoFit/>
            </a:bodyPr>
            <a:lstStyle>
              <a:lvl1pPr algn="ctr">
                <a:defRPr b="1" sz="2100">
                  <a:solidFill>
                    <a:srgbClr val="FFD166"/>
                  </a:solidFill>
                  <a:latin typeface="Georgia"/>
                  <a:ea typeface="Georgia"/>
                  <a:cs typeface="Georgia"/>
                  <a:sym typeface="Georgia"/>
                </a:defRPr>
              </a:lvl1pPr>
            </a:lstStyle>
            <a:p>
              <a:pPr/>
              <a:r>
                <a:t>The nucleus is made of protons and neutrons.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20000" fill="hold"/>
                                        <p:tgtEl>
                                          <p:spTgt spid="223"/>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41"/>
                                        </p:tgtEl>
                                        <p:attrNameLst>
                                          <p:attrName>style.visibility</p:attrName>
                                        </p:attrNameLst>
                                      </p:cBhvr>
                                      <p:to>
                                        <p:strVal val="visible"/>
                                      </p:to>
                                    </p:set>
                                    <p:animEffect filter="fade" transition="in">
                                      <p:cBhvr>
                                        <p:cTn id="11" dur="400"/>
                                        <p:tgtEl>
                                          <p:spTgt spid="24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46"/>
                                        </p:tgtEl>
                                        <p:attrNameLst>
                                          <p:attrName>style.visibility</p:attrName>
                                        </p:attrNameLst>
                                      </p:cBhvr>
                                      <p:to>
                                        <p:strVal val="visible"/>
                                      </p:to>
                                    </p:set>
                                    <p:animEffect filter="fade" transition="in">
                                      <p:cBhvr>
                                        <p:cTn id="16" dur="400"/>
                                        <p:tgtEl>
                                          <p:spTgt spid="246"/>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16" presetID="23" grpId="4" fill="hold">
                                  <p:stCondLst>
                                    <p:cond delay="0"/>
                                  </p:stCondLst>
                                  <p:iterate type="el" backwards="0">
                                    <p:tmAbs val="0"/>
                                  </p:iterate>
                                  <p:childTnLst>
                                    <p:set>
                                      <p:cBhvr>
                                        <p:cTn id="20" fill="hold"/>
                                        <p:tgtEl>
                                          <p:spTgt spid="249"/>
                                        </p:tgtEl>
                                        <p:attrNameLst>
                                          <p:attrName>style.visibility</p:attrName>
                                        </p:attrNameLst>
                                      </p:cBhvr>
                                      <p:to>
                                        <p:strVal val="visible"/>
                                      </p:to>
                                    </p:set>
                                    <p:anim calcmode="lin" valueType="num">
                                      <p:cBhvr>
                                        <p:cTn id="21" dur="400" fill="hold"/>
                                        <p:tgtEl>
                                          <p:spTgt spid="249"/>
                                        </p:tgtEl>
                                        <p:attrNameLst>
                                          <p:attrName>ppt_w</p:attrName>
                                        </p:attrNameLst>
                                      </p:cBhvr>
                                      <p:tavLst>
                                        <p:tav tm="0">
                                          <p:val>
                                            <p:fltVal val="0"/>
                                          </p:val>
                                        </p:tav>
                                        <p:tav tm="100000">
                                          <p:val>
                                            <p:strVal val="#ppt_w"/>
                                          </p:val>
                                        </p:tav>
                                      </p:tavLst>
                                    </p:anim>
                                    <p:anim calcmode="lin" valueType="num">
                                      <p:cBhvr>
                                        <p:cTn id="22" dur="400" fill="hold"/>
                                        <p:tgtEl>
                                          <p:spTgt spid="24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3" fill="hold" display="0">
                  <p:stCondLst>
                    <p:cond delay="indefinite"/>
                  </p:stCondLst>
                </p:cTn>
                <p:tgtEl>
                  <p:spTgt spid="223"/>
                </p:tgtEl>
              </p:cMediaNode>
            </p:video>
            <p:seq concurrent="1" prevAc="none" nextAc="seek">
              <p:cTn id="24" evtFilter="cancelBubble" nodeType="interactiveSeq" restart="whenNotActive" fill="hold">
                <p:stCondLst>
                  <p:cond delay="0" evt="onClick">
                    <p:tgtEl>
                      <p:spTgt spid="223"/>
                    </p:tgtEl>
                  </p:cond>
                </p:stCondLst>
                <p:endSync delay="0" evt="end">
                  <p:rtn val="all"/>
                </p:endSync>
                <p:childTnLst>
                  <p:par>
                    <p:cTn id="25" fill="hold">
                      <p:stCondLst>
                        <p:cond delay="0"/>
                      </p:stCondLst>
                      <p:childTnLst>
                        <p:par>
                          <p:cTn id="26" fill="hold">
                            <p:stCondLst>
                              <p:cond delay="0"/>
                            </p:stCondLst>
                            <p:childTnLst>
                              <p:par>
                                <p:cTn id="27" presetClass="mediacall" nodeType="clickEffect" presetSubtype="0" presetID="2" fill="hold">
                                  <p:stCondLst>
                                    <p:cond delay="0"/>
                                  </p:stCondLst>
                                  <p:childTnLst>
                                    <p:cmd type="call" cmd="togglePause">
                                      <p:cBhvr>
                                        <p:cTn id="28" dur="1" fill="hold"/>
                                        <p:tgtEl>
                                          <p:spTgt spid="223"/>
                                        </p:tgtEl>
                                      </p:cBhvr>
                                    </p:cmd>
                                  </p:childTnLst>
                                </p:cTn>
                              </p:par>
                            </p:childTnLst>
                          </p:cTn>
                        </p:par>
                      </p:childTnLst>
                    </p:cTn>
                  </p:par>
                </p:childTnLst>
              </p:cTn>
              <p:nextCondLst>
                <p:cond delay="0" evt="onClick">
                  <p:tgtEl>
                    <p:spTgt spid="223"/>
                  </p:tgtEl>
                </p:cond>
              </p:nextCondLst>
            </p:seq>
          </p:childTnLst>
        </p:cTn>
      </p:par>
    </p:tnLst>
    <p:bldLst>
      <p:bldP build="whole" bldLvl="1" animBg="1" rev="0" advAuto="0" spid="241" grpId="2"/>
      <p:bldP build="whole" bldLvl="1" animBg="1" rev="0" advAuto="0" spid="246" grpId="3"/>
      <p:bldP build="whole" bldLvl="1" animBg="1" rev="0" advAuto="0" spid="249" grpId="4"/>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8FA"/>
        </a:solidFill>
      </p:bgPr>
    </p:bg>
    <p:spTree>
      <p:nvGrpSpPr>
        <p:cNvPr id="1" name=""/>
        <p:cNvGrpSpPr/>
        <p:nvPr/>
      </p:nvGrpSpPr>
      <p:grpSpPr>
        <a:xfrm>
          <a:off x="0" y="0"/>
          <a:ext cx="0" cy="0"/>
          <a:chOff x="0" y="0"/>
          <a:chExt cx="0" cy="0"/>
        </a:xfrm>
      </p:grpSpPr>
      <p:pic>
        <p:nvPicPr>
          <p:cNvPr id="253"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56" name="phase_pill"/>
          <p:cNvGrpSpPr/>
          <p:nvPr/>
        </p:nvGrpSpPr>
        <p:grpSpPr>
          <a:xfrm>
            <a:off x="1170432" y="310895"/>
            <a:ext cx="1892808" cy="329185"/>
            <a:chOff x="0" y="0"/>
            <a:chExt cx="1892807" cy="329184"/>
          </a:xfrm>
        </p:grpSpPr>
        <p:sp>
          <p:nvSpPr>
            <p:cNvPr id="254" name="Rounded Rectangle"/>
            <p:cNvSpPr/>
            <p:nvPr/>
          </p:nvSpPr>
          <p:spPr>
            <a:xfrm>
              <a:off x="0" y="0"/>
              <a:ext cx="1892808" cy="329185"/>
            </a:xfrm>
            <a:prstGeom prst="roundRect">
              <a:avLst>
                <a:gd name="adj" fmla="val 44444"/>
              </a:avLst>
            </a:prstGeom>
            <a:solidFill>
              <a:srgbClr val="123B54"/>
            </a:solidFill>
            <a:ln w="12700" cap="flat">
              <a:noFill/>
              <a:miter lim="400000"/>
            </a:ln>
            <a:effectLst/>
          </p:spPr>
          <p:txBody>
            <a:bodyPr wrap="square" lIns="45719" tIns="45719" rIns="45719" bIns="45719" numCol="1" anchor="ctr">
              <a:noAutofit/>
            </a:bodyPr>
            <a:lstStyle/>
            <a:p>
              <a:pPr algn="ctr">
                <a:defRPr sz="1100"/>
              </a:pPr>
            </a:p>
          </p:txBody>
        </p:sp>
        <p:sp>
          <p:nvSpPr>
            <p:cNvPr id="255" name="YOU SAY · 5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YOU SAY · 5 MIN</a:t>
              </a:r>
            </a:p>
          </p:txBody>
        </p:sp>
      </p:grpSp>
      <p:sp>
        <p:nvSpPr>
          <p:cNvPr id="257" name="keyword_strip"/>
          <p:cNvSpPr txBox="1"/>
          <p:nvPr/>
        </p:nvSpPr>
        <p:spPr>
          <a:xfrm>
            <a:off x="5790894" y="401573"/>
            <a:ext cx="585216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i="1" sz="1100">
                <a:solidFill>
                  <a:srgbClr val="06A77D"/>
                </a:solidFill>
                <a:latin typeface="Arial"/>
                <a:ea typeface="Arial"/>
                <a:cs typeface="Arial"/>
                <a:sym typeface="Arial"/>
              </a:defRPr>
            </a:lvl1pPr>
          </a:lstStyle>
          <a:p>
            <a:pPr/>
            <a:r>
              <a:t>atoms   ·   matter   ·   tiny   ·   part</a:t>
            </a:r>
          </a:p>
        </p:txBody>
      </p:sp>
      <p:sp>
        <p:nvSpPr>
          <p:cNvPr id="258"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123B54"/>
                </a:solidFill>
                <a:latin typeface="Georgia"/>
                <a:ea typeface="Georgia"/>
                <a:cs typeface="Georgia"/>
                <a:sym typeface="Georgia"/>
              </a:defRPr>
            </a:lvl1pPr>
          </a:lstStyle>
          <a:p>
            <a:pPr/>
            <a:r>
              <a:t>Your turn. Say the sentence.</a:t>
            </a:r>
          </a:p>
        </p:txBody>
      </p:sp>
      <p:grpSp>
        <p:nvGrpSpPr>
          <p:cNvPr id="261" name="fr_banner"/>
          <p:cNvGrpSpPr/>
          <p:nvPr/>
        </p:nvGrpSpPr>
        <p:grpSpPr>
          <a:xfrm>
            <a:off x="2542032" y="1691639"/>
            <a:ext cx="7729423" cy="777241"/>
            <a:chOff x="0" y="0"/>
            <a:chExt cx="7729422" cy="777240"/>
          </a:xfrm>
        </p:grpSpPr>
        <p:sp>
          <p:nvSpPr>
            <p:cNvPr id="259" name="Rounded Rectangle"/>
            <p:cNvSpPr/>
            <p:nvPr/>
          </p:nvSpPr>
          <p:spPr>
            <a:xfrm>
              <a:off x="0" y="0"/>
              <a:ext cx="7729423" cy="777241"/>
            </a:xfrm>
            <a:prstGeom prst="roundRect">
              <a:avLst>
                <a:gd name="adj" fmla="val 14118"/>
              </a:avLst>
            </a:prstGeom>
            <a:solidFill>
              <a:srgbClr val="123B54"/>
            </a:solidFill>
            <a:ln w="9525" cap="flat">
              <a:solidFill>
                <a:srgbClr val="123B54"/>
              </a:solidFill>
              <a:prstDash val="solid"/>
              <a:round/>
            </a:ln>
            <a:effectLst/>
          </p:spPr>
          <p:txBody>
            <a:bodyPr wrap="square" lIns="45719" tIns="45719" rIns="45719" bIns="45719" numCol="1" anchor="ctr">
              <a:noAutofit/>
            </a:bodyPr>
            <a:lstStyle/>
            <a:p>
              <a:pPr algn="ctr">
                <a:defRPr sz="2600"/>
              </a:pPr>
            </a:p>
          </p:txBody>
        </p:sp>
        <p:sp>
          <p:nvSpPr>
            <p:cNvPr id="260" name="___  is made of atoms."/>
            <p:cNvSpPr txBox="1"/>
            <p:nvPr/>
          </p:nvSpPr>
          <p:spPr>
            <a:xfrm>
              <a:off x="36901" y="198119"/>
              <a:ext cx="7655621"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600">
                  <a:solidFill>
                    <a:srgbClr val="FFD166"/>
                  </a:solidFill>
                  <a:latin typeface="Georgia"/>
                  <a:ea typeface="Georgia"/>
                  <a:cs typeface="Georgia"/>
                  <a:sym typeface="Georgia"/>
                </a:defRPr>
              </a:lvl1pPr>
            </a:lstStyle>
            <a:p>
              <a:pPr/>
              <a:r>
                <a:t>___  is made of atoms.</a:t>
              </a:r>
            </a:p>
          </p:txBody>
        </p:sp>
      </p:grpSp>
      <p:grpSp>
        <p:nvGrpSpPr>
          <p:cNvPr id="266" name="ms0"/>
          <p:cNvGrpSpPr/>
          <p:nvPr/>
        </p:nvGrpSpPr>
        <p:grpSpPr>
          <a:xfrm>
            <a:off x="1170432" y="2788920"/>
            <a:ext cx="2453565" cy="2240280"/>
            <a:chOff x="0" y="0"/>
            <a:chExt cx="2453563" cy="2240279"/>
          </a:xfrm>
        </p:grpSpPr>
        <p:sp>
          <p:nvSpPr>
            <p:cNvPr id="262" name="ms0_bg"/>
            <p:cNvSpPr/>
            <p:nvPr/>
          </p:nvSpPr>
          <p:spPr>
            <a:xfrm>
              <a:off x="0" y="0"/>
              <a:ext cx="2453564" cy="2240280"/>
            </a:xfrm>
            <a:prstGeom prst="roundRect">
              <a:avLst>
                <a:gd name="adj" fmla="val 4898"/>
              </a:avLst>
            </a:prstGeom>
            <a:solidFill>
              <a:srgbClr val="FFFFFF"/>
            </a:solidFill>
            <a:ln w="16510" cap="flat">
              <a:solidFill>
                <a:srgbClr val="D3E3EB"/>
              </a:solidFill>
              <a:prstDash val="solid"/>
              <a:round/>
            </a:ln>
            <a:effectLst/>
          </p:spPr>
          <p:txBody>
            <a:bodyPr wrap="square" lIns="45719" tIns="45719" rIns="45719" bIns="45719" numCol="1" anchor="t">
              <a:noAutofit/>
            </a:bodyPr>
            <a:lstStyle/>
            <a:p>
              <a:pPr/>
            </a:p>
          </p:txBody>
        </p:sp>
        <p:pic>
          <p:nvPicPr>
            <p:cNvPr id="263" name="ms0_img" descr="ms0_img"/>
            <p:cNvPicPr>
              <a:picLocks noChangeAspect="1"/>
            </p:cNvPicPr>
            <p:nvPr/>
          </p:nvPicPr>
          <p:blipFill>
            <a:blip r:embed="rId6">
              <a:extLst/>
            </a:blip>
            <a:stretch>
              <a:fillRect/>
            </a:stretch>
          </p:blipFill>
          <p:spPr>
            <a:xfrm>
              <a:off x="678141" y="201168"/>
              <a:ext cx="1097282" cy="1097280"/>
            </a:xfrm>
            <a:prstGeom prst="rect">
              <a:avLst/>
            </a:prstGeom>
            <a:ln w="12700" cap="flat">
              <a:noFill/>
              <a:miter lim="400000"/>
            </a:ln>
            <a:effectLst/>
          </p:spPr>
        </p:pic>
        <p:sp>
          <p:nvSpPr>
            <p:cNvPr id="264" name="ms0_t"/>
            <p:cNvSpPr txBox="1"/>
            <p:nvPr/>
          </p:nvSpPr>
          <p:spPr>
            <a:xfrm>
              <a:off x="91439" y="1437639"/>
              <a:ext cx="2270685"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123B54"/>
                  </a:solidFill>
                  <a:latin typeface="Georgia"/>
                  <a:ea typeface="Georgia"/>
                  <a:cs typeface="Georgia"/>
                  <a:sym typeface="Georgia"/>
                </a:defRPr>
              </a:lvl1pPr>
            </a:lstStyle>
            <a:p>
              <a:pPr/>
              <a:r>
                <a:t>Water</a:t>
              </a:r>
            </a:p>
          </p:txBody>
        </p:sp>
        <p:pic>
          <p:nvPicPr>
            <p:cNvPr id="265" name="ms0_bubble" descr="ms0_bubble"/>
            <p:cNvPicPr>
              <a:picLocks noChangeAspect="1"/>
            </p:cNvPicPr>
            <p:nvPr/>
          </p:nvPicPr>
          <p:blipFill>
            <a:blip r:embed="rId7">
              <a:extLst/>
            </a:blip>
            <a:stretch>
              <a:fillRect/>
            </a:stretch>
          </p:blipFill>
          <p:spPr>
            <a:xfrm>
              <a:off x="1053045" y="1810511"/>
              <a:ext cx="347474" cy="347473"/>
            </a:xfrm>
            <a:prstGeom prst="rect">
              <a:avLst/>
            </a:prstGeom>
            <a:ln w="12700" cap="flat">
              <a:noFill/>
              <a:miter lim="400000"/>
            </a:ln>
            <a:effectLst/>
          </p:spPr>
        </p:pic>
      </p:grpSp>
      <p:grpSp>
        <p:nvGrpSpPr>
          <p:cNvPr id="271" name="ms1"/>
          <p:cNvGrpSpPr/>
          <p:nvPr/>
        </p:nvGrpSpPr>
        <p:grpSpPr>
          <a:xfrm>
            <a:off x="3843451" y="2788920"/>
            <a:ext cx="2453565" cy="2240280"/>
            <a:chOff x="0" y="0"/>
            <a:chExt cx="2453563" cy="2240279"/>
          </a:xfrm>
        </p:grpSpPr>
        <p:sp>
          <p:nvSpPr>
            <p:cNvPr id="267" name="ms1_bg"/>
            <p:cNvSpPr/>
            <p:nvPr/>
          </p:nvSpPr>
          <p:spPr>
            <a:xfrm>
              <a:off x="0" y="0"/>
              <a:ext cx="2453564" cy="2240280"/>
            </a:xfrm>
            <a:prstGeom prst="roundRect">
              <a:avLst>
                <a:gd name="adj" fmla="val 4898"/>
              </a:avLst>
            </a:prstGeom>
            <a:solidFill>
              <a:srgbClr val="FFFFFF"/>
            </a:solidFill>
            <a:ln w="16510" cap="flat">
              <a:solidFill>
                <a:srgbClr val="D3E3EB"/>
              </a:solidFill>
              <a:prstDash val="solid"/>
              <a:round/>
            </a:ln>
            <a:effectLst/>
          </p:spPr>
          <p:txBody>
            <a:bodyPr wrap="square" lIns="45719" tIns="45719" rIns="45719" bIns="45719" numCol="1" anchor="t">
              <a:noAutofit/>
            </a:bodyPr>
            <a:lstStyle/>
            <a:p>
              <a:pPr/>
            </a:p>
          </p:txBody>
        </p:sp>
        <p:pic>
          <p:nvPicPr>
            <p:cNvPr id="268" name="ms1_img" descr="ms1_img"/>
            <p:cNvPicPr>
              <a:picLocks noChangeAspect="1"/>
            </p:cNvPicPr>
            <p:nvPr/>
          </p:nvPicPr>
          <p:blipFill>
            <a:blip r:embed="rId8">
              <a:extLst/>
            </a:blip>
            <a:stretch>
              <a:fillRect/>
            </a:stretch>
          </p:blipFill>
          <p:spPr>
            <a:xfrm>
              <a:off x="678141" y="201168"/>
              <a:ext cx="1097282" cy="1097280"/>
            </a:xfrm>
            <a:prstGeom prst="rect">
              <a:avLst/>
            </a:prstGeom>
            <a:ln w="12700" cap="flat">
              <a:noFill/>
              <a:miter lim="400000"/>
            </a:ln>
            <a:effectLst/>
          </p:spPr>
        </p:pic>
        <p:sp>
          <p:nvSpPr>
            <p:cNvPr id="269" name="ms1_t"/>
            <p:cNvSpPr txBox="1"/>
            <p:nvPr/>
          </p:nvSpPr>
          <p:spPr>
            <a:xfrm>
              <a:off x="91439" y="1437639"/>
              <a:ext cx="2270685"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123B54"/>
                  </a:solidFill>
                  <a:latin typeface="Georgia"/>
                  <a:ea typeface="Georgia"/>
                  <a:cs typeface="Georgia"/>
                  <a:sym typeface="Georgia"/>
                </a:defRPr>
              </a:lvl1pPr>
            </a:lstStyle>
            <a:p>
              <a:pPr/>
              <a:r>
                <a:t>An apple</a:t>
              </a:r>
            </a:p>
          </p:txBody>
        </p:sp>
        <p:pic>
          <p:nvPicPr>
            <p:cNvPr id="270" name="ms1_bubble" descr="ms1_bubble"/>
            <p:cNvPicPr>
              <a:picLocks noChangeAspect="1"/>
            </p:cNvPicPr>
            <p:nvPr/>
          </p:nvPicPr>
          <p:blipFill>
            <a:blip r:embed="rId7">
              <a:extLst/>
            </a:blip>
            <a:stretch>
              <a:fillRect/>
            </a:stretch>
          </p:blipFill>
          <p:spPr>
            <a:xfrm>
              <a:off x="1053045" y="1810511"/>
              <a:ext cx="347474" cy="347473"/>
            </a:xfrm>
            <a:prstGeom prst="rect">
              <a:avLst/>
            </a:prstGeom>
            <a:ln w="12700" cap="flat">
              <a:noFill/>
              <a:miter lim="400000"/>
            </a:ln>
            <a:effectLst/>
          </p:spPr>
        </p:pic>
      </p:grpSp>
      <p:grpSp>
        <p:nvGrpSpPr>
          <p:cNvPr id="276" name="ms2"/>
          <p:cNvGrpSpPr/>
          <p:nvPr/>
        </p:nvGrpSpPr>
        <p:grpSpPr>
          <a:xfrm>
            <a:off x="6516472" y="2788920"/>
            <a:ext cx="2453565" cy="2240280"/>
            <a:chOff x="0" y="0"/>
            <a:chExt cx="2453563" cy="2240279"/>
          </a:xfrm>
        </p:grpSpPr>
        <p:sp>
          <p:nvSpPr>
            <p:cNvPr id="272" name="ms2_bg"/>
            <p:cNvSpPr/>
            <p:nvPr/>
          </p:nvSpPr>
          <p:spPr>
            <a:xfrm>
              <a:off x="0" y="0"/>
              <a:ext cx="2453564" cy="2240280"/>
            </a:xfrm>
            <a:prstGeom prst="roundRect">
              <a:avLst>
                <a:gd name="adj" fmla="val 4898"/>
              </a:avLst>
            </a:prstGeom>
            <a:solidFill>
              <a:srgbClr val="FFFFFF"/>
            </a:solidFill>
            <a:ln w="16510" cap="flat">
              <a:solidFill>
                <a:srgbClr val="D3E3EB"/>
              </a:solidFill>
              <a:prstDash val="solid"/>
              <a:round/>
            </a:ln>
            <a:effectLst/>
          </p:spPr>
          <p:txBody>
            <a:bodyPr wrap="square" lIns="45719" tIns="45719" rIns="45719" bIns="45719" numCol="1" anchor="t">
              <a:noAutofit/>
            </a:bodyPr>
            <a:lstStyle/>
            <a:p>
              <a:pPr/>
            </a:p>
          </p:txBody>
        </p:sp>
        <p:pic>
          <p:nvPicPr>
            <p:cNvPr id="273" name="ms2_img" descr="ms2_img"/>
            <p:cNvPicPr>
              <a:picLocks noChangeAspect="1"/>
            </p:cNvPicPr>
            <p:nvPr/>
          </p:nvPicPr>
          <p:blipFill>
            <a:blip r:embed="rId9">
              <a:extLst/>
            </a:blip>
            <a:stretch>
              <a:fillRect/>
            </a:stretch>
          </p:blipFill>
          <p:spPr>
            <a:xfrm>
              <a:off x="678141" y="201168"/>
              <a:ext cx="1097282" cy="1097280"/>
            </a:xfrm>
            <a:prstGeom prst="rect">
              <a:avLst/>
            </a:prstGeom>
            <a:ln w="12700" cap="flat">
              <a:noFill/>
              <a:miter lim="400000"/>
            </a:ln>
            <a:effectLst/>
          </p:spPr>
        </p:pic>
        <p:sp>
          <p:nvSpPr>
            <p:cNvPr id="274" name="ms2_t"/>
            <p:cNvSpPr txBox="1"/>
            <p:nvPr/>
          </p:nvSpPr>
          <p:spPr>
            <a:xfrm>
              <a:off x="91439" y="1437639"/>
              <a:ext cx="2270685"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123B54"/>
                  </a:solidFill>
                  <a:latin typeface="Georgia"/>
                  <a:ea typeface="Georgia"/>
                  <a:cs typeface="Georgia"/>
                  <a:sym typeface="Georgia"/>
                </a:defRPr>
              </a:lvl1pPr>
            </a:lstStyle>
            <a:p>
              <a:pPr/>
              <a:r>
                <a:t>Air</a:t>
              </a:r>
            </a:p>
          </p:txBody>
        </p:sp>
        <p:pic>
          <p:nvPicPr>
            <p:cNvPr id="275" name="ms2_bubble" descr="ms2_bubble"/>
            <p:cNvPicPr>
              <a:picLocks noChangeAspect="1"/>
            </p:cNvPicPr>
            <p:nvPr/>
          </p:nvPicPr>
          <p:blipFill>
            <a:blip r:embed="rId7">
              <a:extLst/>
            </a:blip>
            <a:stretch>
              <a:fillRect/>
            </a:stretch>
          </p:blipFill>
          <p:spPr>
            <a:xfrm>
              <a:off x="1053045" y="1810511"/>
              <a:ext cx="347474" cy="347473"/>
            </a:xfrm>
            <a:prstGeom prst="rect">
              <a:avLst/>
            </a:prstGeom>
            <a:ln w="12700" cap="flat">
              <a:noFill/>
              <a:miter lim="400000"/>
            </a:ln>
            <a:effectLst/>
          </p:spPr>
        </p:pic>
      </p:grpSp>
      <p:grpSp>
        <p:nvGrpSpPr>
          <p:cNvPr id="281" name="ms3"/>
          <p:cNvGrpSpPr/>
          <p:nvPr/>
        </p:nvGrpSpPr>
        <p:grpSpPr>
          <a:xfrm>
            <a:off x="9189491" y="2788920"/>
            <a:ext cx="2453565" cy="2240280"/>
            <a:chOff x="0" y="0"/>
            <a:chExt cx="2453563" cy="2240279"/>
          </a:xfrm>
        </p:grpSpPr>
        <p:sp>
          <p:nvSpPr>
            <p:cNvPr id="277" name="ms3_bg"/>
            <p:cNvSpPr/>
            <p:nvPr/>
          </p:nvSpPr>
          <p:spPr>
            <a:xfrm>
              <a:off x="0" y="0"/>
              <a:ext cx="2453564" cy="2240280"/>
            </a:xfrm>
            <a:prstGeom prst="roundRect">
              <a:avLst>
                <a:gd name="adj" fmla="val 4898"/>
              </a:avLst>
            </a:prstGeom>
            <a:solidFill>
              <a:srgbClr val="FFFFFF"/>
            </a:solidFill>
            <a:ln w="16510" cap="flat">
              <a:solidFill>
                <a:srgbClr val="D3E3EB"/>
              </a:solidFill>
              <a:prstDash val="solid"/>
              <a:round/>
            </a:ln>
            <a:effectLst/>
          </p:spPr>
          <p:txBody>
            <a:bodyPr wrap="square" lIns="45719" tIns="45719" rIns="45719" bIns="45719" numCol="1" anchor="t">
              <a:noAutofit/>
            </a:bodyPr>
            <a:lstStyle/>
            <a:p>
              <a:pPr/>
            </a:p>
          </p:txBody>
        </p:sp>
        <p:pic>
          <p:nvPicPr>
            <p:cNvPr id="278" name="ms3_img" descr="ms3_img"/>
            <p:cNvPicPr>
              <a:picLocks noChangeAspect="1"/>
            </p:cNvPicPr>
            <p:nvPr/>
          </p:nvPicPr>
          <p:blipFill>
            <a:blip r:embed="rId10">
              <a:extLst/>
            </a:blip>
            <a:stretch>
              <a:fillRect/>
            </a:stretch>
          </p:blipFill>
          <p:spPr>
            <a:xfrm>
              <a:off x="678141" y="201168"/>
              <a:ext cx="1097282" cy="1097280"/>
            </a:xfrm>
            <a:prstGeom prst="rect">
              <a:avLst/>
            </a:prstGeom>
            <a:ln w="12700" cap="flat">
              <a:noFill/>
              <a:miter lim="400000"/>
            </a:ln>
            <a:effectLst/>
          </p:spPr>
        </p:pic>
        <p:sp>
          <p:nvSpPr>
            <p:cNvPr id="279" name="ms3_t"/>
            <p:cNvSpPr txBox="1"/>
            <p:nvPr/>
          </p:nvSpPr>
          <p:spPr>
            <a:xfrm>
              <a:off x="91439" y="1437639"/>
              <a:ext cx="2270685"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123B54"/>
                  </a:solidFill>
                  <a:latin typeface="Georgia"/>
                  <a:ea typeface="Georgia"/>
                  <a:cs typeface="Georgia"/>
                  <a:sym typeface="Georgia"/>
                </a:defRPr>
              </a:lvl1pPr>
            </a:lstStyle>
            <a:p>
              <a:pPr/>
              <a:r>
                <a:t>My hand</a:t>
              </a:r>
            </a:p>
          </p:txBody>
        </p:sp>
        <p:pic>
          <p:nvPicPr>
            <p:cNvPr id="280" name="ms3_bubble" descr="ms3_bubble"/>
            <p:cNvPicPr>
              <a:picLocks noChangeAspect="1"/>
            </p:cNvPicPr>
            <p:nvPr/>
          </p:nvPicPr>
          <p:blipFill>
            <a:blip r:embed="rId7">
              <a:extLst/>
            </a:blip>
            <a:stretch>
              <a:fillRect/>
            </a:stretch>
          </p:blipFill>
          <p:spPr>
            <a:xfrm>
              <a:off x="1053045" y="1810511"/>
              <a:ext cx="347474" cy="347473"/>
            </a:xfrm>
            <a:prstGeom prst="rect">
              <a:avLst/>
            </a:prstGeom>
            <a:ln w="12700" cap="flat">
              <a:noFill/>
              <a:miter lim="400000"/>
            </a:ln>
            <a:effectLst/>
          </p:spPr>
        </p:pic>
      </p:grpSp>
      <p:grpSp>
        <p:nvGrpSpPr>
          <p:cNvPr id="284" name="fr2_banner"/>
          <p:cNvGrpSpPr/>
          <p:nvPr/>
        </p:nvGrpSpPr>
        <p:grpSpPr>
          <a:xfrm>
            <a:off x="2542032" y="5349240"/>
            <a:ext cx="7729423" cy="777241"/>
            <a:chOff x="0" y="0"/>
            <a:chExt cx="7729422" cy="777240"/>
          </a:xfrm>
        </p:grpSpPr>
        <p:sp>
          <p:nvSpPr>
            <p:cNvPr id="282" name="Rounded Rectangle"/>
            <p:cNvSpPr/>
            <p:nvPr/>
          </p:nvSpPr>
          <p:spPr>
            <a:xfrm>
              <a:off x="0" y="0"/>
              <a:ext cx="7729423" cy="777241"/>
            </a:xfrm>
            <a:prstGeom prst="roundRect">
              <a:avLst>
                <a:gd name="adj" fmla="val 14118"/>
              </a:avLst>
            </a:prstGeom>
            <a:solidFill>
              <a:srgbClr val="123B54"/>
            </a:solidFill>
            <a:ln w="9525" cap="flat">
              <a:solidFill>
                <a:srgbClr val="123B54"/>
              </a:solidFill>
              <a:prstDash val="solid"/>
              <a:round/>
            </a:ln>
            <a:effectLst/>
          </p:spPr>
          <p:txBody>
            <a:bodyPr wrap="square" lIns="45719" tIns="45719" rIns="45719" bIns="45719" numCol="1" anchor="ctr">
              <a:noAutofit/>
            </a:bodyPr>
            <a:lstStyle/>
            <a:p>
              <a:pPr algn="ctr">
                <a:defRPr sz="2400"/>
              </a:pPr>
            </a:p>
          </p:txBody>
        </p:sp>
        <p:sp>
          <p:nvSpPr>
            <p:cNvPr id="283" name="An atom is a tiny part of matter."/>
            <p:cNvSpPr txBox="1"/>
            <p:nvPr/>
          </p:nvSpPr>
          <p:spPr>
            <a:xfrm>
              <a:off x="36901" y="217170"/>
              <a:ext cx="7655621"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solidFill>
                    <a:srgbClr val="FFD166"/>
                  </a:solidFill>
                  <a:latin typeface="Georgia"/>
                  <a:ea typeface="Georgia"/>
                  <a:cs typeface="Georgia"/>
                  <a:sym typeface="Georgia"/>
                </a:defRPr>
              </a:lvl1pPr>
            </a:lstStyle>
            <a:p>
              <a:pPr/>
              <a:r>
                <a:t>An atom is a tiny part of matter.</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00000" fill="hold"/>
                                        <p:tgtEl>
                                          <p:spTgt spid="253"/>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61"/>
                                        </p:tgtEl>
                                        <p:attrNameLst>
                                          <p:attrName>style.visibility</p:attrName>
                                        </p:attrNameLst>
                                      </p:cBhvr>
                                      <p:to>
                                        <p:strVal val="visible"/>
                                      </p:to>
                                    </p:set>
                                    <p:animEffect filter="fade" transition="in">
                                      <p:cBhvr>
                                        <p:cTn id="11" dur="400"/>
                                        <p:tgtEl>
                                          <p:spTgt spid="26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66"/>
                                        </p:tgtEl>
                                        <p:attrNameLst>
                                          <p:attrName>style.visibility</p:attrName>
                                        </p:attrNameLst>
                                      </p:cBhvr>
                                      <p:to>
                                        <p:strVal val="visible"/>
                                      </p:to>
                                    </p:set>
                                    <p:animEffect filter="fade" transition="in">
                                      <p:cBhvr>
                                        <p:cTn id="16" dur="400"/>
                                        <p:tgtEl>
                                          <p:spTgt spid="266"/>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271"/>
                                        </p:tgtEl>
                                        <p:attrNameLst>
                                          <p:attrName>style.visibility</p:attrName>
                                        </p:attrNameLst>
                                      </p:cBhvr>
                                      <p:to>
                                        <p:strVal val="visible"/>
                                      </p:to>
                                    </p:set>
                                    <p:animEffect filter="fade" transition="in">
                                      <p:cBhvr>
                                        <p:cTn id="21" dur="400"/>
                                        <p:tgtEl>
                                          <p:spTgt spid="27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276"/>
                                        </p:tgtEl>
                                        <p:attrNameLst>
                                          <p:attrName>style.visibility</p:attrName>
                                        </p:attrNameLst>
                                      </p:cBhvr>
                                      <p:to>
                                        <p:strVal val="visible"/>
                                      </p:to>
                                    </p:set>
                                    <p:animEffect filter="fade" transition="in">
                                      <p:cBhvr>
                                        <p:cTn id="26" dur="400"/>
                                        <p:tgtEl>
                                          <p:spTgt spid="276"/>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ID="10" grpId="6" fill="hold">
                                  <p:stCondLst>
                                    <p:cond delay="0"/>
                                  </p:stCondLst>
                                  <p:iterate type="el" backwards="0">
                                    <p:tmAbs val="0"/>
                                  </p:iterate>
                                  <p:childTnLst>
                                    <p:set>
                                      <p:cBhvr>
                                        <p:cTn id="30" fill="hold"/>
                                        <p:tgtEl>
                                          <p:spTgt spid="281"/>
                                        </p:tgtEl>
                                        <p:attrNameLst>
                                          <p:attrName>style.visibility</p:attrName>
                                        </p:attrNameLst>
                                      </p:cBhvr>
                                      <p:to>
                                        <p:strVal val="visible"/>
                                      </p:to>
                                    </p:set>
                                    <p:animEffect filter="fade" transition="in">
                                      <p:cBhvr>
                                        <p:cTn id="31" dur="400"/>
                                        <p:tgtEl>
                                          <p:spTgt spid="28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16" presetID="23" grpId="7" fill="hold">
                                  <p:stCondLst>
                                    <p:cond delay="0"/>
                                  </p:stCondLst>
                                  <p:iterate type="el" backwards="0">
                                    <p:tmAbs val="0"/>
                                  </p:iterate>
                                  <p:childTnLst>
                                    <p:set>
                                      <p:cBhvr>
                                        <p:cTn id="35" fill="hold"/>
                                        <p:tgtEl>
                                          <p:spTgt spid="284"/>
                                        </p:tgtEl>
                                        <p:attrNameLst>
                                          <p:attrName>style.visibility</p:attrName>
                                        </p:attrNameLst>
                                      </p:cBhvr>
                                      <p:to>
                                        <p:strVal val="visible"/>
                                      </p:to>
                                    </p:set>
                                    <p:anim calcmode="lin" valueType="num">
                                      <p:cBhvr>
                                        <p:cTn id="36" dur="400" fill="hold"/>
                                        <p:tgtEl>
                                          <p:spTgt spid="284"/>
                                        </p:tgtEl>
                                        <p:attrNameLst>
                                          <p:attrName>ppt_w</p:attrName>
                                        </p:attrNameLst>
                                      </p:cBhvr>
                                      <p:tavLst>
                                        <p:tav tm="0">
                                          <p:val>
                                            <p:fltVal val="0"/>
                                          </p:val>
                                        </p:tav>
                                        <p:tav tm="100000">
                                          <p:val>
                                            <p:strVal val="#ppt_w"/>
                                          </p:val>
                                        </p:tav>
                                      </p:tavLst>
                                    </p:anim>
                                    <p:anim calcmode="lin" valueType="num">
                                      <p:cBhvr>
                                        <p:cTn id="37" dur="400" fill="hold"/>
                                        <p:tgtEl>
                                          <p:spTgt spid="28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8" fill="hold" display="0">
                  <p:stCondLst>
                    <p:cond delay="indefinite"/>
                  </p:stCondLst>
                </p:cTn>
                <p:tgtEl>
                  <p:spTgt spid="253"/>
                </p:tgtEl>
              </p:cMediaNode>
            </p:video>
            <p:seq concurrent="1" prevAc="none" nextAc="seek">
              <p:cTn id="39" evtFilter="cancelBubble" nodeType="interactiveSeq" restart="whenNotActive" fill="hold">
                <p:stCondLst>
                  <p:cond delay="0" evt="onClick">
                    <p:tgtEl>
                      <p:spTgt spid="253"/>
                    </p:tgtEl>
                  </p:cond>
                </p:stCondLst>
                <p:endSync delay="0" evt="end">
                  <p:rtn val="all"/>
                </p:endSync>
                <p:childTnLst>
                  <p:par>
                    <p:cTn id="40" fill="hold">
                      <p:stCondLst>
                        <p:cond delay="0"/>
                      </p:stCondLst>
                      <p:childTnLst>
                        <p:par>
                          <p:cTn id="41" fill="hold">
                            <p:stCondLst>
                              <p:cond delay="0"/>
                            </p:stCondLst>
                            <p:childTnLst>
                              <p:par>
                                <p:cTn id="42" presetClass="mediacall" nodeType="clickEffect" presetSubtype="0" presetID="2" fill="hold">
                                  <p:stCondLst>
                                    <p:cond delay="0"/>
                                  </p:stCondLst>
                                  <p:childTnLst>
                                    <p:cmd type="call" cmd="togglePause">
                                      <p:cBhvr>
                                        <p:cTn id="43" dur="1" fill="hold"/>
                                        <p:tgtEl>
                                          <p:spTgt spid="253"/>
                                        </p:tgtEl>
                                      </p:cBhvr>
                                    </p:cmd>
                                  </p:childTnLst>
                                </p:cTn>
                              </p:par>
                            </p:childTnLst>
                          </p:cTn>
                        </p:par>
                      </p:childTnLst>
                    </p:cTn>
                  </p:par>
                </p:childTnLst>
              </p:cTn>
              <p:nextCondLst>
                <p:cond delay="0" evt="onClick">
                  <p:tgtEl>
                    <p:spTgt spid="253"/>
                  </p:tgtEl>
                </p:cond>
              </p:nextCondLst>
            </p:seq>
          </p:childTnLst>
        </p:cTn>
      </p:par>
    </p:tnLst>
    <p:bldLst>
      <p:bldP build="whole" bldLvl="1" animBg="1" rev="0" advAuto="0" spid="266" grpId="3"/>
      <p:bldP build="whole" bldLvl="1" animBg="1" rev="0" advAuto="0" spid="271" grpId="4"/>
      <p:bldP build="whole" bldLvl="1" animBg="1" rev="0" advAuto="0" spid="276" grpId="5"/>
      <p:bldP build="whole" bldLvl="1" animBg="1" rev="0" advAuto="0" spid="281" grpId="6"/>
      <p:bldP build="whole" bldLvl="1" animBg="1" rev="0" advAuto="0" spid="284" grpId="7"/>
      <p:bldP build="whole" bldLvl="1" animBg="1" rev="0" advAuto="0" spid="261" grpId="2"/>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8FA"/>
        </a:solidFill>
      </p:bgPr>
    </p:bg>
    <p:spTree>
      <p:nvGrpSpPr>
        <p:cNvPr id="1" name=""/>
        <p:cNvGrpSpPr/>
        <p:nvPr/>
      </p:nvGrpSpPr>
      <p:grpSpPr>
        <a:xfrm>
          <a:off x="0" y="0"/>
          <a:ext cx="0" cy="0"/>
          <a:chOff x="0" y="0"/>
          <a:chExt cx="0" cy="0"/>
        </a:xfrm>
      </p:grpSpPr>
      <p:pic>
        <p:nvPicPr>
          <p:cNvPr id="28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91" name="phase_pill"/>
          <p:cNvGrpSpPr/>
          <p:nvPr/>
        </p:nvGrpSpPr>
        <p:grpSpPr>
          <a:xfrm>
            <a:off x="1170432" y="310895"/>
            <a:ext cx="1892808" cy="329185"/>
            <a:chOff x="0" y="0"/>
            <a:chExt cx="1892807" cy="329184"/>
          </a:xfrm>
        </p:grpSpPr>
        <p:sp>
          <p:nvSpPr>
            <p:cNvPr id="289" name="Rounded Rectangle"/>
            <p:cNvSpPr/>
            <p:nvPr/>
          </p:nvSpPr>
          <p:spPr>
            <a:xfrm>
              <a:off x="0" y="0"/>
              <a:ext cx="1892808" cy="329185"/>
            </a:xfrm>
            <a:prstGeom prst="roundRect">
              <a:avLst>
                <a:gd name="adj" fmla="val 44444"/>
              </a:avLst>
            </a:prstGeom>
            <a:solidFill>
              <a:srgbClr val="123B54"/>
            </a:solidFill>
            <a:ln w="12700" cap="flat">
              <a:noFill/>
              <a:miter lim="400000"/>
            </a:ln>
            <a:effectLst/>
          </p:spPr>
          <p:txBody>
            <a:bodyPr wrap="square" lIns="45719" tIns="45719" rIns="45719" bIns="45719" numCol="1" anchor="ctr">
              <a:noAutofit/>
            </a:bodyPr>
            <a:lstStyle/>
            <a:p>
              <a:pPr algn="ctr">
                <a:defRPr sz="1100"/>
              </a:pPr>
            </a:p>
          </p:txBody>
        </p:sp>
        <p:sp>
          <p:nvSpPr>
            <p:cNvPr id="290" name="YOU SAY · 5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YOU SAY · 5 MIN</a:t>
              </a:r>
            </a:p>
          </p:txBody>
        </p:sp>
      </p:grpSp>
      <p:sp>
        <p:nvSpPr>
          <p:cNvPr id="292" name="keyword_strip"/>
          <p:cNvSpPr txBox="1"/>
          <p:nvPr/>
        </p:nvSpPr>
        <p:spPr>
          <a:xfrm>
            <a:off x="5790894" y="401573"/>
            <a:ext cx="585216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i="1" sz="1100">
                <a:solidFill>
                  <a:srgbClr val="06A77D"/>
                </a:solidFill>
                <a:latin typeface="Arial"/>
                <a:ea typeface="Arial"/>
                <a:cs typeface="Arial"/>
                <a:sym typeface="Arial"/>
              </a:defRPr>
            </a:lvl1pPr>
          </a:lstStyle>
          <a:p>
            <a:pPr/>
            <a:r>
              <a:t>nucleus   ·   centre   ·   outside   ·   electron   ·   proton   ·   neutron</a:t>
            </a:r>
          </a:p>
        </p:txBody>
      </p:sp>
      <p:sp>
        <p:nvSpPr>
          <p:cNvPr id="293"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123B54"/>
                </a:solidFill>
                <a:latin typeface="Georgia"/>
                <a:ea typeface="Georgia"/>
                <a:cs typeface="Georgia"/>
                <a:sym typeface="Georgia"/>
              </a:defRPr>
            </a:lvl1pPr>
          </a:lstStyle>
          <a:p>
            <a:pPr/>
            <a:r>
              <a:t>Look. Say the sentence.</a:t>
            </a:r>
          </a:p>
        </p:txBody>
      </p:sp>
      <p:sp>
        <p:nvSpPr>
          <p:cNvPr id="294" name="sr0_bg"/>
          <p:cNvSpPr/>
          <p:nvPr/>
        </p:nvSpPr>
        <p:spPr>
          <a:xfrm>
            <a:off x="1170432" y="1938527"/>
            <a:ext cx="10472623" cy="1207010"/>
          </a:xfrm>
          <a:prstGeom prst="roundRect">
            <a:avLst>
              <a:gd name="adj" fmla="val 9091"/>
            </a:avLst>
          </a:prstGeom>
          <a:solidFill>
            <a:srgbClr val="FFFFFF"/>
          </a:solidFill>
          <a:ln w="16510">
            <a:solidFill>
              <a:srgbClr val="D3E3EB"/>
            </a:solidFill>
          </a:ln>
        </p:spPr>
        <p:txBody>
          <a:bodyPr lIns="45719" rIns="45719"/>
          <a:lstStyle/>
          <a:p>
            <a:pPr/>
          </a:p>
        </p:txBody>
      </p:sp>
      <p:pic>
        <p:nvPicPr>
          <p:cNvPr id="295" name="sr0_img" descr="sr0_img"/>
          <p:cNvPicPr>
            <a:picLocks noChangeAspect="1"/>
          </p:cNvPicPr>
          <p:nvPr/>
        </p:nvPicPr>
        <p:blipFill>
          <a:blip r:embed="rId6">
            <a:extLst/>
          </a:blip>
          <a:stretch>
            <a:fillRect/>
          </a:stretch>
        </p:blipFill>
        <p:spPr>
          <a:xfrm>
            <a:off x="1479747" y="2066544"/>
            <a:ext cx="1027290" cy="950976"/>
          </a:xfrm>
          <a:prstGeom prst="rect">
            <a:avLst/>
          </a:prstGeom>
          <a:ln w="12700">
            <a:miter lim="400000"/>
          </a:ln>
        </p:spPr>
      </p:pic>
      <p:sp>
        <p:nvSpPr>
          <p:cNvPr id="296" name="sr0_t"/>
          <p:cNvSpPr txBox="1"/>
          <p:nvPr/>
        </p:nvSpPr>
        <p:spPr>
          <a:xfrm>
            <a:off x="2862071" y="2375636"/>
            <a:ext cx="6309362" cy="332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700"/>
              </a:lnSpc>
              <a:defRPr b="1" sz="2100">
                <a:solidFill>
                  <a:srgbClr val="123B54"/>
                </a:solidFill>
                <a:latin typeface="Georgia"/>
                <a:ea typeface="Georgia"/>
                <a:cs typeface="Georgia"/>
                <a:sym typeface="Georgia"/>
              </a:defRPr>
            </a:lvl1pPr>
          </a:lstStyle>
          <a:p>
            <a:pPr/>
            <a:r>
              <a:t>The nucleus is in the ______ of the atom.</a:t>
            </a:r>
          </a:p>
        </p:txBody>
      </p:sp>
      <p:grpSp>
        <p:nvGrpSpPr>
          <p:cNvPr id="299" name="sr0_a"/>
          <p:cNvGrpSpPr/>
          <p:nvPr/>
        </p:nvGrpSpPr>
        <p:grpSpPr>
          <a:xfrm>
            <a:off x="8854134" y="2267711"/>
            <a:ext cx="2560321" cy="548641"/>
            <a:chOff x="0" y="0"/>
            <a:chExt cx="2560320" cy="548640"/>
          </a:xfrm>
        </p:grpSpPr>
        <p:sp>
          <p:nvSpPr>
            <p:cNvPr id="297" name="Rounded Rectangle"/>
            <p:cNvSpPr/>
            <p:nvPr/>
          </p:nvSpPr>
          <p:spPr>
            <a:xfrm>
              <a:off x="0" y="0"/>
              <a:ext cx="2560321" cy="548641"/>
            </a:xfrm>
            <a:prstGeom prst="roundRect">
              <a:avLst>
                <a:gd name="adj" fmla="val 16667"/>
              </a:avLst>
            </a:prstGeom>
            <a:solidFill>
              <a:srgbClr val="FDF3DC"/>
            </a:solidFill>
            <a:ln w="16510" cap="flat">
              <a:solidFill>
                <a:srgbClr val="FFD166"/>
              </a:solidFill>
              <a:prstDash val="solid"/>
              <a:round/>
            </a:ln>
            <a:effectLst/>
          </p:spPr>
          <p:txBody>
            <a:bodyPr wrap="square" lIns="45719" tIns="45719" rIns="45719" bIns="45719" numCol="1" anchor="ctr">
              <a:noAutofit/>
            </a:bodyPr>
            <a:lstStyle/>
            <a:p>
              <a:pPr algn="ctr"/>
            </a:p>
          </p:txBody>
        </p:sp>
        <p:sp>
          <p:nvSpPr>
            <p:cNvPr id="298" name="centre"/>
            <p:cNvSpPr txBox="1"/>
            <p:nvPr/>
          </p:nvSpPr>
          <p:spPr>
            <a:xfrm>
              <a:off x="35036" y="143947"/>
              <a:ext cx="2490248" cy="2607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a:solidFill>
                    <a:srgbClr val="123B54"/>
                  </a:solidFill>
                  <a:latin typeface="Arial"/>
                  <a:ea typeface="Arial"/>
                  <a:cs typeface="Arial"/>
                  <a:sym typeface="Arial"/>
                </a:defRPr>
              </a:lvl1pPr>
            </a:lstStyle>
            <a:p>
              <a:pPr/>
              <a:r>
                <a:t>centre</a:t>
              </a:r>
            </a:p>
          </p:txBody>
        </p:sp>
      </p:grpSp>
      <p:sp>
        <p:nvSpPr>
          <p:cNvPr id="300" name="sr1_bg"/>
          <p:cNvSpPr/>
          <p:nvPr/>
        </p:nvSpPr>
        <p:spPr>
          <a:xfrm>
            <a:off x="1170432" y="3328415"/>
            <a:ext cx="10472623" cy="1207009"/>
          </a:xfrm>
          <a:prstGeom prst="roundRect">
            <a:avLst>
              <a:gd name="adj" fmla="val 9091"/>
            </a:avLst>
          </a:prstGeom>
          <a:solidFill>
            <a:srgbClr val="FFFFFF"/>
          </a:solidFill>
          <a:ln w="16510">
            <a:solidFill>
              <a:srgbClr val="D3E3EB"/>
            </a:solidFill>
          </a:ln>
        </p:spPr>
        <p:txBody>
          <a:bodyPr lIns="45719" rIns="45719"/>
          <a:lstStyle/>
          <a:p>
            <a:pPr/>
          </a:p>
        </p:txBody>
      </p:sp>
      <p:pic>
        <p:nvPicPr>
          <p:cNvPr id="301" name="sr1_img" descr="sr1_img"/>
          <p:cNvPicPr>
            <a:picLocks noChangeAspect="1"/>
          </p:cNvPicPr>
          <p:nvPr/>
        </p:nvPicPr>
        <p:blipFill>
          <a:blip r:embed="rId7">
            <a:extLst/>
          </a:blip>
          <a:stretch>
            <a:fillRect/>
          </a:stretch>
        </p:blipFill>
        <p:spPr>
          <a:xfrm>
            <a:off x="1517903" y="3456432"/>
            <a:ext cx="950977" cy="950977"/>
          </a:xfrm>
          <a:prstGeom prst="rect">
            <a:avLst/>
          </a:prstGeom>
          <a:ln w="12700">
            <a:miter lim="400000"/>
          </a:ln>
        </p:spPr>
      </p:pic>
      <p:sp>
        <p:nvSpPr>
          <p:cNvPr id="302" name="sr1_t"/>
          <p:cNvSpPr txBox="1"/>
          <p:nvPr/>
        </p:nvSpPr>
        <p:spPr>
          <a:xfrm>
            <a:off x="2862071" y="3765524"/>
            <a:ext cx="6309362" cy="332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700"/>
              </a:lnSpc>
              <a:defRPr b="1" sz="2100">
                <a:solidFill>
                  <a:srgbClr val="123B54"/>
                </a:solidFill>
                <a:latin typeface="Georgia"/>
                <a:ea typeface="Georgia"/>
                <a:cs typeface="Georgia"/>
                <a:sym typeface="Georgia"/>
              </a:defRPr>
            </a:lvl1pPr>
          </a:lstStyle>
          <a:p>
            <a:pPr/>
            <a:r>
              <a:t>The electron is ______ the nucleus.</a:t>
            </a:r>
          </a:p>
        </p:txBody>
      </p:sp>
      <p:grpSp>
        <p:nvGrpSpPr>
          <p:cNvPr id="305" name="sr1_a"/>
          <p:cNvGrpSpPr/>
          <p:nvPr/>
        </p:nvGrpSpPr>
        <p:grpSpPr>
          <a:xfrm>
            <a:off x="8854134" y="3657600"/>
            <a:ext cx="2560321" cy="548641"/>
            <a:chOff x="0" y="0"/>
            <a:chExt cx="2560320" cy="548640"/>
          </a:xfrm>
        </p:grpSpPr>
        <p:sp>
          <p:nvSpPr>
            <p:cNvPr id="303" name="Rounded Rectangle"/>
            <p:cNvSpPr/>
            <p:nvPr/>
          </p:nvSpPr>
          <p:spPr>
            <a:xfrm>
              <a:off x="0" y="0"/>
              <a:ext cx="2560321" cy="548641"/>
            </a:xfrm>
            <a:prstGeom prst="roundRect">
              <a:avLst>
                <a:gd name="adj" fmla="val 16667"/>
              </a:avLst>
            </a:prstGeom>
            <a:solidFill>
              <a:srgbClr val="FDF3DC"/>
            </a:solidFill>
            <a:ln w="16510" cap="flat">
              <a:solidFill>
                <a:srgbClr val="FFD166"/>
              </a:solidFill>
              <a:prstDash val="solid"/>
              <a:round/>
            </a:ln>
            <a:effectLst/>
          </p:spPr>
          <p:txBody>
            <a:bodyPr wrap="square" lIns="45719" tIns="45719" rIns="45719" bIns="45719" numCol="1" anchor="ctr">
              <a:noAutofit/>
            </a:bodyPr>
            <a:lstStyle/>
            <a:p>
              <a:pPr algn="ctr"/>
            </a:p>
          </p:txBody>
        </p:sp>
        <p:sp>
          <p:nvSpPr>
            <p:cNvPr id="304" name="outside"/>
            <p:cNvSpPr txBox="1"/>
            <p:nvPr/>
          </p:nvSpPr>
          <p:spPr>
            <a:xfrm>
              <a:off x="35036" y="143947"/>
              <a:ext cx="2490248" cy="2607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a:solidFill>
                    <a:srgbClr val="123B54"/>
                  </a:solidFill>
                  <a:latin typeface="Arial"/>
                  <a:ea typeface="Arial"/>
                  <a:cs typeface="Arial"/>
                  <a:sym typeface="Arial"/>
                </a:defRPr>
              </a:lvl1pPr>
            </a:lstStyle>
            <a:p>
              <a:pPr/>
              <a:r>
                <a:t>outside</a:t>
              </a:r>
            </a:p>
          </p:txBody>
        </p:sp>
      </p:grpSp>
      <p:sp>
        <p:nvSpPr>
          <p:cNvPr id="306" name="sr2_bg"/>
          <p:cNvSpPr/>
          <p:nvPr/>
        </p:nvSpPr>
        <p:spPr>
          <a:xfrm>
            <a:off x="1170432" y="4718303"/>
            <a:ext cx="10472623" cy="1207009"/>
          </a:xfrm>
          <a:prstGeom prst="roundRect">
            <a:avLst>
              <a:gd name="adj" fmla="val 9091"/>
            </a:avLst>
          </a:prstGeom>
          <a:solidFill>
            <a:srgbClr val="FFFFFF"/>
          </a:solidFill>
          <a:ln w="16510">
            <a:solidFill>
              <a:srgbClr val="D3E3EB"/>
            </a:solidFill>
          </a:ln>
        </p:spPr>
        <p:txBody>
          <a:bodyPr lIns="45719" rIns="45719"/>
          <a:lstStyle/>
          <a:p>
            <a:pPr/>
          </a:p>
        </p:txBody>
      </p:sp>
      <p:sp>
        <p:nvSpPr>
          <p:cNvPr id="307" name="sr2_p"/>
          <p:cNvSpPr/>
          <p:nvPr/>
        </p:nvSpPr>
        <p:spPr>
          <a:xfrm>
            <a:off x="1490472" y="5020055"/>
            <a:ext cx="566929" cy="566929"/>
          </a:xfrm>
          <a:prstGeom prst="ellipse">
            <a:avLst/>
          </a:prstGeom>
          <a:solidFill>
            <a:srgbClr val="FFD166"/>
          </a:solidFill>
          <a:ln w="12700">
            <a:solidFill>
              <a:srgbClr val="FFD166"/>
            </a:solidFill>
          </a:ln>
        </p:spPr>
        <p:txBody>
          <a:bodyPr lIns="45719" rIns="45719"/>
          <a:lstStyle/>
          <a:p>
            <a:pPr/>
          </a:p>
        </p:txBody>
      </p:sp>
      <p:sp>
        <p:nvSpPr>
          <p:cNvPr id="308" name="sr2_n"/>
          <p:cNvSpPr/>
          <p:nvPr/>
        </p:nvSpPr>
        <p:spPr>
          <a:xfrm>
            <a:off x="2011679" y="5020055"/>
            <a:ext cx="566929" cy="566929"/>
          </a:xfrm>
          <a:prstGeom prst="ellipse">
            <a:avLst/>
          </a:prstGeom>
          <a:solidFill>
            <a:srgbClr val="EF476F"/>
          </a:solidFill>
          <a:ln w="12700">
            <a:solidFill>
              <a:srgbClr val="EF476F"/>
            </a:solidFill>
          </a:ln>
        </p:spPr>
        <p:txBody>
          <a:bodyPr lIns="45719" rIns="45719"/>
          <a:lstStyle/>
          <a:p>
            <a:pPr/>
          </a:p>
        </p:txBody>
      </p:sp>
      <p:sp>
        <p:nvSpPr>
          <p:cNvPr id="309" name="sr2_t"/>
          <p:cNvSpPr txBox="1"/>
          <p:nvPr/>
        </p:nvSpPr>
        <p:spPr>
          <a:xfrm>
            <a:off x="2862071" y="4983962"/>
            <a:ext cx="6309362" cy="6756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700"/>
              </a:lnSpc>
              <a:defRPr b="1" sz="2100">
                <a:solidFill>
                  <a:srgbClr val="123B54"/>
                </a:solidFill>
                <a:latin typeface="Georgia"/>
                <a:ea typeface="Georgia"/>
                <a:cs typeface="Georgia"/>
                <a:sym typeface="Georgia"/>
              </a:defRPr>
            </a:lvl1pPr>
          </a:lstStyle>
          <a:p>
            <a:pPr/>
            <a:r>
              <a:t>The nucleus is made of ________ and ________.</a:t>
            </a:r>
          </a:p>
        </p:txBody>
      </p:sp>
      <p:grpSp>
        <p:nvGrpSpPr>
          <p:cNvPr id="312" name="sr2_a"/>
          <p:cNvGrpSpPr/>
          <p:nvPr/>
        </p:nvGrpSpPr>
        <p:grpSpPr>
          <a:xfrm>
            <a:off x="8854134" y="5047488"/>
            <a:ext cx="2560321" cy="548641"/>
            <a:chOff x="0" y="0"/>
            <a:chExt cx="2560320" cy="548640"/>
          </a:xfrm>
        </p:grpSpPr>
        <p:sp>
          <p:nvSpPr>
            <p:cNvPr id="310" name="Rounded Rectangle"/>
            <p:cNvSpPr/>
            <p:nvPr/>
          </p:nvSpPr>
          <p:spPr>
            <a:xfrm>
              <a:off x="0" y="0"/>
              <a:ext cx="2560321" cy="548641"/>
            </a:xfrm>
            <a:prstGeom prst="roundRect">
              <a:avLst>
                <a:gd name="adj" fmla="val 16667"/>
              </a:avLst>
            </a:prstGeom>
            <a:solidFill>
              <a:srgbClr val="FDF3DC"/>
            </a:solidFill>
            <a:ln w="16510" cap="flat">
              <a:solidFill>
                <a:srgbClr val="FFD166"/>
              </a:solidFill>
              <a:prstDash val="solid"/>
              <a:round/>
            </a:ln>
            <a:effectLst/>
          </p:spPr>
          <p:txBody>
            <a:bodyPr wrap="square" lIns="45719" tIns="45719" rIns="45719" bIns="45719" numCol="1" anchor="ctr">
              <a:noAutofit/>
            </a:bodyPr>
            <a:lstStyle/>
            <a:p>
              <a:pPr algn="ctr"/>
            </a:p>
          </p:txBody>
        </p:sp>
        <p:sp>
          <p:nvSpPr>
            <p:cNvPr id="311" name="protons · neutrons"/>
            <p:cNvSpPr txBox="1"/>
            <p:nvPr/>
          </p:nvSpPr>
          <p:spPr>
            <a:xfrm>
              <a:off x="35036" y="143947"/>
              <a:ext cx="2490248" cy="2607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a:solidFill>
                    <a:srgbClr val="123B54"/>
                  </a:solidFill>
                  <a:latin typeface="Arial"/>
                  <a:ea typeface="Arial"/>
                  <a:cs typeface="Arial"/>
                  <a:sym typeface="Arial"/>
                </a:defRPr>
              </a:lvl1pPr>
            </a:lstStyle>
            <a:p>
              <a:pPr/>
              <a:r>
                <a:t>protons · neutrons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00000" fill="hold"/>
                                        <p:tgtEl>
                                          <p:spTgt spid="28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16" presetID="23" grpId="2" fill="hold">
                                  <p:stCondLst>
                                    <p:cond delay="0"/>
                                  </p:stCondLst>
                                  <p:iterate type="el" backwards="0">
                                    <p:tmAbs val="0"/>
                                  </p:iterate>
                                  <p:childTnLst>
                                    <p:set>
                                      <p:cBhvr>
                                        <p:cTn id="10" fill="hold"/>
                                        <p:tgtEl>
                                          <p:spTgt spid="299"/>
                                        </p:tgtEl>
                                        <p:attrNameLst>
                                          <p:attrName>style.visibility</p:attrName>
                                        </p:attrNameLst>
                                      </p:cBhvr>
                                      <p:to>
                                        <p:strVal val="visible"/>
                                      </p:to>
                                    </p:set>
                                    <p:anim calcmode="lin" valueType="num">
                                      <p:cBhvr>
                                        <p:cTn id="11" dur="400" fill="hold"/>
                                        <p:tgtEl>
                                          <p:spTgt spid="299"/>
                                        </p:tgtEl>
                                        <p:attrNameLst>
                                          <p:attrName>ppt_w</p:attrName>
                                        </p:attrNameLst>
                                      </p:cBhvr>
                                      <p:tavLst>
                                        <p:tav tm="0">
                                          <p:val>
                                            <p:fltVal val="0"/>
                                          </p:val>
                                        </p:tav>
                                        <p:tav tm="100000">
                                          <p:val>
                                            <p:strVal val="#ppt_w"/>
                                          </p:val>
                                        </p:tav>
                                      </p:tavLst>
                                    </p:anim>
                                    <p:anim calcmode="lin" valueType="num">
                                      <p:cBhvr>
                                        <p:cTn id="12" dur="400" fill="hold"/>
                                        <p:tgtEl>
                                          <p:spTgt spid="299"/>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16" presetID="23" grpId="3" fill="hold">
                                  <p:stCondLst>
                                    <p:cond delay="0"/>
                                  </p:stCondLst>
                                  <p:iterate type="el" backwards="0">
                                    <p:tmAbs val="0"/>
                                  </p:iterate>
                                  <p:childTnLst>
                                    <p:set>
                                      <p:cBhvr>
                                        <p:cTn id="16" fill="hold"/>
                                        <p:tgtEl>
                                          <p:spTgt spid="305"/>
                                        </p:tgtEl>
                                        <p:attrNameLst>
                                          <p:attrName>style.visibility</p:attrName>
                                        </p:attrNameLst>
                                      </p:cBhvr>
                                      <p:to>
                                        <p:strVal val="visible"/>
                                      </p:to>
                                    </p:set>
                                    <p:anim calcmode="lin" valueType="num">
                                      <p:cBhvr>
                                        <p:cTn id="17" dur="400" fill="hold"/>
                                        <p:tgtEl>
                                          <p:spTgt spid="305"/>
                                        </p:tgtEl>
                                        <p:attrNameLst>
                                          <p:attrName>ppt_w</p:attrName>
                                        </p:attrNameLst>
                                      </p:cBhvr>
                                      <p:tavLst>
                                        <p:tav tm="0">
                                          <p:val>
                                            <p:fltVal val="0"/>
                                          </p:val>
                                        </p:tav>
                                        <p:tav tm="100000">
                                          <p:val>
                                            <p:strVal val="#ppt_w"/>
                                          </p:val>
                                        </p:tav>
                                      </p:tavLst>
                                    </p:anim>
                                    <p:anim calcmode="lin" valueType="num">
                                      <p:cBhvr>
                                        <p:cTn id="18" dur="400" fill="hold"/>
                                        <p:tgtEl>
                                          <p:spTgt spid="305"/>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16" presetID="23" grpId="4" fill="hold">
                                  <p:stCondLst>
                                    <p:cond delay="0"/>
                                  </p:stCondLst>
                                  <p:iterate type="el" backwards="0">
                                    <p:tmAbs val="0"/>
                                  </p:iterate>
                                  <p:childTnLst>
                                    <p:set>
                                      <p:cBhvr>
                                        <p:cTn id="22" fill="hold"/>
                                        <p:tgtEl>
                                          <p:spTgt spid="312"/>
                                        </p:tgtEl>
                                        <p:attrNameLst>
                                          <p:attrName>style.visibility</p:attrName>
                                        </p:attrNameLst>
                                      </p:cBhvr>
                                      <p:to>
                                        <p:strVal val="visible"/>
                                      </p:to>
                                    </p:set>
                                    <p:anim calcmode="lin" valueType="num">
                                      <p:cBhvr>
                                        <p:cTn id="23" dur="400" fill="hold"/>
                                        <p:tgtEl>
                                          <p:spTgt spid="312"/>
                                        </p:tgtEl>
                                        <p:attrNameLst>
                                          <p:attrName>ppt_w</p:attrName>
                                        </p:attrNameLst>
                                      </p:cBhvr>
                                      <p:tavLst>
                                        <p:tav tm="0">
                                          <p:val>
                                            <p:fltVal val="0"/>
                                          </p:val>
                                        </p:tav>
                                        <p:tav tm="100000">
                                          <p:val>
                                            <p:strVal val="#ppt_w"/>
                                          </p:val>
                                        </p:tav>
                                      </p:tavLst>
                                    </p:anim>
                                    <p:anim calcmode="lin" valueType="num">
                                      <p:cBhvr>
                                        <p:cTn id="24" dur="400" fill="hold"/>
                                        <p:tgtEl>
                                          <p:spTgt spid="31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5" fill="hold" display="0">
                  <p:stCondLst>
                    <p:cond delay="indefinite"/>
                  </p:stCondLst>
                </p:cTn>
                <p:tgtEl>
                  <p:spTgt spid="288"/>
                </p:tgtEl>
              </p:cMediaNode>
            </p:video>
            <p:seq concurrent="1" prevAc="none" nextAc="seek">
              <p:cTn id="26" evtFilter="cancelBubble" nodeType="interactiveSeq" restart="whenNotActive" fill="hold">
                <p:stCondLst>
                  <p:cond delay="0" evt="onClick">
                    <p:tgtEl>
                      <p:spTgt spid="288"/>
                    </p:tgtEl>
                  </p:cond>
                </p:stCondLst>
                <p:endSync delay="0" evt="end">
                  <p:rtn val="all"/>
                </p:endSync>
                <p:childTnLst>
                  <p:par>
                    <p:cTn id="27" fill="hold">
                      <p:stCondLst>
                        <p:cond delay="0"/>
                      </p:stCondLst>
                      <p:childTnLst>
                        <p:par>
                          <p:cTn id="28" fill="hold">
                            <p:stCondLst>
                              <p:cond delay="0"/>
                            </p:stCondLst>
                            <p:childTnLst>
                              <p:par>
                                <p:cTn id="29" presetClass="mediacall" nodeType="clickEffect" presetSubtype="0" presetID="2" fill="hold">
                                  <p:stCondLst>
                                    <p:cond delay="0"/>
                                  </p:stCondLst>
                                  <p:childTnLst>
                                    <p:cmd type="call" cmd="togglePause">
                                      <p:cBhvr>
                                        <p:cTn id="30" dur="1" fill="hold"/>
                                        <p:tgtEl>
                                          <p:spTgt spid="288"/>
                                        </p:tgtEl>
                                      </p:cBhvr>
                                    </p:cmd>
                                  </p:childTnLst>
                                </p:cTn>
                              </p:par>
                            </p:childTnLst>
                          </p:cTn>
                        </p:par>
                      </p:childTnLst>
                    </p:cTn>
                  </p:par>
                </p:childTnLst>
              </p:cTn>
              <p:nextCondLst>
                <p:cond delay="0" evt="onClick">
                  <p:tgtEl>
                    <p:spTgt spid="288"/>
                  </p:tgtEl>
                </p:cond>
              </p:nextCondLst>
            </p:seq>
          </p:childTnLst>
        </p:cTn>
      </p:par>
    </p:tnLst>
    <p:bldLst>
      <p:bldP build="whole" bldLvl="1" animBg="1" rev="0" advAuto="0" spid="312" grpId="4"/>
      <p:bldP build="whole" bldLvl="1" animBg="1" rev="0" advAuto="0" spid="305" grpId="3"/>
      <p:bldP build="whole" bldLvl="1" animBg="1" rev="0" advAuto="0" spid="299" grpId="2"/>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8FA"/>
        </a:solidFill>
      </p:bgPr>
    </p:bg>
    <p:spTree>
      <p:nvGrpSpPr>
        <p:cNvPr id="1" name=""/>
        <p:cNvGrpSpPr/>
        <p:nvPr/>
      </p:nvGrpSpPr>
      <p:grpSpPr>
        <a:xfrm>
          <a:off x="0" y="0"/>
          <a:ext cx="0" cy="0"/>
          <a:chOff x="0" y="0"/>
          <a:chExt cx="0" cy="0"/>
        </a:xfrm>
      </p:grpSpPr>
      <p:pic>
        <p:nvPicPr>
          <p:cNvPr id="316"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319" name="phase_pill"/>
          <p:cNvGrpSpPr/>
          <p:nvPr/>
        </p:nvGrpSpPr>
        <p:grpSpPr>
          <a:xfrm>
            <a:off x="1170432" y="310895"/>
            <a:ext cx="1803197" cy="329185"/>
            <a:chOff x="0" y="0"/>
            <a:chExt cx="1803196" cy="329184"/>
          </a:xfrm>
        </p:grpSpPr>
        <p:sp>
          <p:nvSpPr>
            <p:cNvPr id="317" name="Rounded Rectangle"/>
            <p:cNvSpPr/>
            <p:nvPr/>
          </p:nvSpPr>
          <p:spPr>
            <a:xfrm>
              <a:off x="0" y="0"/>
              <a:ext cx="1803197" cy="329185"/>
            </a:xfrm>
            <a:prstGeom prst="roundRect">
              <a:avLst>
                <a:gd name="adj" fmla="val 44444"/>
              </a:avLst>
            </a:prstGeom>
            <a:solidFill>
              <a:srgbClr val="123B54"/>
            </a:solidFill>
            <a:ln w="12700" cap="flat">
              <a:noFill/>
              <a:miter lim="400000"/>
            </a:ln>
            <a:effectLst/>
          </p:spPr>
          <p:txBody>
            <a:bodyPr wrap="square" lIns="45719" tIns="45719" rIns="45719" bIns="45719" numCol="1" anchor="ctr">
              <a:noAutofit/>
            </a:bodyPr>
            <a:lstStyle/>
            <a:p>
              <a:pPr algn="ctr">
                <a:defRPr sz="1100"/>
              </a:pPr>
            </a:p>
          </p:txBody>
        </p:sp>
        <p:sp>
          <p:nvSpPr>
            <p:cNvPr id="318" name="YOU DO · 9 MIN"/>
            <p:cNvSpPr txBox="1"/>
            <p:nvPr/>
          </p:nvSpPr>
          <p:spPr>
            <a:xfrm>
              <a:off x="42850" y="90677"/>
              <a:ext cx="171749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YOU DO · 9 MIN</a:t>
              </a:r>
            </a:p>
          </p:txBody>
        </p:sp>
      </p:grpSp>
      <p:sp>
        <p:nvSpPr>
          <p:cNvPr id="320"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123B54"/>
                </a:solidFill>
                <a:latin typeface="Georgia"/>
                <a:ea typeface="Georgia"/>
                <a:cs typeface="Georgia"/>
                <a:sym typeface="Georgia"/>
              </a:defRPr>
            </a:lvl1pPr>
          </a:lstStyle>
          <a:p>
            <a:pPr/>
            <a:r>
              <a:t>Your worksheet</a:t>
            </a:r>
          </a:p>
        </p:txBody>
      </p:sp>
      <p:grpSp>
        <p:nvGrpSpPr>
          <p:cNvPr id="326" name="t0"/>
          <p:cNvGrpSpPr/>
          <p:nvPr/>
        </p:nvGrpSpPr>
        <p:grpSpPr>
          <a:xfrm>
            <a:off x="1170432" y="1965960"/>
            <a:ext cx="3307994" cy="2514601"/>
            <a:chOff x="0" y="0"/>
            <a:chExt cx="3307993" cy="2514600"/>
          </a:xfrm>
        </p:grpSpPr>
        <p:sp>
          <p:nvSpPr>
            <p:cNvPr id="321" name="t0_bg"/>
            <p:cNvSpPr/>
            <p:nvPr/>
          </p:nvSpPr>
          <p:spPr>
            <a:xfrm>
              <a:off x="0" y="0"/>
              <a:ext cx="3307994" cy="2514600"/>
            </a:xfrm>
            <a:prstGeom prst="roundRect">
              <a:avLst>
                <a:gd name="adj" fmla="val 4364"/>
              </a:avLst>
            </a:prstGeom>
            <a:solidFill>
              <a:srgbClr val="FFFFFF"/>
            </a:solidFill>
            <a:ln w="16510" cap="flat">
              <a:solidFill>
                <a:srgbClr val="D3E3EB"/>
              </a:solidFill>
              <a:prstDash val="solid"/>
              <a:round/>
            </a:ln>
            <a:effectLst/>
          </p:spPr>
          <p:txBody>
            <a:bodyPr wrap="square" lIns="45719" tIns="45719" rIns="45719" bIns="45719" numCol="1" anchor="t">
              <a:noAutofit/>
            </a:bodyPr>
            <a:lstStyle/>
            <a:p>
              <a:pPr/>
            </a:p>
          </p:txBody>
        </p:sp>
        <p:pic>
          <p:nvPicPr>
            <p:cNvPr id="322" name="t0_img" descr="t0_img"/>
            <p:cNvPicPr>
              <a:picLocks noChangeAspect="1"/>
            </p:cNvPicPr>
            <p:nvPr/>
          </p:nvPicPr>
          <p:blipFill>
            <a:blip r:embed="rId6">
              <a:extLst/>
            </a:blip>
            <a:stretch>
              <a:fillRect/>
            </a:stretch>
          </p:blipFill>
          <p:spPr>
            <a:xfrm>
              <a:off x="274320" y="256031"/>
              <a:ext cx="640080" cy="640081"/>
            </a:xfrm>
            <a:prstGeom prst="rect">
              <a:avLst/>
            </a:prstGeom>
            <a:ln w="12700" cap="flat">
              <a:noFill/>
              <a:miter lim="400000"/>
            </a:ln>
            <a:effectLst/>
          </p:spPr>
        </p:pic>
        <p:sp>
          <p:nvSpPr>
            <p:cNvPr id="323" name="t0_k"/>
            <p:cNvSpPr txBox="1"/>
            <p:nvPr/>
          </p:nvSpPr>
          <p:spPr>
            <a:xfrm>
              <a:off x="2485033" y="274319"/>
              <a:ext cx="548640" cy="457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r">
                <a:defRPr b="1" sz="3200">
                  <a:solidFill>
                    <a:srgbClr val="A9741A"/>
                  </a:solidFill>
                  <a:latin typeface="Georgia"/>
                  <a:ea typeface="Georgia"/>
                  <a:cs typeface="Georgia"/>
                  <a:sym typeface="Georgia"/>
                </a:defRPr>
              </a:lvl1pPr>
            </a:lstStyle>
            <a:p>
              <a:pPr/>
              <a:r>
                <a:t>A</a:t>
              </a:r>
            </a:p>
          </p:txBody>
        </p:sp>
        <p:sp>
          <p:nvSpPr>
            <p:cNvPr id="324" name="t0_h"/>
            <p:cNvSpPr txBox="1"/>
            <p:nvPr/>
          </p:nvSpPr>
          <p:spPr>
            <a:xfrm>
              <a:off x="274319" y="1127759"/>
              <a:ext cx="2759355" cy="304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100">
                  <a:solidFill>
                    <a:srgbClr val="123B54"/>
                  </a:solidFill>
                  <a:latin typeface="Georgia"/>
                  <a:ea typeface="Georgia"/>
                  <a:cs typeface="Georgia"/>
                  <a:sym typeface="Georgia"/>
                </a:defRPr>
              </a:lvl1pPr>
            </a:lstStyle>
            <a:p>
              <a:pPr/>
              <a:r>
                <a:t>Look and write.</a:t>
              </a:r>
            </a:p>
          </p:txBody>
        </p:sp>
        <p:sp>
          <p:nvSpPr>
            <p:cNvPr id="325" name="t0_b"/>
            <p:cNvSpPr txBox="1"/>
            <p:nvPr/>
          </p:nvSpPr>
          <p:spPr>
            <a:xfrm>
              <a:off x="274319" y="1536191"/>
              <a:ext cx="2759355" cy="2334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sz="1500">
                  <a:solidFill>
                    <a:srgbClr val="5B7484"/>
                  </a:solidFill>
                  <a:latin typeface="Arial"/>
                  <a:ea typeface="Arial"/>
                  <a:cs typeface="Arial"/>
                  <a:sym typeface="Arial"/>
                </a:defRPr>
              </a:lvl1pPr>
            </a:lstStyle>
            <a:p>
              <a:pPr/>
              <a:r>
                <a:t>Write the word for each picture.</a:t>
              </a:r>
            </a:p>
          </p:txBody>
        </p:sp>
      </p:grpSp>
      <p:grpSp>
        <p:nvGrpSpPr>
          <p:cNvPr id="332" name="t1"/>
          <p:cNvGrpSpPr/>
          <p:nvPr/>
        </p:nvGrpSpPr>
        <p:grpSpPr>
          <a:xfrm>
            <a:off x="4752745" y="1965960"/>
            <a:ext cx="3307995" cy="2514601"/>
            <a:chOff x="0" y="0"/>
            <a:chExt cx="3307993" cy="2514600"/>
          </a:xfrm>
        </p:grpSpPr>
        <p:sp>
          <p:nvSpPr>
            <p:cNvPr id="327" name="t1_bg"/>
            <p:cNvSpPr/>
            <p:nvPr/>
          </p:nvSpPr>
          <p:spPr>
            <a:xfrm>
              <a:off x="0" y="0"/>
              <a:ext cx="3307994" cy="2514600"/>
            </a:xfrm>
            <a:prstGeom prst="roundRect">
              <a:avLst>
                <a:gd name="adj" fmla="val 4364"/>
              </a:avLst>
            </a:prstGeom>
            <a:solidFill>
              <a:srgbClr val="FFFFFF"/>
            </a:solidFill>
            <a:ln w="16510" cap="flat">
              <a:solidFill>
                <a:srgbClr val="D3E3EB"/>
              </a:solidFill>
              <a:prstDash val="solid"/>
              <a:round/>
            </a:ln>
            <a:effectLst/>
          </p:spPr>
          <p:txBody>
            <a:bodyPr wrap="square" lIns="45719" tIns="45719" rIns="45719" bIns="45719" numCol="1" anchor="t">
              <a:noAutofit/>
            </a:bodyPr>
            <a:lstStyle/>
            <a:p>
              <a:pPr/>
            </a:p>
          </p:txBody>
        </p:sp>
        <p:pic>
          <p:nvPicPr>
            <p:cNvPr id="328" name="t1_img" descr="t1_img"/>
            <p:cNvPicPr>
              <a:picLocks noChangeAspect="1"/>
            </p:cNvPicPr>
            <p:nvPr/>
          </p:nvPicPr>
          <p:blipFill>
            <a:blip r:embed="rId7">
              <a:extLst/>
            </a:blip>
            <a:stretch>
              <a:fillRect/>
            </a:stretch>
          </p:blipFill>
          <p:spPr>
            <a:xfrm>
              <a:off x="274320" y="256031"/>
              <a:ext cx="640080" cy="640081"/>
            </a:xfrm>
            <a:prstGeom prst="rect">
              <a:avLst/>
            </a:prstGeom>
            <a:ln w="12700" cap="flat">
              <a:noFill/>
              <a:miter lim="400000"/>
            </a:ln>
            <a:effectLst/>
          </p:spPr>
        </p:pic>
        <p:sp>
          <p:nvSpPr>
            <p:cNvPr id="329" name="t1_k"/>
            <p:cNvSpPr txBox="1"/>
            <p:nvPr/>
          </p:nvSpPr>
          <p:spPr>
            <a:xfrm>
              <a:off x="2485034" y="274319"/>
              <a:ext cx="548640" cy="457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r">
                <a:defRPr b="1" sz="3200">
                  <a:solidFill>
                    <a:srgbClr val="A9741A"/>
                  </a:solidFill>
                  <a:latin typeface="Georgia"/>
                  <a:ea typeface="Georgia"/>
                  <a:cs typeface="Georgia"/>
                  <a:sym typeface="Georgia"/>
                </a:defRPr>
              </a:lvl1pPr>
            </a:lstStyle>
            <a:p>
              <a:pPr/>
              <a:r>
                <a:t>B</a:t>
              </a:r>
            </a:p>
          </p:txBody>
        </p:sp>
        <p:sp>
          <p:nvSpPr>
            <p:cNvPr id="330" name="t1_h"/>
            <p:cNvSpPr txBox="1"/>
            <p:nvPr/>
          </p:nvSpPr>
          <p:spPr>
            <a:xfrm>
              <a:off x="274319" y="1127759"/>
              <a:ext cx="2759355" cy="304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100">
                  <a:solidFill>
                    <a:srgbClr val="123B54"/>
                  </a:solidFill>
                  <a:latin typeface="Georgia"/>
                  <a:ea typeface="Georgia"/>
                  <a:cs typeface="Georgia"/>
                  <a:sym typeface="Georgia"/>
                </a:defRPr>
              </a:lvl1pPr>
            </a:lstStyle>
            <a:p>
              <a:pPr/>
              <a:r>
                <a:t>Draw and label.</a:t>
              </a:r>
            </a:p>
          </p:txBody>
        </p:sp>
        <p:sp>
          <p:nvSpPr>
            <p:cNvPr id="331" name="t1_b"/>
            <p:cNvSpPr txBox="1"/>
            <p:nvPr/>
          </p:nvSpPr>
          <p:spPr>
            <a:xfrm>
              <a:off x="274319" y="1536191"/>
              <a:ext cx="2759355" cy="4747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sz="1500">
                  <a:solidFill>
                    <a:srgbClr val="5B7484"/>
                  </a:solidFill>
                  <a:latin typeface="Arial"/>
                  <a:ea typeface="Arial"/>
                  <a:cs typeface="Arial"/>
                  <a:sym typeface="Arial"/>
                </a:defRPr>
              </a:lvl1pPr>
            </a:lstStyle>
            <a:p>
              <a:pPr/>
              <a:r>
                <a:t>Draw an atom. Label the centre and the outside.</a:t>
              </a:r>
            </a:p>
          </p:txBody>
        </p:sp>
      </p:grpSp>
      <p:grpSp>
        <p:nvGrpSpPr>
          <p:cNvPr id="338" name="t2"/>
          <p:cNvGrpSpPr/>
          <p:nvPr/>
        </p:nvGrpSpPr>
        <p:grpSpPr>
          <a:xfrm>
            <a:off x="8335061" y="1965960"/>
            <a:ext cx="3307994" cy="2514601"/>
            <a:chOff x="0" y="0"/>
            <a:chExt cx="3307993" cy="2514600"/>
          </a:xfrm>
        </p:grpSpPr>
        <p:sp>
          <p:nvSpPr>
            <p:cNvPr id="333" name="t2_bg"/>
            <p:cNvSpPr/>
            <p:nvPr/>
          </p:nvSpPr>
          <p:spPr>
            <a:xfrm>
              <a:off x="0" y="0"/>
              <a:ext cx="3307994" cy="2514600"/>
            </a:xfrm>
            <a:prstGeom prst="roundRect">
              <a:avLst>
                <a:gd name="adj" fmla="val 4364"/>
              </a:avLst>
            </a:prstGeom>
            <a:solidFill>
              <a:srgbClr val="FFFFFF"/>
            </a:solidFill>
            <a:ln w="16510" cap="flat">
              <a:solidFill>
                <a:srgbClr val="D3E3EB"/>
              </a:solidFill>
              <a:prstDash val="solid"/>
              <a:round/>
            </a:ln>
            <a:effectLst/>
          </p:spPr>
          <p:txBody>
            <a:bodyPr wrap="square" lIns="45719" tIns="45719" rIns="45719" bIns="45719" numCol="1" anchor="t">
              <a:noAutofit/>
            </a:bodyPr>
            <a:lstStyle/>
            <a:p>
              <a:pPr/>
            </a:p>
          </p:txBody>
        </p:sp>
        <p:pic>
          <p:nvPicPr>
            <p:cNvPr id="334" name="t2_img" descr="t2_img"/>
            <p:cNvPicPr>
              <a:picLocks noChangeAspect="1"/>
            </p:cNvPicPr>
            <p:nvPr/>
          </p:nvPicPr>
          <p:blipFill>
            <a:blip r:embed="rId8">
              <a:extLst/>
            </a:blip>
            <a:stretch>
              <a:fillRect/>
            </a:stretch>
          </p:blipFill>
          <p:spPr>
            <a:xfrm>
              <a:off x="274320" y="256031"/>
              <a:ext cx="640080" cy="640081"/>
            </a:xfrm>
            <a:prstGeom prst="rect">
              <a:avLst/>
            </a:prstGeom>
            <a:ln w="12700" cap="flat">
              <a:noFill/>
              <a:miter lim="400000"/>
            </a:ln>
            <a:effectLst/>
          </p:spPr>
        </p:pic>
        <p:sp>
          <p:nvSpPr>
            <p:cNvPr id="335" name="t2_k"/>
            <p:cNvSpPr txBox="1"/>
            <p:nvPr/>
          </p:nvSpPr>
          <p:spPr>
            <a:xfrm>
              <a:off x="2485033" y="274319"/>
              <a:ext cx="548640" cy="457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r">
                <a:defRPr b="1" sz="3200">
                  <a:solidFill>
                    <a:srgbClr val="A9741A"/>
                  </a:solidFill>
                  <a:latin typeface="Georgia"/>
                  <a:ea typeface="Georgia"/>
                  <a:cs typeface="Georgia"/>
                  <a:sym typeface="Georgia"/>
                </a:defRPr>
              </a:lvl1pPr>
            </a:lstStyle>
            <a:p>
              <a:pPr/>
              <a:r>
                <a:t>C</a:t>
              </a:r>
            </a:p>
          </p:txBody>
        </p:sp>
        <p:sp>
          <p:nvSpPr>
            <p:cNvPr id="336" name="t2_h"/>
            <p:cNvSpPr txBox="1"/>
            <p:nvPr/>
          </p:nvSpPr>
          <p:spPr>
            <a:xfrm>
              <a:off x="274319" y="975359"/>
              <a:ext cx="2759355" cy="609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100">
                  <a:solidFill>
                    <a:srgbClr val="123B54"/>
                  </a:solidFill>
                  <a:latin typeface="Georgia"/>
                  <a:ea typeface="Georgia"/>
                  <a:cs typeface="Georgia"/>
                  <a:sym typeface="Georgia"/>
                </a:defRPr>
              </a:lvl1pPr>
            </a:lstStyle>
            <a:p>
              <a:pPr/>
              <a:r>
                <a:t>Write the sentences.</a:t>
              </a:r>
            </a:p>
          </p:txBody>
        </p:sp>
        <p:sp>
          <p:nvSpPr>
            <p:cNvPr id="337" name="t2_b"/>
            <p:cNvSpPr txBox="1"/>
            <p:nvPr/>
          </p:nvSpPr>
          <p:spPr>
            <a:xfrm>
              <a:off x="274319" y="1536191"/>
              <a:ext cx="2759355" cy="4747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sz="1500">
                  <a:solidFill>
                    <a:srgbClr val="5B7484"/>
                  </a:solidFill>
                  <a:latin typeface="Arial"/>
                  <a:ea typeface="Arial"/>
                  <a:cs typeface="Arial"/>
                  <a:sym typeface="Arial"/>
                </a:defRPr>
              </a:lvl1pPr>
            </a:lstStyle>
            <a:p>
              <a:pPr/>
              <a:r>
                <a:t>Use the picture. Use the word bank.</a:t>
              </a:r>
            </a:p>
          </p:txBody>
        </p:sp>
      </p:grpSp>
      <p:sp>
        <p:nvSpPr>
          <p:cNvPr id="339" name="wb_label"/>
          <p:cNvSpPr txBox="1"/>
          <p:nvPr/>
        </p:nvSpPr>
        <p:spPr>
          <a:xfrm>
            <a:off x="1170432" y="4817778"/>
            <a:ext cx="164592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300">
                <a:solidFill>
                  <a:srgbClr val="06A77D"/>
                </a:solidFill>
                <a:latin typeface="Arial"/>
                <a:ea typeface="Arial"/>
                <a:cs typeface="Arial"/>
                <a:sym typeface="Arial"/>
              </a:defRPr>
            </a:lvl1pPr>
          </a:lstStyle>
          <a:p>
            <a:pPr/>
            <a:r>
              <a:t>Word bank</a:t>
            </a:r>
          </a:p>
        </p:txBody>
      </p:sp>
      <p:sp>
        <p:nvSpPr>
          <p:cNvPr id="340" name="wb_words"/>
          <p:cNvSpPr txBox="1"/>
          <p:nvPr/>
        </p:nvSpPr>
        <p:spPr>
          <a:xfrm>
            <a:off x="2816351" y="4799352"/>
            <a:ext cx="8826704"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0E2A3B"/>
                </a:solidFill>
                <a:latin typeface="Arial"/>
                <a:ea typeface="Arial"/>
                <a:cs typeface="Arial"/>
                <a:sym typeface="Arial"/>
              </a:defRPr>
            </a:lvl1pPr>
          </a:lstStyle>
          <a:p>
            <a:pPr/>
            <a:r>
              <a:t>atom · matter · tiny · part · nucleus · centre · electron · outside · proton · neutron</a:t>
            </a:r>
          </a:p>
        </p:txBody>
      </p:sp>
      <p:grpSp>
        <p:nvGrpSpPr>
          <p:cNvPr id="343" name="yd_banner"/>
          <p:cNvGrpSpPr/>
          <p:nvPr/>
        </p:nvGrpSpPr>
        <p:grpSpPr>
          <a:xfrm>
            <a:off x="1170432" y="5321808"/>
            <a:ext cx="10472623" cy="685801"/>
            <a:chOff x="0" y="0"/>
            <a:chExt cx="10472622" cy="685800"/>
          </a:xfrm>
        </p:grpSpPr>
        <p:sp>
          <p:nvSpPr>
            <p:cNvPr id="341" name="Rounded Rectangle"/>
            <p:cNvSpPr/>
            <p:nvPr/>
          </p:nvSpPr>
          <p:spPr>
            <a:xfrm>
              <a:off x="0" y="0"/>
              <a:ext cx="10472623" cy="685800"/>
            </a:xfrm>
            <a:prstGeom prst="roundRect">
              <a:avLst>
                <a:gd name="adj" fmla="val 16000"/>
              </a:avLst>
            </a:prstGeom>
            <a:solidFill>
              <a:srgbClr val="123B54"/>
            </a:solidFill>
            <a:ln w="9525" cap="flat">
              <a:solidFill>
                <a:srgbClr val="123B54"/>
              </a:solidFill>
              <a:prstDash val="solid"/>
              <a:round/>
            </a:ln>
            <a:effectLst/>
          </p:spPr>
          <p:txBody>
            <a:bodyPr wrap="square" lIns="45719" tIns="45719" rIns="45719" bIns="45719" numCol="1" anchor="ctr">
              <a:noAutofit/>
            </a:bodyPr>
            <a:lstStyle/>
            <a:p>
              <a:pPr algn="ctr">
                <a:defRPr sz="1900"/>
              </a:pPr>
            </a:p>
          </p:txBody>
        </p:sp>
        <p:sp>
          <p:nvSpPr>
            <p:cNvPr id="342" name="Point first. Then say the whole sentence."/>
            <p:cNvSpPr txBox="1"/>
            <p:nvPr/>
          </p:nvSpPr>
          <p:spPr>
            <a:xfrm>
              <a:off x="36900" y="207147"/>
              <a:ext cx="10398823" cy="27150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900">
                  <a:solidFill>
                    <a:srgbClr val="FFD166"/>
                  </a:solidFill>
                  <a:latin typeface="Arial"/>
                  <a:ea typeface="Arial"/>
                  <a:cs typeface="Arial"/>
                  <a:sym typeface="Arial"/>
                </a:defRPr>
              </a:lvl1pPr>
            </a:lstStyle>
            <a:p>
              <a:pPr/>
              <a:r>
                <a:t>Point first. Then say the whole sentence.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540000" fill="hold"/>
                                        <p:tgtEl>
                                          <p:spTgt spid="316"/>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326"/>
                                        </p:tgtEl>
                                        <p:attrNameLst>
                                          <p:attrName>style.visibility</p:attrName>
                                        </p:attrNameLst>
                                      </p:cBhvr>
                                      <p:to>
                                        <p:strVal val="visible"/>
                                      </p:to>
                                    </p:set>
                                    <p:animEffect filter="fade" transition="in">
                                      <p:cBhvr>
                                        <p:cTn id="11" dur="400"/>
                                        <p:tgtEl>
                                          <p:spTgt spid="326"/>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332"/>
                                        </p:tgtEl>
                                        <p:attrNameLst>
                                          <p:attrName>style.visibility</p:attrName>
                                        </p:attrNameLst>
                                      </p:cBhvr>
                                      <p:to>
                                        <p:strVal val="visible"/>
                                      </p:to>
                                    </p:set>
                                    <p:animEffect filter="fade" transition="in">
                                      <p:cBhvr>
                                        <p:cTn id="16" dur="400"/>
                                        <p:tgtEl>
                                          <p:spTgt spid="332"/>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338"/>
                                        </p:tgtEl>
                                        <p:attrNameLst>
                                          <p:attrName>style.visibility</p:attrName>
                                        </p:attrNameLst>
                                      </p:cBhvr>
                                      <p:to>
                                        <p:strVal val="visible"/>
                                      </p:to>
                                    </p:set>
                                    <p:animEffect filter="fade" transition="in">
                                      <p:cBhvr>
                                        <p:cTn id="21" dur="400"/>
                                        <p:tgtEl>
                                          <p:spTgt spid="338"/>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16" presetID="23" grpId="5" fill="hold">
                                  <p:stCondLst>
                                    <p:cond delay="0"/>
                                  </p:stCondLst>
                                  <p:iterate type="el" backwards="0">
                                    <p:tmAbs val="0"/>
                                  </p:iterate>
                                  <p:childTnLst>
                                    <p:set>
                                      <p:cBhvr>
                                        <p:cTn id="25" fill="hold"/>
                                        <p:tgtEl>
                                          <p:spTgt spid="343"/>
                                        </p:tgtEl>
                                        <p:attrNameLst>
                                          <p:attrName>style.visibility</p:attrName>
                                        </p:attrNameLst>
                                      </p:cBhvr>
                                      <p:to>
                                        <p:strVal val="visible"/>
                                      </p:to>
                                    </p:set>
                                    <p:anim calcmode="lin" valueType="num">
                                      <p:cBhvr>
                                        <p:cTn id="26" dur="400" fill="hold"/>
                                        <p:tgtEl>
                                          <p:spTgt spid="343"/>
                                        </p:tgtEl>
                                        <p:attrNameLst>
                                          <p:attrName>ppt_w</p:attrName>
                                        </p:attrNameLst>
                                      </p:cBhvr>
                                      <p:tavLst>
                                        <p:tav tm="0">
                                          <p:val>
                                            <p:fltVal val="0"/>
                                          </p:val>
                                        </p:tav>
                                        <p:tav tm="100000">
                                          <p:val>
                                            <p:strVal val="#ppt_w"/>
                                          </p:val>
                                        </p:tav>
                                      </p:tavLst>
                                    </p:anim>
                                    <p:anim calcmode="lin" valueType="num">
                                      <p:cBhvr>
                                        <p:cTn id="27" dur="400" fill="hold"/>
                                        <p:tgtEl>
                                          <p:spTgt spid="34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8" fill="hold" display="0">
                  <p:stCondLst>
                    <p:cond delay="indefinite"/>
                  </p:stCondLst>
                </p:cTn>
                <p:tgtEl>
                  <p:spTgt spid="316"/>
                </p:tgtEl>
              </p:cMediaNode>
            </p:video>
            <p:seq concurrent="1" prevAc="none" nextAc="seek">
              <p:cTn id="29" evtFilter="cancelBubble" nodeType="interactiveSeq" restart="whenNotActive" fill="hold">
                <p:stCondLst>
                  <p:cond delay="0" evt="onClick">
                    <p:tgtEl>
                      <p:spTgt spid="316"/>
                    </p:tgtEl>
                  </p:cond>
                </p:stCondLst>
                <p:endSync delay="0" evt="end">
                  <p:rtn val="all"/>
                </p:endSync>
                <p:childTnLst>
                  <p:par>
                    <p:cTn id="30" fill="hold">
                      <p:stCondLst>
                        <p:cond delay="0"/>
                      </p:stCondLst>
                      <p:childTnLst>
                        <p:par>
                          <p:cTn id="31" fill="hold">
                            <p:stCondLst>
                              <p:cond delay="0"/>
                            </p:stCondLst>
                            <p:childTnLst>
                              <p:par>
                                <p:cTn id="32" presetClass="mediacall" nodeType="clickEffect" presetSubtype="0" presetID="2" fill="hold">
                                  <p:stCondLst>
                                    <p:cond delay="0"/>
                                  </p:stCondLst>
                                  <p:childTnLst>
                                    <p:cmd type="call" cmd="togglePause">
                                      <p:cBhvr>
                                        <p:cTn id="33" dur="1" fill="hold"/>
                                        <p:tgtEl>
                                          <p:spTgt spid="316"/>
                                        </p:tgtEl>
                                      </p:cBhvr>
                                    </p:cmd>
                                  </p:childTnLst>
                                </p:cTn>
                              </p:par>
                            </p:childTnLst>
                          </p:cTn>
                        </p:par>
                      </p:childTnLst>
                    </p:cTn>
                  </p:par>
                </p:childTnLst>
              </p:cTn>
              <p:nextCondLst>
                <p:cond delay="0" evt="onClick">
                  <p:tgtEl>
                    <p:spTgt spid="316"/>
                  </p:tgtEl>
                </p:cond>
              </p:nextCondLst>
            </p:seq>
          </p:childTnLst>
        </p:cTn>
      </p:par>
    </p:tnLst>
    <p:bldLst>
      <p:bldP build="whole" bldLvl="1" animBg="1" rev="0" advAuto="0" spid="326" grpId="2"/>
      <p:bldP build="whole" bldLvl="1" animBg="1" rev="0" advAuto="0" spid="343" grpId="5"/>
      <p:bldP build="whole" bldLvl="1" animBg="1" rev="0" advAuto="0" spid="332" grpId="3"/>
      <p:bldP build="whole" bldLvl="1" animBg="1" rev="0" advAuto="0" spid="338" grpId="4"/>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23B54"/>
        </a:solidFill>
      </p:bgPr>
    </p:bg>
    <p:spTree>
      <p:nvGrpSpPr>
        <p:cNvPr id="1" name=""/>
        <p:cNvGrpSpPr/>
        <p:nvPr/>
      </p:nvGrpSpPr>
      <p:grpSpPr>
        <a:xfrm>
          <a:off x="0" y="0"/>
          <a:ext cx="0" cy="0"/>
          <a:chOff x="0" y="0"/>
          <a:chExt cx="0" cy="0"/>
        </a:xfrm>
      </p:grpSpPr>
      <p:pic>
        <p:nvPicPr>
          <p:cNvPr id="347"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350" name="phase_pill"/>
          <p:cNvGrpSpPr/>
          <p:nvPr/>
        </p:nvGrpSpPr>
        <p:grpSpPr>
          <a:xfrm>
            <a:off x="1170432" y="310895"/>
            <a:ext cx="1982419" cy="329185"/>
            <a:chOff x="0" y="0"/>
            <a:chExt cx="1982418" cy="329184"/>
          </a:xfrm>
        </p:grpSpPr>
        <p:sp>
          <p:nvSpPr>
            <p:cNvPr id="348" name="Rounded Rectangle"/>
            <p:cNvSpPr/>
            <p:nvPr/>
          </p:nvSpPr>
          <p:spPr>
            <a:xfrm>
              <a:off x="0" y="0"/>
              <a:ext cx="1982419" cy="329185"/>
            </a:xfrm>
            <a:prstGeom prst="roundRect">
              <a:avLst>
                <a:gd name="adj" fmla="val 44444"/>
              </a:avLst>
            </a:prstGeom>
            <a:solidFill>
              <a:srgbClr val="FFD166"/>
            </a:solidFill>
            <a:ln w="12700" cap="flat">
              <a:noFill/>
              <a:miter lim="400000"/>
            </a:ln>
            <a:effectLst/>
          </p:spPr>
          <p:txBody>
            <a:bodyPr wrap="square" lIns="45719" tIns="45719" rIns="45719" bIns="45719" numCol="1" anchor="ctr">
              <a:noAutofit/>
            </a:bodyPr>
            <a:lstStyle/>
            <a:p>
              <a:pPr algn="ctr">
                <a:defRPr sz="1100"/>
              </a:pPr>
            </a:p>
          </p:txBody>
        </p:sp>
        <p:sp>
          <p:nvSpPr>
            <p:cNvPr id="349" name="TOGETHER · 3 MIN"/>
            <p:cNvSpPr txBox="1"/>
            <p:nvPr/>
          </p:nvSpPr>
          <p:spPr>
            <a:xfrm>
              <a:off x="42850" y="90677"/>
              <a:ext cx="1896718"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123B54"/>
                  </a:solidFill>
                  <a:latin typeface="Arial"/>
                  <a:ea typeface="Arial"/>
                  <a:cs typeface="Arial"/>
                  <a:sym typeface="Arial"/>
                </a:defRPr>
              </a:lvl1pPr>
            </a:lstStyle>
            <a:p>
              <a:pPr/>
              <a:r>
                <a:t>TOGETHER · 3 MIN</a:t>
              </a:r>
            </a:p>
          </p:txBody>
        </p:sp>
      </p:grpSp>
      <p:sp>
        <p:nvSpPr>
          <p:cNvPr id="351" name="slide_title"/>
          <p:cNvSpPr txBox="1"/>
          <p:nvPr/>
        </p:nvSpPr>
        <p:spPr>
          <a:xfrm>
            <a:off x="1170432" y="978407"/>
            <a:ext cx="1047262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F4F8FA"/>
                </a:solidFill>
                <a:latin typeface="Georgia"/>
                <a:ea typeface="Georgia"/>
                <a:cs typeface="Georgia"/>
                <a:sym typeface="Georgia"/>
              </a:defRPr>
            </a:lvl1pPr>
          </a:lstStyle>
          <a:p>
            <a:pPr/>
            <a:r>
              <a:t>Say it together</a:t>
            </a:r>
          </a:p>
        </p:txBody>
      </p:sp>
      <p:sp>
        <p:nvSpPr>
          <p:cNvPr id="352" name="tg_sentence"/>
          <p:cNvSpPr txBox="1"/>
          <p:nvPr/>
        </p:nvSpPr>
        <p:spPr>
          <a:xfrm>
            <a:off x="1170432" y="1675637"/>
            <a:ext cx="10472623"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D166"/>
                </a:solidFill>
                <a:latin typeface="Georgia"/>
                <a:ea typeface="Georgia"/>
                <a:cs typeface="Georgia"/>
                <a:sym typeface="Georgia"/>
              </a:defRPr>
            </a:lvl1pPr>
          </a:lstStyle>
          <a:p>
            <a:pPr/>
            <a:r>
              <a:t>An atom is a tiny part of matter.</a:t>
            </a:r>
          </a:p>
        </p:txBody>
      </p:sp>
      <p:sp>
        <p:nvSpPr>
          <p:cNvPr id="353" name="tl0_bg"/>
          <p:cNvSpPr/>
          <p:nvPr/>
        </p:nvSpPr>
        <p:spPr>
          <a:xfrm>
            <a:off x="1170432" y="2331720"/>
            <a:ext cx="1948222" cy="1828801"/>
          </a:xfrm>
          <a:prstGeom prst="roundRect">
            <a:avLst>
              <a:gd name="adj" fmla="val 6000"/>
            </a:avLst>
          </a:prstGeom>
          <a:solidFill>
            <a:srgbClr val="FFFFFF"/>
          </a:solidFill>
          <a:ln w="16510">
            <a:solidFill>
              <a:srgbClr val="2D5F7C"/>
            </a:solidFill>
          </a:ln>
        </p:spPr>
        <p:txBody>
          <a:bodyPr lIns="45719" rIns="45719"/>
          <a:lstStyle/>
          <a:p>
            <a:pPr/>
          </a:p>
        </p:txBody>
      </p:sp>
      <p:pic>
        <p:nvPicPr>
          <p:cNvPr id="354" name="tl0_img" descr="tl0_img"/>
          <p:cNvPicPr>
            <a:picLocks noChangeAspect="1"/>
          </p:cNvPicPr>
          <p:nvPr/>
        </p:nvPicPr>
        <p:blipFill>
          <a:blip r:embed="rId6">
            <a:extLst/>
          </a:blip>
          <a:stretch>
            <a:fillRect/>
          </a:stretch>
        </p:blipFill>
        <p:spPr>
          <a:xfrm>
            <a:off x="1710202" y="2496311"/>
            <a:ext cx="868681" cy="868681"/>
          </a:xfrm>
          <a:prstGeom prst="rect">
            <a:avLst/>
          </a:prstGeom>
          <a:ln w="12700">
            <a:miter lim="400000"/>
          </a:ln>
        </p:spPr>
      </p:pic>
      <p:grpSp>
        <p:nvGrpSpPr>
          <p:cNvPr id="357" name="tw0"/>
          <p:cNvGrpSpPr/>
          <p:nvPr/>
        </p:nvGrpSpPr>
        <p:grpSpPr>
          <a:xfrm>
            <a:off x="1216152" y="3495040"/>
            <a:ext cx="1856782" cy="628905"/>
            <a:chOff x="0" y="0"/>
            <a:chExt cx="1856781" cy="628904"/>
          </a:xfrm>
        </p:grpSpPr>
        <p:sp>
          <p:nvSpPr>
            <p:cNvPr id="355" name="tl0_w"/>
            <p:cNvSpPr txBox="1"/>
            <p:nvPr/>
          </p:nvSpPr>
          <p:spPr>
            <a:xfrm>
              <a:off x="0" y="0"/>
              <a:ext cx="1856782" cy="2794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123B54"/>
                  </a:solidFill>
                  <a:latin typeface="Georgia"/>
                  <a:ea typeface="Georgia"/>
                  <a:cs typeface="Georgia"/>
                  <a:sym typeface="Georgia"/>
                </a:defRPr>
              </a:lvl1pPr>
            </a:lstStyle>
            <a:p>
              <a:pPr/>
              <a:r>
                <a:t>atom</a:t>
              </a:r>
            </a:p>
          </p:txBody>
        </p:sp>
        <p:pic>
          <p:nvPicPr>
            <p:cNvPr id="356" name="tl0_tick" descr="tl0_tick"/>
            <p:cNvPicPr>
              <a:picLocks noChangeAspect="1"/>
            </p:cNvPicPr>
            <p:nvPr/>
          </p:nvPicPr>
          <p:blipFill>
            <a:blip r:embed="rId7">
              <a:extLst/>
            </a:blip>
            <a:stretch>
              <a:fillRect/>
            </a:stretch>
          </p:blipFill>
          <p:spPr>
            <a:xfrm>
              <a:off x="782086" y="354584"/>
              <a:ext cx="274321" cy="274321"/>
            </a:xfrm>
            <a:prstGeom prst="rect">
              <a:avLst/>
            </a:prstGeom>
            <a:ln w="12700" cap="flat">
              <a:noFill/>
              <a:miter lim="400000"/>
            </a:ln>
            <a:effectLst/>
          </p:spPr>
        </p:pic>
      </p:grpSp>
      <p:sp>
        <p:nvSpPr>
          <p:cNvPr id="358" name="tl1_bg"/>
          <p:cNvSpPr/>
          <p:nvPr/>
        </p:nvSpPr>
        <p:spPr>
          <a:xfrm>
            <a:off x="3301532" y="2331720"/>
            <a:ext cx="1948222" cy="1828801"/>
          </a:xfrm>
          <a:prstGeom prst="roundRect">
            <a:avLst>
              <a:gd name="adj" fmla="val 6000"/>
            </a:avLst>
          </a:prstGeom>
          <a:solidFill>
            <a:srgbClr val="FFFFFF"/>
          </a:solidFill>
          <a:ln w="16510">
            <a:solidFill>
              <a:srgbClr val="2D5F7C"/>
            </a:solidFill>
          </a:ln>
        </p:spPr>
        <p:txBody>
          <a:bodyPr lIns="45719" rIns="45719"/>
          <a:lstStyle/>
          <a:p>
            <a:pPr/>
          </a:p>
        </p:txBody>
      </p:sp>
      <p:pic>
        <p:nvPicPr>
          <p:cNvPr id="359" name="tl1_img" descr="tl1_img"/>
          <p:cNvPicPr>
            <a:picLocks noChangeAspect="1"/>
          </p:cNvPicPr>
          <p:nvPr/>
        </p:nvPicPr>
        <p:blipFill>
          <a:blip r:embed="rId8">
            <a:extLst/>
          </a:blip>
          <a:stretch>
            <a:fillRect/>
          </a:stretch>
        </p:blipFill>
        <p:spPr>
          <a:xfrm>
            <a:off x="3841303" y="2496311"/>
            <a:ext cx="868681" cy="868681"/>
          </a:xfrm>
          <a:prstGeom prst="rect">
            <a:avLst/>
          </a:prstGeom>
          <a:ln w="12700">
            <a:miter lim="400000"/>
          </a:ln>
        </p:spPr>
      </p:pic>
      <p:grpSp>
        <p:nvGrpSpPr>
          <p:cNvPr id="362" name="tw1"/>
          <p:cNvGrpSpPr/>
          <p:nvPr/>
        </p:nvGrpSpPr>
        <p:grpSpPr>
          <a:xfrm>
            <a:off x="3347253" y="3495040"/>
            <a:ext cx="1856782" cy="628905"/>
            <a:chOff x="0" y="0"/>
            <a:chExt cx="1856781" cy="628904"/>
          </a:xfrm>
        </p:grpSpPr>
        <p:sp>
          <p:nvSpPr>
            <p:cNvPr id="360" name="tl1_w"/>
            <p:cNvSpPr txBox="1"/>
            <p:nvPr/>
          </p:nvSpPr>
          <p:spPr>
            <a:xfrm>
              <a:off x="0" y="0"/>
              <a:ext cx="1856782" cy="2794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123B54"/>
                  </a:solidFill>
                  <a:latin typeface="Georgia"/>
                  <a:ea typeface="Georgia"/>
                  <a:cs typeface="Georgia"/>
                  <a:sym typeface="Georgia"/>
                </a:defRPr>
              </a:lvl1pPr>
            </a:lstStyle>
            <a:p>
              <a:pPr/>
              <a:r>
                <a:t>matter</a:t>
              </a:r>
            </a:p>
          </p:txBody>
        </p:sp>
        <p:pic>
          <p:nvPicPr>
            <p:cNvPr id="361" name="tl1_tick" descr="tl1_tick"/>
            <p:cNvPicPr>
              <a:picLocks noChangeAspect="1"/>
            </p:cNvPicPr>
            <p:nvPr/>
          </p:nvPicPr>
          <p:blipFill>
            <a:blip r:embed="rId7">
              <a:extLst/>
            </a:blip>
            <a:stretch>
              <a:fillRect/>
            </a:stretch>
          </p:blipFill>
          <p:spPr>
            <a:xfrm>
              <a:off x="782086" y="354584"/>
              <a:ext cx="274321" cy="274321"/>
            </a:xfrm>
            <a:prstGeom prst="rect">
              <a:avLst/>
            </a:prstGeom>
            <a:ln w="12700" cap="flat">
              <a:noFill/>
              <a:miter lim="400000"/>
            </a:ln>
            <a:effectLst/>
          </p:spPr>
        </p:pic>
      </p:grpSp>
      <p:sp>
        <p:nvSpPr>
          <p:cNvPr id="363" name="tl2_bg"/>
          <p:cNvSpPr/>
          <p:nvPr/>
        </p:nvSpPr>
        <p:spPr>
          <a:xfrm>
            <a:off x="5432633" y="2331720"/>
            <a:ext cx="1948222" cy="1828801"/>
          </a:xfrm>
          <a:prstGeom prst="roundRect">
            <a:avLst>
              <a:gd name="adj" fmla="val 6000"/>
            </a:avLst>
          </a:prstGeom>
          <a:solidFill>
            <a:srgbClr val="FFFFFF"/>
          </a:solidFill>
          <a:ln w="16510">
            <a:solidFill>
              <a:srgbClr val="2D5F7C"/>
            </a:solidFill>
          </a:ln>
        </p:spPr>
        <p:txBody>
          <a:bodyPr lIns="45719" rIns="45719"/>
          <a:lstStyle/>
          <a:p>
            <a:pPr/>
          </a:p>
        </p:txBody>
      </p:sp>
      <p:pic>
        <p:nvPicPr>
          <p:cNvPr id="364" name="tl2_img" descr="tl2_img"/>
          <p:cNvPicPr>
            <a:picLocks noChangeAspect="1"/>
          </p:cNvPicPr>
          <p:nvPr/>
        </p:nvPicPr>
        <p:blipFill>
          <a:blip r:embed="rId9">
            <a:extLst/>
          </a:blip>
          <a:stretch>
            <a:fillRect/>
          </a:stretch>
        </p:blipFill>
        <p:spPr>
          <a:xfrm>
            <a:off x="5972404" y="2496311"/>
            <a:ext cx="868681" cy="868681"/>
          </a:xfrm>
          <a:prstGeom prst="rect">
            <a:avLst/>
          </a:prstGeom>
          <a:ln w="12700">
            <a:miter lim="400000"/>
          </a:ln>
        </p:spPr>
      </p:pic>
      <p:grpSp>
        <p:nvGrpSpPr>
          <p:cNvPr id="367" name="tw2"/>
          <p:cNvGrpSpPr/>
          <p:nvPr/>
        </p:nvGrpSpPr>
        <p:grpSpPr>
          <a:xfrm>
            <a:off x="5478352" y="3495040"/>
            <a:ext cx="1856782" cy="628905"/>
            <a:chOff x="0" y="0"/>
            <a:chExt cx="1856781" cy="628904"/>
          </a:xfrm>
        </p:grpSpPr>
        <p:sp>
          <p:nvSpPr>
            <p:cNvPr id="365" name="tl2_w"/>
            <p:cNvSpPr txBox="1"/>
            <p:nvPr/>
          </p:nvSpPr>
          <p:spPr>
            <a:xfrm>
              <a:off x="0" y="0"/>
              <a:ext cx="1856782" cy="2794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123B54"/>
                  </a:solidFill>
                  <a:latin typeface="Georgia"/>
                  <a:ea typeface="Georgia"/>
                  <a:cs typeface="Georgia"/>
                  <a:sym typeface="Georgia"/>
                </a:defRPr>
              </a:lvl1pPr>
            </a:lstStyle>
            <a:p>
              <a:pPr/>
              <a:r>
                <a:t>tiny</a:t>
              </a:r>
            </a:p>
          </p:txBody>
        </p:sp>
        <p:pic>
          <p:nvPicPr>
            <p:cNvPr id="366" name="tl2_tick" descr="tl2_tick"/>
            <p:cNvPicPr>
              <a:picLocks noChangeAspect="1"/>
            </p:cNvPicPr>
            <p:nvPr/>
          </p:nvPicPr>
          <p:blipFill>
            <a:blip r:embed="rId7">
              <a:extLst/>
            </a:blip>
            <a:stretch>
              <a:fillRect/>
            </a:stretch>
          </p:blipFill>
          <p:spPr>
            <a:xfrm>
              <a:off x="782087" y="354584"/>
              <a:ext cx="274321" cy="274321"/>
            </a:xfrm>
            <a:prstGeom prst="rect">
              <a:avLst/>
            </a:prstGeom>
            <a:ln w="12700" cap="flat">
              <a:noFill/>
              <a:miter lim="400000"/>
            </a:ln>
            <a:effectLst/>
          </p:spPr>
        </p:pic>
      </p:grpSp>
      <p:sp>
        <p:nvSpPr>
          <p:cNvPr id="368" name="tl3_bg"/>
          <p:cNvSpPr/>
          <p:nvPr/>
        </p:nvSpPr>
        <p:spPr>
          <a:xfrm>
            <a:off x="7563733" y="2331720"/>
            <a:ext cx="1948222" cy="1828801"/>
          </a:xfrm>
          <a:prstGeom prst="roundRect">
            <a:avLst>
              <a:gd name="adj" fmla="val 6000"/>
            </a:avLst>
          </a:prstGeom>
          <a:solidFill>
            <a:srgbClr val="FFFFFF"/>
          </a:solidFill>
          <a:ln w="16510">
            <a:solidFill>
              <a:srgbClr val="2D5F7C"/>
            </a:solidFill>
          </a:ln>
        </p:spPr>
        <p:txBody>
          <a:bodyPr lIns="45719" rIns="45719"/>
          <a:lstStyle/>
          <a:p>
            <a:pPr/>
          </a:p>
        </p:txBody>
      </p:sp>
      <p:pic>
        <p:nvPicPr>
          <p:cNvPr id="369" name="tl3_img" descr="tl3_img"/>
          <p:cNvPicPr>
            <a:picLocks noChangeAspect="1"/>
          </p:cNvPicPr>
          <p:nvPr/>
        </p:nvPicPr>
        <p:blipFill>
          <a:blip r:embed="rId10">
            <a:extLst/>
          </a:blip>
          <a:stretch>
            <a:fillRect/>
          </a:stretch>
        </p:blipFill>
        <p:spPr>
          <a:xfrm>
            <a:off x="8103503" y="2496311"/>
            <a:ext cx="868681" cy="868681"/>
          </a:xfrm>
          <a:prstGeom prst="rect">
            <a:avLst/>
          </a:prstGeom>
          <a:ln w="12700">
            <a:miter lim="400000"/>
          </a:ln>
        </p:spPr>
      </p:pic>
      <p:grpSp>
        <p:nvGrpSpPr>
          <p:cNvPr id="372" name="tw3"/>
          <p:cNvGrpSpPr/>
          <p:nvPr/>
        </p:nvGrpSpPr>
        <p:grpSpPr>
          <a:xfrm>
            <a:off x="7609454" y="3495040"/>
            <a:ext cx="1856782" cy="628905"/>
            <a:chOff x="0" y="0"/>
            <a:chExt cx="1856781" cy="628904"/>
          </a:xfrm>
        </p:grpSpPr>
        <p:sp>
          <p:nvSpPr>
            <p:cNvPr id="370" name="tl3_w"/>
            <p:cNvSpPr txBox="1"/>
            <p:nvPr/>
          </p:nvSpPr>
          <p:spPr>
            <a:xfrm>
              <a:off x="0" y="0"/>
              <a:ext cx="1856782" cy="2794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123B54"/>
                  </a:solidFill>
                  <a:latin typeface="Georgia"/>
                  <a:ea typeface="Georgia"/>
                  <a:cs typeface="Georgia"/>
                  <a:sym typeface="Georgia"/>
                </a:defRPr>
              </a:lvl1pPr>
            </a:lstStyle>
            <a:p>
              <a:pPr/>
              <a:r>
                <a:t>part</a:t>
              </a:r>
            </a:p>
          </p:txBody>
        </p:sp>
        <p:pic>
          <p:nvPicPr>
            <p:cNvPr id="371" name="tl3_tick" descr="tl3_tick"/>
            <p:cNvPicPr>
              <a:picLocks noChangeAspect="1"/>
            </p:cNvPicPr>
            <p:nvPr/>
          </p:nvPicPr>
          <p:blipFill>
            <a:blip r:embed="rId7">
              <a:extLst/>
            </a:blip>
            <a:stretch>
              <a:fillRect/>
            </a:stretch>
          </p:blipFill>
          <p:spPr>
            <a:xfrm>
              <a:off x="782086" y="354584"/>
              <a:ext cx="274321" cy="274321"/>
            </a:xfrm>
            <a:prstGeom prst="rect">
              <a:avLst/>
            </a:prstGeom>
            <a:ln w="12700" cap="flat">
              <a:noFill/>
              <a:miter lim="400000"/>
            </a:ln>
            <a:effectLst/>
          </p:spPr>
        </p:pic>
      </p:grpSp>
      <p:sp>
        <p:nvSpPr>
          <p:cNvPr id="373" name="tl4_bg"/>
          <p:cNvSpPr/>
          <p:nvPr/>
        </p:nvSpPr>
        <p:spPr>
          <a:xfrm>
            <a:off x="9694835" y="2331720"/>
            <a:ext cx="1948222" cy="1828801"/>
          </a:xfrm>
          <a:prstGeom prst="roundRect">
            <a:avLst>
              <a:gd name="adj" fmla="val 6000"/>
            </a:avLst>
          </a:prstGeom>
          <a:solidFill>
            <a:srgbClr val="FFFFFF"/>
          </a:solidFill>
          <a:ln w="16510">
            <a:solidFill>
              <a:srgbClr val="2D5F7C"/>
            </a:solidFill>
          </a:ln>
        </p:spPr>
        <p:txBody>
          <a:bodyPr lIns="45719" rIns="45719"/>
          <a:lstStyle/>
          <a:p>
            <a:pPr/>
          </a:p>
        </p:txBody>
      </p:sp>
      <p:pic>
        <p:nvPicPr>
          <p:cNvPr id="374" name="tl4_img" descr="tl4_img"/>
          <p:cNvPicPr>
            <a:picLocks noChangeAspect="1"/>
          </p:cNvPicPr>
          <p:nvPr/>
        </p:nvPicPr>
        <p:blipFill>
          <a:blip r:embed="rId11">
            <a:extLst/>
          </a:blip>
          <a:stretch>
            <a:fillRect/>
          </a:stretch>
        </p:blipFill>
        <p:spPr>
          <a:xfrm>
            <a:off x="10234604" y="2496311"/>
            <a:ext cx="868681" cy="868681"/>
          </a:xfrm>
          <a:prstGeom prst="rect">
            <a:avLst/>
          </a:prstGeom>
          <a:ln w="12700">
            <a:miter lim="400000"/>
          </a:ln>
        </p:spPr>
      </p:pic>
      <p:grpSp>
        <p:nvGrpSpPr>
          <p:cNvPr id="377" name="tw4"/>
          <p:cNvGrpSpPr/>
          <p:nvPr/>
        </p:nvGrpSpPr>
        <p:grpSpPr>
          <a:xfrm>
            <a:off x="9740555" y="3495040"/>
            <a:ext cx="1856782" cy="628905"/>
            <a:chOff x="0" y="0"/>
            <a:chExt cx="1856781" cy="628904"/>
          </a:xfrm>
        </p:grpSpPr>
        <p:sp>
          <p:nvSpPr>
            <p:cNvPr id="375" name="tl4_w"/>
            <p:cNvSpPr txBox="1"/>
            <p:nvPr/>
          </p:nvSpPr>
          <p:spPr>
            <a:xfrm>
              <a:off x="0" y="0"/>
              <a:ext cx="1856782" cy="2794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123B54"/>
                  </a:solidFill>
                  <a:latin typeface="Georgia"/>
                  <a:ea typeface="Georgia"/>
                  <a:cs typeface="Georgia"/>
                  <a:sym typeface="Georgia"/>
                </a:defRPr>
              </a:lvl1pPr>
            </a:lstStyle>
            <a:p>
              <a:pPr/>
              <a:r>
                <a:t>nucleus</a:t>
              </a:r>
            </a:p>
          </p:txBody>
        </p:sp>
        <p:pic>
          <p:nvPicPr>
            <p:cNvPr id="376" name="tl4_tick" descr="tl4_tick"/>
            <p:cNvPicPr>
              <a:picLocks noChangeAspect="1"/>
            </p:cNvPicPr>
            <p:nvPr/>
          </p:nvPicPr>
          <p:blipFill>
            <a:blip r:embed="rId7">
              <a:extLst/>
            </a:blip>
            <a:stretch>
              <a:fillRect/>
            </a:stretch>
          </p:blipFill>
          <p:spPr>
            <a:xfrm>
              <a:off x="782086" y="354584"/>
              <a:ext cx="274321" cy="274321"/>
            </a:xfrm>
            <a:prstGeom prst="rect">
              <a:avLst/>
            </a:prstGeom>
            <a:ln w="12700" cap="flat">
              <a:noFill/>
              <a:miter lim="400000"/>
            </a:ln>
            <a:effectLst/>
          </p:spPr>
        </p:pic>
      </p:grpSp>
      <p:sp>
        <p:nvSpPr>
          <p:cNvPr id="378" name="tl5_bg"/>
          <p:cNvSpPr/>
          <p:nvPr/>
        </p:nvSpPr>
        <p:spPr>
          <a:xfrm>
            <a:off x="1170432" y="4361688"/>
            <a:ext cx="1948222" cy="1828801"/>
          </a:xfrm>
          <a:prstGeom prst="roundRect">
            <a:avLst>
              <a:gd name="adj" fmla="val 6000"/>
            </a:avLst>
          </a:prstGeom>
          <a:solidFill>
            <a:srgbClr val="FFFFFF"/>
          </a:solidFill>
          <a:ln w="16510">
            <a:solidFill>
              <a:srgbClr val="2D5F7C"/>
            </a:solidFill>
          </a:ln>
        </p:spPr>
        <p:txBody>
          <a:bodyPr lIns="45719" rIns="45719"/>
          <a:lstStyle/>
          <a:p>
            <a:pPr/>
          </a:p>
        </p:txBody>
      </p:sp>
      <p:pic>
        <p:nvPicPr>
          <p:cNvPr id="379" name="tl5_img" descr="tl5_img"/>
          <p:cNvPicPr>
            <a:picLocks noChangeAspect="1"/>
          </p:cNvPicPr>
          <p:nvPr/>
        </p:nvPicPr>
        <p:blipFill>
          <a:blip r:embed="rId12">
            <a:extLst/>
          </a:blip>
          <a:stretch>
            <a:fillRect/>
          </a:stretch>
        </p:blipFill>
        <p:spPr>
          <a:xfrm>
            <a:off x="1675347" y="4526279"/>
            <a:ext cx="938390" cy="868681"/>
          </a:xfrm>
          <a:prstGeom prst="rect">
            <a:avLst/>
          </a:prstGeom>
          <a:ln w="12700">
            <a:miter lim="400000"/>
          </a:ln>
        </p:spPr>
      </p:pic>
      <p:grpSp>
        <p:nvGrpSpPr>
          <p:cNvPr id="382" name="tw5"/>
          <p:cNvGrpSpPr/>
          <p:nvPr/>
        </p:nvGrpSpPr>
        <p:grpSpPr>
          <a:xfrm>
            <a:off x="1216152" y="5525007"/>
            <a:ext cx="1856782" cy="628905"/>
            <a:chOff x="0" y="0"/>
            <a:chExt cx="1856781" cy="628904"/>
          </a:xfrm>
        </p:grpSpPr>
        <p:sp>
          <p:nvSpPr>
            <p:cNvPr id="380" name="tl5_w"/>
            <p:cNvSpPr txBox="1"/>
            <p:nvPr/>
          </p:nvSpPr>
          <p:spPr>
            <a:xfrm>
              <a:off x="0" y="0"/>
              <a:ext cx="1856782" cy="2794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123B54"/>
                  </a:solidFill>
                  <a:latin typeface="Georgia"/>
                  <a:ea typeface="Georgia"/>
                  <a:cs typeface="Georgia"/>
                  <a:sym typeface="Georgia"/>
                </a:defRPr>
              </a:lvl1pPr>
            </a:lstStyle>
            <a:p>
              <a:pPr/>
              <a:r>
                <a:t>centre</a:t>
              </a:r>
            </a:p>
          </p:txBody>
        </p:sp>
        <p:pic>
          <p:nvPicPr>
            <p:cNvPr id="381" name="tl5_tick" descr="tl5_tick"/>
            <p:cNvPicPr>
              <a:picLocks noChangeAspect="1"/>
            </p:cNvPicPr>
            <p:nvPr/>
          </p:nvPicPr>
          <p:blipFill>
            <a:blip r:embed="rId7">
              <a:extLst/>
            </a:blip>
            <a:stretch>
              <a:fillRect/>
            </a:stretch>
          </p:blipFill>
          <p:spPr>
            <a:xfrm>
              <a:off x="782086" y="354584"/>
              <a:ext cx="274321" cy="274321"/>
            </a:xfrm>
            <a:prstGeom prst="rect">
              <a:avLst/>
            </a:prstGeom>
            <a:ln w="12700" cap="flat">
              <a:noFill/>
              <a:miter lim="400000"/>
            </a:ln>
            <a:effectLst/>
          </p:spPr>
        </p:pic>
      </p:grpSp>
      <p:sp>
        <p:nvSpPr>
          <p:cNvPr id="383" name="tl6_bg"/>
          <p:cNvSpPr/>
          <p:nvPr/>
        </p:nvSpPr>
        <p:spPr>
          <a:xfrm>
            <a:off x="3301532" y="4361688"/>
            <a:ext cx="1948222" cy="1828801"/>
          </a:xfrm>
          <a:prstGeom prst="roundRect">
            <a:avLst>
              <a:gd name="adj" fmla="val 6000"/>
            </a:avLst>
          </a:prstGeom>
          <a:solidFill>
            <a:srgbClr val="FFFFFF"/>
          </a:solidFill>
          <a:ln w="16510">
            <a:solidFill>
              <a:srgbClr val="2D5F7C"/>
            </a:solidFill>
          </a:ln>
        </p:spPr>
        <p:txBody>
          <a:bodyPr lIns="45719" rIns="45719"/>
          <a:lstStyle/>
          <a:p>
            <a:pPr/>
          </a:p>
        </p:txBody>
      </p:sp>
      <p:pic>
        <p:nvPicPr>
          <p:cNvPr id="384" name="tl6_img" descr="tl6_img"/>
          <p:cNvPicPr>
            <a:picLocks noChangeAspect="1"/>
          </p:cNvPicPr>
          <p:nvPr/>
        </p:nvPicPr>
        <p:blipFill>
          <a:blip r:embed="rId13">
            <a:extLst/>
          </a:blip>
          <a:stretch>
            <a:fillRect/>
          </a:stretch>
        </p:blipFill>
        <p:spPr>
          <a:xfrm>
            <a:off x="3841303" y="4526279"/>
            <a:ext cx="868681" cy="868681"/>
          </a:xfrm>
          <a:prstGeom prst="rect">
            <a:avLst/>
          </a:prstGeom>
          <a:ln w="12700">
            <a:miter lim="400000"/>
          </a:ln>
        </p:spPr>
      </p:pic>
      <p:grpSp>
        <p:nvGrpSpPr>
          <p:cNvPr id="387" name="tw6"/>
          <p:cNvGrpSpPr/>
          <p:nvPr/>
        </p:nvGrpSpPr>
        <p:grpSpPr>
          <a:xfrm>
            <a:off x="3347253" y="5525007"/>
            <a:ext cx="1856782" cy="628905"/>
            <a:chOff x="0" y="0"/>
            <a:chExt cx="1856781" cy="628904"/>
          </a:xfrm>
        </p:grpSpPr>
        <p:sp>
          <p:nvSpPr>
            <p:cNvPr id="385" name="tl6_w"/>
            <p:cNvSpPr txBox="1"/>
            <p:nvPr/>
          </p:nvSpPr>
          <p:spPr>
            <a:xfrm>
              <a:off x="0" y="0"/>
              <a:ext cx="1856782" cy="2794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123B54"/>
                  </a:solidFill>
                  <a:latin typeface="Georgia"/>
                  <a:ea typeface="Georgia"/>
                  <a:cs typeface="Georgia"/>
                  <a:sym typeface="Georgia"/>
                </a:defRPr>
              </a:lvl1pPr>
            </a:lstStyle>
            <a:p>
              <a:pPr/>
              <a:r>
                <a:t>electron</a:t>
              </a:r>
            </a:p>
          </p:txBody>
        </p:sp>
        <p:pic>
          <p:nvPicPr>
            <p:cNvPr id="386" name="tl6_tick" descr="tl6_tick"/>
            <p:cNvPicPr>
              <a:picLocks noChangeAspect="1"/>
            </p:cNvPicPr>
            <p:nvPr/>
          </p:nvPicPr>
          <p:blipFill>
            <a:blip r:embed="rId7">
              <a:extLst/>
            </a:blip>
            <a:stretch>
              <a:fillRect/>
            </a:stretch>
          </p:blipFill>
          <p:spPr>
            <a:xfrm>
              <a:off x="782086" y="354584"/>
              <a:ext cx="274321" cy="274321"/>
            </a:xfrm>
            <a:prstGeom prst="rect">
              <a:avLst/>
            </a:prstGeom>
            <a:ln w="12700" cap="flat">
              <a:noFill/>
              <a:miter lim="400000"/>
            </a:ln>
            <a:effectLst/>
          </p:spPr>
        </p:pic>
      </p:grpSp>
      <p:sp>
        <p:nvSpPr>
          <p:cNvPr id="388" name="tl7_bg"/>
          <p:cNvSpPr/>
          <p:nvPr/>
        </p:nvSpPr>
        <p:spPr>
          <a:xfrm>
            <a:off x="5432633" y="4361688"/>
            <a:ext cx="1948222" cy="1828801"/>
          </a:xfrm>
          <a:prstGeom prst="roundRect">
            <a:avLst>
              <a:gd name="adj" fmla="val 6000"/>
            </a:avLst>
          </a:prstGeom>
          <a:solidFill>
            <a:srgbClr val="FFFFFF"/>
          </a:solidFill>
          <a:ln w="16510">
            <a:solidFill>
              <a:srgbClr val="2D5F7C"/>
            </a:solidFill>
          </a:ln>
        </p:spPr>
        <p:txBody>
          <a:bodyPr lIns="45719" rIns="45719"/>
          <a:lstStyle/>
          <a:p>
            <a:pPr/>
          </a:p>
        </p:txBody>
      </p:sp>
      <p:pic>
        <p:nvPicPr>
          <p:cNvPr id="389" name="tl7_img" descr="tl7_img"/>
          <p:cNvPicPr>
            <a:picLocks noChangeAspect="1"/>
          </p:cNvPicPr>
          <p:nvPr/>
        </p:nvPicPr>
        <p:blipFill>
          <a:blip r:embed="rId14">
            <a:extLst/>
          </a:blip>
          <a:stretch>
            <a:fillRect/>
          </a:stretch>
        </p:blipFill>
        <p:spPr>
          <a:xfrm>
            <a:off x="5809403" y="4526279"/>
            <a:ext cx="1194680" cy="868681"/>
          </a:xfrm>
          <a:prstGeom prst="rect">
            <a:avLst/>
          </a:prstGeom>
          <a:ln w="12700">
            <a:miter lim="400000"/>
          </a:ln>
        </p:spPr>
      </p:pic>
      <p:grpSp>
        <p:nvGrpSpPr>
          <p:cNvPr id="392" name="tw7"/>
          <p:cNvGrpSpPr/>
          <p:nvPr/>
        </p:nvGrpSpPr>
        <p:grpSpPr>
          <a:xfrm>
            <a:off x="5478352" y="5525007"/>
            <a:ext cx="1856782" cy="628905"/>
            <a:chOff x="0" y="0"/>
            <a:chExt cx="1856781" cy="628904"/>
          </a:xfrm>
        </p:grpSpPr>
        <p:sp>
          <p:nvSpPr>
            <p:cNvPr id="390" name="tl7_w"/>
            <p:cNvSpPr txBox="1"/>
            <p:nvPr/>
          </p:nvSpPr>
          <p:spPr>
            <a:xfrm>
              <a:off x="0" y="0"/>
              <a:ext cx="1856782" cy="2794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123B54"/>
                  </a:solidFill>
                  <a:latin typeface="Georgia"/>
                  <a:ea typeface="Georgia"/>
                  <a:cs typeface="Georgia"/>
                  <a:sym typeface="Georgia"/>
                </a:defRPr>
              </a:lvl1pPr>
            </a:lstStyle>
            <a:p>
              <a:pPr/>
              <a:r>
                <a:t>outside</a:t>
              </a:r>
            </a:p>
          </p:txBody>
        </p:sp>
        <p:pic>
          <p:nvPicPr>
            <p:cNvPr id="391" name="tl7_tick" descr="tl7_tick"/>
            <p:cNvPicPr>
              <a:picLocks noChangeAspect="1"/>
            </p:cNvPicPr>
            <p:nvPr/>
          </p:nvPicPr>
          <p:blipFill>
            <a:blip r:embed="rId7">
              <a:extLst/>
            </a:blip>
            <a:stretch>
              <a:fillRect/>
            </a:stretch>
          </p:blipFill>
          <p:spPr>
            <a:xfrm>
              <a:off x="782087" y="354584"/>
              <a:ext cx="274321" cy="274321"/>
            </a:xfrm>
            <a:prstGeom prst="rect">
              <a:avLst/>
            </a:prstGeom>
            <a:ln w="12700" cap="flat">
              <a:noFill/>
              <a:miter lim="400000"/>
            </a:ln>
            <a:effectLst/>
          </p:spPr>
        </p:pic>
      </p:grpSp>
      <p:sp>
        <p:nvSpPr>
          <p:cNvPr id="393" name="tl8_bg"/>
          <p:cNvSpPr/>
          <p:nvPr/>
        </p:nvSpPr>
        <p:spPr>
          <a:xfrm>
            <a:off x="7563733" y="4361688"/>
            <a:ext cx="1948222" cy="1828801"/>
          </a:xfrm>
          <a:prstGeom prst="roundRect">
            <a:avLst>
              <a:gd name="adj" fmla="val 6000"/>
            </a:avLst>
          </a:prstGeom>
          <a:solidFill>
            <a:srgbClr val="FFFFFF"/>
          </a:solidFill>
          <a:ln w="16510">
            <a:solidFill>
              <a:srgbClr val="2D5F7C"/>
            </a:solidFill>
          </a:ln>
        </p:spPr>
        <p:txBody>
          <a:bodyPr lIns="45719" rIns="45719"/>
          <a:lstStyle/>
          <a:p>
            <a:pPr/>
          </a:p>
        </p:txBody>
      </p:sp>
      <p:sp>
        <p:nvSpPr>
          <p:cNvPr id="394" name="tl8_img"/>
          <p:cNvSpPr/>
          <p:nvPr/>
        </p:nvSpPr>
        <p:spPr>
          <a:xfrm>
            <a:off x="8172084" y="4544567"/>
            <a:ext cx="731521" cy="731521"/>
          </a:xfrm>
          <a:prstGeom prst="ellipse">
            <a:avLst/>
          </a:prstGeom>
          <a:solidFill>
            <a:srgbClr val="FFD166"/>
          </a:solidFill>
          <a:ln w="12700">
            <a:solidFill>
              <a:srgbClr val="FFD166"/>
            </a:solidFill>
          </a:ln>
        </p:spPr>
        <p:txBody>
          <a:bodyPr lIns="45719" rIns="45719"/>
          <a:lstStyle/>
          <a:p>
            <a:pPr/>
          </a:p>
        </p:txBody>
      </p:sp>
      <p:grpSp>
        <p:nvGrpSpPr>
          <p:cNvPr id="397" name="tw8"/>
          <p:cNvGrpSpPr/>
          <p:nvPr/>
        </p:nvGrpSpPr>
        <p:grpSpPr>
          <a:xfrm>
            <a:off x="7609454" y="5525007"/>
            <a:ext cx="1856782" cy="628905"/>
            <a:chOff x="0" y="0"/>
            <a:chExt cx="1856781" cy="628904"/>
          </a:xfrm>
        </p:grpSpPr>
        <p:sp>
          <p:nvSpPr>
            <p:cNvPr id="395" name="tl8_w"/>
            <p:cNvSpPr txBox="1"/>
            <p:nvPr/>
          </p:nvSpPr>
          <p:spPr>
            <a:xfrm>
              <a:off x="0" y="0"/>
              <a:ext cx="1856782" cy="2794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123B54"/>
                  </a:solidFill>
                  <a:latin typeface="Georgia"/>
                  <a:ea typeface="Georgia"/>
                  <a:cs typeface="Georgia"/>
                  <a:sym typeface="Georgia"/>
                </a:defRPr>
              </a:lvl1pPr>
            </a:lstStyle>
            <a:p>
              <a:pPr/>
              <a:r>
                <a:t>proton</a:t>
              </a:r>
            </a:p>
          </p:txBody>
        </p:sp>
        <p:pic>
          <p:nvPicPr>
            <p:cNvPr id="396" name="tl8_tick" descr="tl8_tick"/>
            <p:cNvPicPr>
              <a:picLocks noChangeAspect="1"/>
            </p:cNvPicPr>
            <p:nvPr/>
          </p:nvPicPr>
          <p:blipFill>
            <a:blip r:embed="rId7">
              <a:extLst/>
            </a:blip>
            <a:stretch>
              <a:fillRect/>
            </a:stretch>
          </p:blipFill>
          <p:spPr>
            <a:xfrm>
              <a:off x="782086" y="354584"/>
              <a:ext cx="274321" cy="274321"/>
            </a:xfrm>
            <a:prstGeom prst="rect">
              <a:avLst/>
            </a:prstGeom>
            <a:ln w="12700" cap="flat">
              <a:noFill/>
              <a:miter lim="400000"/>
            </a:ln>
            <a:effectLst/>
          </p:spPr>
        </p:pic>
      </p:grpSp>
      <p:sp>
        <p:nvSpPr>
          <p:cNvPr id="398" name="tl9_bg"/>
          <p:cNvSpPr/>
          <p:nvPr/>
        </p:nvSpPr>
        <p:spPr>
          <a:xfrm>
            <a:off x="9694835" y="4361688"/>
            <a:ext cx="1948222" cy="1828801"/>
          </a:xfrm>
          <a:prstGeom prst="roundRect">
            <a:avLst>
              <a:gd name="adj" fmla="val 6000"/>
            </a:avLst>
          </a:prstGeom>
          <a:solidFill>
            <a:srgbClr val="FFFFFF"/>
          </a:solidFill>
          <a:ln w="16510">
            <a:solidFill>
              <a:srgbClr val="2D5F7C"/>
            </a:solidFill>
          </a:ln>
        </p:spPr>
        <p:txBody>
          <a:bodyPr lIns="45719" rIns="45719"/>
          <a:lstStyle/>
          <a:p>
            <a:pPr/>
          </a:p>
        </p:txBody>
      </p:sp>
      <p:sp>
        <p:nvSpPr>
          <p:cNvPr id="399" name="tl9_img"/>
          <p:cNvSpPr/>
          <p:nvPr/>
        </p:nvSpPr>
        <p:spPr>
          <a:xfrm>
            <a:off x="10303185" y="4544567"/>
            <a:ext cx="731521" cy="731521"/>
          </a:xfrm>
          <a:prstGeom prst="ellipse">
            <a:avLst/>
          </a:prstGeom>
          <a:solidFill>
            <a:srgbClr val="EF476F"/>
          </a:solidFill>
          <a:ln w="12700">
            <a:solidFill>
              <a:srgbClr val="EF476F"/>
            </a:solidFill>
          </a:ln>
        </p:spPr>
        <p:txBody>
          <a:bodyPr lIns="45719" rIns="45719"/>
          <a:lstStyle/>
          <a:p>
            <a:pPr/>
          </a:p>
        </p:txBody>
      </p:sp>
      <p:grpSp>
        <p:nvGrpSpPr>
          <p:cNvPr id="402" name="tw9"/>
          <p:cNvGrpSpPr/>
          <p:nvPr/>
        </p:nvGrpSpPr>
        <p:grpSpPr>
          <a:xfrm>
            <a:off x="9740555" y="5525007"/>
            <a:ext cx="1856782" cy="628905"/>
            <a:chOff x="0" y="0"/>
            <a:chExt cx="1856781" cy="628904"/>
          </a:xfrm>
        </p:grpSpPr>
        <p:sp>
          <p:nvSpPr>
            <p:cNvPr id="400" name="tl9_w"/>
            <p:cNvSpPr txBox="1"/>
            <p:nvPr/>
          </p:nvSpPr>
          <p:spPr>
            <a:xfrm>
              <a:off x="0" y="0"/>
              <a:ext cx="1856782" cy="2794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123B54"/>
                  </a:solidFill>
                  <a:latin typeface="Georgia"/>
                  <a:ea typeface="Georgia"/>
                  <a:cs typeface="Georgia"/>
                  <a:sym typeface="Georgia"/>
                </a:defRPr>
              </a:lvl1pPr>
            </a:lstStyle>
            <a:p>
              <a:pPr/>
              <a:r>
                <a:t>neutron</a:t>
              </a:r>
            </a:p>
          </p:txBody>
        </p:sp>
        <p:pic>
          <p:nvPicPr>
            <p:cNvPr id="401" name="tl9_tick" descr="tl9_tick"/>
            <p:cNvPicPr>
              <a:picLocks noChangeAspect="1"/>
            </p:cNvPicPr>
            <p:nvPr/>
          </p:nvPicPr>
          <p:blipFill>
            <a:blip r:embed="rId7">
              <a:extLst/>
            </a:blip>
            <a:stretch>
              <a:fillRect/>
            </a:stretch>
          </p:blipFill>
          <p:spPr>
            <a:xfrm>
              <a:off x="782086" y="354584"/>
              <a:ext cx="274321" cy="274321"/>
            </a:xfrm>
            <a:prstGeom prst="rect">
              <a:avLst/>
            </a:prstGeom>
            <a:ln w="12700" cap="flat">
              <a:noFill/>
              <a:miter lim="400000"/>
            </a:ln>
            <a:effectLst/>
          </p:spPr>
        </p:pic>
      </p:grpSp>
      <p:sp>
        <p:nvSpPr>
          <p:cNvPr id="403" name="tg_next"/>
          <p:cNvSpPr txBox="1"/>
          <p:nvPr/>
        </p:nvSpPr>
        <p:spPr>
          <a:xfrm>
            <a:off x="1170432" y="6381402"/>
            <a:ext cx="10472623"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300">
                <a:solidFill>
                  <a:srgbClr val="D3E3EB"/>
                </a:solidFill>
                <a:latin typeface="Arial"/>
                <a:ea typeface="Arial"/>
                <a:cs typeface="Arial"/>
                <a:sym typeface="Arial"/>
              </a:defRPr>
            </a:lvl1pPr>
          </a:lstStyle>
          <a:p>
            <a:pPr/>
            <a:r>
              <a:t>Next lesson: we build a real model.</a:t>
            </a:r>
          </a:p>
        </p:txBody>
      </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347"/>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357"/>
                                        </p:tgtEl>
                                        <p:attrNameLst>
                                          <p:attrName>style.visibility</p:attrName>
                                        </p:attrNameLst>
                                      </p:cBhvr>
                                      <p:to>
                                        <p:strVal val="visible"/>
                                      </p:to>
                                    </p:set>
                                    <p:animEffect filter="fade" transition="in">
                                      <p:cBhvr>
                                        <p:cTn id="11" dur="400"/>
                                        <p:tgtEl>
                                          <p:spTgt spid="357"/>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362"/>
                                        </p:tgtEl>
                                        <p:attrNameLst>
                                          <p:attrName>style.visibility</p:attrName>
                                        </p:attrNameLst>
                                      </p:cBhvr>
                                      <p:to>
                                        <p:strVal val="visible"/>
                                      </p:to>
                                    </p:set>
                                    <p:animEffect filter="fade" transition="in">
                                      <p:cBhvr>
                                        <p:cTn id="15" dur="400"/>
                                        <p:tgtEl>
                                          <p:spTgt spid="362"/>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4" fill="hold">
                                  <p:stCondLst>
                                    <p:cond delay="0"/>
                                  </p:stCondLst>
                                  <p:iterate type="el" backwards="0">
                                    <p:tmAbs val="0"/>
                                  </p:iterate>
                                  <p:childTnLst>
                                    <p:set>
                                      <p:cBhvr>
                                        <p:cTn id="19" fill="hold"/>
                                        <p:tgtEl>
                                          <p:spTgt spid="367"/>
                                        </p:tgtEl>
                                        <p:attrNameLst>
                                          <p:attrName>style.visibility</p:attrName>
                                        </p:attrNameLst>
                                      </p:cBhvr>
                                      <p:to>
                                        <p:strVal val="visible"/>
                                      </p:to>
                                    </p:set>
                                    <p:animEffect filter="fade" transition="in">
                                      <p:cBhvr>
                                        <p:cTn id="20" dur="400"/>
                                        <p:tgtEl>
                                          <p:spTgt spid="367"/>
                                        </p:tgtEl>
                                      </p:cBhvr>
                                    </p:animEffect>
                                  </p:childTnLst>
                                </p:cTn>
                              </p:par>
                            </p:childTnLst>
                          </p:cTn>
                        </p:par>
                        <p:par>
                          <p:cTn id="21" fill="hold">
                            <p:stCondLst>
                              <p:cond delay="400"/>
                            </p:stCondLst>
                            <p:childTnLst>
                              <p:par>
                                <p:cTn id="22" presetClass="entr" nodeType="afterEffect" presetID="10" grpId="5" fill="hold">
                                  <p:stCondLst>
                                    <p:cond delay="150"/>
                                  </p:stCondLst>
                                  <p:iterate type="el" backwards="0">
                                    <p:tmAbs val="0"/>
                                  </p:iterate>
                                  <p:childTnLst>
                                    <p:set>
                                      <p:cBhvr>
                                        <p:cTn id="23" fill="hold"/>
                                        <p:tgtEl>
                                          <p:spTgt spid="372"/>
                                        </p:tgtEl>
                                        <p:attrNameLst>
                                          <p:attrName>style.visibility</p:attrName>
                                        </p:attrNameLst>
                                      </p:cBhvr>
                                      <p:to>
                                        <p:strVal val="visible"/>
                                      </p:to>
                                    </p:set>
                                    <p:animEffect filter="fade" transition="in">
                                      <p:cBhvr>
                                        <p:cTn id="24" dur="400"/>
                                        <p:tgtEl>
                                          <p:spTgt spid="372"/>
                                        </p:tgtEl>
                                      </p:cBhvr>
                                    </p:animEffect>
                                  </p:childTnLst>
                                </p:cTn>
                              </p:par>
                            </p:childTnLst>
                          </p:cTn>
                        </p:par>
                      </p:childTnLst>
                    </p:cTn>
                  </p:par>
                  <p:par>
                    <p:cTn id="25" fill="hold">
                      <p:stCondLst>
                        <p:cond delay="indefinite"/>
                      </p:stCondLst>
                      <p:childTnLst>
                        <p:par>
                          <p:cTn id="26" fill="hold">
                            <p:stCondLst>
                              <p:cond delay="0"/>
                            </p:stCondLst>
                            <p:childTnLst>
                              <p:par>
                                <p:cTn id="27" presetClass="entr" nodeType="clickEffect" presetID="10" grpId="6" fill="hold">
                                  <p:stCondLst>
                                    <p:cond delay="0"/>
                                  </p:stCondLst>
                                  <p:iterate type="el" backwards="0">
                                    <p:tmAbs val="0"/>
                                  </p:iterate>
                                  <p:childTnLst>
                                    <p:set>
                                      <p:cBhvr>
                                        <p:cTn id="28" fill="hold"/>
                                        <p:tgtEl>
                                          <p:spTgt spid="377"/>
                                        </p:tgtEl>
                                        <p:attrNameLst>
                                          <p:attrName>style.visibility</p:attrName>
                                        </p:attrNameLst>
                                      </p:cBhvr>
                                      <p:to>
                                        <p:strVal val="visible"/>
                                      </p:to>
                                    </p:set>
                                    <p:animEffect filter="fade" transition="in">
                                      <p:cBhvr>
                                        <p:cTn id="29" dur="400"/>
                                        <p:tgtEl>
                                          <p:spTgt spid="377"/>
                                        </p:tgtEl>
                                      </p:cBhvr>
                                    </p:animEffect>
                                  </p:childTnLst>
                                </p:cTn>
                              </p:par>
                            </p:childTnLst>
                          </p:cTn>
                        </p:par>
                        <p:par>
                          <p:cTn id="30" fill="hold">
                            <p:stCondLst>
                              <p:cond delay="400"/>
                            </p:stCondLst>
                            <p:childTnLst>
                              <p:par>
                                <p:cTn id="31" presetClass="entr" nodeType="afterEffect" presetID="10" grpId="7" fill="hold">
                                  <p:stCondLst>
                                    <p:cond delay="150"/>
                                  </p:stCondLst>
                                  <p:iterate type="el" backwards="0">
                                    <p:tmAbs val="0"/>
                                  </p:iterate>
                                  <p:childTnLst>
                                    <p:set>
                                      <p:cBhvr>
                                        <p:cTn id="32" fill="hold"/>
                                        <p:tgtEl>
                                          <p:spTgt spid="382"/>
                                        </p:tgtEl>
                                        <p:attrNameLst>
                                          <p:attrName>style.visibility</p:attrName>
                                        </p:attrNameLst>
                                      </p:cBhvr>
                                      <p:to>
                                        <p:strVal val="visible"/>
                                      </p:to>
                                    </p:set>
                                    <p:animEffect filter="fade" transition="in">
                                      <p:cBhvr>
                                        <p:cTn id="33" dur="400"/>
                                        <p:tgtEl>
                                          <p:spTgt spid="382"/>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ID="10" grpId="8" fill="hold">
                                  <p:stCondLst>
                                    <p:cond delay="0"/>
                                  </p:stCondLst>
                                  <p:iterate type="el" backwards="0">
                                    <p:tmAbs val="0"/>
                                  </p:iterate>
                                  <p:childTnLst>
                                    <p:set>
                                      <p:cBhvr>
                                        <p:cTn id="37" fill="hold"/>
                                        <p:tgtEl>
                                          <p:spTgt spid="387"/>
                                        </p:tgtEl>
                                        <p:attrNameLst>
                                          <p:attrName>style.visibility</p:attrName>
                                        </p:attrNameLst>
                                      </p:cBhvr>
                                      <p:to>
                                        <p:strVal val="visible"/>
                                      </p:to>
                                    </p:set>
                                    <p:animEffect filter="fade" transition="in">
                                      <p:cBhvr>
                                        <p:cTn id="38" dur="400"/>
                                        <p:tgtEl>
                                          <p:spTgt spid="387"/>
                                        </p:tgtEl>
                                      </p:cBhvr>
                                    </p:animEffect>
                                  </p:childTnLst>
                                </p:cTn>
                              </p:par>
                            </p:childTnLst>
                          </p:cTn>
                        </p:par>
                        <p:par>
                          <p:cTn id="39" fill="hold">
                            <p:stCondLst>
                              <p:cond delay="400"/>
                            </p:stCondLst>
                            <p:childTnLst>
                              <p:par>
                                <p:cTn id="40" presetClass="entr" nodeType="afterEffect" presetID="10" grpId="9" fill="hold">
                                  <p:stCondLst>
                                    <p:cond delay="150"/>
                                  </p:stCondLst>
                                  <p:iterate type="el" backwards="0">
                                    <p:tmAbs val="0"/>
                                  </p:iterate>
                                  <p:childTnLst>
                                    <p:set>
                                      <p:cBhvr>
                                        <p:cTn id="41" fill="hold"/>
                                        <p:tgtEl>
                                          <p:spTgt spid="392"/>
                                        </p:tgtEl>
                                        <p:attrNameLst>
                                          <p:attrName>style.visibility</p:attrName>
                                        </p:attrNameLst>
                                      </p:cBhvr>
                                      <p:to>
                                        <p:strVal val="visible"/>
                                      </p:to>
                                    </p:set>
                                    <p:animEffect filter="fade" transition="in">
                                      <p:cBhvr>
                                        <p:cTn id="42" dur="400"/>
                                        <p:tgtEl>
                                          <p:spTgt spid="392"/>
                                        </p:tgtEl>
                                      </p:cBhvr>
                                    </p:animEffect>
                                  </p:childTnLst>
                                </p:cTn>
                              </p:par>
                            </p:childTnLst>
                          </p:cTn>
                        </p:par>
                      </p:childTnLst>
                    </p:cTn>
                  </p:par>
                  <p:par>
                    <p:cTn id="43" fill="hold">
                      <p:stCondLst>
                        <p:cond delay="indefinite"/>
                      </p:stCondLst>
                      <p:childTnLst>
                        <p:par>
                          <p:cTn id="44" fill="hold">
                            <p:stCondLst>
                              <p:cond delay="0"/>
                            </p:stCondLst>
                            <p:childTnLst>
                              <p:par>
                                <p:cTn id="45" presetClass="entr" nodeType="clickEffect" presetID="10" grpId="10" fill="hold">
                                  <p:stCondLst>
                                    <p:cond delay="0"/>
                                  </p:stCondLst>
                                  <p:iterate type="el" backwards="0">
                                    <p:tmAbs val="0"/>
                                  </p:iterate>
                                  <p:childTnLst>
                                    <p:set>
                                      <p:cBhvr>
                                        <p:cTn id="46" fill="hold"/>
                                        <p:tgtEl>
                                          <p:spTgt spid="397"/>
                                        </p:tgtEl>
                                        <p:attrNameLst>
                                          <p:attrName>style.visibility</p:attrName>
                                        </p:attrNameLst>
                                      </p:cBhvr>
                                      <p:to>
                                        <p:strVal val="visible"/>
                                      </p:to>
                                    </p:set>
                                    <p:animEffect filter="fade" transition="in">
                                      <p:cBhvr>
                                        <p:cTn id="47" dur="400"/>
                                        <p:tgtEl>
                                          <p:spTgt spid="397"/>
                                        </p:tgtEl>
                                      </p:cBhvr>
                                    </p:animEffect>
                                  </p:childTnLst>
                                </p:cTn>
                              </p:par>
                            </p:childTnLst>
                          </p:cTn>
                        </p:par>
                        <p:par>
                          <p:cTn id="48" fill="hold">
                            <p:stCondLst>
                              <p:cond delay="400"/>
                            </p:stCondLst>
                            <p:childTnLst>
                              <p:par>
                                <p:cTn id="49" presetClass="entr" nodeType="afterEffect" presetID="10" grpId="11" fill="hold">
                                  <p:stCondLst>
                                    <p:cond delay="150"/>
                                  </p:stCondLst>
                                  <p:iterate type="el" backwards="0">
                                    <p:tmAbs val="0"/>
                                  </p:iterate>
                                  <p:childTnLst>
                                    <p:set>
                                      <p:cBhvr>
                                        <p:cTn id="50" fill="hold"/>
                                        <p:tgtEl>
                                          <p:spTgt spid="402"/>
                                        </p:tgtEl>
                                        <p:attrNameLst>
                                          <p:attrName>style.visibility</p:attrName>
                                        </p:attrNameLst>
                                      </p:cBhvr>
                                      <p:to>
                                        <p:strVal val="visible"/>
                                      </p:to>
                                    </p:set>
                                    <p:animEffect filter="fade" transition="in">
                                      <p:cBhvr>
                                        <p:cTn id="51" dur="400"/>
                                        <p:tgtEl>
                                          <p:spTgt spid="402"/>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52" fill="hold" display="0">
                  <p:stCondLst>
                    <p:cond delay="indefinite"/>
                  </p:stCondLst>
                </p:cTn>
                <p:tgtEl>
                  <p:spTgt spid="347"/>
                </p:tgtEl>
              </p:cMediaNode>
            </p:video>
            <p:seq concurrent="1" prevAc="none" nextAc="seek">
              <p:cTn id="53" evtFilter="cancelBubble" nodeType="interactiveSeq" restart="whenNotActive" fill="hold">
                <p:stCondLst>
                  <p:cond delay="0" evt="onClick">
                    <p:tgtEl>
                      <p:spTgt spid="347"/>
                    </p:tgtEl>
                  </p:cond>
                </p:stCondLst>
                <p:endSync delay="0" evt="end">
                  <p:rtn val="all"/>
                </p:endSync>
                <p:childTnLst>
                  <p:par>
                    <p:cTn id="54" fill="hold">
                      <p:stCondLst>
                        <p:cond delay="0"/>
                      </p:stCondLst>
                      <p:childTnLst>
                        <p:par>
                          <p:cTn id="55" fill="hold">
                            <p:stCondLst>
                              <p:cond delay="0"/>
                            </p:stCondLst>
                            <p:childTnLst>
                              <p:par>
                                <p:cTn id="56" presetClass="mediacall" nodeType="clickEffect" presetSubtype="0" presetID="2" fill="hold">
                                  <p:stCondLst>
                                    <p:cond delay="0"/>
                                  </p:stCondLst>
                                  <p:childTnLst>
                                    <p:cmd type="call" cmd="togglePause">
                                      <p:cBhvr>
                                        <p:cTn id="57" dur="1" fill="hold"/>
                                        <p:tgtEl>
                                          <p:spTgt spid="347"/>
                                        </p:tgtEl>
                                      </p:cBhvr>
                                    </p:cmd>
                                  </p:childTnLst>
                                </p:cTn>
                              </p:par>
                            </p:childTnLst>
                          </p:cTn>
                        </p:par>
                      </p:childTnLst>
                    </p:cTn>
                  </p:par>
                </p:childTnLst>
              </p:cTn>
              <p:nextCondLst>
                <p:cond delay="0" evt="onClick">
                  <p:tgtEl>
                    <p:spTgt spid="347"/>
                  </p:tgtEl>
                </p:cond>
              </p:nextCondLst>
            </p:seq>
          </p:childTnLst>
        </p:cTn>
      </p:par>
    </p:tnLst>
    <p:bldLst>
      <p:bldP build="whole" bldLvl="1" animBg="1" rev="0" advAuto="0" spid="387" grpId="8"/>
      <p:bldP build="whole" bldLvl="1" animBg="1" rev="0" advAuto="0" spid="397" grpId="10"/>
      <p:bldP build="whole" bldLvl="1" animBg="1" rev="0" advAuto="0" spid="362" grpId="3"/>
      <p:bldP build="whole" bldLvl="1" animBg="1" rev="0" advAuto="0" spid="382" grpId="7"/>
      <p:bldP build="whole" bldLvl="1" animBg="1" rev="0" advAuto="0" spid="402" grpId="11"/>
      <p:bldP build="whole" bldLvl="1" animBg="1" rev="0" advAuto="0" spid="357" grpId="2"/>
      <p:bldP build="whole" bldLvl="1" animBg="1" rev="0" advAuto="0" spid="377" grpId="6"/>
      <p:bldP build="whole" bldLvl="1" animBg="1" rev="0" advAuto="0" spid="372" grpId="5"/>
      <p:bldP build="whole" bldLvl="1" animBg="1" rev="0" advAuto="0" spid="392" grpId="9"/>
      <p:bldP build="whole" bldLvl="1" animBg="1" rev="0" advAuto="0" spid="367" grpId="4"/>
    </p:bld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