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it will not appear in the slideshow. Print it or keep it open on the second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arrive on this.
The motif completes the sequence: Lesson 1 gave you the tree, Lesson 2 bent the sunlight into arrows stepping down, and today those arrows close into a loop. Let it finish before you speak.
SAY: "Last lesson ended with a question I refused to answer. The energy runs out after four or five steps. So why, after ten thousand years, has this estuary not run out of nitrogen?"
TIMING: 30 seconds. The question is the hook and it is on slide 5 — do not answer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 1 minute. Two clicks.
SAY: "Criterion two looks trivial and it is the one most adults get wrong. Where does the wood in a tree come from? Hold that."
Criterion five is the Lesson 1 question. Point at it and remind them you promised an answer three lessons ago.
They fill the START column of the RAG grid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5 minutes: 4 working, 1 marking. Six clicks, one answer each.
Q1 and Q2 are load-bearing. If the room cannot write both equations, slow down and rebuild them together — the carbon cycle on slide 7 IS those two equations drawn as a loop, and it will not land otherwise.
Q5 is deliberate: they did the water cycle in Year 7 and they own it. You are going to borrow its shape twice today.
Q6 IS THE LESSON. Do NOT settle it now. Take a straw poll: soil, water, or air. Nearly every class votes soil. Write the tally on the board and say "one of these rooms is about to be very surprised." You come back to it on slide 7.
MISCONCEPTION on Q4: "they eat the dead things". Close, but the word that earns the mark is RELEASE — what they put back is the point of today.
STRETCH: "Q1 and Q2 are almost the same equation backwards. Why is that not a contradiction?" — different conditions, different places, different energy direction. Thirty seconds, no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4 minutes. Three clicks: the setup, the question, then the options staggered.
Take the vote by hands and record it next to the Q6 tally.
ANSWER: B, and you can give it at the end of this slide rather than holding it — the interesting part today is not WHICH answer but HOW the cycle works.
A is not silly: tides do move nutrients about, and mangroves really do trap sediment. But moving nitrogen from one place to another does not create any. Say that — it is the distinction between a source and a transfer.
C is flatly wrong and Lesson 1 proved it: the trees at Tung Prong Thong are gold precisely BECAUSE they are short of nitrogen. If anyone votes C, that is the link to make.
STRETCH: "Where did the nitrogen atoms come from in the first place, before any of this?" — the atmosphere, and before that, stars. Do not follow it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4 minutes. Six clicks: the energy panel builds left to right, then heat leaves; then the matter panel builds as a closed loop.
EXACT WORDING, and it is the sentence of the lesson: "Energy is spent. Matter is borrowed."
The two diagrams are doing the teaching, so let them look. Point at the left one: the line has an end. Point at the right one: there is no end, only a next step.
CALL BACK to Year 7: the water cycle they already know has exactly this shape. Say so — you are not teaching a new idea, you are teaching two new examples of an idea they own.
MISCONCEPTION: "so the ecosystem could run without the Sun, if the matter keeps going round". No — the matter cycles BECAUSE energy keeps pushing it round. Stop the energy and the loop stops. Good students will ask this; it is worth 30 seconds.
STRETCH: "Which law of physics is the right-hand picture?" — conservation of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6 minutes. Seven clicks: CO₂ first, then each arrow-label-box step round the loop, then the locked-in-the-mud box, then the banner.
GO BACK TO DO NOW Q6 before you build. The tally on the board almost certainly says soil. Build the loop, then click the banner and let it land.
EXACT WORDING: "That two-tonne tree is made of carbon it took out of the sky, one molecule at a time, through holes in its leaves. The soil gave it water and a few minerals. The MASS came from the air."
Expect disbelief. It is the single most satisfying fact in Year 9 biology. Let them argue for a minute.
MISCONCEPTION: only decomposers return carbon. No — the producers and the consumers are respiring the whole time, day and night. The arrow labelled RESPIRATION AND DECOMPOSITION covers both; say that explicitly or they will think plants only photosynthesise.
DO NOT DWELL on the gold "locked in the mud" box yet. Introduce it, say "hold that thought", and move on. It is the reveal on slide 14.
STRETCH: "If photosynthesis and respiration are opposites, why is there any carbon left in living things at all?" — because photosynthesis runs slightly ahead. That surplus is the whole food chain from Lesson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minutes. Eight clicks: destination then reason, row by row. Boards up BEFORE you click.
Rows 1 to 3 are one atom doing a complete lap in about a year. Say that out loud when row 3 lands: "that is a full circuit, and it happens constantly."
ROW 4 IS THE PIVOT of the lesson, and the footer tells them to look for it. The answer is that nothing happens. Ask: "Why can the decomposers not get at it?" Waterlogged mud has almost no oxygen, so decomposition nearly stops.
MODEL ANSWER for the follow-up "so is that still a cycle?" — yes, but with a very slow lane. Some carbon comes back in a day, some in a thousand years.
MISCONCEPTION on row 3: students say "the crab turns it into energy". No. It releases energy FROM it; the carbon atom is unchanged and leaves as CO₂. Matter and energy are different things — that is slide 6 again.
IF THE ROOM IS SECURE by row 2, take rows 3 and 4 as whole-class discussion rather than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6 minutes. Seven clicks: the air first, then the fixation step, then round the loop one arrow at a time, then the note.
START WITH THE ODDITY: "You are breathing nitrogen right now. Four out of every five molecules going into your lungs. And you cannot use a single one of them." That lands every time.
THE METAPHOR on the slide is the doorman: N₂ is a locked molecule and only the bacteria have the key. Push them to say "fixing means making it usable", not "fixing means repairing".
THE 40–60% FIGURE is measured, not a guess — biological fixation supplies that share of a mangrove forest's nitrogen. Mangrove mud is genuinely nitrogen-limited, which is why the fixers matter so much there.
MISCONCEPTION: "so plants get nitrogen from the air". They do not, directly. The nitrogen comes from the MUD; it only got there because bacteria put it there.
MODEL ANSWER for "why do farmers add fertiliser?" — to skip the bacteria. That is the Haber process, and it is Y10 chemistry. Flag it, do not teach it.
STRETCH: "Which arrow would you cut to kill the forest fastest?" — the fixing arrow. Nothing else replaces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4 minutes. Eight clicks: heading then explanation, step by step. Ask the class for each step BEFORE you click it.
This is the payoff for the whole sequence, so do not rush it. In Lesson 1 you told them the answer was "something in the ground". Today they can say exactly what, and why, using a cycle they drew twenty minutes ago.
PROMPT FOR STEP 1: "What is different about the ground at Tung Prong Thong?" They met this on Lesson 1 slide 14.
PROMPT FOR STEP 3: "What does a plant need nitrogen FOR?" Push until someone says chlorophyll or protein. Both are right.
MISCONCEPTION: "the trees are dying." They are not. They are stunted and they flower and reproduce perfectly well. Worth correcting because it matters for how students argue about conservation later.
IF A STUDENT ASKS why the bacteria do not just fix more nitrogen there — excellent question, and the honest answer is that fixation is slow and expensive for the bacteria, and a drained sandbank is a poor home for them. Say you are not certain of the detail; that is a true and useful thing for them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11 minutes. No clicks.
CIRCULATE WITH ONE QUESTION: "Point at the arrow you are describing." If they cannot point, they are writing words rather than following a cycle.
WHERE THEY WILL STALL: B3 (the numeracy on percentages of carbon in the soil) and C4 (why draining a mangrove releases carbon). For C4 tell them to look at the gold box on slide 7 and ask what happens when the mud stops being waterlogged.
LEAVE SLIDE 7 OR 9 ON THE BOARD if you can — a cycle diagram is a reference, not a secret.
AT 3 MINUTES REMAINING, stop them wherever they are. The reveal is worth more than three more minutes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part one — 2 minutes. Three clicks: each photo with its caption, then the banner.
NOTE THE HONEST CAPTION. The left-hand photo is a temperate forest floor, not a tropical one, and the caption says so. It is there for the contrast, not as a picture of Rayong. If a student notices before you say it, credit them.
SAY: "Decomposition is respiration. Respiration needs oxygen. Waterlogged mud has almost none, so the process nearly stops — and the carbon just sits there."
This is the mechanism behind row 4 of the We Do. Link it back explicitly.
STRETCH: "What else does this explain?" — peat bogs, and ultimately coal. A coal seam is a carbon cycle that got stuck for three hundred million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part two — 1 minute. Five clicks: the four numbers, then the closing line.
Do not read all four cards aloud. Click them, let them look, and land on card 2 — "the forest you can see is the smaller half of the forest."
THE CALL-BACK matters: Chalome Wongthim from Lesson 1 pushed seedlings into the mud to bring the crabs back. He was also, without knowing the word, rebuilding a carbon store. Three lessons, one estuary.
HONESTY: 1,023 tonnes per hectare is an average across 25 forests and the range is wide. Say "about a thousand" rather than implying precision.
STRETCH: "If the soil holds the carbon, does planting new trees on bare tidal flat help as much as protecting old forest?" — genuinely debated, and the evidence leans towards protecting what is already there. A good answer is "protect first, plant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2 minutes. Three clicks: what is happening, then the two sides of the argument.
SENSITIVE — read the teacher slide. Rayong is a petrochemical province; Map Ta Phut is down the road and some of your students have a parent working there. Several of the companies buying these credits are in exactly that industry.
HOLD THE LINE between the two halves of the slide: the carbon numbers on slide 13 are measurements and are not in dispute. Whether carbon credits are a good idea is a political question, and reasonable people disagree. Do not tell them what to think, and do not pretend there is nothing to argue about either.
IF A STUDENT ASKS what you think — it is fine to say that this is one where your job is to make sure they can argue it properly, not to hand them your answer.
THE SCIENCE QUESTION worth asking: "What would you have to measure to check a mangrove really stored the carbon someone was paid for?" Soil depth and soil carbon content, repeatedly, over years. That is genuinely difficult, and it is the strongest version of the AGAINST case.
CUT THIS SLIDE FIRST if you are behind. It is context, not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 1 minute, folded into the plenary time. Four clicks.
This is the slide to photograph. Tell them so.
SAY the banner sentence out loud and make them say it back. "Energy is spent. Matter is borrowed." If they remember one thing from three lessons, that is the one worth having.
The last line is a deliberate overstatement and a good student will push back on it. Let them — population, competition and succession are all still coming. Agreeing with a student who catches you exaggerating is worth more than the exaggeration.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 2 minutes. Eleven clicks: each statement, then its verdict and reason together, then the closing line.
Every false statement here is a misconception from the hidden teacher slide. Q2 is the only TRUE one and it is deliberately the one that feels wrong — if half the room stays sitting, that is the sentence to put in next lesson's Do Now.
THE MOTIF FINISHES HERE: same tree from Lesson 1, same sun, and the arrows now closed into a loop. Nobody will mention it. It still works.
CLOSING LINE points at the rest of Unit 2 — human population and the goldfish-cracker tragedy-of-the-commons activity in the scheme of work. That is the practical this unit has been saving up.
THE SEQUENCE IS DONE. Objectives 1 to 5 are all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lesson unless someone asks. Kept in the file so the licences and the numbers travel with the deck if you share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bg>
      <p:bgPr>
        <a:solidFill>
          <a:srgbClr val="FFFFFF"/>
        </a:solidFill>
      </p:bgPr>
    </p:bg>
    <p:spTree>
      <p:nvGrpSpPr>
        <p:cNvPr id="1" name=""/>
        <p:cNvGrpSpPr/>
        <p:nvPr/>
      </p:nvGrpSpPr>
      <p:grpSpPr>
        <a:xfrm>
          <a:off x="0" y="0"/>
          <a:ext cx="0" cy="0"/>
          <a:chOff x="0" y="0"/>
          <a:chExt cx="0" cy="0"/>
        </a:xfrm>
      </p:grpSpPr>
      <p:sp>
        <p:nvSpPr>
          <p:cNvPr id="2" name="teach_flag"/>
          <p:cNvSpPr txBox="1"/>
          <p:nvPr/>
        </p:nvSpPr>
        <p:spPr>
          <a:xfrm>
            <a:off x="502920" y="237744"/>
            <a:ext cx="6400800" cy="310896"/>
          </a:xfrm>
          <a:prstGeom prst="rect">
            <a:avLst/>
          </a:prstGeom>
          <a:noFill/>
          <a:ln/>
        </p:spPr>
        <p:txBody>
          <a:bodyPr wrap="square" lIns="0" tIns="0" rIns="0" bIns="0" rtlCol="0" anchor="ctr"/>
          <a:lstStyle/>
          <a:p>
            <a:pPr indent="0" marL="0">
              <a:buNone/>
            </a:pPr>
            <a:r>
              <a:rPr lang="en-US" sz="1100" b="1" spc="120" kern="0" dirty="0">
                <a:solidFill>
                  <a:srgbClr val="E2572B"/>
                </a:solidFill>
                <a:latin typeface="Arial" pitchFamily="34" charset="0"/>
                <a:ea typeface="Arial" pitchFamily="34" charset="-122"/>
                <a:cs typeface="Arial" pitchFamily="34" charset="-120"/>
              </a:rPr>
              <a:t>TEACHER ONLY — hidden in slideshow</a:t>
            </a:r>
            <a:endParaRPr lang="en-US" sz="1100" dirty="0"/>
          </a:p>
        </p:txBody>
      </p:sp>
      <p:sp>
        <p:nvSpPr>
          <p:cNvPr id="3" name="teach_meta"/>
          <p:cNvSpPr txBox="1"/>
          <p:nvPr/>
        </p:nvSpPr>
        <p:spPr>
          <a:xfrm>
            <a:off x="6202375" y="237744"/>
            <a:ext cx="5486400" cy="310896"/>
          </a:xfrm>
          <a:prstGeom prst="rect">
            <a:avLst/>
          </a:prstGeom>
          <a:noFill/>
          <a:ln/>
        </p:spPr>
        <p:txBody>
          <a:bodyPr wrap="square" lIns="0" tIns="0" rIns="0" bIns="0" rtlCol="0" anchor="ctr"/>
          <a:lstStyle/>
          <a:p>
            <a:pPr algn="r" indent="0" marL="0">
              <a:buNone/>
            </a:pPr>
            <a:r>
              <a:rPr lang="en-US" sz="1100" dirty="0">
                <a:solidFill>
                  <a:srgbClr val="4A6165"/>
                </a:solidFill>
                <a:latin typeface="Arial" pitchFamily="34" charset="0"/>
                <a:ea typeface="Arial" pitchFamily="34" charset="-122"/>
                <a:cs typeface="Arial" pitchFamily="34" charset="-120"/>
              </a:rPr>
              <a:t>Y9 · Ecosystems L3 of 3 · 50 minutes</a:t>
            </a:r>
            <a:endParaRPr lang="en-US" sz="1100" dirty="0"/>
          </a:p>
        </p:txBody>
      </p:sp>
      <p:sp>
        <p:nvSpPr>
          <p:cNvPr id="4" name="teach_title"/>
          <p:cNvSpPr txBox="1"/>
          <p:nvPr/>
        </p:nvSpPr>
        <p:spPr>
          <a:xfrm>
            <a:off x="502920" y="566928"/>
            <a:ext cx="11185855" cy="457200"/>
          </a:xfrm>
          <a:prstGeom prst="rect">
            <a:avLst/>
          </a:prstGeom>
          <a:noFill/>
          <a:ln/>
        </p:spPr>
        <p:txBody>
          <a:bodyPr wrap="square" lIns="0" tIns="0" rIns="0" bIns="0" rtlCol="0" anchor="ctr"/>
          <a:lstStyle/>
          <a:p>
            <a:pPr indent="0" marL="0">
              <a:buNone/>
            </a:pPr>
            <a:r>
              <a:rPr lang="en-US" sz="2100" b="1" dirty="0">
                <a:solidFill>
                  <a:srgbClr val="0E3A3F"/>
                </a:solidFill>
                <a:latin typeface="Georgia" pitchFamily="34" charset="0"/>
                <a:ea typeface="Georgia" pitchFamily="34" charset="-122"/>
                <a:cs typeface="Georgia" pitchFamily="34" charset="-120"/>
              </a:rPr>
              <a:t>Round and round:  carbon, nitrogen, and why the mud is full of both</a:t>
            </a:r>
            <a:endParaRPr lang="en-US" sz="2100" dirty="0"/>
          </a:p>
        </p:txBody>
      </p:sp>
      <p:sp>
        <p:nvSpPr>
          <p:cNvPr id="5" name="teach_col0_bg"/>
          <p:cNvSpPr/>
          <p:nvPr/>
        </p:nvSpPr>
        <p:spPr>
          <a:xfrm>
            <a:off x="502920" y="1188720"/>
            <a:ext cx="3576218" cy="5285232"/>
          </a:xfrm>
          <a:prstGeom prst="rect">
            <a:avLst/>
          </a:prstGeom>
          <a:solidFill>
            <a:srgbClr val="F7F5EE"/>
          </a:solidFill>
          <a:ln w="12700">
            <a:solidFill>
              <a:srgbClr val="F0E4C8"/>
            </a:solidFill>
            <a:prstDash val="solid"/>
          </a:ln>
        </p:spPr>
      </p:sp>
      <p:sp>
        <p:nvSpPr>
          <p:cNvPr id="6" name="teach_col0_h"/>
          <p:cNvSpPr txBox="1"/>
          <p:nvPr/>
        </p:nvSpPr>
        <p:spPr>
          <a:xfrm>
            <a:off x="649224" y="1316736"/>
            <a:ext cx="3283610" cy="274320"/>
          </a:xfrm>
          <a:prstGeom prst="rect">
            <a:avLst/>
          </a:prstGeom>
          <a:noFill/>
          <a:ln/>
        </p:spPr>
        <p:txBody>
          <a:bodyPr wrap="square" lIns="0" tIns="0" rIns="0" bIns="0" rtlCol="0" anchor="ctr"/>
          <a:lstStyle/>
          <a:p>
            <a:pPr indent="0" marL="0">
              <a:buNone/>
            </a:pPr>
            <a:r>
              <a:rPr lang="en-US" sz="1050" b="1" spc="100" kern="0" dirty="0">
                <a:solidFill>
                  <a:srgbClr val="0E3A3F"/>
                </a:solidFill>
                <a:latin typeface="Arial" pitchFamily="34" charset="0"/>
                <a:ea typeface="Arial" pitchFamily="34" charset="-122"/>
                <a:cs typeface="Arial" pitchFamily="34" charset="-120"/>
              </a:rPr>
              <a:t>PRIOR KNOWLEDGE</a:t>
            </a:r>
            <a:endParaRPr lang="en-US" sz="1050" dirty="0"/>
          </a:p>
        </p:txBody>
      </p:sp>
      <p:sp>
        <p:nvSpPr>
          <p:cNvPr id="7" name="teach_col0_b"/>
          <p:cNvSpPr txBox="1"/>
          <p:nvPr/>
        </p:nvSpPr>
        <p:spPr>
          <a:xfrm>
            <a:off x="649224"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14282B"/>
                </a:solidFill>
                <a:latin typeface="Arial" pitchFamily="34" charset="0"/>
                <a:ea typeface="Arial" pitchFamily="34" charset="-122"/>
                <a:cs typeface="Arial" pitchFamily="34" charset="-120"/>
              </a:rPr>
              <a:t>• Lesson 1: ecosystem, abiotic/biotic, producer / consumer / decomposer. The gold forest at Tung Prong Thong was short of NITROGEN — today is the payoff for that.</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Lesson 2: energy flows one way and is lost as heat. Today is the contrast.</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Y7 Unit 3 (Earth's Fresh Water): they have already done the water cycle properly — evaporation, condensation, precipitation. Use it as the model they already own and say so.</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Y8 / Y7 Cells: photosynthesis and respiration equations. They need both today, so put them on the board before the bell.</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EAL note: "fix" in "nitrogen fixation" has nothing to do with repairing. Say that out loud once — it confuses fluent speakers too.</a:t>
            </a:r>
            <a:endParaRPr lang="en-US" sz="820" dirty="0"/>
          </a:p>
        </p:txBody>
      </p:sp>
      <p:sp>
        <p:nvSpPr>
          <p:cNvPr id="8" name="teach_col1_bg"/>
          <p:cNvSpPr/>
          <p:nvPr/>
        </p:nvSpPr>
        <p:spPr>
          <a:xfrm>
            <a:off x="4307738" y="1188720"/>
            <a:ext cx="3576218" cy="5285232"/>
          </a:xfrm>
          <a:prstGeom prst="rect">
            <a:avLst/>
          </a:prstGeom>
          <a:solidFill>
            <a:srgbClr val="FDF1EC"/>
          </a:solidFill>
          <a:ln w="12700">
            <a:solidFill>
              <a:srgbClr val="E2572B"/>
            </a:solidFill>
            <a:prstDash val="solid"/>
          </a:ln>
        </p:spPr>
      </p:sp>
      <p:sp>
        <p:nvSpPr>
          <p:cNvPr id="9" name="teach_col1_h"/>
          <p:cNvSpPr txBox="1"/>
          <p:nvPr/>
        </p:nvSpPr>
        <p:spPr>
          <a:xfrm>
            <a:off x="4454042" y="1316736"/>
            <a:ext cx="3283610" cy="274320"/>
          </a:xfrm>
          <a:prstGeom prst="rect">
            <a:avLst/>
          </a:prstGeom>
          <a:noFill/>
          <a:ln/>
        </p:spPr>
        <p:txBody>
          <a:bodyPr wrap="square" lIns="0" tIns="0" rIns="0" bIns="0" rtlCol="0" anchor="ctr"/>
          <a:lstStyle/>
          <a:p>
            <a:pPr indent="0" marL="0">
              <a:buNone/>
            </a:pPr>
            <a:r>
              <a:rPr lang="en-US" sz="1050" b="1" spc="100" kern="0" dirty="0">
                <a:solidFill>
                  <a:srgbClr val="E2572B"/>
                </a:solidFill>
                <a:latin typeface="Arial" pitchFamily="34" charset="0"/>
                <a:ea typeface="Arial" pitchFamily="34" charset="-122"/>
                <a:cs typeface="Arial" pitchFamily="34" charset="-120"/>
              </a:rPr>
              <a:t>MISCONCEPTIONS  (wrong → right)</a:t>
            </a:r>
            <a:endParaRPr lang="en-US" sz="1050" dirty="0"/>
          </a:p>
        </p:txBody>
      </p:sp>
      <p:sp>
        <p:nvSpPr>
          <p:cNvPr id="10" name="teach_col1_b"/>
          <p:cNvSpPr txBox="1"/>
          <p:nvPr/>
        </p:nvSpPr>
        <p:spPr>
          <a:xfrm>
            <a:off x="4454042"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14282B"/>
                </a:solidFill>
                <a:latin typeface="Arial" pitchFamily="34" charset="0"/>
                <a:ea typeface="Arial" pitchFamily="34" charset="-122"/>
                <a:cs typeface="Arial" pitchFamily="34" charset="-120"/>
              </a:rPr>
              <a:t>✗ "Matter and energy both go round."</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Energy flows through ONCE and leaves as heat. Matter cycles. This is the whole lesson.</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"A tree gets its carbon from the soil."</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Almost all of it comes from CO₂ in the air. The mass of that tree came out of the sky. Expect real resistance; it is worth the two minutes.</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"Plants get their nitrogen straight from the air."</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The air is 78% nitrogen and almost no plant can touch it. Bacteria have to fix it first.</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"Decomposers destroy the dead stuff."</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Nothing is destroyed. They release it. Atoms are conserved.</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"If it is a cycle, everything keeps moving."</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Mangrove mud holds carbon for centuries. A cycle can have a very slow lane, and that is what blue carbon is.</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"Only animals respire."</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 Plants respire too, day and night. Otherwise the carbon cycle on slide 7 has no return arrow from the producers.</a:t>
            </a:r>
            <a:endParaRPr lang="en-US" sz="820" dirty="0"/>
          </a:p>
        </p:txBody>
      </p:sp>
      <p:sp>
        <p:nvSpPr>
          <p:cNvPr id="11" name="teach_col2_bg"/>
          <p:cNvSpPr/>
          <p:nvPr/>
        </p:nvSpPr>
        <p:spPr>
          <a:xfrm>
            <a:off x="8112557" y="1188720"/>
            <a:ext cx="3576218" cy="5285232"/>
          </a:xfrm>
          <a:prstGeom prst="rect">
            <a:avLst/>
          </a:prstGeom>
          <a:solidFill>
            <a:srgbClr val="F7F5EE"/>
          </a:solidFill>
          <a:ln w="12700">
            <a:solidFill>
              <a:srgbClr val="F0E4C8"/>
            </a:solidFill>
            <a:prstDash val="solid"/>
          </a:ln>
        </p:spPr>
      </p:sp>
      <p:sp>
        <p:nvSpPr>
          <p:cNvPr id="12" name="teach_col2_h"/>
          <p:cNvSpPr txBox="1"/>
          <p:nvPr/>
        </p:nvSpPr>
        <p:spPr>
          <a:xfrm>
            <a:off x="8258861" y="1316736"/>
            <a:ext cx="3283610" cy="274320"/>
          </a:xfrm>
          <a:prstGeom prst="rect">
            <a:avLst/>
          </a:prstGeom>
          <a:noFill/>
          <a:ln/>
        </p:spPr>
        <p:txBody>
          <a:bodyPr wrap="square" lIns="0" tIns="0" rIns="0" bIns="0" rtlCol="0" anchor="ctr"/>
          <a:lstStyle/>
          <a:p>
            <a:pPr indent="0" marL="0">
              <a:buNone/>
            </a:pPr>
            <a:r>
              <a:rPr lang="en-US" sz="1050" b="1" spc="100" kern="0" dirty="0">
                <a:solidFill>
                  <a:srgbClr val="0E3A3F"/>
                </a:solidFill>
                <a:latin typeface="Arial" pitchFamily="34" charset="0"/>
                <a:ea typeface="Arial" pitchFamily="34" charset="-122"/>
                <a:cs typeface="Arial" pitchFamily="34" charset="-120"/>
              </a:rPr>
              <a:t>LESSON FLOW  (50 min)</a:t>
            </a:r>
            <a:endParaRPr lang="en-US" sz="1050" dirty="0"/>
          </a:p>
        </p:txBody>
      </p:sp>
      <p:sp>
        <p:nvSpPr>
          <p:cNvPr id="13" name="teach_col2_b"/>
          <p:cNvSpPr txBox="1"/>
          <p:nvPr/>
        </p:nvSpPr>
        <p:spPr>
          <a:xfrm>
            <a:off x="8258861" y="1627632"/>
            <a:ext cx="3283610" cy="4718304"/>
          </a:xfrm>
          <a:prstGeom prst="rect">
            <a:avLst/>
          </a:prstGeom>
          <a:noFill/>
          <a:ln/>
        </p:spPr>
        <p:txBody>
          <a:bodyPr wrap="square" lIns="0" tIns="0" rIns="0" bIns="0" rtlCol="0" anchor="t"/>
          <a:lstStyle/>
          <a:p>
            <a:pPr indent="0" marL="0">
              <a:lnSpc>
                <a:spcPts val="1150"/>
              </a:lnSpc>
              <a:buNone/>
            </a:pPr>
            <a:r>
              <a:rPr lang="en-US" sz="820" dirty="0">
                <a:solidFill>
                  <a:srgbClr val="14282B"/>
                </a:solidFill>
                <a:latin typeface="Arial" pitchFamily="34" charset="0"/>
                <a:ea typeface="Arial" pitchFamily="34" charset="-122"/>
                <a:cs typeface="Arial" pitchFamily="34" charset="-120"/>
              </a:rPr>
              <a:t>Do Now — 5</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Hook: why has the nitrogen not run out? — 4</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 Do: flows vs cycles — 4</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 Do: the carbon cycle — 6</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We Do: follow the atom — 5</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 Do: the nitrogen cycle — 6</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We Do: the gold forest, solved — 4</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You Do: worksheet — 11</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Reveal: the slow lane — 3</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Plenary: true / false — 2</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a:t>
            </a: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TOTAL 50 min</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SCOPE: this delivers your objective 5 and closes the three-lesson sequence.</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CURRICULUM NOTE, worth knowing: your pasted objectives came from CK-12 19.1, which the attached SoW maps to Y9 Unit 2. Biogeochemical cycles are CK-12 19.4, which the SoW puts in Y9 UNIT 4 (Ecosystem Dynamics, 5 hours). So this lesson is really Unit 4's opening lesson pulled forward to finish your objective list. When you reach Unit 4, start at biomes and succession — do not teach the cycles twice. Unit 3 (18.1–18.3) also overlaps Lessons 1 and 2 heavily.</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IF YOU ARE SHORT OF TIME: cut the nitrogen cycle to the fixation step only and set the rest as the worksheet Gold. Do not cut the reveal — it is where the sequence lands.</a:t>
            </a:r>
            <a:endParaRPr lang="en-US" sz="820" dirty="0"/>
          </a:p>
          <a:p>
            <a:pPr indent="0" marL="0">
              <a:lnSpc>
                <a:spcPts val="1150"/>
              </a:lnSpc>
              <a:buNone/>
            </a:pPr>
            <a:endParaRPr lang="en-US" sz="820" dirty="0"/>
          </a:p>
          <a:p>
            <a:pPr indent="0" marL="0">
              <a:lnSpc>
                <a:spcPts val="1150"/>
              </a:lnSpc>
              <a:buNone/>
            </a:pPr>
            <a:r>
              <a:rPr lang="en-US" sz="820" dirty="0">
                <a:solidFill>
                  <a:srgbClr val="14282B"/>
                </a:solidFill>
                <a:latin typeface="Arial" pitchFamily="34" charset="0"/>
                <a:ea typeface="Arial" pitchFamily="34" charset="-122"/>
                <a:cs typeface="Arial" pitchFamily="34" charset="-120"/>
              </a:rPr>
              <a:t>SENSITIVE CONTENT — slide 14. Carbon credits and a petrochemical industry that many Rayong families work in. Present the science as settled and the policy as contested, because that is the honest position.</a:t>
            </a:r>
            <a:endParaRPr lang="en-US" sz="82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A3F"/>
        </a:solidFill>
      </p:bgPr>
    </p:bg>
    <p:spTree>
      <p:nvGrpSpPr>
        <p:cNvPr id="1" name=""/>
        <p:cNvGrpSpPr/>
        <p:nvPr/>
      </p:nvGrpSpPr>
      <p:grpSpPr>
        <a:xfrm>
          <a:off x="0" y="0"/>
          <a:ext cx="0" cy="0"/>
          <a:chOff x="0" y="0"/>
          <a:chExt cx="0" cy="0"/>
        </a:xfrm>
      </p:grpSpPr>
      <p:grpSp>
        <p:nvGrpSpPr>
          <p:cNvPr id="29" name="motif_ground"/>
          <p:cNvGrpSpPr/>
          <p:nvPr/>
        </p:nvGrpSpPr>
        <p:grpSpPr>
          <a:xfrm>
            <a:off x="0" y="5138928"/>
            <a:ext cx="12191695" cy="1719072"/>
            <a:chOff x="0" y="5138928"/>
            <a:chExt cx="12191695" cy="1719072"/>
          </a:xfrm>
        </p:grpSpPr>
        <p:sp>
          <p:nvSpPr>
            <p:cNvPr id="2" name="motif_water"/>
            <p:cNvSpPr/>
            <p:nvPr/>
          </p:nvSpPr>
          <p:spPr>
            <a:xfrm>
              <a:off x="0" y="5138928"/>
              <a:ext cx="12191695" cy="182880"/>
            </a:xfrm>
            <a:prstGeom prst="rect">
              <a:avLst/>
            </a:prstGeom>
            <a:solidFill>
              <a:srgbClr val="2E9E6B"/>
            </a:solidFill>
            <a:ln w="12700">
              <a:solidFill>
                <a:srgbClr val="2E9E6B"/>
              </a:solidFill>
              <a:prstDash val="solid"/>
            </a:ln>
          </p:spPr>
        </p:sp>
        <p:sp>
          <p:nvSpPr>
            <p:cNvPr id="3" name="motif_mud"/>
            <p:cNvSpPr/>
            <p:nvPr/>
          </p:nvSpPr>
          <p:spPr>
            <a:xfrm>
              <a:off x="0" y="5303520"/>
              <a:ext cx="12191695" cy="1554480"/>
            </a:xfrm>
            <a:prstGeom prst="rect">
              <a:avLst/>
            </a:prstGeom>
            <a:solidFill>
              <a:srgbClr val="2A4A44"/>
            </a:solidFill>
            <a:ln w="12700">
              <a:solidFill>
                <a:srgbClr val="2A4A44"/>
              </a:solidFill>
              <a:prstDash val="solid"/>
            </a:ln>
          </p:spPr>
        </p:sp>
      </p:grpSp>
      <p:sp>
        <p:nvSpPr>
          <p:cNvPr id="4" name="motif_sun"/>
          <p:cNvSpPr/>
          <p:nvPr/>
        </p:nvSpPr>
        <p:spPr>
          <a:xfrm>
            <a:off x="9418320" y="566928"/>
            <a:ext cx="731520" cy="731520"/>
          </a:xfrm>
          <a:prstGeom prst="ellipse">
            <a:avLst/>
          </a:prstGeom>
          <a:solidFill>
            <a:srgbClr val="F5B301"/>
          </a:solidFill>
          <a:ln w="12700">
            <a:solidFill>
              <a:srgbClr val="F5B301"/>
            </a:solidFill>
            <a:prstDash val="solid"/>
          </a:ln>
        </p:spPr>
      </p:sp>
      <p:grpSp>
        <p:nvGrpSpPr>
          <p:cNvPr id="28" name="motif_canopy"/>
          <p:cNvGrpSpPr/>
          <p:nvPr/>
        </p:nvGrpSpPr>
        <p:grpSpPr>
          <a:xfrm>
            <a:off x="6156838" y="1481328"/>
            <a:ext cx="2480950" cy="1249802"/>
            <a:chOff x="6156838" y="1481328"/>
            <a:chExt cx="2480950" cy="1249802"/>
          </a:xfrm>
        </p:grpSpPr>
        <p:sp>
          <p:nvSpPr>
            <p:cNvPr id="5" name="motif_leaf0"/>
            <p:cNvSpPr/>
            <p:nvPr/>
          </p:nvSpPr>
          <p:spPr>
            <a:xfrm>
              <a:off x="6156838" y="1891711"/>
              <a:ext cx="1324417" cy="839419"/>
            </a:xfrm>
            <a:prstGeom prst="ellipse">
              <a:avLst/>
            </a:prstGeom>
            <a:solidFill>
              <a:srgbClr val="F5B301"/>
            </a:solidFill>
            <a:ln w="12700">
              <a:solidFill>
                <a:srgbClr val="F5B301"/>
              </a:solidFill>
              <a:prstDash val="solid"/>
            </a:ln>
          </p:spPr>
        </p:sp>
        <p:sp>
          <p:nvSpPr>
            <p:cNvPr id="6" name="motif_leaf1"/>
            <p:cNvSpPr/>
            <p:nvPr/>
          </p:nvSpPr>
          <p:spPr>
            <a:xfrm>
              <a:off x="7425294" y="1929018"/>
              <a:ext cx="1212494" cy="802112"/>
            </a:xfrm>
            <a:prstGeom prst="ellipse">
              <a:avLst/>
            </a:prstGeom>
            <a:solidFill>
              <a:srgbClr val="F5B301"/>
            </a:solidFill>
            <a:ln w="12700">
              <a:solidFill>
                <a:srgbClr val="F5B301"/>
              </a:solidFill>
              <a:prstDash val="solid"/>
            </a:ln>
          </p:spPr>
        </p:sp>
        <p:sp>
          <p:nvSpPr>
            <p:cNvPr id="7" name="motif_leaf2"/>
            <p:cNvSpPr/>
            <p:nvPr/>
          </p:nvSpPr>
          <p:spPr>
            <a:xfrm>
              <a:off x="6511260" y="1611904"/>
              <a:ext cx="1231148" cy="932688"/>
            </a:xfrm>
            <a:prstGeom prst="ellipse">
              <a:avLst/>
            </a:prstGeom>
            <a:solidFill>
              <a:srgbClr val="2E9E6B"/>
            </a:solidFill>
            <a:ln w="12700">
              <a:solidFill>
                <a:srgbClr val="2E9E6B"/>
              </a:solidFill>
              <a:prstDash val="solid"/>
            </a:ln>
          </p:spPr>
        </p:sp>
        <p:sp>
          <p:nvSpPr>
            <p:cNvPr id="8" name="motif_leaf3"/>
            <p:cNvSpPr/>
            <p:nvPr/>
          </p:nvSpPr>
          <p:spPr>
            <a:xfrm>
              <a:off x="7313371" y="1481328"/>
              <a:ext cx="1175187" cy="969996"/>
            </a:xfrm>
            <a:prstGeom prst="ellipse">
              <a:avLst/>
            </a:prstGeom>
            <a:solidFill>
              <a:srgbClr val="2E9E6B"/>
            </a:solidFill>
            <a:ln w="12700">
              <a:solidFill>
                <a:srgbClr val="2E9E6B"/>
              </a:solidFill>
              <a:prstDash val="solid"/>
            </a:ln>
          </p:spPr>
        </p:sp>
        <p:sp>
          <p:nvSpPr>
            <p:cNvPr id="9" name="motif_leaf4"/>
            <p:cNvSpPr/>
            <p:nvPr/>
          </p:nvSpPr>
          <p:spPr>
            <a:xfrm>
              <a:off x="6902988" y="1817096"/>
              <a:ext cx="1100572" cy="876727"/>
            </a:xfrm>
            <a:prstGeom prst="ellipse">
              <a:avLst/>
            </a:prstGeom>
            <a:solidFill>
              <a:srgbClr val="2E9E6B"/>
            </a:solidFill>
            <a:ln w="12700">
              <a:solidFill>
                <a:srgbClr val="2E9E6B"/>
              </a:solidFill>
              <a:prstDash val="solid"/>
            </a:ln>
          </p:spPr>
        </p:sp>
      </p:grpSp>
      <p:sp>
        <p:nvSpPr>
          <p:cNvPr id="10" name="motif_trunk"/>
          <p:cNvSpPr/>
          <p:nvPr/>
        </p:nvSpPr>
        <p:spPr>
          <a:xfrm>
            <a:off x="7327362" y="2066544"/>
            <a:ext cx="158557" cy="3163824"/>
          </a:xfrm>
          <a:prstGeom prst="rect">
            <a:avLst/>
          </a:prstGeom>
          <a:solidFill>
            <a:srgbClr val="FAF4E6"/>
          </a:solidFill>
          <a:ln w="12700">
            <a:solidFill>
              <a:srgbClr val="FAF4E6"/>
            </a:solidFill>
            <a:prstDash val="solid"/>
          </a:ln>
        </p:spPr>
      </p:sp>
      <p:grpSp>
        <p:nvGrpSpPr>
          <p:cNvPr id="27" name="motif_roots"/>
          <p:cNvGrpSpPr/>
          <p:nvPr/>
        </p:nvGrpSpPr>
        <p:grpSpPr>
          <a:xfrm>
            <a:off x="6149377" y="3989754"/>
            <a:ext cx="2551834" cy="1403787"/>
            <a:chOff x="6149377" y="3989754"/>
            <a:chExt cx="2551834" cy="1403787"/>
          </a:xfrm>
        </p:grpSpPr>
        <p:sp>
          <p:nvSpPr>
            <p:cNvPr id="11" name="motif_root0"/>
            <p:cNvSpPr/>
            <p:nvPr/>
          </p:nvSpPr>
          <p:spPr>
            <a:xfrm rot="2090839">
              <a:off x="6965945" y="3989754"/>
              <a:ext cx="79278" cy="1403787"/>
            </a:xfrm>
            <a:prstGeom prst="rect">
              <a:avLst/>
            </a:prstGeom>
            <a:solidFill>
              <a:srgbClr val="FAF4E6"/>
            </a:solidFill>
            <a:ln w="12700">
              <a:solidFill>
                <a:srgbClr val="FAF4E6"/>
              </a:solidFill>
              <a:prstDash val="solid"/>
            </a:ln>
          </p:spPr>
        </p:sp>
        <p:sp>
          <p:nvSpPr>
            <p:cNvPr id="12" name="motif_root1"/>
            <p:cNvSpPr/>
            <p:nvPr/>
          </p:nvSpPr>
          <p:spPr>
            <a:xfrm rot="1259724">
              <a:off x="7171136" y="4210649"/>
              <a:ext cx="79278" cy="1093320"/>
            </a:xfrm>
            <a:prstGeom prst="rect">
              <a:avLst/>
            </a:prstGeom>
            <a:solidFill>
              <a:srgbClr val="FAF4E6"/>
            </a:solidFill>
            <a:ln w="12700">
              <a:solidFill>
                <a:srgbClr val="FAF4E6"/>
              </a:solidFill>
              <a:prstDash val="solid"/>
            </a:ln>
          </p:spPr>
        </p:sp>
        <p:sp>
          <p:nvSpPr>
            <p:cNvPr id="13" name="motif_root2"/>
            <p:cNvSpPr/>
            <p:nvPr/>
          </p:nvSpPr>
          <p:spPr>
            <a:xfrm rot="-1259724">
              <a:off x="7562865" y="4210649"/>
              <a:ext cx="79278" cy="1093320"/>
            </a:xfrm>
            <a:prstGeom prst="rect">
              <a:avLst/>
            </a:prstGeom>
            <a:solidFill>
              <a:srgbClr val="FAF4E6"/>
            </a:solidFill>
            <a:ln w="12700">
              <a:solidFill>
                <a:srgbClr val="FAF4E6"/>
              </a:solidFill>
              <a:prstDash val="solid"/>
            </a:ln>
          </p:spPr>
        </p:sp>
        <p:sp>
          <p:nvSpPr>
            <p:cNvPr id="14" name="motif_root3"/>
            <p:cNvSpPr/>
            <p:nvPr/>
          </p:nvSpPr>
          <p:spPr>
            <a:xfrm rot="-2090839">
              <a:off x="7768057" y="3989754"/>
              <a:ext cx="79278" cy="1403787"/>
            </a:xfrm>
            <a:prstGeom prst="rect">
              <a:avLst/>
            </a:prstGeom>
            <a:solidFill>
              <a:srgbClr val="FAF4E6"/>
            </a:solidFill>
            <a:ln w="12700">
              <a:solidFill>
                <a:srgbClr val="FAF4E6"/>
              </a:solidFill>
              <a:prstDash val="solid"/>
            </a:ln>
          </p:spPr>
        </p:sp>
        <p:sp>
          <p:nvSpPr>
            <p:cNvPr id="15" name="motif_pneu0"/>
            <p:cNvSpPr/>
            <p:nvPr/>
          </p:nvSpPr>
          <p:spPr>
            <a:xfrm>
              <a:off x="6149377" y="5025177"/>
              <a:ext cx="52231" cy="223845"/>
            </a:xfrm>
            <a:prstGeom prst="rect">
              <a:avLst/>
            </a:prstGeom>
            <a:solidFill>
              <a:srgbClr val="FAF4E6"/>
            </a:solidFill>
            <a:ln w="12700">
              <a:solidFill>
                <a:srgbClr val="FAF4E6"/>
              </a:solidFill>
              <a:prstDash val="solid"/>
            </a:ln>
          </p:spPr>
        </p:sp>
        <p:sp>
          <p:nvSpPr>
            <p:cNvPr id="16" name="motif_pneu1"/>
            <p:cNvSpPr/>
            <p:nvPr/>
          </p:nvSpPr>
          <p:spPr>
            <a:xfrm>
              <a:off x="6373222" y="5025177"/>
              <a:ext cx="52231" cy="223845"/>
            </a:xfrm>
            <a:prstGeom prst="rect">
              <a:avLst/>
            </a:prstGeom>
            <a:solidFill>
              <a:srgbClr val="FAF4E6"/>
            </a:solidFill>
            <a:ln w="12700">
              <a:solidFill>
                <a:srgbClr val="FAF4E6"/>
              </a:solidFill>
              <a:prstDash val="solid"/>
            </a:ln>
          </p:spPr>
        </p:sp>
        <p:sp>
          <p:nvSpPr>
            <p:cNvPr id="17" name="motif_pneu2"/>
            <p:cNvSpPr/>
            <p:nvPr/>
          </p:nvSpPr>
          <p:spPr>
            <a:xfrm>
              <a:off x="8406482" y="5025177"/>
              <a:ext cx="52231" cy="223845"/>
            </a:xfrm>
            <a:prstGeom prst="rect">
              <a:avLst/>
            </a:prstGeom>
            <a:solidFill>
              <a:srgbClr val="FAF4E6"/>
            </a:solidFill>
            <a:ln w="12700">
              <a:solidFill>
                <a:srgbClr val="FAF4E6"/>
              </a:solidFill>
              <a:prstDash val="solid"/>
            </a:ln>
          </p:spPr>
        </p:sp>
        <p:sp>
          <p:nvSpPr>
            <p:cNvPr id="18" name="motif_pneu3"/>
            <p:cNvSpPr/>
            <p:nvPr/>
          </p:nvSpPr>
          <p:spPr>
            <a:xfrm>
              <a:off x="8648980" y="5025177"/>
              <a:ext cx="52231" cy="223845"/>
            </a:xfrm>
            <a:prstGeom prst="rect">
              <a:avLst/>
            </a:prstGeom>
            <a:solidFill>
              <a:srgbClr val="FAF4E6"/>
            </a:solidFill>
            <a:ln w="12700">
              <a:solidFill>
                <a:srgbClr val="FAF4E6"/>
              </a:solidFill>
              <a:prstDash val="solid"/>
            </a:ln>
          </p:spPr>
        </p:sp>
      </p:grpSp>
      <p:sp>
        <p:nvSpPr>
          <p:cNvPr id="19" name="motif_loop0"/>
          <p:cNvSpPr/>
          <p:nvPr/>
        </p:nvSpPr>
        <p:spPr>
          <a:xfrm rot="0">
            <a:off x="9553038" y="2256126"/>
            <a:ext cx="1285043" cy="219456"/>
          </a:xfrm>
          <a:prstGeom prst="rightArrow">
            <a:avLst/>
          </a:prstGeom>
          <a:solidFill>
            <a:srgbClr val="F5B301"/>
          </a:solidFill>
          <a:ln w="12700">
            <a:solidFill>
              <a:srgbClr val="F5B301"/>
            </a:solidFill>
            <a:prstDash val="solid"/>
          </a:ln>
        </p:spPr>
      </p:sp>
      <p:sp>
        <p:nvSpPr>
          <p:cNvPr id="20" name="motif_loop1"/>
          <p:cNvSpPr/>
          <p:nvPr/>
        </p:nvSpPr>
        <p:spPr>
          <a:xfrm rot="5400000">
            <a:off x="10341864" y="3044952"/>
            <a:ext cx="1285043" cy="219456"/>
          </a:xfrm>
          <a:prstGeom prst="rightArrow">
            <a:avLst/>
          </a:prstGeom>
          <a:solidFill>
            <a:srgbClr val="F5B301"/>
          </a:solidFill>
          <a:ln w="12700">
            <a:solidFill>
              <a:srgbClr val="F5B301"/>
            </a:solidFill>
            <a:prstDash val="solid"/>
          </a:ln>
        </p:spPr>
      </p:sp>
      <p:sp>
        <p:nvSpPr>
          <p:cNvPr id="21" name="motif_loop2"/>
          <p:cNvSpPr/>
          <p:nvPr/>
        </p:nvSpPr>
        <p:spPr>
          <a:xfrm rot="10800000">
            <a:off x="9553038" y="3833778"/>
            <a:ext cx="1285043" cy="219456"/>
          </a:xfrm>
          <a:prstGeom prst="rightArrow">
            <a:avLst/>
          </a:prstGeom>
          <a:solidFill>
            <a:srgbClr val="F5B301"/>
          </a:solidFill>
          <a:ln w="12700">
            <a:solidFill>
              <a:srgbClr val="F5B301"/>
            </a:solidFill>
            <a:prstDash val="solid"/>
          </a:ln>
        </p:spPr>
      </p:sp>
      <p:sp>
        <p:nvSpPr>
          <p:cNvPr id="22" name="motif_loop3"/>
          <p:cNvSpPr/>
          <p:nvPr/>
        </p:nvSpPr>
        <p:spPr>
          <a:xfrm rot="-5400000">
            <a:off x="8764213" y="3044952"/>
            <a:ext cx="1285043" cy="219456"/>
          </a:xfrm>
          <a:prstGeom prst="rightArrow">
            <a:avLst/>
          </a:prstGeom>
          <a:solidFill>
            <a:srgbClr val="F5B301"/>
          </a:solidFill>
          <a:ln w="12700">
            <a:solidFill>
              <a:srgbClr val="F5B301"/>
            </a:solidFill>
            <a:prstDash val="solid"/>
          </a:ln>
        </p:spPr>
      </p:sp>
      <p:sp>
        <p:nvSpPr>
          <p:cNvPr id="23" name="title_kicker"/>
          <p:cNvSpPr txBox="1"/>
          <p:nvPr/>
        </p:nvSpPr>
        <p:spPr>
          <a:xfrm>
            <a:off x="502920" y="1481328"/>
            <a:ext cx="6400800" cy="329184"/>
          </a:xfrm>
          <a:prstGeom prst="rect">
            <a:avLst/>
          </a:prstGeom>
          <a:noFill/>
          <a:ln/>
        </p:spPr>
        <p:txBody>
          <a:bodyPr wrap="square" lIns="0" tIns="0" rIns="0" bIns="0" rtlCol="0" anchor="ctr"/>
          <a:lstStyle/>
          <a:p>
            <a:pPr indent="0" marL="0">
              <a:buNone/>
            </a:pPr>
            <a:r>
              <a:rPr lang="en-US" sz="1250" b="1" spc="160" kern="0" dirty="0">
                <a:solidFill>
                  <a:srgbClr val="F5B301"/>
                </a:solidFill>
                <a:latin typeface="Arial" pitchFamily="34" charset="0"/>
                <a:ea typeface="Arial" pitchFamily="34" charset="-122"/>
                <a:cs typeface="Arial" pitchFamily="34" charset="-120"/>
              </a:rPr>
              <a:t>Y9 SCIENCE  ·  ECOSYSTEMS  ·  LESSON 3 OF 3</a:t>
            </a:r>
            <a:endParaRPr lang="en-US" sz="1250" dirty="0"/>
          </a:p>
        </p:txBody>
      </p:sp>
      <p:sp>
        <p:nvSpPr>
          <p:cNvPr id="24" name="title_main"/>
          <p:cNvSpPr txBox="1"/>
          <p:nvPr/>
        </p:nvSpPr>
        <p:spPr>
          <a:xfrm>
            <a:off x="502920" y="1883664"/>
            <a:ext cx="6400800" cy="1700784"/>
          </a:xfrm>
          <a:prstGeom prst="rect">
            <a:avLst/>
          </a:prstGeom>
          <a:noFill/>
          <a:ln/>
        </p:spPr>
        <p:txBody>
          <a:bodyPr wrap="square" lIns="0" tIns="0" rIns="0" bIns="0" rtlCol="0" anchor="ctr"/>
          <a:lstStyle/>
          <a:p>
            <a:pPr indent="0" marL="0">
              <a:lnSpc>
                <a:spcPts val="5600"/>
              </a:lnSpc>
              <a:buNone/>
            </a:pPr>
            <a:r>
              <a:rPr lang="en-US" sz="5400" b="1" dirty="0">
                <a:solidFill>
                  <a:srgbClr val="FAF4E6"/>
                </a:solidFill>
                <a:latin typeface="Georgia" pitchFamily="34" charset="0"/>
                <a:ea typeface="Georgia" pitchFamily="34" charset="-122"/>
                <a:cs typeface="Georgia" pitchFamily="34" charset="-120"/>
              </a:rPr>
              <a:t>Round and</a:t>
            </a:r>
            <a:endParaRPr lang="en-US" sz="5400" dirty="0"/>
          </a:p>
          <a:p>
            <a:pPr indent="0" marL="0">
              <a:lnSpc>
                <a:spcPts val="5600"/>
              </a:lnSpc>
              <a:buNone/>
            </a:pPr>
            <a:r>
              <a:rPr lang="en-US" sz="5400" b="1" dirty="0">
                <a:solidFill>
                  <a:srgbClr val="FAF4E6"/>
                </a:solidFill>
                <a:latin typeface="Georgia" pitchFamily="34" charset="0"/>
                <a:ea typeface="Georgia" pitchFamily="34" charset="-122"/>
                <a:cs typeface="Georgia" pitchFamily="34" charset="-120"/>
              </a:rPr>
              <a:t>round</a:t>
            </a:r>
            <a:endParaRPr lang="en-US" sz="5400" dirty="0"/>
          </a:p>
        </p:txBody>
      </p:sp>
      <p:sp>
        <p:nvSpPr>
          <p:cNvPr id="25" name="title_sub"/>
          <p:cNvSpPr txBox="1"/>
          <p:nvPr/>
        </p:nvSpPr>
        <p:spPr>
          <a:xfrm>
            <a:off x="502920" y="3712464"/>
            <a:ext cx="6309360" cy="841248"/>
          </a:xfrm>
          <a:prstGeom prst="rect">
            <a:avLst/>
          </a:prstGeom>
          <a:noFill/>
          <a:ln/>
        </p:spPr>
        <p:txBody>
          <a:bodyPr wrap="square" lIns="0" tIns="0" rIns="0" bIns="0" rtlCol="0" anchor="t"/>
          <a:lstStyle/>
          <a:p>
            <a:pPr indent="0" marL="0">
              <a:lnSpc>
                <a:spcPts val="2400"/>
              </a:lnSpc>
              <a:buNone/>
            </a:pPr>
            <a:r>
              <a:rPr lang="en-US" sz="1500" dirty="0">
                <a:solidFill>
                  <a:srgbClr val="F0E4C8"/>
                </a:solidFill>
                <a:latin typeface="Arial" pitchFamily="34" charset="0"/>
                <a:ea typeface="Arial" pitchFamily="34" charset="-122"/>
                <a:cs typeface="Arial" pitchFamily="34" charset="-120"/>
              </a:rPr>
              <a:t>The energy ran out in four steps. The atoms never do.</a:t>
            </a:r>
            <a:endParaRPr lang="en-US" sz="1500" dirty="0"/>
          </a:p>
          <a:p>
            <a:pPr indent="0" marL="0">
              <a:lnSpc>
                <a:spcPts val="2400"/>
              </a:lnSpc>
              <a:buNone/>
            </a:pPr>
            <a:r>
              <a:rPr lang="en-US" sz="1500" dirty="0">
                <a:solidFill>
                  <a:srgbClr val="F0E4C8"/>
                </a:solidFill>
                <a:latin typeface="Arial" pitchFamily="34" charset="0"/>
                <a:ea typeface="Arial" pitchFamily="34" charset="-122"/>
                <a:cs typeface="Arial" pitchFamily="34" charset="-120"/>
              </a:rPr>
              <a:t>The nitrogen in a mangrove leaf has been round this estuary thousands of times.</a:t>
            </a:r>
            <a:endParaRPr lang="en-US" sz="1500" dirty="0"/>
          </a:p>
        </p:txBody>
      </p:sp>
      <p:sp>
        <p:nvSpPr>
          <p:cNvPr id="26" name="title_place"/>
          <p:cNvSpPr txBox="1"/>
          <p:nvPr/>
        </p:nvSpPr>
        <p:spPr>
          <a:xfrm>
            <a:off x="502920" y="5760720"/>
            <a:ext cx="6400800" cy="329184"/>
          </a:xfrm>
          <a:prstGeom prst="rect">
            <a:avLst/>
          </a:prstGeom>
          <a:noFill/>
          <a:ln/>
        </p:spPr>
        <p:txBody>
          <a:bodyPr wrap="square" lIns="0" tIns="0" rIns="0" bIns="0" rtlCol="0" anchor="ctr"/>
          <a:lstStyle/>
          <a:p>
            <a:pPr indent="0" marL="0">
              <a:buNone/>
            </a:pPr>
            <a:r>
              <a:rPr lang="en-US" sz="1200" i="1" dirty="0">
                <a:solidFill>
                  <a:srgbClr val="F5B301"/>
                </a:solidFill>
                <a:latin typeface="Arial" pitchFamily="34" charset="0"/>
                <a:ea typeface="Arial" pitchFamily="34" charset="-122"/>
                <a:cs typeface="Arial" pitchFamily="34" charset="-120"/>
              </a:rPr>
              <a:t>Pak Nam Prasae  ·  Klaeng  ·  Rayong</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4" fill="hold">
                      <p:stCondLst>
                        <p:cond delay="0"/>
                      </p:stCondLst>
                      <p:childTnLst>
                        <p:par>
                          <p:cTn id="45" fill="hold">
                            <p:stCondLst>
                              <p:cond delay="0"/>
                            </p:stCondLst>
                            <p:childTnLst>
                              <p:par>
                                <p:cTn id="5" presetID="10" presetClass="entr" presetSubtype="0" fill="hold" grpId="0" nodeType="withEffect">
                                  <p:stCondLst>
                                    <p:cond delay="0"/>
                                  </p:stCondLst>
                                  <p:childTnLst>
                                    <p:set>
                                      <p:cBhvr>
                                        <p:cTn id="3" dur="1" fill="hold">
                                          <p:stCondLst>
                                            <p:cond delay="0"/>
                                          </p:stCondLst>
                                        </p:cTn>
                                        <p:tgtEl>
                                          <p:spTgt spid="23"/>
                                        </p:tgtEl>
                                        <p:attrNameLst>
                                          <p:attrName>style.visibility</p:attrName>
                                        </p:attrNameLst>
                                      </p:cBhvr>
                                      <p:to>
                                        <p:strVal val="visible"/>
                                      </p:to>
                                    </p:set>
                                    <p:animEffect transition="in" filter="fade">
                                      <p:cBhvr>
                                        <p:cTn id="4" dur="500"/>
                                        <p:tgtEl>
                                          <p:spTgt spid="23"/>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700"/>
                                        <p:tgtEl>
                                          <p:spTgt spid="24"/>
                                        </p:tgtEl>
                                      </p:cBhvr>
                                    </p:animEffect>
                                  </p:childTnLst>
                                </p:cTn>
                              </p:par>
                              <p:par>
                                <p:cTn id="11" presetID="22" presetClass="entr" presetSubtype="8" fill="hold" grpId="0" nodeType="withEffect">
                                  <p:stCondLst>
                                    <p:cond delay="350"/>
                                  </p:stCondLst>
                                  <p:childTnLst>
                                    <p:set>
                                      <p:cBhvr>
                                        <p:cTn id="9" dur="1" fill="hold">
                                          <p:stCondLst>
                                            <p:cond delay="0"/>
                                          </p:stCondLst>
                                        </p:cTn>
                                        <p:tgtEl>
                                          <p:spTgt spid="29"/>
                                        </p:tgtEl>
                                        <p:attrNameLst>
                                          <p:attrName>style.visibility</p:attrName>
                                        </p:attrNameLst>
                                      </p:cBhvr>
                                      <p:to>
                                        <p:strVal val="visible"/>
                                      </p:to>
                                    </p:set>
                                    <p:animEffect transition="in" filter="wipe(right)">
                                      <p:cBhvr>
                                        <p:cTn id="10" dur="500"/>
                                        <p:tgtEl>
                                          <p:spTgt spid="29"/>
                                        </p:tgtEl>
                                      </p:cBhvr>
                                    </p:animEffect>
                                  </p:childTnLst>
                                </p:cTn>
                              </p:par>
                              <p:par>
                                <p:cTn id="15" presetID="23" presetClass="entr" presetSubtype="16"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Scale>
                                      <p:cBhvr>
                                        <p:cTn id="14" dur="500" fill="hold"/>
                                        <p:tgtEl>
                                          <p:spTgt spid="4"/>
                                        </p:tgtEl>
                                      </p:cBhvr>
                                      <p:from x="0" y="0"/>
                                      <p:to x="100000" y="100000"/>
                                    </p:animScale>
                                  </p:childTnLst>
                                </p:cTn>
                              </p:par>
                              <p:par>
                                <p:cTn id="18" presetID="22" presetClass="entr" presetSubtype="4" fill="hold" grpId="0" nodeType="withEffect">
                                  <p:stCondLst>
                                    <p:cond delay="65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par>
                                <p:cTn id="21" presetID="10" presetClass="entr" presetSubtype="0" fill="hold" grpId="0" nodeType="withEffect">
                                  <p:stCondLst>
                                    <p:cond delay="8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par>
                                <p:cTn id="25" presetID="23" presetClass="entr" presetSubtype="16" fill="hold" grpId="0" nodeType="withEffect">
                                  <p:stCondLst>
                                    <p:cond delay="95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animScale>
                                      <p:cBhvr>
                                        <p:cTn id="24" dur="500" fill="hold"/>
                                        <p:tgtEl>
                                          <p:spTgt spid="28"/>
                                        </p:tgtEl>
                                      </p:cBhvr>
                                      <p:from x="0" y="0"/>
                                      <p:to x="100000" y="100000"/>
                                    </p:animScale>
                                  </p:childTnLst>
                                </p:cTn>
                              </p:par>
                              <p:par>
                                <p:cTn id="28" presetID="22" presetClass="entr" presetSubtype="8" fill="hold" grpId="0" nodeType="withEffect">
                                  <p:stCondLst>
                                    <p:cond delay="1150"/>
                                  </p:stCondLst>
                                  <p:childTnLst>
                                    <p:set>
                                      <p:cBhvr>
                                        <p:cTn id="26" dur="1" fill="hold">
                                          <p:stCondLst>
                                            <p:cond delay="0"/>
                                          </p:stCondLst>
                                        </p:cTn>
                                        <p:tgtEl>
                                          <p:spTgt spid="19"/>
                                        </p:tgtEl>
                                        <p:attrNameLst>
                                          <p:attrName>style.visibility</p:attrName>
                                        </p:attrNameLst>
                                      </p:cBhvr>
                                      <p:to>
                                        <p:strVal val="visible"/>
                                      </p:to>
                                    </p:set>
                                    <p:animEffect transition="in" filter="wipe(right)">
                                      <p:cBhvr>
                                        <p:cTn id="27" dur="500"/>
                                        <p:tgtEl>
                                          <p:spTgt spid="19"/>
                                        </p:tgtEl>
                                      </p:cBhvr>
                                    </p:animEffect>
                                  </p:childTnLst>
                                </p:cTn>
                              </p:par>
                              <p:par>
                                <p:cTn id="31" presetID="22" presetClass="entr" presetSubtype="1" fill="hold" grpId="0" nodeType="withEffect">
                                  <p:stCondLst>
                                    <p:cond delay="130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par>
                                <p:cTn id="34" presetID="22" presetClass="entr" presetSubtype="2" fill="hold" grpId="0" nodeType="withEffect">
                                  <p:stCondLst>
                                    <p:cond delay="145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7" presetID="22" presetClass="entr" presetSubtype="4" fill="hold" grpId="0" nodeType="withEffect">
                                  <p:stCondLst>
                                    <p:cond delay="1600"/>
                                  </p:stCondLst>
                                  <p:childTnLst>
                                    <p:set>
                                      <p:cBhvr>
                                        <p:cTn id="35" dur="1" fill="hold">
                                          <p:stCondLst>
                                            <p:cond delay="0"/>
                                          </p:stCondLst>
                                        </p:cTn>
                                        <p:tgtEl>
                                          <p:spTgt spid="22"/>
                                        </p:tgtEl>
                                        <p:attrNameLst>
                                          <p:attrName>style.visibility</p:attrName>
                                        </p:attrNameLst>
                                      </p:cBhvr>
                                      <p:to>
                                        <p:strVal val="visible"/>
                                      </p:to>
                                    </p:set>
                                    <p:animEffect transition="in" filter="wipe(up)">
                                      <p:cBhvr>
                                        <p:cTn id="36" dur="500"/>
                                        <p:tgtEl>
                                          <p:spTgt spid="22"/>
                                        </p:tgtEl>
                                      </p:cBhvr>
                                    </p:animEffect>
                                  </p:childTnLst>
                                </p:cTn>
                              </p:par>
                              <p:par>
                                <p:cTn id="40" presetID="10" presetClass="entr" presetSubtype="0" fill="hold" grpId="0" nodeType="withEffect">
                                  <p:stCondLst>
                                    <p:cond delay="180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3" presetID="10" presetClass="entr" presetSubtype="0" fill="hold" grpId="0" nodeType="withEffect">
                                  <p:stCondLst>
                                    <p:cond delay="195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3017520"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OBJECTIVES · 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Today, and how you will know you got there</a:t>
            </a:r>
            <a:endParaRPr lang="en-US" sz="3000" dirty="0"/>
          </a:p>
        </p:txBody>
      </p:sp>
      <p:grpSp>
        <p:nvGrpSpPr>
          <p:cNvPr id="25" name="obj_block"/>
          <p:cNvGrpSpPr/>
          <p:nvPr/>
        </p:nvGrpSpPr>
        <p:grpSpPr>
          <a:xfrm>
            <a:off x="502920" y="1810512"/>
            <a:ext cx="5394960" cy="4114800"/>
            <a:chOff x="502920" y="1810512"/>
            <a:chExt cx="5394960" cy="4114800"/>
          </a:xfrm>
        </p:grpSpPr>
        <p:sp>
          <p:nvSpPr>
            <p:cNvPr id="4" name="obj_card"/>
            <p:cNvSpPr/>
            <p:nvPr/>
          </p:nvSpPr>
          <p:spPr>
            <a:xfrm>
              <a:off x="502920" y="1810512"/>
              <a:ext cx="5394960" cy="4114800"/>
            </a:xfrm>
            <a:prstGeom prst="roundRect">
              <a:avLst>
                <a:gd name="adj" fmla="val 3111"/>
              </a:avLst>
            </a:prstGeom>
            <a:solidFill>
              <a:srgbClr val="FFFFFF"/>
            </a:solidFill>
            <a:ln w="15875">
              <a:solidFill>
                <a:srgbClr val="F0E4C8"/>
              </a:solidFill>
              <a:prstDash val="solid"/>
            </a:ln>
          </p:spPr>
        </p:sp>
        <p:sp>
          <p:nvSpPr>
            <p:cNvPr id="5" name="obj_head"/>
            <p:cNvSpPr txBox="1"/>
            <p:nvPr/>
          </p:nvSpPr>
          <p:spPr>
            <a:xfrm>
              <a:off x="740664" y="1993392"/>
              <a:ext cx="4937760" cy="274320"/>
            </a:xfrm>
            <a:prstGeom prst="rect">
              <a:avLst/>
            </a:prstGeom>
            <a:noFill/>
            <a:ln/>
          </p:spPr>
          <p:txBody>
            <a:bodyPr wrap="square" lIns="0" tIns="0" rIns="0" bIns="0" rtlCol="0" anchor="ctr"/>
            <a:lstStyle/>
            <a:p>
              <a:pPr indent="0" marL="0">
                <a:buNone/>
              </a:pPr>
              <a:r>
                <a:rPr lang="en-US" sz="1100" b="1" spc="100" kern="0" dirty="0">
                  <a:solidFill>
                    <a:srgbClr val="0E3A3F"/>
                  </a:solidFill>
                  <a:latin typeface="Arial" pitchFamily="34" charset="0"/>
                  <a:ea typeface="Arial" pitchFamily="34" charset="-122"/>
                  <a:cs typeface="Arial" pitchFamily="34" charset="-120"/>
                </a:rPr>
                <a:t>LESSON OBJECTIVES</a:t>
              </a:r>
              <a:endParaRPr lang="en-US" sz="1100" dirty="0"/>
            </a:p>
          </p:txBody>
        </p:sp>
        <p:sp>
          <p:nvSpPr>
            <p:cNvPr id="12" name="obj_seq"/>
            <p:cNvSpPr txBox="1"/>
            <p:nvPr/>
          </p:nvSpPr>
          <p:spPr>
            <a:xfrm>
              <a:off x="740664" y="5486400"/>
              <a:ext cx="4937760" cy="292608"/>
            </a:xfrm>
            <a:prstGeom prst="rect">
              <a:avLst/>
            </a:prstGeom>
            <a:noFill/>
            <a:ln/>
          </p:spPr>
          <p:txBody>
            <a:bodyPr wrap="square" lIns="0" tIns="0" rIns="0" bIns="0" rtlCol="0" anchor="ctr"/>
            <a:lstStyle/>
            <a:p>
              <a:pPr indent="0" marL="0">
                <a:buNone/>
              </a:pPr>
              <a:r>
                <a:rPr lang="en-US" sz="1050" i="1" dirty="0">
                  <a:solidFill>
                    <a:srgbClr val="4A6165"/>
                  </a:solidFill>
                  <a:latin typeface="Arial" pitchFamily="34" charset="0"/>
                  <a:ea typeface="Arial" pitchFamily="34" charset="-122"/>
                  <a:cs typeface="Arial" pitchFamily="34" charset="-120"/>
                </a:rPr>
                <a:t>This is the last of three. By the end you will have answered the question from Lesson 1.</a:t>
              </a:r>
              <a:endParaRPr lang="en-US" sz="1050" dirty="0"/>
            </a:p>
          </p:txBody>
        </p:sp>
        <p:sp>
          <p:nvSpPr>
            <p:cNvPr id="6" name="obj0_n"/>
            <p:cNvSpPr txBox="1"/>
            <p:nvPr/>
          </p:nvSpPr>
          <p:spPr>
            <a:xfrm>
              <a:off x="740664" y="2414016"/>
              <a:ext cx="329184" cy="310896"/>
            </a:xfrm>
            <a:prstGeom prst="rect">
              <a:avLst/>
            </a:prstGeom>
            <a:noFill/>
            <a:ln/>
          </p:spPr>
          <p:txBody>
            <a:bodyPr wrap="square" lIns="0" tIns="0" rIns="0" bIns="0" rtlCol="0" anchor="t"/>
            <a:lstStyle/>
            <a:p>
              <a:pPr indent="0" marL="0">
                <a:buNone/>
              </a:pPr>
              <a:r>
                <a:rPr lang="en-US" sz="1500" b="1" dirty="0">
                  <a:solidFill>
                    <a:srgbClr val="F5B301"/>
                  </a:solidFill>
                  <a:latin typeface="Arial" pitchFamily="34" charset="0"/>
                  <a:ea typeface="Arial" pitchFamily="34" charset="-122"/>
                  <a:cs typeface="Arial" pitchFamily="34" charset="-120"/>
                </a:rPr>
                <a:t>1.</a:t>
              </a:r>
              <a:endParaRPr lang="en-US" sz="1500" dirty="0"/>
            </a:p>
          </p:txBody>
        </p:sp>
        <p:sp>
          <p:nvSpPr>
            <p:cNvPr id="7" name="obj0_t"/>
            <p:cNvSpPr txBox="1"/>
            <p:nvPr/>
          </p:nvSpPr>
          <p:spPr>
            <a:xfrm>
              <a:off x="1106424" y="2414016"/>
              <a:ext cx="4572000" cy="1005840"/>
            </a:xfrm>
            <a:prstGeom prst="rect">
              <a:avLst/>
            </a:prstGeom>
            <a:noFill/>
            <a:ln/>
          </p:spPr>
          <p:txBody>
            <a:bodyPr wrap="square" lIns="0" tIns="0" rIns="0" bIns="0" rtlCol="0" anchor="t"/>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Explain the difference between something that flows through an ecosystem and something that cycles round it.</a:t>
              </a:r>
              <a:endParaRPr lang="en-US" sz="1350" dirty="0"/>
            </a:p>
          </p:txBody>
        </p:sp>
        <p:sp>
          <p:nvSpPr>
            <p:cNvPr id="8" name="obj1_n"/>
            <p:cNvSpPr txBox="1"/>
            <p:nvPr/>
          </p:nvSpPr>
          <p:spPr>
            <a:xfrm>
              <a:off x="740664" y="3529584"/>
              <a:ext cx="329184" cy="310896"/>
            </a:xfrm>
            <a:prstGeom prst="rect">
              <a:avLst/>
            </a:prstGeom>
            <a:noFill/>
            <a:ln/>
          </p:spPr>
          <p:txBody>
            <a:bodyPr wrap="square" lIns="0" tIns="0" rIns="0" bIns="0" rtlCol="0" anchor="t"/>
            <a:lstStyle/>
            <a:p>
              <a:pPr indent="0" marL="0">
                <a:buNone/>
              </a:pPr>
              <a:r>
                <a:rPr lang="en-US" sz="1500" b="1" dirty="0">
                  <a:solidFill>
                    <a:srgbClr val="F5B301"/>
                  </a:solidFill>
                  <a:latin typeface="Arial" pitchFamily="34" charset="0"/>
                  <a:ea typeface="Arial" pitchFamily="34" charset="-122"/>
                  <a:cs typeface="Arial" pitchFamily="34" charset="-120"/>
                </a:rPr>
                <a:t>2.</a:t>
              </a:r>
              <a:endParaRPr lang="en-US" sz="1500" dirty="0"/>
            </a:p>
          </p:txBody>
        </p:sp>
        <p:sp>
          <p:nvSpPr>
            <p:cNvPr id="9" name="obj1_t"/>
            <p:cNvSpPr txBox="1"/>
            <p:nvPr/>
          </p:nvSpPr>
          <p:spPr>
            <a:xfrm>
              <a:off x="1106424" y="3529584"/>
              <a:ext cx="4572000" cy="1005840"/>
            </a:xfrm>
            <a:prstGeom prst="rect">
              <a:avLst/>
            </a:prstGeom>
            <a:noFill/>
            <a:ln/>
          </p:spPr>
          <p:txBody>
            <a:bodyPr wrap="square" lIns="0" tIns="0" rIns="0" bIns="0" rtlCol="0" anchor="t"/>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Outline how carbon moves round the Prasae estuary, using photosynthesis, respiration and decomposition.</a:t>
              </a:r>
              <a:endParaRPr lang="en-US" sz="1350" dirty="0"/>
            </a:p>
          </p:txBody>
        </p:sp>
        <p:sp>
          <p:nvSpPr>
            <p:cNvPr id="10" name="obj2_n"/>
            <p:cNvSpPr txBox="1"/>
            <p:nvPr/>
          </p:nvSpPr>
          <p:spPr>
            <a:xfrm>
              <a:off x="740664" y="4645152"/>
              <a:ext cx="329184" cy="310896"/>
            </a:xfrm>
            <a:prstGeom prst="rect">
              <a:avLst/>
            </a:prstGeom>
            <a:noFill/>
            <a:ln/>
          </p:spPr>
          <p:txBody>
            <a:bodyPr wrap="square" lIns="0" tIns="0" rIns="0" bIns="0" rtlCol="0" anchor="t"/>
            <a:lstStyle/>
            <a:p>
              <a:pPr indent="0" marL="0">
                <a:buNone/>
              </a:pPr>
              <a:r>
                <a:rPr lang="en-US" sz="1500" b="1" dirty="0">
                  <a:solidFill>
                    <a:srgbClr val="F5B301"/>
                  </a:solidFill>
                  <a:latin typeface="Arial" pitchFamily="34" charset="0"/>
                  <a:ea typeface="Arial" pitchFamily="34" charset="-122"/>
                  <a:cs typeface="Arial" pitchFamily="34" charset="-120"/>
                </a:rPr>
                <a:t>3.</a:t>
              </a:r>
              <a:endParaRPr lang="en-US" sz="1500" dirty="0"/>
            </a:p>
          </p:txBody>
        </p:sp>
        <p:sp>
          <p:nvSpPr>
            <p:cNvPr id="11" name="obj2_t"/>
            <p:cNvSpPr txBox="1"/>
            <p:nvPr/>
          </p:nvSpPr>
          <p:spPr>
            <a:xfrm>
              <a:off x="1106424" y="4645152"/>
              <a:ext cx="4572000" cy="1005840"/>
            </a:xfrm>
            <a:prstGeom prst="rect">
              <a:avLst/>
            </a:prstGeom>
            <a:noFill/>
            <a:ln/>
          </p:spPr>
          <p:txBody>
            <a:bodyPr wrap="square" lIns="0" tIns="0" rIns="0" bIns="0" rtlCol="0" anchor="t"/>
            <a:lstStyle/>
            <a:p>
              <a:pPr indent="0" marL="0">
                <a:lnSpc>
                  <a:spcPts val="1900"/>
                </a:lnSpc>
                <a:buNone/>
              </a:pPr>
              <a:r>
                <a:rPr lang="en-US" sz="1350" dirty="0">
                  <a:solidFill>
                    <a:srgbClr val="14282B"/>
                  </a:solidFill>
                  <a:latin typeface="Arial" pitchFamily="34" charset="0"/>
                  <a:ea typeface="Arial" pitchFamily="34" charset="-122"/>
                  <a:cs typeface="Arial" pitchFamily="34" charset="-120"/>
                </a:rPr>
                <a:t>Outline how nitrogen moves round, and use it to explain why the trees at Tung Prong Thong are gold.</a:t>
              </a:r>
              <a:endParaRPr lang="en-US" sz="1350" dirty="0"/>
            </a:p>
          </p:txBody>
        </p:sp>
      </p:grpSp>
      <p:grpSp>
        <p:nvGrpSpPr>
          <p:cNvPr id="26" name="sc_block"/>
          <p:cNvGrpSpPr/>
          <p:nvPr/>
        </p:nvGrpSpPr>
        <p:grpSpPr>
          <a:xfrm>
            <a:off x="6263640" y="1810512"/>
            <a:ext cx="5425135" cy="4114800"/>
            <a:chOff x="6263640" y="1810512"/>
            <a:chExt cx="5425135" cy="4114800"/>
          </a:xfrm>
        </p:grpSpPr>
        <p:sp>
          <p:nvSpPr>
            <p:cNvPr id="13" name="sc_card"/>
            <p:cNvSpPr/>
            <p:nvPr/>
          </p:nvSpPr>
          <p:spPr>
            <a:xfrm>
              <a:off x="6263640" y="1810512"/>
              <a:ext cx="5425135" cy="4114800"/>
            </a:xfrm>
            <a:prstGeom prst="roundRect">
              <a:avLst>
                <a:gd name="adj" fmla="val 3111"/>
              </a:avLst>
            </a:prstGeom>
            <a:solidFill>
              <a:srgbClr val="F2F9F5"/>
            </a:solidFill>
            <a:ln w="15875">
              <a:solidFill>
                <a:srgbClr val="2E9E6B"/>
              </a:solidFill>
              <a:prstDash val="solid"/>
            </a:ln>
          </p:spPr>
        </p:sp>
        <p:sp>
          <p:nvSpPr>
            <p:cNvPr id="14" name="sc_head"/>
            <p:cNvSpPr txBox="1"/>
            <p:nvPr/>
          </p:nvSpPr>
          <p:spPr>
            <a:xfrm>
              <a:off x="6501384" y="1993392"/>
              <a:ext cx="5120640" cy="274320"/>
            </a:xfrm>
            <a:prstGeom prst="rect">
              <a:avLst/>
            </a:prstGeom>
            <a:noFill/>
            <a:ln/>
          </p:spPr>
          <p:txBody>
            <a:bodyPr wrap="square" lIns="0" tIns="0" rIns="0" bIns="0" rtlCol="0" anchor="ctr"/>
            <a:lstStyle/>
            <a:p>
              <a:pPr indent="0" marL="0">
                <a:buNone/>
              </a:pPr>
              <a:r>
                <a:rPr lang="en-US" sz="1100" b="1" spc="100" kern="0" dirty="0">
                  <a:solidFill>
                    <a:srgbClr val="2E9E6B"/>
                  </a:solidFill>
                  <a:latin typeface="Arial" pitchFamily="34" charset="0"/>
                  <a:ea typeface="Arial" pitchFamily="34" charset="-122"/>
                  <a:cs typeface="Arial" pitchFamily="34" charset="-120"/>
                </a:rPr>
                <a:t>SUCCESS CRITERIA — tick these off yourself</a:t>
              </a:r>
              <a:endParaRPr lang="en-US" sz="1100" dirty="0"/>
            </a:p>
          </p:txBody>
        </p:sp>
        <p:sp>
          <p:nvSpPr>
            <p:cNvPr id="15" name="sc0_box"/>
            <p:cNvSpPr/>
            <p:nvPr/>
          </p:nvSpPr>
          <p:spPr>
            <a:xfrm>
              <a:off x="6501384" y="2432304"/>
              <a:ext cx="201168" cy="201168"/>
            </a:xfrm>
            <a:prstGeom prst="rect">
              <a:avLst/>
            </a:prstGeom>
            <a:solidFill>
              <a:srgbClr val="FFFFFF"/>
            </a:solidFill>
            <a:ln w="15240">
              <a:solidFill>
                <a:srgbClr val="2E9E6B"/>
              </a:solidFill>
              <a:prstDash val="solid"/>
            </a:ln>
          </p:spPr>
        </p:sp>
        <p:sp>
          <p:nvSpPr>
            <p:cNvPr id="16" name="sc0_t"/>
            <p:cNvSpPr txBox="1"/>
            <p:nvPr/>
          </p:nvSpPr>
          <p:spPr>
            <a:xfrm>
              <a:off x="6830568" y="2359152"/>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say in one sentence why energy does not cycle but carbon does.</a:t>
              </a:r>
              <a:endParaRPr lang="en-US" sz="1250" dirty="0"/>
            </a:p>
          </p:txBody>
        </p:sp>
        <p:sp>
          <p:nvSpPr>
            <p:cNvPr id="17" name="sc1_box"/>
            <p:cNvSpPr/>
            <p:nvPr/>
          </p:nvSpPr>
          <p:spPr>
            <a:xfrm>
              <a:off x="6501384" y="3145536"/>
              <a:ext cx="201168" cy="201168"/>
            </a:xfrm>
            <a:prstGeom prst="rect">
              <a:avLst/>
            </a:prstGeom>
            <a:solidFill>
              <a:srgbClr val="FFFFFF"/>
            </a:solidFill>
            <a:ln w="15240">
              <a:solidFill>
                <a:srgbClr val="2E9E6B"/>
              </a:solidFill>
              <a:prstDash val="solid"/>
            </a:ln>
          </p:spPr>
        </p:sp>
        <p:sp>
          <p:nvSpPr>
            <p:cNvPr id="18" name="sc1_t"/>
            <p:cNvSpPr txBox="1"/>
            <p:nvPr/>
          </p:nvSpPr>
          <p:spPr>
            <a:xfrm>
              <a:off x="6830568" y="3072384"/>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say where a mangrove tree gets the carbon it is built from.</a:t>
              </a:r>
              <a:endParaRPr lang="en-US" sz="1250" dirty="0"/>
            </a:p>
          </p:txBody>
        </p:sp>
        <p:sp>
          <p:nvSpPr>
            <p:cNvPr id="19" name="sc2_box"/>
            <p:cNvSpPr/>
            <p:nvPr/>
          </p:nvSpPr>
          <p:spPr>
            <a:xfrm>
              <a:off x="6501384" y="3858768"/>
              <a:ext cx="201168" cy="201168"/>
            </a:xfrm>
            <a:prstGeom prst="rect">
              <a:avLst/>
            </a:prstGeom>
            <a:solidFill>
              <a:srgbClr val="FFFFFF"/>
            </a:solidFill>
            <a:ln w="15240">
              <a:solidFill>
                <a:srgbClr val="2E9E6B"/>
              </a:solidFill>
              <a:prstDash val="solid"/>
            </a:ln>
          </p:spPr>
        </p:sp>
        <p:sp>
          <p:nvSpPr>
            <p:cNvPr id="20" name="sc2_t"/>
            <p:cNvSpPr txBox="1"/>
            <p:nvPr/>
          </p:nvSpPr>
          <p:spPr>
            <a:xfrm>
              <a:off x="6830568" y="3785616"/>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name the process that turns nitrogen gas into something a plant can use.</a:t>
              </a:r>
              <a:endParaRPr lang="en-US" sz="1250" dirty="0"/>
            </a:p>
          </p:txBody>
        </p:sp>
        <p:sp>
          <p:nvSpPr>
            <p:cNvPr id="21" name="sc3_box"/>
            <p:cNvSpPr/>
            <p:nvPr/>
          </p:nvSpPr>
          <p:spPr>
            <a:xfrm>
              <a:off x="6501384" y="4572000"/>
              <a:ext cx="201168" cy="201168"/>
            </a:xfrm>
            <a:prstGeom prst="rect">
              <a:avLst/>
            </a:prstGeom>
            <a:solidFill>
              <a:srgbClr val="FFFFFF"/>
            </a:solidFill>
            <a:ln w="15240">
              <a:solidFill>
                <a:srgbClr val="2E9E6B"/>
              </a:solidFill>
              <a:prstDash val="solid"/>
            </a:ln>
          </p:spPr>
        </p:sp>
        <p:sp>
          <p:nvSpPr>
            <p:cNvPr id="22" name="sc3_t"/>
            <p:cNvSpPr txBox="1"/>
            <p:nvPr/>
          </p:nvSpPr>
          <p:spPr>
            <a:xfrm>
              <a:off x="6830568" y="4498848"/>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follow one carbon atom all the way round and back to where it started.</a:t>
              </a:r>
              <a:endParaRPr lang="en-US" sz="1250" dirty="0"/>
            </a:p>
          </p:txBody>
        </p:sp>
        <p:sp>
          <p:nvSpPr>
            <p:cNvPr id="23" name="sc4_box"/>
            <p:cNvSpPr/>
            <p:nvPr/>
          </p:nvSpPr>
          <p:spPr>
            <a:xfrm>
              <a:off x="6501384" y="5285232"/>
              <a:ext cx="201168" cy="201168"/>
            </a:xfrm>
            <a:prstGeom prst="rect">
              <a:avLst/>
            </a:prstGeom>
            <a:solidFill>
              <a:srgbClr val="FFFFFF"/>
            </a:solidFill>
            <a:ln w="15240">
              <a:solidFill>
                <a:srgbClr val="2E9E6B"/>
              </a:solidFill>
              <a:prstDash val="solid"/>
            </a:ln>
          </p:spPr>
        </p:sp>
        <p:sp>
          <p:nvSpPr>
            <p:cNvPr id="24" name="sc4_t"/>
            <p:cNvSpPr txBox="1"/>
            <p:nvPr/>
          </p:nvSpPr>
          <p:spPr>
            <a:xfrm>
              <a:off x="6830568" y="5212080"/>
              <a:ext cx="4602175" cy="603504"/>
            </a:xfrm>
            <a:prstGeom prst="rect">
              <a:avLst/>
            </a:prstGeom>
            <a:noFill/>
            <a:ln/>
          </p:spPr>
          <p:txBody>
            <a:bodyPr wrap="square" lIns="0" tIns="0" rIns="0" bIns="0" rtlCol="0" anchor="t"/>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I can explain the gold leaves at Tung Prong Thong using the nitrogen cycle.</a:t>
              </a:r>
              <a:endParaRPr lang="en-US" sz="12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5"/>
                                        </p:tgtEl>
                                        <p:attrNameLst>
                                          <p:attrName>style.visibility</p:attrName>
                                        </p:attrNameLst>
                                      </p:cBhvr>
                                      <p:to>
                                        <p:strVal val="visible"/>
                                      </p:to>
                                    </p:set>
                                    <p:animEffect transition="in" filter="fade">
                                      <p:cBhvr>
                                        <p:cTn id="4"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26"/>
                                        </p:tgtEl>
                                        <p:attrNameLst>
                                          <p:attrName>style.visibility</p:attrName>
                                        </p:attrNameLst>
                                      </p:cBhvr>
                                      <p:to>
                                        <p:strVal val="visible"/>
                                      </p:to>
                                    </p:set>
                                    <p:animEffect transition="in" filter="wipe(right)">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DO NOW · 5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Do Now</a:t>
            </a:r>
            <a:endParaRPr lang="en-US" sz="3000" dirty="0"/>
          </a:p>
        </p:txBody>
      </p:sp>
      <p:sp>
        <p:nvSpPr>
          <p:cNvPr id="4" name="do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Books open. Answer all six. Four minutes, then we mark them together.</a:t>
            </a:r>
            <a:endParaRPr lang="en-US" sz="1300" dirty="0"/>
          </a:p>
        </p:txBody>
      </p:sp>
      <p:sp>
        <p:nvSpPr>
          <p:cNvPr id="5" name="dq0_card"/>
          <p:cNvSpPr/>
          <p:nvPr/>
        </p:nvSpPr>
        <p:spPr>
          <a:xfrm>
            <a:off x="502920" y="2084832"/>
            <a:ext cx="5455768" cy="1060704"/>
          </a:xfrm>
          <a:prstGeom prst="roundRect">
            <a:avLst>
              <a:gd name="adj" fmla="val 12069"/>
            </a:avLst>
          </a:prstGeom>
          <a:solidFill>
            <a:srgbClr val="FFFFFF"/>
          </a:solidFill>
          <a:ln w="15875">
            <a:solidFill>
              <a:srgbClr val="F0E4C8"/>
            </a:solidFill>
            <a:prstDash val="solid"/>
          </a:ln>
        </p:spPr>
      </p:sp>
      <p:sp>
        <p:nvSpPr>
          <p:cNvPr id="6" name="dq0_n"/>
          <p:cNvSpPr txBox="1"/>
          <p:nvPr/>
        </p:nvSpPr>
        <p:spPr>
          <a:xfrm>
            <a:off x="649224" y="2194560"/>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1</a:t>
            </a:r>
            <a:endParaRPr lang="en-US" sz="1300" dirty="0"/>
          </a:p>
        </p:txBody>
      </p:sp>
      <p:sp>
        <p:nvSpPr>
          <p:cNvPr id="7" name="dq0_q"/>
          <p:cNvSpPr txBox="1"/>
          <p:nvPr/>
        </p:nvSpPr>
        <p:spPr>
          <a:xfrm>
            <a:off x="978408" y="2176272"/>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Write the word equation for photosynthesis.</a:t>
            </a:r>
            <a:endParaRPr lang="en-US" sz="1250" dirty="0"/>
          </a:p>
        </p:txBody>
      </p:sp>
      <p:sp>
        <p:nvSpPr>
          <p:cNvPr id="8" name="dq0_a"/>
          <p:cNvSpPr/>
          <p:nvPr/>
        </p:nvSpPr>
        <p:spPr>
          <a:xfrm>
            <a:off x="978408" y="2688336"/>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00" b="1" dirty="0">
                <a:solidFill>
                  <a:srgbClr val="0E3A3F"/>
                </a:solidFill>
                <a:latin typeface="Arial" pitchFamily="34" charset="0"/>
                <a:ea typeface="Arial" pitchFamily="34" charset="-122"/>
                <a:cs typeface="Arial" pitchFamily="34" charset="-120"/>
              </a:rPr>
              <a:t>Carbon dioxide + water → glucose + oxygen (using light).</a:t>
            </a:r>
            <a:endParaRPr lang="en-US" sz="1100" dirty="0"/>
          </a:p>
        </p:txBody>
      </p:sp>
      <p:sp>
        <p:nvSpPr>
          <p:cNvPr id="9" name="dq1_card"/>
          <p:cNvSpPr/>
          <p:nvPr/>
        </p:nvSpPr>
        <p:spPr>
          <a:xfrm>
            <a:off x="6233008" y="2084832"/>
            <a:ext cx="5455768" cy="1060704"/>
          </a:xfrm>
          <a:prstGeom prst="roundRect">
            <a:avLst>
              <a:gd name="adj" fmla="val 12069"/>
            </a:avLst>
          </a:prstGeom>
          <a:solidFill>
            <a:srgbClr val="FFFFFF"/>
          </a:solidFill>
          <a:ln w="15875">
            <a:solidFill>
              <a:srgbClr val="F0E4C8"/>
            </a:solidFill>
            <a:prstDash val="solid"/>
          </a:ln>
        </p:spPr>
      </p:sp>
      <p:sp>
        <p:nvSpPr>
          <p:cNvPr id="10" name="dq1_n"/>
          <p:cNvSpPr txBox="1"/>
          <p:nvPr/>
        </p:nvSpPr>
        <p:spPr>
          <a:xfrm>
            <a:off x="6379312" y="2194560"/>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2</a:t>
            </a:r>
            <a:endParaRPr lang="en-US" sz="1300" dirty="0"/>
          </a:p>
        </p:txBody>
      </p:sp>
      <p:sp>
        <p:nvSpPr>
          <p:cNvPr id="11" name="dq1_q"/>
          <p:cNvSpPr txBox="1"/>
          <p:nvPr/>
        </p:nvSpPr>
        <p:spPr>
          <a:xfrm>
            <a:off x="6708496" y="2176272"/>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Write the word equation for respiration.</a:t>
            </a:r>
            <a:endParaRPr lang="en-US" sz="1250" dirty="0"/>
          </a:p>
        </p:txBody>
      </p:sp>
      <p:sp>
        <p:nvSpPr>
          <p:cNvPr id="12" name="dq1_a"/>
          <p:cNvSpPr/>
          <p:nvPr/>
        </p:nvSpPr>
        <p:spPr>
          <a:xfrm>
            <a:off x="6708496" y="2688336"/>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00" b="1" dirty="0">
                <a:solidFill>
                  <a:srgbClr val="0E3A3F"/>
                </a:solidFill>
                <a:latin typeface="Arial" pitchFamily="34" charset="0"/>
                <a:ea typeface="Arial" pitchFamily="34" charset="-122"/>
                <a:cs typeface="Arial" pitchFamily="34" charset="-120"/>
              </a:rPr>
              <a:t>Glucose + oxygen → carbon dioxide + water (releasing energy).</a:t>
            </a:r>
            <a:endParaRPr lang="en-US" sz="1100" dirty="0"/>
          </a:p>
        </p:txBody>
      </p:sp>
      <p:sp>
        <p:nvSpPr>
          <p:cNvPr id="13" name="dq2_card"/>
          <p:cNvSpPr/>
          <p:nvPr/>
        </p:nvSpPr>
        <p:spPr>
          <a:xfrm>
            <a:off x="502920" y="3346704"/>
            <a:ext cx="5455768" cy="1060704"/>
          </a:xfrm>
          <a:prstGeom prst="roundRect">
            <a:avLst>
              <a:gd name="adj" fmla="val 12069"/>
            </a:avLst>
          </a:prstGeom>
          <a:solidFill>
            <a:srgbClr val="FFFFFF"/>
          </a:solidFill>
          <a:ln w="15875">
            <a:solidFill>
              <a:srgbClr val="F0E4C8"/>
            </a:solidFill>
            <a:prstDash val="solid"/>
          </a:ln>
        </p:spPr>
      </p:sp>
      <p:sp>
        <p:nvSpPr>
          <p:cNvPr id="14" name="dq2_n"/>
          <p:cNvSpPr txBox="1"/>
          <p:nvPr/>
        </p:nvSpPr>
        <p:spPr>
          <a:xfrm>
            <a:off x="649224" y="3456432"/>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3</a:t>
            </a:r>
            <a:endParaRPr lang="en-US" sz="1300" dirty="0"/>
          </a:p>
        </p:txBody>
      </p:sp>
      <p:sp>
        <p:nvSpPr>
          <p:cNvPr id="15" name="dq2_q"/>
          <p:cNvSpPr txBox="1"/>
          <p:nvPr/>
        </p:nvSpPr>
        <p:spPr>
          <a:xfrm>
            <a:off x="978408" y="3438144"/>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What happens to the energy at every step of a food chain?</a:t>
            </a:r>
            <a:endParaRPr lang="en-US" sz="1250" dirty="0"/>
          </a:p>
        </p:txBody>
      </p:sp>
      <p:sp>
        <p:nvSpPr>
          <p:cNvPr id="16" name="dq2_a"/>
          <p:cNvSpPr/>
          <p:nvPr/>
        </p:nvSpPr>
        <p:spPr>
          <a:xfrm>
            <a:off x="978408" y="3950208"/>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00" b="1" dirty="0">
                <a:solidFill>
                  <a:srgbClr val="0E3A3F"/>
                </a:solidFill>
                <a:latin typeface="Arial" pitchFamily="34" charset="0"/>
                <a:ea typeface="Arial" pitchFamily="34" charset="-122"/>
                <a:cs typeface="Arial" pitchFamily="34" charset="-120"/>
              </a:rPr>
              <a:t>About nine tenths is lost, mostly as heat.</a:t>
            </a:r>
            <a:endParaRPr lang="en-US" sz="1100" dirty="0"/>
          </a:p>
        </p:txBody>
      </p:sp>
      <p:sp>
        <p:nvSpPr>
          <p:cNvPr id="17" name="dq3_card"/>
          <p:cNvSpPr/>
          <p:nvPr/>
        </p:nvSpPr>
        <p:spPr>
          <a:xfrm>
            <a:off x="6233008" y="3346704"/>
            <a:ext cx="5455768" cy="1060704"/>
          </a:xfrm>
          <a:prstGeom prst="roundRect">
            <a:avLst>
              <a:gd name="adj" fmla="val 12069"/>
            </a:avLst>
          </a:prstGeom>
          <a:solidFill>
            <a:srgbClr val="FFFFFF"/>
          </a:solidFill>
          <a:ln w="15875">
            <a:solidFill>
              <a:srgbClr val="F0E4C8"/>
            </a:solidFill>
            <a:prstDash val="solid"/>
          </a:ln>
        </p:spPr>
      </p:sp>
      <p:sp>
        <p:nvSpPr>
          <p:cNvPr id="18" name="dq3_n"/>
          <p:cNvSpPr txBox="1"/>
          <p:nvPr/>
        </p:nvSpPr>
        <p:spPr>
          <a:xfrm>
            <a:off x="6379312" y="3456432"/>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4</a:t>
            </a:r>
            <a:endParaRPr lang="en-US" sz="1300" dirty="0"/>
          </a:p>
        </p:txBody>
      </p:sp>
      <p:sp>
        <p:nvSpPr>
          <p:cNvPr id="19" name="dq3_q"/>
          <p:cNvSpPr txBox="1"/>
          <p:nvPr/>
        </p:nvSpPr>
        <p:spPr>
          <a:xfrm>
            <a:off x="6708496" y="3438144"/>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What job do decomposers do?</a:t>
            </a:r>
            <a:endParaRPr lang="en-US" sz="1250" dirty="0"/>
          </a:p>
        </p:txBody>
      </p:sp>
      <p:sp>
        <p:nvSpPr>
          <p:cNvPr id="20" name="dq3_a"/>
          <p:cNvSpPr/>
          <p:nvPr/>
        </p:nvSpPr>
        <p:spPr>
          <a:xfrm>
            <a:off x="6708496" y="3950208"/>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00" b="1" dirty="0">
                <a:solidFill>
                  <a:srgbClr val="0E3A3F"/>
                </a:solidFill>
                <a:latin typeface="Arial" pitchFamily="34" charset="0"/>
                <a:ea typeface="Arial" pitchFamily="34" charset="-122"/>
                <a:cs typeface="Arial" pitchFamily="34" charset="-120"/>
              </a:rPr>
              <a:t>They break down dead material and release the nutrients.</a:t>
            </a:r>
            <a:endParaRPr lang="en-US" sz="1100" dirty="0"/>
          </a:p>
        </p:txBody>
      </p:sp>
      <p:sp>
        <p:nvSpPr>
          <p:cNvPr id="21" name="dq4_card"/>
          <p:cNvSpPr/>
          <p:nvPr/>
        </p:nvSpPr>
        <p:spPr>
          <a:xfrm>
            <a:off x="502920" y="4608576"/>
            <a:ext cx="5455768" cy="1060704"/>
          </a:xfrm>
          <a:prstGeom prst="roundRect">
            <a:avLst>
              <a:gd name="adj" fmla="val 12069"/>
            </a:avLst>
          </a:prstGeom>
          <a:solidFill>
            <a:srgbClr val="FFFFFF"/>
          </a:solidFill>
          <a:ln w="15875">
            <a:solidFill>
              <a:srgbClr val="F0E4C8"/>
            </a:solidFill>
            <a:prstDash val="solid"/>
          </a:ln>
        </p:spPr>
      </p:sp>
      <p:sp>
        <p:nvSpPr>
          <p:cNvPr id="22" name="dq4_n"/>
          <p:cNvSpPr txBox="1"/>
          <p:nvPr/>
        </p:nvSpPr>
        <p:spPr>
          <a:xfrm>
            <a:off x="649224" y="4718304"/>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5</a:t>
            </a:r>
            <a:endParaRPr lang="en-US" sz="1300" dirty="0"/>
          </a:p>
        </p:txBody>
      </p:sp>
      <p:sp>
        <p:nvSpPr>
          <p:cNvPr id="23" name="dq4_q"/>
          <p:cNvSpPr txBox="1"/>
          <p:nvPr/>
        </p:nvSpPr>
        <p:spPr>
          <a:xfrm>
            <a:off x="978408" y="4700016"/>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Name the three stages of the water cycle you learned in Year 7.</a:t>
            </a:r>
            <a:endParaRPr lang="en-US" sz="1250" dirty="0"/>
          </a:p>
        </p:txBody>
      </p:sp>
      <p:sp>
        <p:nvSpPr>
          <p:cNvPr id="24" name="dq4_a"/>
          <p:cNvSpPr/>
          <p:nvPr/>
        </p:nvSpPr>
        <p:spPr>
          <a:xfrm>
            <a:off x="978408" y="5212080"/>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00" b="1" dirty="0">
                <a:solidFill>
                  <a:srgbClr val="0E3A3F"/>
                </a:solidFill>
                <a:latin typeface="Arial" pitchFamily="34" charset="0"/>
                <a:ea typeface="Arial" pitchFamily="34" charset="-122"/>
                <a:cs typeface="Arial" pitchFamily="34" charset="-120"/>
              </a:rPr>
              <a:t>Evaporation, condensation, precipitation.</a:t>
            </a:r>
            <a:endParaRPr lang="en-US" sz="1100" dirty="0"/>
          </a:p>
        </p:txBody>
      </p:sp>
      <p:sp>
        <p:nvSpPr>
          <p:cNvPr id="25" name="dq5_card"/>
          <p:cNvSpPr/>
          <p:nvPr/>
        </p:nvSpPr>
        <p:spPr>
          <a:xfrm>
            <a:off x="6233008" y="4608576"/>
            <a:ext cx="5455768" cy="1060704"/>
          </a:xfrm>
          <a:prstGeom prst="roundRect">
            <a:avLst>
              <a:gd name="adj" fmla="val 12069"/>
            </a:avLst>
          </a:prstGeom>
          <a:solidFill>
            <a:srgbClr val="FFFFFF"/>
          </a:solidFill>
          <a:ln w="15875">
            <a:solidFill>
              <a:srgbClr val="F0E4C8"/>
            </a:solidFill>
            <a:prstDash val="solid"/>
          </a:ln>
        </p:spPr>
      </p:sp>
      <p:sp>
        <p:nvSpPr>
          <p:cNvPr id="26" name="dq5_n"/>
          <p:cNvSpPr txBox="1"/>
          <p:nvPr/>
        </p:nvSpPr>
        <p:spPr>
          <a:xfrm>
            <a:off x="6379312" y="4718304"/>
            <a:ext cx="274320" cy="256032"/>
          </a:xfrm>
          <a:prstGeom prst="rect">
            <a:avLst/>
          </a:prstGeom>
          <a:noFill/>
          <a:ln/>
        </p:spPr>
        <p:txBody>
          <a:bodyPr wrap="square" lIns="0" tIns="0" rIns="0" bIns="0" rtlCol="0" anchor="ctr"/>
          <a:lstStyle/>
          <a:p>
            <a:pPr indent="0" marL="0">
              <a:buNone/>
            </a:pPr>
            <a:r>
              <a:rPr lang="en-US" sz="1300" b="1" dirty="0">
                <a:solidFill>
                  <a:srgbClr val="F5B301"/>
                </a:solidFill>
                <a:latin typeface="Arial" pitchFamily="34" charset="0"/>
                <a:ea typeface="Arial" pitchFamily="34" charset="-122"/>
                <a:cs typeface="Arial" pitchFamily="34" charset="-120"/>
              </a:rPr>
              <a:t>6</a:t>
            </a:r>
            <a:endParaRPr lang="en-US" sz="1300" dirty="0"/>
          </a:p>
        </p:txBody>
      </p:sp>
      <p:sp>
        <p:nvSpPr>
          <p:cNvPr id="27" name="dq5_q"/>
          <p:cNvSpPr txBox="1"/>
          <p:nvPr/>
        </p:nvSpPr>
        <p:spPr>
          <a:xfrm>
            <a:off x="6708496" y="4700016"/>
            <a:ext cx="4797400" cy="475488"/>
          </a:xfrm>
          <a:prstGeom prst="rect">
            <a:avLst/>
          </a:prstGeom>
          <a:noFill/>
          <a:ln/>
        </p:spPr>
        <p:txBody>
          <a:bodyPr wrap="square" lIns="0" tIns="0" rIns="0" bIns="0" rtlCol="0" anchor="t"/>
          <a:lstStyle/>
          <a:p>
            <a:pPr indent="0" marL="0">
              <a:lnSpc>
                <a:spcPts val="1600"/>
              </a:lnSpc>
              <a:buNone/>
            </a:pPr>
            <a:r>
              <a:rPr lang="en-US" sz="1250" dirty="0">
                <a:solidFill>
                  <a:srgbClr val="14282B"/>
                </a:solidFill>
                <a:latin typeface="Arial" pitchFamily="34" charset="0"/>
                <a:ea typeface="Arial" pitchFamily="34" charset="-122"/>
                <a:cs typeface="Arial" pitchFamily="34" charset="-120"/>
              </a:rPr>
              <a:t>A mangrove tree weighs two tonnes. Where did that mass come from?</a:t>
            </a:r>
            <a:endParaRPr lang="en-US" sz="1250" dirty="0"/>
          </a:p>
        </p:txBody>
      </p:sp>
      <p:sp>
        <p:nvSpPr>
          <p:cNvPr id="28" name="dq5_a"/>
          <p:cNvSpPr/>
          <p:nvPr/>
        </p:nvSpPr>
        <p:spPr>
          <a:xfrm>
            <a:off x="6708496" y="5212080"/>
            <a:ext cx="4797400" cy="329184"/>
          </a:xfrm>
          <a:prstGeom prst="roundRect">
            <a:avLst>
              <a:gd name="adj" fmla="val 22222"/>
            </a:avLst>
          </a:prstGeom>
          <a:solidFill>
            <a:srgbClr val="FDF3D6"/>
          </a:solidFill>
          <a:ln w="12700">
            <a:solidFill>
              <a:srgbClr val="F5B301"/>
            </a:solidFill>
          </a:ln>
        </p:spPr>
        <p:txBody>
          <a:bodyPr wrap="square" lIns="762" tIns="762" rIns="762" bIns="762" rtlCol="0" anchor="ctr"/>
          <a:lstStyle/>
          <a:p>
            <a:pPr algn="l" indent="0" marL="0">
              <a:buNone/>
            </a:pPr>
            <a:r>
              <a:rPr lang="en-US" sz="1100" b="1" dirty="0">
                <a:solidFill>
                  <a:srgbClr val="0E3A3F"/>
                </a:solidFill>
                <a:latin typeface="Arial" pitchFamily="34" charset="0"/>
                <a:ea typeface="Arial" pitchFamily="34" charset="-122"/>
                <a:cs typeface="Arial" pitchFamily="34" charset="-120"/>
              </a:rPr>
              <a:t>Keep whatever you wrote. We settle it today.</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wipe(right)">
                                      <p:cBhvr>
                                        <p:cTn id="4"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right)">
                                      <p:cBhvr>
                                        <p:cTn id="9"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right)">
                                      <p:cBhvr>
                                        <p:cTn id="14"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right)">
                                      <p:cBhvr>
                                        <p:cTn id="24"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right)">
                                      <p:cBhvr>
                                        <p:cTn id="2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HOOK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So why has it not run out?</a:t>
            </a:r>
            <a:endParaRPr lang="en-US" sz="3000" dirty="0"/>
          </a:p>
        </p:txBody>
      </p:sp>
      <p:pic>
        <p:nvPicPr>
          <p:cNvPr id="4" name="hook_img" descr="/home/claude/build/img3/pneumatophores.jpg">    </p:cNvPr>
          <p:cNvPicPr>
            <a:picLocks noChangeAspect="1"/>
          </p:cNvPicPr>
          <p:nvPr/>
        </p:nvPicPr>
        <p:blipFill>
          <a:blip r:embed="rId1"/>
          <a:stretch>
            <a:fillRect/>
          </a:stretch>
        </p:blipFill>
        <p:spPr>
          <a:xfrm>
            <a:off x="502920" y="1956816"/>
            <a:ext cx="4572000" cy="3017520"/>
          </a:xfrm>
          <a:prstGeom prst="rect">
            <a:avLst/>
          </a:prstGeom>
        </p:spPr>
      </p:pic>
      <p:sp>
        <p:nvSpPr>
          <p:cNvPr id="5" name="hook_cap"/>
          <p:cNvSpPr txBox="1"/>
          <p:nvPr/>
        </p:nvSpPr>
        <p:spPr>
          <a:xfrm>
            <a:off x="502920" y="5029200"/>
            <a:ext cx="4572000" cy="365760"/>
          </a:xfrm>
          <a:prstGeom prst="rect">
            <a:avLst/>
          </a:prstGeom>
          <a:noFill/>
          <a:ln/>
        </p:spPr>
        <p:txBody>
          <a:bodyPr wrap="square" lIns="0" tIns="0" rIns="0" bIns="0" rtlCol="0" anchor="t"/>
          <a:lstStyle/>
          <a:p>
            <a:pPr indent="0" marL="0">
              <a:lnSpc>
                <a:spcPts val="1200"/>
              </a:lnSpc>
              <a:buNone/>
            </a:pPr>
            <a:r>
              <a:rPr lang="en-US" sz="900" i="1" dirty="0">
                <a:solidFill>
                  <a:srgbClr val="4A6165"/>
                </a:solidFill>
                <a:latin typeface="Arial" pitchFamily="34" charset="0"/>
                <a:ea typeface="Arial" pitchFamily="34" charset="-122"/>
                <a:cs typeface="Arial" pitchFamily="34" charset="-120"/>
              </a:rPr>
              <a:t>Pneumatophores pushing up through waterlogged mangrove mud. Photo: Dinesh Valke, CC BY-SA 2.0.</a:t>
            </a:r>
            <a:endParaRPr lang="en-US" sz="900" dirty="0"/>
          </a:p>
        </p:txBody>
      </p:sp>
      <p:sp>
        <p:nvSpPr>
          <p:cNvPr id="6" name="hook_q1"/>
          <p:cNvSpPr txBox="1"/>
          <p:nvPr/>
        </p:nvSpPr>
        <p:spPr>
          <a:xfrm>
            <a:off x="5440680" y="1956816"/>
            <a:ext cx="6248095" cy="1554480"/>
          </a:xfrm>
          <a:prstGeom prst="rect">
            <a:avLst/>
          </a:prstGeom>
          <a:noFill/>
          <a:ln/>
        </p:spPr>
        <p:txBody>
          <a:bodyPr wrap="square" lIns="0" tIns="0" rIns="0" bIns="0" rtlCol="0" anchor="t"/>
          <a:lstStyle/>
          <a:p>
            <a:pPr indent="0" marL="0">
              <a:lnSpc>
                <a:spcPts val="2400"/>
              </a:lnSpc>
              <a:buNone/>
            </a:pPr>
            <a:r>
              <a:rPr lang="en-US" sz="1550" dirty="0">
                <a:solidFill>
                  <a:srgbClr val="14282B"/>
                </a:solidFill>
                <a:latin typeface="Arial" pitchFamily="34" charset="0"/>
                <a:ea typeface="Arial" pitchFamily="34" charset="-122"/>
                <a:cs typeface="Arial" pitchFamily="34" charset="-120"/>
              </a:rPr>
              <a:t>Last lesson: energy arrives from the Sun, passes along four or five links, and leaves as heat. It is gone.</a:t>
            </a:r>
            <a:endParaRPr lang="en-US" sz="1550" dirty="0"/>
          </a:p>
          <a:p>
            <a:pPr indent="0" marL="0">
              <a:lnSpc>
                <a:spcPts val="2400"/>
              </a:lnSpc>
              <a:buNone/>
            </a:pPr>
            <a:endParaRPr lang="en-US" sz="1550" dirty="0"/>
          </a:p>
          <a:p>
            <a:pPr indent="0" marL="0">
              <a:lnSpc>
                <a:spcPts val="2400"/>
              </a:lnSpc>
              <a:buNone/>
            </a:pPr>
            <a:r>
              <a:rPr lang="en-US" sz="1550" dirty="0">
                <a:solidFill>
                  <a:srgbClr val="14282B"/>
                </a:solidFill>
                <a:latin typeface="Arial" pitchFamily="34" charset="0"/>
                <a:ea typeface="Arial" pitchFamily="34" charset="-122"/>
                <a:cs typeface="Arial" pitchFamily="34" charset="-120"/>
              </a:rPr>
              <a:t>The Prasae estuary has been running for thousands of years. Every leaf that ever grew there needed nitrogen.</a:t>
            </a:r>
            <a:endParaRPr lang="en-US" sz="1550" dirty="0"/>
          </a:p>
        </p:txBody>
      </p:sp>
      <p:sp>
        <p:nvSpPr>
          <p:cNvPr id="7" name="hook_q2"/>
          <p:cNvSpPr txBox="1"/>
          <p:nvPr/>
        </p:nvSpPr>
        <p:spPr>
          <a:xfrm>
            <a:off x="5440680" y="3584448"/>
            <a:ext cx="6248095" cy="694944"/>
          </a:xfrm>
          <a:prstGeom prst="rect">
            <a:avLst/>
          </a:prstGeom>
          <a:noFill/>
          <a:ln/>
        </p:spPr>
        <p:txBody>
          <a:bodyPr wrap="square" lIns="0" tIns="0" rIns="0" bIns="0" rtlCol="0" anchor="ctr"/>
          <a:lstStyle/>
          <a:p>
            <a:pPr indent="0" marL="0">
              <a:lnSpc>
                <a:spcPts val="2600"/>
              </a:lnSpc>
              <a:buNone/>
            </a:pPr>
            <a:r>
              <a:rPr lang="en-US" sz="2100" b="1" dirty="0">
                <a:solidFill>
                  <a:srgbClr val="0E3A3F"/>
                </a:solidFill>
                <a:latin typeface="Georgia" pitchFamily="34" charset="0"/>
                <a:ea typeface="Georgia" pitchFamily="34" charset="-122"/>
                <a:cs typeface="Georgia" pitchFamily="34" charset="-120"/>
              </a:rPr>
              <a:t>So why has the estuary not run out of nitrogen?</a:t>
            </a:r>
            <a:endParaRPr lang="en-US" sz="2100" dirty="0"/>
          </a:p>
        </p:txBody>
      </p:sp>
      <p:grpSp>
        <p:nvGrpSpPr>
          <p:cNvPr id="18" name="hook_opt0"/>
          <p:cNvGrpSpPr/>
          <p:nvPr/>
        </p:nvGrpSpPr>
        <p:grpSpPr>
          <a:xfrm>
            <a:off x="5440680" y="4407408"/>
            <a:ext cx="6248095" cy="512064"/>
            <a:chOff x="5440680" y="4407408"/>
            <a:chExt cx="6248095" cy="512064"/>
          </a:xfrm>
        </p:grpSpPr>
        <p:sp>
          <p:nvSpPr>
            <p:cNvPr id="8" name="hook_opt0_bg"/>
            <p:cNvSpPr/>
            <p:nvPr/>
          </p:nvSpPr>
          <p:spPr>
            <a:xfrm>
              <a:off x="5440680" y="4407408"/>
              <a:ext cx="6248095" cy="512064"/>
            </a:xfrm>
            <a:prstGeom prst="roundRect">
              <a:avLst>
                <a:gd name="adj" fmla="val 25000"/>
              </a:avLst>
            </a:prstGeom>
            <a:solidFill>
              <a:srgbClr val="FFFFFF"/>
            </a:solidFill>
            <a:ln w="15875">
              <a:solidFill>
                <a:srgbClr val="F0E4C8"/>
              </a:solidFill>
              <a:prstDash val="solid"/>
            </a:ln>
          </p:spPr>
        </p:sp>
        <p:sp>
          <p:nvSpPr>
            <p:cNvPr id="9" name="hook_opt0_k"/>
            <p:cNvSpPr txBox="1"/>
            <p:nvPr/>
          </p:nvSpPr>
          <p:spPr>
            <a:xfrm>
              <a:off x="5623560" y="4407408"/>
              <a:ext cx="292608" cy="512064"/>
            </a:xfrm>
            <a:prstGeom prst="rect">
              <a:avLst/>
            </a:prstGeom>
            <a:noFill/>
            <a:ln/>
          </p:spPr>
          <p:txBody>
            <a:bodyPr wrap="square" lIns="0" tIns="0" rIns="0" bIns="0" rtlCol="0" anchor="ctr"/>
            <a:lstStyle/>
            <a:p>
              <a:pPr indent="0" marL="0">
                <a:buNone/>
              </a:pPr>
              <a:r>
                <a:rPr lang="en-US" sz="1400" b="1" dirty="0">
                  <a:solidFill>
                    <a:srgbClr val="E2572B"/>
                  </a:solidFill>
                  <a:latin typeface="Arial" pitchFamily="34" charset="0"/>
                  <a:ea typeface="Arial" pitchFamily="34" charset="-122"/>
                  <a:cs typeface="Arial" pitchFamily="34" charset="-120"/>
                </a:rPr>
                <a:t>A</a:t>
              </a:r>
              <a:endParaRPr lang="en-US" sz="1400" dirty="0"/>
            </a:p>
          </p:txBody>
        </p:sp>
        <p:sp>
          <p:nvSpPr>
            <p:cNvPr id="10" name="hook_opt0_t"/>
            <p:cNvSpPr txBox="1"/>
            <p:nvPr/>
          </p:nvSpPr>
          <p:spPr>
            <a:xfrm>
              <a:off x="5989320" y="4407408"/>
              <a:ext cx="5516575" cy="512064"/>
            </a:xfrm>
            <a:prstGeom prst="rect">
              <a:avLst/>
            </a:prstGeom>
            <a:noFill/>
            <a:ln/>
          </p:spPr>
          <p:txBody>
            <a:bodyPr wrap="square" lIns="0" tIns="0" rIns="0" bIns="0" rtlCol="0" anchor="ctr"/>
            <a:lstStyle/>
            <a:p>
              <a:pPr indent="0" marL="0">
                <a:buNone/>
              </a:pPr>
              <a:r>
                <a:rPr lang="en-US" sz="1300" dirty="0">
                  <a:solidFill>
                    <a:srgbClr val="14282B"/>
                  </a:solidFill>
                  <a:latin typeface="Arial" pitchFamily="34" charset="0"/>
                  <a:ea typeface="Arial" pitchFamily="34" charset="-122"/>
                  <a:cs typeface="Arial" pitchFamily="34" charset="-120"/>
                </a:rPr>
                <a:t>The tide keeps washing fresh nitrogen in from the sea.</a:t>
              </a:r>
              <a:endParaRPr lang="en-US" sz="1300" dirty="0"/>
            </a:p>
          </p:txBody>
        </p:sp>
      </p:grpSp>
      <p:grpSp>
        <p:nvGrpSpPr>
          <p:cNvPr id="19" name="hook_opt1"/>
          <p:cNvGrpSpPr/>
          <p:nvPr/>
        </p:nvGrpSpPr>
        <p:grpSpPr>
          <a:xfrm>
            <a:off x="5440680" y="5047488"/>
            <a:ext cx="6248095" cy="512064"/>
            <a:chOff x="5440680" y="5047488"/>
            <a:chExt cx="6248095" cy="512064"/>
          </a:xfrm>
        </p:grpSpPr>
        <p:sp>
          <p:nvSpPr>
            <p:cNvPr id="11" name="hook_opt1_bg"/>
            <p:cNvSpPr/>
            <p:nvPr/>
          </p:nvSpPr>
          <p:spPr>
            <a:xfrm>
              <a:off x="5440680" y="5047488"/>
              <a:ext cx="6248095" cy="512064"/>
            </a:xfrm>
            <a:prstGeom prst="roundRect">
              <a:avLst>
                <a:gd name="adj" fmla="val 25000"/>
              </a:avLst>
            </a:prstGeom>
            <a:solidFill>
              <a:srgbClr val="FFFFFF"/>
            </a:solidFill>
            <a:ln w="15875">
              <a:solidFill>
                <a:srgbClr val="F0E4C8"/>
              </a:solidFill>
              <a:prstDash val="solid"/>
            </a:ln>
          </p:spPr>
        </p:sp>
        <p:sp>
          <p:nvSpPr>
            <p:cNvPr id="12" name="hook_opt1_k"/>
            <p:cNvSpPr txBox="1"/>
            <p:nvPr/>
          </p:nvSpPr>
          <p:spPr>
            <a:xfrm>
              <a:off x="5623560" y="5047488"/>
              <a:ext cx="292608" cy="512064"/>
            </a:xfrm>
            <a:prstGeom prst="rect">
              <a:avLst/>
            </a:prstGeom>
            <a:noFill/>
            <a:ln/>
          </p:spPr>
          <p:txBody>
            <a:bodyPr wrap="square" lIns="0" tIns="0" rIns="0" bIns="0" rtlCol="0" anchor="ctr"/>
            <a:lstStyle/>
            <a:p>
              <a:pPr indent="0" marL="0">
                <a:buNone/>
              </a:pPr>
              <a:r>
                <a:rPr lang="en-US" sz="1400" b="1" dirty="0">
                  <a:solidFill>
                    <a:srgbClr val="E2572B"/>
                  </a:solidFill>
                  <a:latin typeface="Arial" pitchFamily="34" charset="0"/>
                  <a:ea typeface="Arial" pitchFamily="34" charset="-122"/>
                  <a:cs typeface="Arial" pitchFamily="34" charset="-120"/>
                </a:rPr>
                <a:t>B</a:t>
              </a:r>
              <a:endParaRPr lang="en-US" sz="1400" dirty="0"/>
            </a:p>
          </p:txBody>
        </p:sp>
        <p:sp>
          <p:nvSpPr>
            <p:cNvPr id="13" name="hook_opt1_t"/>
            <p:cNvSpPr txBox="1"/>
            <p:nvPr/>
          </p:nvSpPr>
          <p:spPr>
            <a:xfrm>
              <a:off x="5989320" y="5047488"/>
              <a:ext cx="5516575" cy="512064"/>
            </a:xfrm>
            <a:prstGeom prst="rect">
              <a:avLst/>
            </a:prstGeom>
            <a:noFill/>
            <a:ln/>
          </p:spPr>
          <p:txBody>
            <a:bodyPr wrap="square" lIns="0" tIns="0" rIns="0" bIns="0" rtlCol="0" anchor="ctr"/>
            <a:lstStyle/>
            <a:p>
              <a:pPr indent="0" marL="0">
                <a:buNone/>
              </a:pPr>
              <a:r>
                <a:rPr lang="en-US" sz="1300" dirty="0">
                  <a:solidFill>
                    <a:srgbClr val="14282B"/>
                  </a:solidFill>
                  <a:latin typeface="Arial" pitchFamily="34" charset="0"/>
                  <a:ea typeface="Arial" pitchFamily="34" charset="-122"/>
                  <a:cs typeface="Arial" pitchFamily="34" charset="-120"/>
                </a:rPr>
                <a:t>The same nitrogen atoms get used again and again.</a:t>
              </a:r>
              <a:endParaRPr lang="en-US" sz="1300" dirty="0"/>
            </a:p>
          </p:txBody>
        </p:sp>
      </p:grpSp>
      <p:grpSp>
        <p:nvGrpSpPr>
          <p:cNvPr id="20" name="hook_opt2"/>
          <p:cNvGrpSpPr/>
          <p:nvPr/>
        </p:nvGrpSpPr>
        <p:grpSpPr>
          <a:xfrm>
            <a:off x="5440680" y="5687568"/>
            <a:ext cx="6248095" cy="512064"/>
            <a:chOff x="5440680" y="5687568"/>
            <a:chExt cx="6248095" cy="512064"/>
          </a:xfrm>
        </p:grpSpPr>
        <p:sp>
          <p:nvSpPr>
            <p:cNvPr id="14" name="hook_opt2_bg"/>
            <p:cNvSpPr/>
            <p:nvPr/>
          </p:nvSpPr>
          <p:spPr>
            <a:xfrm>
              <a:off x="5440680" y="5687568"/>
              <a:ext cx="6248095" cy="512064"/>
            </a:xfrm>
            <a:prstGeom prst="roundRect">
              <a:avLst>
                <a:gd name="adj" fmla="val 25000"/>
              </a:avLst>
            </a:prstGeom>
            <a:solidFill>
              <a:srgbClr val="FFFFFF"/>
            </a:solidFill>
            <a:ln w="15875">
              <a:solidFill>
                <a:srgbClr val="F0E4C8"/>
              </a:solidFill>
              <a:prstDash val="solid"/>
            </a:ln>
          </p:spPr>
        </p:sp>
        <p:sp>
          <p:nvSpPr>
            <p:cNvPr id="15" name="hook_opt2_k"/>
            <p:cNvSpPr txBox="1"/>
            <p:nvPr/>
          </p:nvSpPr>
          <p:spPr>
            <a:xfrm>
              <a:off x="5623560" y="5687568"/>
              <a:ext cx="292608" cy="512064"/>
            </a:xfrm>
            <a:prstGeom prst="rect">
              <a:avLst/>
            </a:prstGeom>
            <a:noFill/>
            <a:ln/>
          </p:spPr>
          <p:txBody>
            <a:bodyPr wrap="square" lIns="0" tIns="0" rIns="0" bIns="0" rtlCol="0" anchor="ctr"/>
            <a:lstStyle/>
            <a:p>
              <a:pPr indent="0" marL="0">
                <a:buNone/>
              </a:pPr>
              <a:r>
                <a:rPr lang="en-US" sz="1400" b="1" dirty="0">
                  <a:solidFill>
                    <a:srgbClr val="E2572B"/>
                  </a:solidFill>
                  <a:latin typeface="Arial" pitchFamily="34" charset="0"/>
                  <a:ea typeface="Arial" pitchFamily="34" charset="-122"/>
                  <a:cs typeface="Arial" pitchFamily="34" charset="-120"/>
                </a:rPr>
                <a:t>C</a:t>
              </a:r>
              <a:endParaRPr lang="en-US" sz="1400" dirty="0"/>
            </a:p>
          </p:txBody>
        </p:sp>
        <p:sp>
          <p:nvSpPr>
            <p:cNvPr id="16" name="hook_opt2_t"/>
            <p:cNvSpPr txBox="1"/>
            <p:nvPr/>
          </p:nvSpPr>
          <p:spPr>
            <a:xfrm>
              <a:off x="5989320" y="5687568"/>
              <a:ext cx="5516575" cy="512064"/>
            </a:xfrm>
            <a:prstGeom prst="rect">
              <a:avLst/>
            </a:prstGeom>
            <a:noFill/>
            <a:ln/>
          </p:spPr>
          <p:txBody>
            <a:bodyPr wrap="square" lIns="0" tIns="0" rIns="0" bIns="0" rtlCol="0" anchor="ctr"/>
            <a:lstStyle/>
            <a:p>
              <a:pPr indent="0" marL="0">
                <a:buNone/>
              </a:pPr>
              <a:r>
                <a:rPr lang="en-US" sz="1300" dirty="0">
                  <a:solidFill>
                    <a:srgbClr val="14282B"/>
                  </a:solidFill>
                  <a:latin typeface="Arial" pitchFamily="34" charset="0"/>
                  <a:ea typeface="Arial" pitchFamily="34" charset="-122"/>
                  <a:cs typeface="Arial" pitchFamily="34" charset="-120"/>
                </a:rPr>
                <a:t>Mangroves do not really need much nitrogen.</a:t>
              </a:r>
              <a:endParaRPr lang="en-US" sz="1300" dirty="0"/>
            </a:p>
          </p:txBody>
        </p:sp>
      </p:grpSp>
      <p:sp>
        <p:nvSpPr>
          <p:cNvPr id="17"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Vote. Write your letter in the margin.</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8" presetID="10" presetClass="entr" presetSubtype="0" fill="hold" grpId="0" nodeType="withEffect">
                                  <p:stCondLst>
                                    <p:cond delay="16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21" presetID="10" presetClass="entr" presetSubtype="0" fill="hold" grpId="0" nodeType="withEffect">
                                  <p:stCondLst>
                                    <p:cond delay="32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4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flows   ·   cycles</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One goes through. The other goes round.</a:t>
            </a:r>
            <a:endParaRPr lang="en-US" sz="3000" dirty="0"/>
          </a:p>
        </p:txBody>
      </p:sp>
      <p:grpSp>
        <p:nvGrpSpPr>
          <p:cNvPr id="39" name="fl_panel"/>
          <p:cNvGrpSpPr/>
          <p:nvPr/>
        </p:nvGrpSpPr>
        <p:grpSpPr>
          <a:xfrm>
            <a:off x="502920" y="1993392"/>
            <a:ext cx="5394960" cy="3291840"/>
            <a:chOff x="502920" y="1993392"/>
            <a:chExt cx="5394960" cy="3291840"/>
          </a:xfrm>
        </p:grpSpPr>
        <p:sp>
          <p:nvSpPr>
            <p:cNvPr id="5" name="fl_bg"/>
            <p:cNvSpPr/>
            <p:nvPr/>
          </p:nvSpPr>
          <p:spPr>
            <a:xfrm>
              <a:off x="502920" y="1993392"/>
              <a:ext cx="5394960" cy="3291840"/>
            </a:xfrm>
            <a:prstGeom prst="roundRect">
              <a:avLst>
                <a:gd name="adj" fmla="val 3889"/>
              </a:avLst>
            </a:prstGeom>
            <a:solidFill>
              <a:srgbClr val="FDF3D6"/>
            </a:solidFill>
            <a:ln w="15875">
              <a:solidFill>
                <a:srgbClr val="F5B301"/>
              </a:solidFill>
              <a:prstDash val="solid"/>
            </a:ln>
          </p:spPr>
        </p:sp>
        <p:sp>
          <p:nvSpPr>
            <p:cNvPr id="6" name="fl_h"/>
            <p:cNvSpPr txBox="1"/>
            <p:nvPr/>
          </p:nvSpPr>
          <p:spPr>
            <a:xfrm>
              <a:off x="722376" y="2157984"/>
              <a:ext cx="4937760" cy="292608"/>
            </a:xfrm>
            <a:prstGeom prst="rect">
              <a:avLst/>
            </a:prstGeom>
            <a:noFill/>
            <a:ln/>
          </p:spPr>
          <p:txBody>
            <a:bodyPr wrap="square" lIns="0" tIns="0" rIns="0" bIns="0" rtlCol="0" anchor="ctr"/>
            <a:lstStyle/>
            <a:p>
              <a:pPr indent="0" marL="0">
                <a:buNone/>
              </a:pPr>
              <a:r>
                <a:rPr lang="en-US" sz="1300" b="1" spc="80" kern="0" dirty="0">
                  <a:solidFill>
                    <a:srgbClr val="0E3A3F"/>
                  </a:solidFill>
                  <a:latin typeface="Arial" pitchFamily="34" charset="0"/>
                  <a:ea typeface="Arial" pitchFamily="34" charset="-122"/>
                  <a:cs typeface="Arial" pitchFamily="34" charset="-120"/>
                </a:rPr>
                <a:t>ENERGY  —  flows through, once</a:t>
              </a:r>
              <a:endParaRPr lang="en-US" sz="1300" dirty="0"/>
            </a:p>
          </p:txBody>
        </p:sp>
      </p:grpSp>
      <p:grpSp>
        <p:nvGrpSpPr>
          <p:cNvPr id="35" name="fl0"/>
          <p:cNvGrpSpPr/>
          <p:nvPr/>
        </p:nvGrpSpPr>
        <p:grpSpPr>
          <a:xfrm>
            <a:off x="822960" y="2670048"/>
            <a:ext cx="1417320" cy="493776"/>
            <a:chOff x="822960" y="2670048"/>
            <a:chExt cx="1417320" cy="493776"/>
          </a:xfrm>
        </p:grpSpPr>
        <p:sp>
          <p:nvSpPr>
            <p:cNvPr id="7" name="fl0_bg"/>
            <p:cNvSpPr/>
            <p:nvPr/>
          </p:nvSpPr>
          <p:spPr>
            <a:xfrm>
              <a:off x="822960" y="2670048"/>
              <a:ext cx="1417320" cy="493776"/>
            </a:xfrm>
            <a:prstGeom prst="roundRect">
              <a:avLst>
                <a:gd name="adj" fmla="val 22222"/>
              </a:avLst>
            </a:prstGeom>
            <a:solidFill>
              <a:srgbClr val="FFFFFF"/>
            </a:solidFill>
            <a:ln w="17780">
              <a:solidFill>
                <a:srgbClr val="F0E4C8"/>
              </a:solidFill>
              <a:prstDash val="solid"/>
            </a:ln>
          </p:spPr>
        </p:sp>
        <p:sp>
          <p:nvSpPr>
            <p:cNvPr id="8" name="fl0_t"/>
            <p:cNvSpPr txBox="1"/>
            <p:nvPr/>
          </p:nvSpPr>
          <p:spPr>
            <a:xfrm>
              <a:off x="914400" y="2670048"/>
              <a:ext cx="123444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Sun</a:t>
              </a:r>
              <a:endParaRPr lang="en-US" sz="1100" dirty="0"/>
            </a:p>
          </p:txBody>
        </p:sp>
      </p:grpSp>
      <p:grpSp>
        <p:nvGrpSpPr>
          <p:cNvPr id="36" name="fl1"/>
          <p:cNvGrpSpPr/>
          <p:nvPr/>
        </p:nvGrpSpPr>
        <p:grpSpPr>
          <a:xfrm>
            <a:off x="2560320" y="2670048"/>
            <a:ext cx="1417320" cy="493776"/>
            <a:chOff x="2560320" y="2670048"/>
            <a:chExt cx="1417320" cy="493776"/>
          </a:xfrm>
        </p:grpSpPr>
        <p:sp>
          <p:nvSpPr>
            <p:cNvPr id="9" name="fl1_bg"/>
            <p:cNvSpPr/>
            <p:nvPr/>
          </p:nvSpPr>
          <p:spPr>
            <a:xfrm>
              <a:off x="2560320" y="2670048"/>
              <a:ext cx="1417320" cy="493776"/>
            </a:xfrm>
            <a:prstGeom prst="roundRect">
              <a:avLst>
                <a:gd name="adj" fmla="val 22222"/>
              </a:avLst>
            </a:prstGeom>
            <a:solidFill>
              <a:srgbClr val="FFFFFF"/>
            </a:solidFill>
            <a:ln w="17780">
              <a:solidFill>
                <a:srgbClr val="F0E4C8"/>
              </a:solidFill>
              <a:prstDash val="solid"/>
            </a:ln>
          </p:spPr>
        </p:sp>
        <p:sp>
          <p:nvSpPr>
            <p:cNvPr id="10" name="fl1_t"/>
            <p:cNvSpPr txBox="1"/>
            <p:nvPr/>
          </p:nvSpPr>
          <p:spPr>
            <a:xfrm>
              <a:off x="2651760" y="2670048"/>
              <a:ext cx="123444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Producers</a:t>
              </a:r>
              <a:endParaRPr lang="en-US" sz="1100" dirty="0"/>
            </a:p>
          </p:txBody>
        </p:sp>
      </p:grpSp>
      <p:grpSp>
        <p:nvGrpSpPr>
          <p:cNvPr id="37" name="fl2"/>
          <p:cNvGrpSpPr/>
          <p:nvPr/>
        </p:nvGrpSpPr>
        <p:grpSpPr>
          <a:xfrm>
            <a:off x="4297680" y="2670048"/>
            <a:ext cx="1417320" cy="493776"/>
            <a:chOff x="4297680" y="2670048"/>
            <a:chExt cx="1417320" cy="493776"/>
          </a:xfrm>
        </p:grpSpPr>
        <p:sp>
          <p:nvSpPr>
            <p:cNvPr id="11" name="fl2_bg"/>
            <p:cNvSpPr/>
            <p:nvPr/>
          </p:nvSpPr>
          <p:spPr>
            <a:xfrm>
              <a:off x="4297680" y="2670048"/>
              <a:ext cx="1417320" cy="493776"/>
            </a:xfrm>
            <a:prstGeom prst="roundRect">
              <a:avLst>
                <a:gd name="adj" fmla="val 22222"/>
              </a:avLst>
            </a:prstGeom>
            <a:solidFill>
              <a:srgbClr val="FFFFFF"/>
            </a:solidFill>
            <a:ln w="17780">
              <a:solidFill>
                <a:srgbClr val="F0E4C8"/>
              </a:solidFill>
              <a:prstDash val="solid"/>
            </a:ln>
          </p:spPr>
        </p:sp>
        <p:sp>
          <p:nvSpPr>
            <p:cNvPr id="12" name="fl2_t"/>
            <p:cNvSpPr txBox="1"/>
            <p:nvPr/>
          </p:nvSpPr>
          <p:spPr>
            <a:xfrm>
              <a:off x="4389120" y="2670048"/>
              <a:ext cx="123444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Consumers</a:t>
              </a:r>
              <a:endParaRPr lang="en-US" sz="1100" dirty="0"/>
            </a:p>
          </p:txBody>
        </p:sp>
      </p:grpSp>
      <p:sp>
        <p:nvSpPr>
          <p:cNvPr id="13" name="fl_e0"/>
          <p:cNvSpPr/>
          <p:nvPr/>
        </p:nvSpPr>
        <p:spPr>
          <a:xfrm>
            <a:off x="2295144" y="2843784"/>
            <a:ext cx="210312" cy="146304"/>
          </a:xfrm>
          <a:prstGeom prst="rightArrow">
            <a:avLst/>
          </a:prstGeom>
          <a:solidFill>
            <a:srgbClr val="F5B301"/>
          </a:solidFill>
          <a:ln w="12700">
            <a:solidFill>
              <a:srgbClr val="F5B301"/>
            </a:solidFill>
            <a:prstDash val="solid"/>
          </a:ln>
        </p:spPr>
      </p:sp>
      <p:sp>
        <p:nvSpPr>
          <p:cNvPr id="14" name="fl_e1"/>
          <p:cNvSpPr/>
          <p:nvPr/>
        </p:nvSpPr>
        <p:spPr>
          <a:xfrm>
            <a:off x="4032504" y="2843784"/>
            <a:ext cx="210312" cy="146304"/>
          </a:xfrm>
          <a:prstGeom prst="rightArrow">
            <a:avLst/>
          </a:prstGeom>
          <a:solidFill>
            <a:srgbClr val="F5B301"/>
          </a:solidFill>
          <a:ln w="12700">
            <a:solidFill>
              <a:srgbClr val="F5B301"/>
            </a:solidFill>
            <a:prstDash val="solid"/>
          </a:ln>
        </p:spPr>
      </p:sp>
      <p:grpSp>
        <p:nvGrpSpPr>
          <p:cNvPr id="38" name="fl_heat"/>
          <p:cNvGrpSpPr/>
          <p:nvPr/>
        </p:nvGrpSpPr>
        <p:grpSpPr>
          <a:xfrm>
            <a:off x="2560320" y="3913632"/>
            <a:ext cx="1417320" cy="493776"/>
            <a:chOff x="2560320" y="3913632"/>
            <a:chExt cx="1417320" cy="493776"/>
          </a:xfrm>
        </p:grpSpPr>
        <p:sp>
          <p:nvSpPr>
            <p:cNvPr id="15" name="fl_heat_bg"/>
            <p:cNvSpPr/>
            <p:nvPr/>
          </p:nvSpPr>
          <p:spPr>
            <a:xfrm>
              <a:off x="2560320" y="3913632"/>
              <a:ext cx="1417320" cy="493776"/>
            </a:xfrm>
            <a:prstGeom prst="roundRect">
              <a:avLst>
                <a:gd name="adj" fmla="val 22222"/>
              </a:avLst>
            </a:prstGeom>
            <a:solidFill>
              <a:srgbClr val="FBE3D9"/>
            </a:solidFill>
            <a:ln w="17780">
              <a:solidFill>
                <a:srgbClr val="E2572B"/>
              </a:solidFill>
              <a:prstDash val="solid"/>
            </a:ln>
          </p:spPr>
        </p:sp>
        <p:sp>
          <p:nvSpPr>
            <p:cNvPr id="16" name="fl_heat_t"/>
            <p:cNvSpPr txBox="1"/>
            <p:nvPr/>
          </p:nvSpPr>
          <p:spPr>
            <a:xfrm>
              <a:off x="2651760" y="3913632"/>
              <a:ext cx="1234440" cy="493776"/>
            </a:xfrm>
            <a:prstGeom prst="rect">
              <a:avLst/>
            </a:prstGeom>
            <a:noFill/>
            <a:ln/>
          </p:spPr>
          <p:txBody>
            <a:bodyPr wrap="square" lIns="0" tIns="0" rIns="0" bIns="0" rtlCol="0" anchor="ctr"/>
            <a:lstStyle/>
            <a:p>
              <a:pPr algn="ctr" indent="0" marL="0">
                <a:buNone/>
              </a:pPr>
              <a:r>
                <a:rPr lang="en-US" sz="1100" b="1" dirty="0">
                  <a:solidFill>
                    <a:srgbClr val="E2572B"/>
                  </a:solidFill>
                  <a:latin typeface="Arial" pitchFamily="34" charset="0"/>
                  <a:ea typeface="Arial" pitchFamily="34" charset="-122"/>
                  <a:cs typeface="Arial" pitchFamily="34" charset="-120"/>
                </a:rPr>
                <a:t>HEAT</a:t>
              </a:r>
              <a:endParaRPr lang="en-US" sz="1100" dirty="0"/>
            </a:p>
          </p:txBody>
        </p:sp>
      </p:grpSp>
      <p:sp>
        <p:nvSpPr>
          <p:cNvPr id="17" name="fl_e2"/>
          <p:cNvSpPr/>
          <p:nvPr/>
        </p:nvSpPr>
        <p:spPr>
          <a:xfrm rot="5400000">
            <a:off x="2948940" y="3465576"/>
            <a:ext cx="640080" cy="146304"/>
          </a:xfrm>
          <a:prstGeom prst="rightArrow">
            <a:avLst/>
          </a:prstGeom>
          <a:solidFill>
            <a:srgbClr val="E2572B"/>
          </a:solidFill>
          <a:ln w="12700">
            <a:solidFill>
              <a:srgbClr val="E2572B"/>
            </a:solidFill>
            <a:prstDash val="solid"/>
          </a:ln>
        </p:spPr>
      </p:sp>
      <p:sp>
        <p:nvSpPr>
          <p:cNvPr id="18" name="fl_e3"/>
          <p:cNvSpPr/>
          <p:nvPr/>
        </p:nvSpPr>
        <p:spPr>
          <a:xfrm rot="8605295">
            <a:off x="3926883" y="3465576"/>
            <a:ext cx="1148503" cy="146304"/>
          </a:xfrm>
          <a:prstGeom prst="rightArrow">
            <a:avLst/>
          </a:prstGeom>
          <a:solidFill>
            <a:srgbClr val="E2572B"/>
          </a:solidFill>
          <a:ln w="12700">
            <a:solidFill>
              <a:srgbClr val="E2572B"/>
            </a:solidFill>
            <a:prstDash val="solid"/>
          </a:ln>
        </p:spPr>
      </p:sp>
      <p:sp>
        <p:nvSpPr>
          <p:cNvPr id="19" name="fl_note"/>
          <p:cNvSpPr txBox="1"/>
          <p:nvPr/>
        </p:nvSpPr>
        <p:spPr>
          <a:xfrm>
            <a:off x="758952" y="4572000"/>
            <a:ext cx="4846320" cy="566928"/>
          </a:xfrm>
          <a:prstGeom prst="rect">
            <a:avLst/>
          </a:prstGeom>
          <a:noFill/>
          <a:ln/>
        </p:spPr>
        <p:txBody>
          <a:bodyPr wrap="square" lIns="0" tIns="0" rIns="0" bIns="0" rtlCol="0" anchor="t"/>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It leaves the ecosystem and does not come back. That is why you need the Sun again tomorrow.</a:t>
            </a:r>
            <a:endParaRPr lang="en-US" sz="1200" dirty="0"/>
          </a:p>
        </p:txBody>
      </p:sp>
      <p:grpSp>
        <p:nvGrpSpPr>
          <p:cNvPr id="40" name="cy_panel"/>
          <p:cNvGrpSpPr/>
          <p:nvPr/>
        </p:nvGrpSpPr>
        <p:grpSpPr>
          <a:xfrm>
            <a:off x="6263640" y="1993392"/>
            <a:ext cx="5425135" cy="3291840"/>
            <a:chOff x="6263640" y="1993392"/>
            <a:chExt cx="5425135" cy="3291840"/>
          </a:xfrm>
        </p:grpSpPr>
        <p:sp>
          <p:nvSpPr>
            <p:cNvPr id="20" name="cy_bg"/>
            <p:cNvSpPr/>
            <p:nvPr/>
          </p:nvSpPr>
          <p:spPr>
            <a:xfrm>
              <a:off x="6263640" y="1993392"/>
              <a:ext cx="5425135" cy="3291840"/>
            </a:xfrm>
            <a:prstGeom prst="roundRect">
              <a:avLst>
                <a:gd name="adj" fmla="val 3889"/>
              </a:avLst>
            </a:prstGeom>
            <a:solidFill>
              <a:srgbClr val="F2F9F5"/>
            </a:solidFill>
            <a:ln w="15875">
              <a:solidFill>
                <a:srgbClr val="2E9E6B"/>
              </a:solidFill>
              <a:prstDash val="solid"/>
            </a:ln>
          </p:spPr>
        </p:sp>
        <p:sp>
          <p:nvSpPr>
            <p:cNvPr id="21" name="cy_h"/>
            <p:cNvSpPr txBox="1"/>
            <p:nvPr/>
          </p:nvSpPr>
          <p:spPr>
            <a:xfrm>
              <a:off x="6483096" y="2157984"/>
              <a:ext cx="4937760" cy="292608"/>
            </a:xfrm>
            <a:prstGeom prst="rect">
              <a:avLst/>
            </a:prstGeom>
            <a:noFill/>
            <a:ln/>
          </p:spPr>
          <p:txBody>
            <a:bodyPr wrap="square" lIns="0" tIns="0" rIns="0" bIns="0" rtlCol="0" anchor="ctr"/>
            <a:lstStyle/>
            <a:p>
              <a:pPr indent="0" marL="0">
                <a:buNone/>
              </a:pPr>
              <a:r>
                <a:rPr lang="en-US" sz="1300" b="1" spc="80" kern="0" dirty="0">
                  <a:solidFill>
                    <a:srgbClr val="0E3A3F"/>
                  </a:solidFill>
                  <a:latin typeface="Arial" pitchFamily="34" charset="0"/>
                  <a:ea typeface="Arial" pitchFamily="34" charset="-122"/>
                  <a:cs typeface="Arial" pitchFamily="34" charset="-120"/>
                </a:rPr>
                <a:t>MATTER  —  goes round, for ever</a:t>
              </a:r>
              <a:endParaRPr lang="en-US" sz="1300" dirty="0"/>
            </a:p>
          </p:txBody>
        </p:sp>
      </p:grpSp>
      <p:grpSp>
        <p:nvGrpSpPr>
          <p:cNvPr id="41" name="cy_air"/>
          <p:cNvGrpSpPr/>
          <p:nvPr/>
        </p:nvGrpSpPr>
        <p:grpSpPr>
          <a:xfrm>
            <a:off x="6675120" y="2670048"/>
            <a:ext cx="1828800" cy="493776"/>
            <a:chOff x="6675120" y="2670048"/>
            <a:chExt cx="1828800" cy="493776"/>
          </a:xfrm>
        </p:grpSpPr>
        <p:sp>
          <p:nvSpPr>
            <p:cNvPr id="22" name="cy_air_bg"/>
            <p:cNvSpPr/>
            <p:nvPr/>
          </p:nvSpPr>
          <p:spPr>
            <a:xfrm>
              <a:off x="6675120" y="2670048"/>
              <a:ext cx="1828800" cy="493776"/>
            </a:xfrm>
            <a:prstGeom prst="roundRect">
              <a:avLst>
                <a:gd name="adj" fmla="val 22222"/>
              </a:avLst>
            </a:prstGeom>
            <a:solidFill>
              <a:srgbClr val="FFFFFF"/>
            </a:solidFill>
            <a:ln w="17780">
              <a:solidFill>
                <a:srgbClr val="F0E4C8"/>
              </a:solidFill>
              <a:prstDash val="solid"/>
            </a:ln>
          </p:spPr>
        </p:sp>
        <p:sp>
          <p:nvSpPr>
            <p:cNvPr id="23" name="cy_air_t"/>
            <p:cNvSpPr txBox="1"/>
            <p:nvPr/>
          </p:nvSpPr>
          <p:spPr>
            <a:xfrm>
              <a:off x="6766560" y="2670048"/>
              <a:ext cx="164592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In the air</a:t>
              </a:r>
              <a:endParaRPr lang="en-US" sz="1100" dirty="0"/>
            </a:p>
          </p:txBody>
        </p:sp>
      </p:grpSp>
      <p:grpSp>
        <p:nvGrpSpPr>
          <p:cNvPr id="42" name="cy_plant"/>
          <p:cNvGrpSpPr/>
          <p:nvPr/>
        </p:nvGrpSpPr>
        <p:grpSpPr>
          <a:xfrm>
            <a:off x="9052560" y="2670048"/>
            <a:ext cx="1828800" cy="493776"/>
            <a:chOff x="9052560" y="2670048"/>
            <a:chExt cx="1828800" cy="493776"/>
          </a:xfrm>
        </p:grpSpPr>
        <p:sp>
          <p:nvSpPr>
            <p:cNvPr id="24" name="cy_plant_bg"/>
            <p:cNvSpPr/>
            <p:nvPr/>
          </p:nvSpPr>
          <p:spPr>
            <a:xfrm>
              <a:off x="9052560" y="2670048"/>
              <a:ext cx="1828800" cy="493776"/>
            </a:xfrm>
            <a:prstGeom prst="roundRect">
              <a:avLst>
                <a:gd name="adj" fmla="val 22222"/>
              </a:avLst>
            </a:prstGeom>
            <a:solidFill>
              <a:srgbClr val="FFFFFF"/>
            </a:solidFill>
            <a:ln w="17780">
              <a:solidFill>
                <a:srgbClr val="F0E4C8"/>
              </a:solidFill>
              <a:prstDash val="solid"/>
            </a:ln>
          </p:spPr>
        </p:sp>
        <p:sp>
          <p:nvSpPr>
            <p:cNvPr id="25" name="cy_plant_t"/>
            <p:cNvSpPr txBox="1"/>
            <p:nvPr/>
          </p:nvSpPr>
          <p:spPr>
            <a:xfrm>
              <a:off x="9144000" y="2670048"/>
              <a:ext cx="164592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In a plant</a:t>
              </a:r>
              <a:endParaRPr lang="en-US" sz="1100" dirty="0"/>
            </a:p>
          </p:txBody>
        </p:sp>
      </p:grpSp>
      <p:grpSp>
        <p:nvGrpSpPr>
          <p:cNvPr id="43" name="cy_animal"/>
          <p:cNvGrpSpPr/>
          <p:nvPr/>
        </p:nvGrpSpPr>
        <p:grpSpPr>
          <a:xfrm>
            <a:off x="9052560" y="3730752"/>
            <a:ext cx="1828800" cy="493776"/>
            <a:chOff x="9052560" y="3730752"/>
            <a:chExt cx="1828800" cy="493776"/>
          </a:xfrm>
        </p:grpSpPr>
        <p:sp>
          <p:nvSpPr>
            <p:cNvPr id="26" name="cy_animal_bg"/>
            <p:cNvSpPr/>
            <p:nvPr/>
          </p:nvSpPr>
          <p:spPr>
            <a:xfrm>
              <a:off x="9052560" y="3730752"/>
              <a:ext cx="1828800" cy="493776"/>
            </a:xfrm>
            <a:prstGeom prst="roundRect">
              <a:avLst>
                <a:gd name="adj" fmla="val 22222"/>
              </a:avLst>
            </a:prstGeom>
            <a:solidFill>
              <a:srgbClr val="FFFFFF"/>
            </a:solidFill>
            <a:ln w="17780">
              <a:solidFill>
                <a:srgbClr val="F0E4C8"/>
              </a:solidFill>
              <a:prstDash val="solid"/>
            </a:ln>
          </p:spPr>
        </p:sp>
        <p:sp>
          <p:nvSpPr>
            <p:cNvPr id="27" name="cy_animal_t"/>
            <p:cNvSpPr txBox="1"/>
            <p:nvPr/>
          </p:nvSpPr>
          <p:spPr>
            <a:xfrm>
              <a:off x="9144000" y="3730752"/>
              <a:ext cx="164592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In an animal</a:t>
              </a:r>
              <a:endParaRPr lang="en-US" sz="1100" dirty="0"/>
            </a:p>
          </p:txBody>
        </p:sp>
      </p:grpSp>
      <p:grpSp>
        <p:nvGrpSpPr>
          <p:cNvPr id="44" name="cy_dead"/>
          <p:cNvGrpSpPr/>
          <p:nvPr/>
        </p:nvGrpSpPr>
        <p:grpSpPr>
          <a:xfrm>
            <a:off x="6675120" y="3730752"/>
            <a:ext cx="1828800" cy="493776"/>
            <a:chOff x="6675120" y="3730752"/>
            <a:chExt cx="1828800" cy="493776"/>
          </a:xfrm>
        </p:grpSpPr>
        <p:sp>
          <p:nvSpPr>
            <p:cNvPr id="28" name="cy_dead_bg"/>
            <p:cNvSpPr/>
            <p:nvPr/>
          </p:nvSpPr>
          <p:spPr>
            <a:xfrm>
              <a:off x="6675120" y="3730752"/>
              <a:ext cx="1828800" cy="493776"/>
            </a:xfrm>
            <a:prstGeom prst="roundRect">
              <a:avLst>
                <a:gd name="adj" fmla="val 22222"/>
              </a:avLst>
            </a:prstGeom>
            <a:solidFill>
              <a:srgbClr val="FFFFFF"/>
            </a:solidFill>
            <a:ln w="17780">
              <a:solidFill>
                <a:srgbClr val="F0E4C8"/>
              </a:solidFill>
              <a:prstDash val="solid"/>
            </a:ln>
          </p:spPr>
        </p:sp>
        <p:sp>
          <p:nvSpPr>
            <p:cNvPr id="29" name="cy_dead_t"/>
            <p:cNvSpPr txBox="1"/>
            <p:nvPr/>
          </p:nvSpPr>
          <p:spPr>
            <a:xfrm>
              <a:off x="6766560" y="3730752"/>
              <a:ext cx="1645920" cy="493776"/>
            </a:xfrm>
            <a:prstGeom prst="rect">
              <a:avLst/>
            </a:prstGeom>
            <a:noFill/>
            <a:ln/>
          </p:spPr>
          <p:txBody>
            <a:bodyPr wrap="square" lIns="0" tIns="0" rIns="0" bIns="0" rtlCol="0" anchor="ctr"/>
            <a:lstStyle/>
            <a:p>
              <a:pPr algn="ctr" indent="0" marL="0">
                <a:buNone/>
              </a:pPr>
              <a:r>
                <a:rPr lang="en-US" sz="1100" b="1" dirty="0">
                  <a:solidFill>
                    <a:srgbClr val="14282B"/>
                  </a:solidFill>
                  <a:latin typeface="Arial" pitchFamily="34" charset="0"/>
                  <a:ea typeface="Arial" pitchFamily="34" charset="-122"/>
                  <a:cs typeface="Arial" pitchFamily="34" charset="-120"/>
                </a:rPr>
                <a:t>In dead matter</a:t>
              </a:r>
              <a:endParaRPr lang="en-US" sz="1100" dirty="0"/>
            </a:p>
          </p:txBody>
        </p:sp>
      </p:grpSp>
      <p:sp>
        <p:nvSpPr>
          <p:cNvPr id="30" name="cy_e0"/>
          <p:cNvSpPr/>
          <p:nvPr/>
        </p:nvSpPr>
        <p:spPr>
          <a:xfrm>
            <a:off x="8558784" y="2843784"/>
            <a:ext cx="438912" cy="146304"/>
          </a:xfrm>
          <a:prstGeom prst="rightArrow">
            <a:avLst/>
          </a:prstGeom>
          <a:solidFill>
            <a:srgbClr val="2E9E6B"/>
          </a:solidFill>
          <a:ln w="12700">
            <a:solidFill>
              <a:srgbClr val="2E9E6B"/>
            </a:solidFill>
            <a:prstDash val="solid"/>
          </a:ln>
        </p:spPr>
      </p:sp>
      <p:sp>
        <p:nvSpPr>
          <p:cNvPr id="31" name="cy_e1"/>
          <p:cNvSpPr/>
          <p:nvPr/>
        </p:nvSpPr>
        <p:spPr>
          <a:xfrm rot="5400000">
            <a:off x="9738360" y="3374136"/>
            <a:ext cx="457200" cy="146304"/>
          </a:xfrm>
          <a:prstGeom prst="rightArrow">
            <a:avLst/>
          </a:prstGeom>
          <a:solidFill>
            <a:srgbClr val="2E9E6B"/>
          </a:solidFill>
          <a:ln w="12700">
            <a:solidFill>
              <a:srgbClr val="2E9E6B"/>
            </a:solidFill>
            <a:prstDash val="solid"/>
          </a:ln>
        </p:spPr>
      </p:sp>
      <p:sp>
        <p:nvSpPr>
          <p:cNvPr id="32" name="cy_e2"/>
          <p:cNvSpPr/>
          <p:nvPr/>
        </p:nvSpPr>
        <p:spPr>
          <a:xfrm rot="10800000">
            <a:off x="8558784" y="3904488"/>
            <a:ext cx="438912" cy="146304"/>
          </a:xfrm>
          <a:prstGeom prst="rightArrow">
            <a:avLst/>
          </a:prstGeom>
          <a:solidFill>
            <a:srgbClr val="2E9E6B"/>
          </a:solidFill>
          <a:ln w="12700">
            <a:solidFill>
              <a:srgbClr val="2E9E6B"/>
            </a:solidFill>
            <a:prstDash val="solid"/>
          </a:ln>
        </p:spPr>
      </p:sp>
      <p:sp>
        <p:nvSpPr>
          <p:cNvPr id="33" name="cy_e3"/>
          <p:cNvSpPr/>
          <p:nvPr/>
        </p:nvSpPr>
        <p:spPr>
          <a:xfrm rot="-5400000">
            <a:off x="7360920" y="3374136"/>
            <a:ext cx="457200" cy="146304"/>
          </a:xfrm>
          <a:prstGeom prst="rightArrow">
            <a:avLst/>
          </a:prstGeom>
          <a:solidFill>
            <a:srgbClr val="2E9E6B"/>
          </a:solidFill>
          <a:ln w="12700">
            <a:solidFill>
              <a:srgbClr val="2E9E6B"/>
            </a:solidFill>
            <a:prstDash val="solid"/>
          </a:ln>
        </p:spPr>
      </p:sp>
      <p:sp>
        <p:nvSpPr>
          <p:cNvPr id="34" name="cy_note"/>
          <p:cNvSpPr txBox="1"/>
          <p:nvPr/>
        </p:nvSpPr>
        <p:spPr>
          <a:xfrm>
            <a:off x="6519672" y="4572000"/>
            <a:ext cx="4913071" cy="566928"/>
          </a:xfrm>
          <a:prstGeom prst="rect">
            <a:avLst/>
          </a:prstGeom>
          <a:noFill/>
          <a:ln/>
        </p:spPr>
        <p:txBody>
          <a:bodyPr wrap="square" lIns="0" tIns="0" rIns="0" bIns="0" rtlCol="0" anchor="t"/>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No atom is ever used up. The same atoms have been round this estuary more times than anyone could count.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9"/>
                                        </p:tgtEl>
                                        <p:attrNameLst>
                                          <p:attrName>style.visibility</p:attrName>
                                        </p:attrNameLst>
                                      </p:cBhvr>
                                      <p:to>
                                        <p:strVal val="visible"/>
                                      </p:to>
                                    </p:set>
                                    <p:animEffect transition="in" filter="fade">
                                      <p:cBhvr>
                                        <p:cTn id="4" dur="500"/>
                                        <p:tgtEl>
                                          <p:spTgt spid="39"/>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11" presetID="22" presetClass="entr" presetSubtype="8" fill="hold" grpId="0" nodeType="withEffect">
                                  <p:stCondLst>
                                    <p:cond delay="300"/>
                                  </p:stCondLst>
                                  <p:childTnLst>
                                    <p:set>
                                      <p:cBhvr>
                                        <p:cTn id="9" dur="1" fill="hold">
                                          <p:stCondLst>
                                            <p:cond delay="0"/>
                                          </p:stCondLst>
                                        </p:cTn>
                                        <p:tgtEl>
                                          <p:spTgt spid="13"/>
                                        </p:tgtEl>
                                        <p:attrNameLst>
                                          <p:attrName>style.visibility</p:attrName>
                                        </p:attrNameLst>
                                      </p:cBhvr>
                                      <p:to>
                                        <p:strVal val="visible"/>
                                      </p:to>
                                    </p:set>
                                    <p:animEffect transition="in" filter="wipe(right)">
                                      <p:cBhvr>
                                        <p:cTn id="10" dur="500"/>
                                        <p:tgtEl>
                                          <p:spTgt spid="13"/>
                                        </p:tgtEl>
                                      </p:cBhvr>
                                    </p:animEffect>
                                  </p:childTnLst>
                                </p:cTn>
                              </p:par>
                              <p:par>
                                <p:cTn id="14" presetID="10" presetClass="entr" presetSubtype="0" fill="hold" grpId="0" nodeType="withEffect">
                                  <p:stCondLst>
                                    <p:cond delay="45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7" presetID="22" presetClass="entr" presetSubtype="8" fill="hold" grpId="0" nodeType="withEffect">
                                  <p:stCondLst>
                                    <p:cond delay="600"/>
                                  </p:stCondLst>
                                  <p:childTnLst>
                                    <p:set>
                                      <p:cBhvr>
                                        <p:cTn id="15" dur="1" fill="hold">
                                          <p:stCondLst>
                                            <p:cond delay="0"/>
                                          </p:stCondLst>
                                        </p:cTn>
                                        <p:tgtEl>
                                          <p:spTgt spid="14"/>
                                        </p:tgtEl>
                                        <p:attrNameLst>
                                          <p:attrName>style.visibility</p:attrName>
                                        </p:attrNameLst>
                                      </p:cBhvr>
                                      <p:to>
                                        <p:strVal val="visible"/>
                                      </p:to>
                                    </p:set>
                                    <p:animEffect transition="in" filter="wipe(right)">
                                      <p:cBhvr>
                                        <p:cTn id="16" dur="500"/>
                                        <p:tgtEl>
                                          <p:spTgt spid="14"/>
                                        </p:tgtEl>
                                      </p:cBhvr>
                                    </p:animEffect>
                                  </p:childTnLst>
                                </p:cTn>
                              </p:par>
                              <p:par>
                                <p:cTn id="20" presetID="10" presetClass="entr" presetSubtype="0" fill="hold" grpId="0" nodeType="withEffect">
                                  <p:stCondLst>
                                    <p:cond delay="75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25" presetID="22" presetClass="entr" presetSubtype="1"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500"/>
                                        <p:tgtEl>
                                          <p:spTgt spid="17"/>
                                        </p:tgtEl>
                                      </p:cBhvr>
                                    </p:animEffect>
                                  </p:childTnLst>
                                </p:cTn>
                              </p:par>
                              <p:par>
                                <p:cTn id="28" presetID="22" presetClass="entr" presetSubtype="1" fill="hold" grpId="0" nodeType="withEffect">
                                  <p:stCondLst>
                                    <p:cond delay="12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par>
                                <p:cTn id="32" presetID="23" presetClass="entr" presetSubtype="16" fill="hold" grpId="0" nodeType="withEffect">
                                  <p:stCondLst>
                                    <p:cond delay="26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animScale>
                                      <p:cBhvr>
                                        <p:cTn id="31" dur="500" fill="hold"/>
                                        <p:tgtEl>
                                          <p:spTgt spid="38"/>
                                        </p:tgtEl>
                                      </p:cBhvr>
                                      <p:from x="0" y="0"/>
                                      <p:to x="100000" y="100000"/>
                                    </p:animScale>
                                  </p:childTnLst>
                                </p:cTn>
                              </p:par>
                            </p:childTnLst>
                          </p:cTn>
                        </p:par>
                      </p:childTnLst>
                    </p:cTn>
                  </p:par>
                  <p:par>
                    <p:cTn id="38" fill="hold">
                      <p:stCondLst>
                        <p:cond delay="indefinite"/>
                      </p:stCondLst>
                      <p:childTnLst>
                        <p:par>
                          <p:cTn id="39" fill="hold">
                            <p:stCondLst>
                              <p:cond delay="0"/>
                            </p:stCondLst>
                            <p:childTnLst>
                              <p:par>
                                <p:cTn id="37"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42" presetID="10"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par>
                                <p:cTn id="45" presetID="10" presetClass="entr" presetSubtype="0" fill="hold" grpId="0" nodeType="withEffect">
                                  <p:stCondLst>
                                    <p:cond delay="15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childTnLst>
                                </p:cTn>
                              </p:par>
                              <p:par>
                                <p:cTn id="48" presetID="22" presetClass="entr" presetSubtype="8" fill="hold" grpId="0" nodeType="withEffect">
                                  <p:stCondLst>
                                    <p:cond delay="300"/>
                                  </p:stCondLst>
                                  <p:childTnLst>
                                    <p:set>
                                      <p:cBhvr>
                                        <p:cTn id="46" dur="1" fill="hold">
                                          <p:stCondLst>
                                            <p:cond delay="0"/>
                                          </p:stCondLst>
                                        </p:cTn>
                                        <p:tgtEl>
                                          <p:spTgt spid="30"/>
                                        </p:tgtEl>
                                        <p:attrNameLst>
                                          <p:attrName>style.visibility</p:attrName>
                                        </p:attrNameLst>
                                      </p:cBhvr>
                                      <p:to>
                                        <p:strVal val="visible"/>
                                      </p:to>
                                    </p:set>
                                    <p:animEffect transition="in" filter="wipe(right)">
                                      <p:cBhvr>
                                        <p:cTn id="47" dur="500"/>
                                        <p:tgtEl>
                                          <p:spTgt spid="30"/>
                                        </p:tgtEl>
                                      </p:cBhvr>
                                    </p:animEffect>
                                  </p:childTnLst>
                                </p:cTn>
                              </p:par>
                              <p:par>
                                <p:cTn id="51" presetID="10" presetClass="entr" presetSubtype="0" fill="hold" grpId="0" nodeType="withEffect">
                                  <p:stCondLst>
                                    <p:cond delay="43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500"/>
                                        <p:tgtEl>
                                          <p:spTgt spid="42"/>
                                        </p:tgtEl>
                                      </p:cBhvr>
                                    </p:animEffect>
                                  </p:childTnLst>
                                </p:cTn>
                              </p:par>
                              <p:par>
                                <p:cTn id="54" presetID="22" presetClass="entr" presetSubtype="1" fill="hold" grpId="0" nodeType="withEffect">
                                  <p:stCondLst>
                                    <p:cond delay="560"/>
                                  </p:stCondLst>
                                  <p:childTnLst>
                                    <p:set>
                                      <p:cBhvr>
                                        <p:cTn id="52" dur="1" fill="hold">
                                          <p:stCondLst>
                                            <p:cond delay="0"/>
                                          </p:stCondLst>
                                        </p:cTn>
                                        <p:tgtEl>
                                          <p:spTgt spid="31"/>
                                        </p:tgtEl>
                                        <p:attrNameLst>
                                          <p:attrName>style.visibility</p:attrName>
                                        </p:attrNameLst>
                                      </p:cBhvr>
                                      <p:to>
                                        <p:strVal val="visible"/>
                                      </p:to>
                                    </p:set>
                                    <p:animEffect transition="in" filter="wipe(down)">
                                      <p:cBhvr>
                                        <p:cTn id="53" dur="500"/>
                                        <p:tgtEl>
                                          <p:spTgt spid="31"/>
                                        </p:tgtEl>
                                      </p:cBhvr>
                                    </p:animEffect>
                                  </p:childTnLst>
                                </p:cTn>
                              </p:par>
                              <p:par>
                                <p:cTn id="57" presetID="10" presetClass="entr" presetSubtype="0" fill="hold" grpId="0" nodeType="withEffect">
                                  <p:stCondLst>
                                    <p:cond delay="69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500"/>
                                        <p:tgtEl>
                                          <p:spTgt spid="43"/>
                                        </p:tgtEl>
                                      </p:cBhvr>
                                    </p:animEffect>
                                  </p:childTnLst>
                                </p:cTn>
                              </p:par>
                            </p:childTnLst>
                          </p:cTn>
                        </p:par>
                      </p:childTnLst>
                    </p:cTn>
                  </p:par>
                  <p:par>
                    <p:cTn id="69" fill="hold">
                      <p:stCondLst>
                        <p:cond delay="indefinite"/>
                      </p:stCondLst>
                      <p:childTnLst>
                        <p:par>
                          <p:cTn id="70" fill="hold">
                            <p:stCondLst>
                              <p:cond delay="0"/>
                            </p:stCondLst>
                            <p:childTnLst>
                              <p:par>
                                <p:cTn id="62" presetID="22" presetClass="entr" presetSubtype="2"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left)">
                                      <p:cBhvr>
                                        <p:cTn id="61" dur="500"/>
                                        <p:tgtEl>
                                          <p:spTgt spid="32"/>
                                        </p:tgtEl>
                                      </p:cBhvr>
                                    </p:animEffect>
                                  </p:childTnLst>
                                </p:cTn>
                              </p:par>
                              <p:par>
                                <p:cTn id="65" presetID="10" presetClass="entr" presetSubtype="0" fill="hold" grpId="0" nodeType="withEffect">
                                  <p:stCondLst>
                                    <p:cond delay="13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500"/>
                                        <p:tgtEl>
                                          <p:spTgt spid="44"/>
                                        </p:tgtEl>
                                      </p:cBhvr>
                                    </p:animEffect>
                                  </p:childTnLst>
                                </p:cTn>
                              </p:par>
                              <p:par>
                                <p:cTn id="68" presetID="22" presetClass="entr" presetSubtype="4" fill="hold" grpId="0" nodeType="withEffect">
                                  <p:stCondLst>
                                    <p:cond delay="260"/>
                                  </p:stCondLst>
                                  <p:childTnLst>
                                    <p:set>
                                      <p:cBhvr>
                                        <p:cTn id="66" dur="1" fill="hold">
                                          <p:stCondLst>
                                            <p:cond delay="0"/>
                                          </p:stCondLst>
                                        </p:cTn>
                                        <p:tgtEl>
                                          <p:spTgt spid="33"/>
                                        </p:tgtEl>
                                        <p:attrNameLst>
                                          <p:attrName>style.visibility</p:attrName>
                                        </p:attrNameLst>
                                      </p:cBhvr>
                                      <p:to>
                                        <p:strVal val="visible"/>
                                      </p:to>
                                    </p:set>
                                    <p:animEffect transition="in" filter="wipe(up)">
                                      <p:cBhvr>
                                        <p:cTn id="67"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3" presetID="10" presetClass="entr" presetSubtype="0"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6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carbon cycle   ·   photosynthesis   ·   respiration</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Carbon, round the Prasae estuary</a:t>
            </a:r>
            <a:endParaRPr lang="en-US" sz="3000" dirty="0"/>
          </a:p>
        </p:txBody>
      </p:sp>
      <p:grpSp>
        <p:nvGrpSpPr>
          <p:cNvPr id="31" name="cb_co2"/>
          <p:cNvGrpSpPr/>
          <p:nvPr/>
        </p:nvGrpSpPr>
        <p:grpSpPr>
          <a:xfrm>
            <a:off x="1005840" y="2139696"/>
            <a:ext cx="2331720" cy="713232"/>
            <a:chOff x="1005840" y="2139696"/>
            <a:chExt cx="2331720" cy="713232"/>
          </a:xfrm>
        </p:grpSpPr>
        <p:sp>
          <p:nvSpPr>
            <p:cNvPr id="5" name="cb_co2_bg"/>
            <p:cNvSpPr/>
            <p:nvPr/>
          </p:nvSpPr>
          <p:spPr>
            <a:xfrm>
              <a:off x="1005840" y="2139696"/>
              <a:ext cx="2331720" cy="713232"/>
            </a:xfrm>
            <a:prstGeom prst="roundRect">
              <a:avLst>
                <a:gd name="adj" fmla="val 15385"/>
              </a:avLst>
            </a:prstGeom>
            <a:solidFill>
              <a:srgbClr val="EDF3F4"/>
            </a:solidFill>
            <a:ln w="17780">
              <a:solidFill>
                <a:srgbClr val="17505A"/>
              </a:solidFill>
              <a:prstDash val="solid"/>
            </a:ln>
          </p:spPr>
        </p:sp>
        <p:sp>
          <p:nvSpPr>
            <p:cNvPr id="6" name="cb_co2_t"/>
            <p:cNvSpPr txBox="1"/>
            <p:nvPr/>
          </p:nvSpPr>
          <p:spPr>
            <a:xfrm>
              <a:off x="1097280" y="2212848"/>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CO₂ in the air</a:t>
              </a:r>
              <a:endParaRPr lang="en-US" sz="1200" dirty="0"/>
            </a:p>
          </p:txBody>
        </p:sp>
        <p:sp>
          <p:nvSpPr>
            <p:cNvPr id="7" name="cb_co2_s"/>
            <p:cNvSpPr txBox="1"/>
            <p:nvPr/>
          </p:nvSpPr>
          <p:spPr>
            <a:xfrm>
              <a:off x="1078992" y="2539106"/>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and dissolved in the water</a:t>
              </a:r>
              <a:endParaRPr lang="en-US" sz="950" dirty="0"/>
            </a:p>
          </p:txBody>
        </p:sp>
      </p:grpSp>
      <p:grpSp>
        <p:nvGrpSpPr>
          <p:cNvPr id="32" name="cb_prod"/>
          <p:cNvGrpSpPr/>
          <p:nvPr/>
        </p:nvGrpSpPr>
        <p:grpSpPr>
          <a:xfrm>
            <a:off x="4754880" y="2139696"/>
            <a:ext cx="2331720" cy="713232"/>
            <a:chOff x="4754880" y="2139696"/>
            <a:chExt cx="2331720" cy="713232"/>
          </a:xfrm>
        </p:grpSpPr>
        <p:sp>
          <p:nvSpPr>
            <p:cNvPr id="8" name="cb_prod_bg"/>
            <p:cNvSpPr/>
            <p:nvPr/>
          </p:nvSpPr>
          <p:spPr>
            <a:xfrm>
              <a:off x="4754880" y="2139696"/>
              <a:ext cx="2331720" cy="713232"/>
            </a:xfrm>
            <a:prstGeom prst="roundRect">
              <a:avLst>
                <a:gd name="adj" fmla="val 15385"/>
              </a:avLst>
            </a:prstGeom>
            <a:solidFill>
              <a:srgbClr val="EAF6F0"/>
            </a:solidFill>
            <a:ln w="17780">
              <a:solidFill>
                <a:srgbClr val="2E9E6B"/>
              </a:solidFill>
              <a:prstDash val="solid"/>
            </a:ln>
          </p:spPr>
        </p:sp>
        <p:sp>
          <p:nvSpPr>
            <p:cNvPr id="9" name="cb_prod_t"/>
            <p:cNvSpPr txBox="1"/>
            <p:nvPr/>
          </p:nvSpPr>
          <p:spPr>
            <a:xfrm>
              <a:off x="4846320" y="2212848"/>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Producers</a:t>
              </a:r>
              <a:endParaRPr lang="en-US" sz="1200" dirty="0"/>
            </a:p>
          </p:txBody>
        </p:sp>
        <p:sp>
          <p:nvSpPr>
            <p:cNvPr id="10" name="cb_prod_s"/>
            <p:cNvSpPr txBox="1"/>
            <p:nvPr/>
          </p:nvSpPr>
          <p:spPr>
            <a:xfrm>
              <a:off x="4828032" y="2539106"/>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mangrove, phytoplankton</a:t>
              </a:r>
              <a:endParaRPr lang="en-US" sz="950" dirty="0"/>
            </a:p>
          </p:txBody>
        </p:sp>
      </p:grpSp>
      <p:grpSp>
        <p:nvGrpSpPr>
          <p:cNvPr id="33" name="cb_cons"/>
          <p:cNvGrpSpPr/>
          <p:nvPr/>
        </p:nvGrpSpPr>
        <p:grpSpPr>
          <a:xfrm>
            <a:off x="4754880" y="4078224"/>
            <a:ext cx="2331720" cy="713232"/>
            <a:chOff x="4754880" y="4078224"/>
            <a:chExt cx="2331720" cy="713232"/>
          </a:xfrm>
        </p:grpSpPr>
        <p:sp>
          <p:nvSpPr>
            <p:cNvPr id="11" name="cb_cons_bg"/>
            <p:cNvSpPr/>
            <p:nvPr/>
          </p:nvSpPr>
          <p:spPr>
            <a:xfrm>
              <a:off x="4754880" y="4078224"/>
              <a:ext cx="2331720" cy="713232"/>
            </a:xfrm>
            <a:prstGeom prst="roundRect">
              <a:avLst>
                <a:gd name="adj" fmla="val 15385"/>
              </a:avLst>
            </a:prstGeom>
            <a:solidFill>
              <a:srgbClr val="FFFFFF"/>
            </a:solidFill>
            <a:ln w="17780">
              <a:solidFill>
                <a:srgbClr val="F0E4C8"/>
              </a:solidFill>
              <a:prstDash val="solid"/>
            </a:ln>
          </p:spPr>
        </p:sp>
        <p:sp>
          <p:nvSpPr>
            <p:cNvPr id="12" name="cb_cons_t"/>
            <p:cNvSpPr txBox="1"/>
            <p:nvPr/>
          </p:nvSpPr>
          <p:spPr>
            <a:xfrm>
              <a:off x="4846320" y="4151376"/>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Consumers</a:t>
              </a:r>
              <a:endParaRPr lang="en-US" sz="1200" dirty="0"/>
            </a:p>
          </p:txBody>
        </p:sp>
        <p:sp>
          <p:nvSpPr>
            <p:cNvPr id="13" name="cb_cons_s"/>
            <p:cNvSpPr txBox="1"/>
            <p:nvPr/>
          </p:nvSpPr>
          <p:spPr>
            <a:xfrm>
              <a:off x="4828032" y="4477634"/>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crabs, fish, egrets</a:t>
              </a:r>
              <a:endParaRPr lang="en-US" sz="950" dirty="0"/>
            </a:p>
          </p:txBody>
        </p:sp>
      </p:grpSp>
      <p:grpSp>
        <p:nvGrpSpPr>
          <p:cNvPr id="34" name="cb_dead"/>
          <p:cNvGrpSpPr/>
          <p:nvPr/>
        </p:nvGrpSpPr>
        <p:grpSpPr>
          <a:xfrm>
            <a:off x="1005840" y="4078224"/>
            <a:ext cx="2331720" cy="713232"/>
            <a:chOff x="1005840" y="4078224"/>
            <a:chExt cx="2331720" cy="713232"/>
          </a:xfrm>
        </p:grpSpPr>
        <p:sp>
          <p:nvSpPr>
            <p:cNvPr id="14" name="cb_dead_bg"/>
            <p:cNvSpPr/>
            <p:nvPr/>
          </p:nvSpPr>
          <p:spPr>
            <a:xfrm>
              <a:off x="1005840" y="4078224"/>
              <a:ext cx="2331720" cy="713232"/>
            </a:xfrm>
            <a:prstGeom prst="roundRect">
              <a:avLst>
                <a:gd name="adj" fmla="val 15385"/>
              </a:avLst>
            </a:prstGeom>
            <a:solidFill>
              <a:srgbClr val="FFFFFF"/>
            </a:solidFill>
            <a:ln w="17780">
              <a:solidFill>
                <a:srgbClr val="F0E4C8"/>
              </a:solidFill>
              <a:prstDash val="solid"/>
            </a:ln>
          </p:spPr>
        </p:sp>
        <p:sp>
          <p:nvSpPr>
            <p:cNvPr id="15" name="cb_dead_t"/>
            <p:cNvSpPr txBox="1"/>
            <p:nvPr/>
          </p:nvSpPr>
          <p:spPr>
            <a:xfrm>
              <a:off x="1097280" y="4151376"/>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Dead leaves and bodies</a:t>
              </a:r>
              <a:endParaRPr lang="en-US" sz="1200" dirty="0"/>
            </a:p>
          </p:txBody>
        </p:sp>
        <p:sp>
          <p:nvSpPr>
            <p:cNvPr id="16" name="cb_dead_s"/>
            <p:cNvSpPr txBox="1"/>
            <p:nvPr/>
          </p:nvSpPr>
          <p:spPr>
            <a:xfrm>
              <a:off x="1078992" y="4477634"/>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in the mud</a:t>
              </a:r>
              <a:endParaRPr lang="en-US" sz="950" dirty="0"/>
            </a:p>
          </p:txBody>
        </p:sp>
      </p:grpSp>
      <p:grpSp>
        <p:nvGrpSpPr>
          <p:cNvPr id="35" name="cb_locked"/>
          <p:cNvGrpSpPr/>
          <p:nvPr/>
        </p:nvGrpSpPr>
        <p:grpSpPr>
          <a:xfrm>
            <a:off x="8138160" y="4078224"/>
            <a:ext cx="2331720" cy="713232"/>
            <a:chOff x="8138160" y="4078224"/>
            <a:chExt cx="2331720" cy="713232"/>
          </a:xfrm>
        </p:grpSpPr>
        <p:sp>
          <p:nvSpPr>
            <p:cNvPr id="17" name="cb_locked_bg"/>
            <p:cNvSpPr/>
            <p:nvPr/>
          </p:nvSpPr>
          <p:spPr>
            <a:xfrm>
              <a:off x="8138160" y="4078224"/>
              <a:ext cx="2331720" cy="713232"/>
            </a:xfrm>
            <a:prstGeom prst="roundRect">
              <a:avLst>
                <a:gd name="adj" fmla="val 15385"/>
              </a:avLst>
            </a:prstGeom>
            <a:solidFill>
              <a:srgbClr val="FDF3D6"/>
            </a:solidFill>
            <a:ln w="17780">
              <a:solidFill>
                <a:srgbClr val="F5B301"/>
              </a:solidFill>
              <a:prstDash val="solid"/>
            </a:ln>
          </p:spPr>
        </p:sp>
        <p:sp>
          <p:nvSpPr>
            <p:cNvPr id="18" name="cb_locked_t"/>
            <p:cNvSpPr txBox="1"/>
            <p:nvPr/>
          </p:nvSpPr>
          <p:spPr>
            <a:xfrm>
              <a:off x="8229600" y="4151376"/>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Locked in the mud</a:t>
              </a:r>
              <a:endParaRPr lang="en-US" sz="1200" dirty="0"/>
            </a:p>
          </p:txBody>
        </p:sp>
        <p:sp>
          <p:nvSpPr>
            <p:cNvPr id="19" name="cb_locked_s"/>
            <p:cNvSpPr txBox="1"/>
            <p:nvPr/>
          </p:nvSpPr>
          <p:spPr>
            <a:xfrm>
              <a:off x="8211312" y="4477634"/>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for centuries</a:t>
              </a:r>
              <a:endParaRPr lang="en-US" sz="950" dirty="0"/>
            </a:p>
          </p:txBody>
        </p:sp>
      </p:grpSp>
      <p:sp>
        <p:nvSpPr>
          <p:cNvPr id="20" name="cb_e0"/>
          <p:cNvSpPr/>
          <p:nvPr/>
        </p:nvSpPr>
        <p:spPr>
          <a:xfrm>
            <a:off x="3392424" y="2414016"/>
            <a:ext cx="1307592" cy="164592"/>
          </a:xfrm>
          <a:prstGeom prst="rightArrow">
            <a:avLst/>
          </a:prstGeom>
          <a:solidFill>
            <a:srgbClr val="2E9E6B"/>
          </a:solidFill>
          <a:ln w="12700">
            <a:solidFill>
              <a:srgbClr val="2E9E6B"/>
            </a:solidFill>
            <a:prstDash val="solid"/>
          </a:ln>
        </p:spPr>
      </p:sp>
      <p:sp>
        <p:nvSpPr>
          <p:cNvPr id="21" name="cb_e1"/>
          <p:cNvSpPr/>
          <p:nvPr/>
        </p:nvSpPr>
        <p:spPr>
          <a:xfrm rot="5400000">
            <a:off x="5362956" y="3383280"/>
            <a:ext cx="1115568" cy="164592"/>
          </a:xfrm>
          <a:prstGeom prst="rightArrow">
            <a:avLst/>
          </a:prstGeom>
          <a:solidFill>
            <a:srgbClr val="2E9E6B"/>
          </a:solidFill>
          <a:ln w="12700">
            <a:solidFill>
              <a:srgbClr val="2E9E6B"/>
            </a:solidFill>
            <a:prstDash val="solid"/>
          </a:ln>
        </p:spPr>
      </p:sp>
      <p:sp>
        <p:nvSpPr>
          <p:cNvPr id="22" name="cb_e2"/>
          <p:cNvSpPr/>
          <p:nvPr/>
        </p:nvSpPr>
        <p:spPr>
          <a:xfrm rot="10800000">
            <a:off x="3392424" y="4352544"/>
            <a:ext cx="1307592" cy="164592"/>
          </a:xfrm>
          <a:prstGeom prst="rightArrow">
            <a:avLst/>
          </a:prstGeom>
          <a:solidFill>
            <a:srgbClr val="2E9E6B"/>
          </a:solidFill>
          <a:ln w="12700">
            <a:solidFill>
              <a:srgbClr val="2E9E6B"/>
            </a:solidFill>
            <a:prstDash val="solid"/>
          </a:ln>
        </p:spPr>
      </p:sp>
      <p:sp>
        <p:nvSpPr>
          <p:cNvPr id="23" name="cb_e3"/>
          <p:cNvSpPr/>
          <p:nvPr/>
        </p:nvSpPr>
        <p:spPr>
          <a:xfrm rot="-5400000">
            <a:off x="1613916" y="3383280"/>
            <a:ext cx="1115568" cy="164592"/>
          </a:xfrm>
          <a:prstGeom prst="rightArrow">
            <a:avLst/>
          </a:prstGeom>
          <a:solidFill>
            <a:srgbClr val="2E9E6B"/>
          </a:solidFill>
          <a:ln w="12700">
            <a:solidFill>
              <a:srgbClr val="2E9E6B"/>
            </a:solidFill>
            <a:prstDash val="solid"/>
          </a:ln>
        </p:spPr>
      </p:sp>
      <p:sp>
        <p:nvSpPr>
          <p:cNvPr id="24" name="cb_e4"/>
          <p:cNvSpPr/>
          <p:nvPr/>
        </p:nvSpPr>
        <p:spPr>
          <a:xfrm>
            <a:off x="7141464" y="4352544"/>
            <a:ext cx="941832" cy="164592"/>
          </a:xfrm>
          <a:prstGeom prst="rightArrow">
            <a:avLst/>
          </a:prstGeom>
          <a:solidFill>
            <a:srgbClr val="F5B301"/>
          </a:solidFill>
          <a:ln w="12700">
            <a:solidFill>
              <a:srgbClr val="F5B301"/>
            </a:solidFill>
            <a:prstDash val="solid"/>
          </a:ln>
        </p:spPr>
      </p:sp>
      <p:sp>
        <p:nvSpPr>
          <p:cNvPr id="25" name="cb_l0"/>
          <p:cNvSpPr txBox="1"/>
          <p:nvPr/>
        </p:nvSpPr>
        <p:spPr>
          <a:xfrm>
            <a:off x="2788920" y="1645920"/>
            <a:ext cx="2423160" cy="420624"/>
          </a:xfrm>
          <a:prstGeom prst="rect">
            <a:avLst/>
          </a:prstGeom>
          <a:noFill/>
          <a:ln/>
        </p:spPr>
        <p:txBody>
          <a:bodyPr wrap="square" lIns="0" tIns="0" rIns="0" bIns="0" rtlCol="0" anchor="ctr"/>
          <a:lstStyle/>
          <a:p>
            <a:pPr algn="ctr" indent="0" marL="0">
              <a:buNone/>
            </a:pPr>
            <a:r>
              <a:rPr lang="en-US" sz="1100" b="1" dirty="0">
                <a:solidFill>
                  <a:srgbClr val="0E3A3F"/>
                </a:solidFill>
                <a:latin typeface="Arial" pitchFamily="34" charset="0"/>
                <a:ea typeface="Arial" pitchFamily="34" charset="-122"/>
                <a:cs typeface="Arial" pitchFamily="34" charset="-120"/>
              </a:rPr>
              <a:t>PHOTOSYNTHESIS</a:t>
            </a:r>
            <a:endParaRPr lang="en-US" sz="1100" dirty="0"/>
          </a:p>
          <a:p>
            <a:pPr algn="ctr" indent="0" marL="0">
              <a:buNone/>
            </a:pPr>
            <a:r>
              <a:rPr lang="en-US" sz="1100" b="1" dirty="0">
                <a:solidFill>
                  <a:srgbClr val="0E3A3F"/>
                </a:solidFill>
                <a:latin typeface="Arial" pitchFamily="34" charset="0"/>
                <a:ea typeface="Arial" pitchFamily="34" charset="-122"/>
                <a:cs typeface="Arial" pitchFamily="34" charset="-120"/>
              </a:rPr>
              <a:t>takes carbon out of the air</a:t>
            </a:r>
            <a:endParaRPr lang="en-US" sz="1100" dirty="0"/>
          </a:p>
        </p:txBody>
      </p:sp>
      <p:sp>
        <p:nvSpPr>
          <p:cNvPr id="26" name="cb_l1"/>
          <p:cNvSpPr txBox="1"/>
          <p:nvPr/>
        </p:nvSpPr>
        <p:spPr>
          <a:xfrm>
            <a:off x="6089904" y="3017520"/>
            <a:ext cx="1280160" cy="420624"/>
          </a:xfrm>
          <a:prstGeom prst="rect">
            <a:avLst/>
          </a:prstGeom>
          <a:noFill/>
          <a:ln/>
        </p:spPr>
        <p:txBody>
          <a:bodyPr wrap="square" lIns="0" tIns="0" rIns="0" bIns="0" rtlCol="0" anchor="ctr"/>
          <a:lstStyle/>
          <a:p>
            <a:pPr algn="ctr" indent="0" marL="0">
              <a:buNone/>
            </a:pPr>
            <a:r>
              <a:rPr lang="en-US" sz="1100" b="1" dirty="0">
                <a:solidFill>
                  <a:srgbClr val="0E3A3F"/>
                </a:solidFill>
                <a:latin typeface="Arial" pitchFamily="34" charset="0"/>
                <a:ea typeface="Arial" pitchFamily="34" charset="-122"/>
                <a:cs typeface="Arial" pitchFamily="34" charset="-120"/>
              </a:rPr>
              <a:t>FEEDING</a:t>
            </a:r>
            <a:endParaRPr lang="en-US" sz="1100" dirty="0"/>
          </a:p>
        </p:txBody>
      </p:sp>
      <p:sp>
        <p:nvSpPr>
          <p:cNvPr id="27" name="cb_l2"/>
          <p:cNvSpPr txBox="1"/>
          <p:nvPr/>
        </p:nvSpPr>
        <p:spPr>
          <a:xfrm>
            <a:off x="2788920" y="4882896"/>
            <a:ext cx="2423160" cy="420624"/>
          </a:xfrm>
          <a:prstGeom prst="rect">
            <a:avLst/>
          </a:prstGeom>
          <a:noFill/>
          <a:ln/>
        </p:spPr>
        <p:txBody>
          <a:bodyPr wrap="square" lIns="0" tIns="0" rIns="0" bIns="0" rtlCol="0" anchor="ctr"/>
          <a:lstStyle/>
          <a:p>
            <a:pPr algn="ctr" indent="0" marL="0">
              <a:buNone/>
            </a:pPr>
            <a:r>
              <a:rPr lang="en-US" sz="1100" b="1" dirty="0">
                <a:solidFill>
                  <a:srgbClr val="0E3A3F"/>
                </a:solidFill>
                <a:latin typeface="Arial" pitchFamily="34" charset="0"/>
                <a:ea typeface="Arial" pitchFamily="34" charset="-122"/>
                <a:cs typeface="Arial" pitchFamily="34" charset="-120"/>
              </a:rPr>
              <a:t>DEATH AND WASTE</a:t>
            </a:r>
            <a:endParaRPr lang="en-US" sz="1100" dirty="0"/>
          </a:p>
        </p:txBody>
      </p:sp>
      <p:sp>
        <p:nvSpPr>
          <p:cNvPr id="28" name="cb_l3"/>
          <p:cNvSpPr txBox="1"/>
          <p:nvPr/>
        </p:nvSpPr>
        <p:spPr>
          <a:xfrm>
            <a:off x="109728" y="3054096"/>
            <a:ext cx="1810512" cy="420624"/>
          </a:xfrm>
          <a:prstGeom prst="rect">
            <a:avLst/>
          </a:prstGeom>
          <a:noFill/>
          <a:ln/>
        </p:spPr>
        <p:txBody>
          <a:bodyPr wrap="square" lIns="0" tIns="0" rIns="0" bIns="0" rtlCol="0" anchor="ctr"/>
          <a:lstStyle/>
          <a:p>
            <a:pPr algn="ctr" indent="0" marL="0">
              <a:buNone/>
            </a:pPr>
            <a:r>
              <a:rPr lang="en-US" sz="1100" b="1" dirty="0">
                <a:solidFill>
                  <a:srgbClr val="0E3A3F"/>
                </a:solidFill>
                <a:latin typeface="Arial" pitchFamily="34" charset="0"/>
                <a:ea typeface="Arial" pitchFamily="34" charset="-122"/>
                <a:cs typeface="Arial" pitchFamily="34" charset="-120"/>
              </a:rPr>
              <a:t>RESPIRATION AND</a:t>
            </a:r>
            <a:endParaRPr lang="en-US" sz="1100" dirty="0"/>
          </a:p>
          <a:p>
            <a:pPr algn="ctr" indent="0" marL="0">
              <a:buNone/>
            </a:pPr>
            <a:r>
              <a:rPr lang="en-US" sz="1100" b="1" dirty="0">
                <a:solidFill>
                  <a:srgbClr val="0E3A3F"/>
                </a:solidFill>
                <a:latin typeface="Arial" pitchFamily="34" charset="0"/>
                <a:ea typeface="Arial" pitchFamily="34" charset="-122"/>
                <a:cs typeface="Arial" pitchFamily="34" charset="-120"/>
              </a:rPr>
              <a:t>DECOMPOSITION</a:t>
            </a:r>
            <a:endParaRPr lang="en-US" sz="1100" dirty="0"/>
          </a:p>
          <a:p>
            <a:pPr algn="ctr" indent="0" marL="0">
              <a:buNone/>
            </a:pPr>
            <a:r>
              <a:rPr lang="en-US" sz="1100" b="1" dirty="0">
                <a:solidFill>
                  <a:srgbClr val="0E3A3F"/>
                </a:solidFill>
                <a:latin typeface="Arial" pitchFamily="34" charset="0"/>
                <a:ea typeface="Arial" pitchFamily="34" charset="-122"/>
                <a:cs typeface="Arial" pitchFamily="34" charset="-120"/>
              </a:rPr>
              <a:t>put it back</a:t>
            </a:r>
            <a:endParaRPr lang="en-US" sz="1100" dirty="0"/>
          </a:p>
        </p:txBody>
      </p:sp>
      <p:sp>
        <p:nvSpPr>
          <p:cNvPr id="29" name="cb_l4"/>
          <p:cNvSpPr txBox="1"/>
          <p:nvPr/>
        </p:nvSpPr>
        <p:spPr>
          <a:xfrm>
            <a:off x="6812280" y="4882896"/>
            <a:ext cx="1828800" cy="420624"/>
          </a:xfrm>
          <a:prstGeom prst="rect">
            <a:avLst/>
          </a:prstGeom>
          <a:noFill/>
          <a:ln/>
        </p:spPr>
        <p:txBody>
          <a:bodyPr wrap="square" lIns="0" tIns="0" rIns="0" bIns="0" rtlCol="0" anchor="ctr"/>
          <a:lstStyle/>
          <a:p>
            <a:pPr algn="ctr" indent="0" marL="0">
              <a:buNone/>
            </a:pPr>
            <a:r>
              <a:rPr lang="en-US" sz="1100" b="1" dirty="0">
                <a:solidFill>
                  <a:srgbClr val="F5B301"/>
                </a:solidFill>
                <a:latin typeface="Arial" pitchFamily="34" charset="0"/>
                <a:ea typeface="Arial" pitchFamily="34" charset="-122"/>
                <a:cs typeface="Arial" pitchFamily="34" charset="-120"/>
              </a:rPr>
              <a:t>and some never leaves</a:t>
            </a:r>
            <a:endParaRPr lang="en-US" sz="1100" dirty="0"/>
          </a:p>
        </p:txBody>
      </p:sp>
      <p:sp>
        <p:nvSpPr>
          <p:cNvPr id="30" name="cb_banner"/>
          <p:cNvSpPr/>
          <p:nvPr/>
        </p:nvSpPr>
        <p:spPr>
          <a:xfrm>
            <a:off x="502920" y="5358384"/>
            <a:ext cx="6766560" cy="548640"/>
          </a:xfrm>
          <a:prstGeom prst="roundRect">
            <a:avLst>
              <a:gd name="adj" fmla="val 18333"/>
            </a:avLst>
          </a:prstGeom>
          <a:solidFill>
            <a:srgbClr val="0E3A3F"/>
          </a:solidFill>
          <a:ln>
            <a:solidFill>
              <a:srgbClr val="0E3A3F"/>
            </a:solidFill>
          </a:ln>
        </p:spPr>
        <p:txBody>
          <a:bodyPr wrap="square" lIns="0" tIns="0" rIns="0" bIns="0" rtlCol="0" anchor="ctr"/>
          <a:lstStyle/>
          <a:p>
            <a:pPr algn="ctr" indent="0" marL="0">
              <a:buNone/>
            </a:pPr>
            <a:r>
              <a:rPr lang="en-US" sz="1400" b="1" dirty="0">
                <a:solidFill>
                  <a:srgbClr val="F5B301"/>
                </a:solidFill>
                <a:latin typeface="Arial" pitchFamily="34" charset="0"/>
                <a:ea typeface="Arial" pitchFamily="34" charset="-122"/>
                <a:cs typeface="Arial" pitchFamily="34" charset="-120"/>
              </a:rPr>
              <a:t>Where the mass of a tree comes from: the air. Not the soil.</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1"/>
                                        </p:tgtEl>
                                        <p:attrNameLst>
                                          <p:attrName>style.visibility</p:attrName>
                                        </p:attrNameLst>
                                      </p:cBhvr>
                                      <p:to>
                                        <p:strVal val="visible"/>
                                      </p:to>
                                    </p:set>
                                    <p:animEffect transition="in" filter="fade">
                                      <p:cBhvr>
                                        <p:cTn id="4"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wipe(right)">
                                      <p:cBhvr>
                                        <p:cTn id="9" dur="500"/>
                                        <p:tgtEl>
                                          <p:spTgt spid="20"/>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21" presetID="22" presetClass="entr" presetSubtype="1"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down)">
                                      <p:cBhvr>
                                        <p:cTn id="20" dur="500"/>
                                        <p:tgtEl>
                                          <p:spTgt spid="21"/>
                                        </p:tgtEl>
                                      </p:cBhvr>
                                    </p:animEffect>
                                  </p:childTnLst>
                                </p:cTn>
                              </p:par>
                              <p:par>
                                <p:cTn id="24" presetID="10" presetClass="entr" presetSubtype="0" fill="hold" grpId="0" nodeType="withEffect">
                                  <p:stCondLst>
                                    <p:cond delay="15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7" presetID="10" presetClass="entr" presetSubtype="0" fill="hold" grpId="0" nodeType="withEffect">
                                  <p:stCondLst>
                                    <p:cond delay="30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32" presetID="22" presetClass="entr" presetSubtype="2"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par>
                                <p:cTn id="35" presetID="10" presetClass="entr" presetSubtype="0" fill="hold" grpId="0" nodeType="withEffect">
                                  <p:stCondLst>
                                    <p:cond delay="15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8" presetID="10" presetClass="entr" presetSubtype="0" fill="hold" grpId="0" nodeType="withEffect">
                                  <p:stCondLst>
                                    <p:cond delay="30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47" fill="hold">
                      <p:stCondLst>
                        <p:cond delay="indefinite"/>
                      </p:stCondLst>
                      <p:childTnLst>
                        <p:par>
                          <p:cTn id="48" fill="hold">
                            <p:stCondLst>
                              <p:cond delay="0"/>
                            </p:stCondLst>
                            <p:childTnLst>
                              <p:par>
                                <p:cTn id="43" presetID="22" presetClass="entr" presetSubtype="4"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up)">
                                      <p:cBhvr>
                                        <p:cTn id="42" dur="500"/>
                                        <p:tgtEl>
                                          <p:spTgt spid="23"/>
                                        </p:tgtEl>
                                      </p:cBhvr>
                                    </p:animEffect>
                                  </p:childTnLst>
                                </p:cTn>
                              </p:par>
                              <p:par>
                                <p:cTn id="46" presetID="10" presetClass="entr" presetSubtype="0" fill="hold" grpId="0" nodeType="withEffect">
                                  <p:stCondLst>
                                    <p:cond delay="15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51" presetID="22" presetClass="entr" presetSubtype="8"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right)">
                                      <p:cBhvr>
                                        <p:cTn id="50" dur="500"/>
                                        <p:tgtEl>
                                          <p:spTgt spid="24"/>
                                        </p:tgtEl>
                                      </p:cBhvr>
                                    </p:animEffect>
                                  </p:childTnLst>
                                </p:cTn>
                              </p:par>
                              <p:par>
                                <p:cTn id="54" presetID="10" presetClass="entr" presetSubtype="0" fill="hold" grpId="0" nodeType="withEffect">
                                  <p:stCondLst>
                                    <p:cond delay="15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8" presetID="23" presetClass="entr" presetSubtype="16" fill="hold" grpId="0" nodeType="withEffect">
                                  <p:stCondLst>
                                    <p:cond delay="30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animScale>
                                      <p:cBhvr>
                                        <p:cTn id="57" dur="500" fill="hold"/>
                                        <p:tgtEl>
                                          <p:spTgt spid="35"/>
                                        </p:tgtEl>
                                      </p:cBhvr>
                                      <p:from x="0" y="0"/>
                                      <p:to x="100000" y="100000"/>
                                    </p:animScale>
                                  </p:childTnLst>
                                </p:cTn>
                              </p:par>
                            </p:childTnLst>
                          </p:cTn>
                        </p:par>
                      </p:childTnLst>
                    </p:cTn>
                  </p:par>
                  <p:par>
                    <p:cTn id="65" fill="hold">
                      <p:stCondLst>
                        <p:cond delay="indefinite"/>
                      </p:stCondLst>
                      <p:childTnLst>
                        <p:par>
                          <p:cTn id="66" fill="hold">
                            <p:stCondLst>
                              <p:cond delay="0"/>
                            </p:stCondLst>
                            <p:childTnLst>
                              <p:par>
                                <p:cTn id="64" presetID="23" presetClass="entr" presetSubtype="16" fill="hold" grpId="0"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500"/>
                                        <p:tgtEl>
                                          <p:spTgt spid="30"/>
                                        </p:tgtEl>
                                      </p:cBhvr>
                                    </p:animEffect>
                                    <p:animScale>
                                      <p:cBhvr>
                                        <p:cTn id="63" dur="500" fill="hold"/>
                                        <p:tgtEl>
                                          <p:spTgt spid="30"/>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WE DO · 5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carbon cycle</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Follow one carbon atom</a:t>
            </a:r>
            <a:endParaRPr lang="en-US" sz="3000" dirty="0"/>
          </a:p>
        </p:txBody>
      </p:sp>
      <p:sp>
        <p:nvSpPr>
          <p:cNvPr id="5" name="fa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Whiteboards. Where does it go NEXT? Hold them up together on three.</a:t>
            </a:r>
            <a:endParaRPr lang="en-US" sz="1300" dirty="0"/>
          </a:p>
        </p:txBody>
      </p:sp>
      <p:sp>
        <p:nvSpPr>
          <p:cNvPr id="6" name="fa0_bg"/>
          <p:cNvSpPr/>
          <p:nvPr/>
        </p:nvSpPr>
        <p:spPr>
          <a:xfrm>
            <a:off x="502920" y="2121408"/>
            <a:ext cx="11185855" cy="694944"/>
          </a:xfrm>
          <a:prstGeom prst="roundRect">
            <a:avLst>
              <a:gd name="adj" fmla="val 18421"/>
            </a:avLst>
          </a:prstGeom>
          <a:solidFill>
            <a:srgbClr val="FFFFFF"/>
          </a:solidFill>
          <a:ln w="15875">
            <a:solidFill>
              <a:srgbClr val="F0E4C8"/>
            </a:solidFill>
            <a:prstDash val="solid"/>
          </a:ln>
        </p:spPr>
      </p:sp>
      <p:sp>
        <p:nvSpPr>
          <p:cNvPr id="7" name="fa0_q"/>
          <p:cNvSpPr txBox="1"/>
          <p:nvPr/>
        </p:nvSpPr>
        <p:spPr>
          <a:xfrm>
            <a:off x="704088" y="2121408"/>
            <a:ext cx="5029200" cy="694944"/>
          </a:xfrm>
          <a:prstGeom prst="rect">
            <a:avLst/>
          </a:prstGeom>
          <a:noFill/>
          <a:ln/>
        </p:spPr>
        <p:txBody>
          <a:bodyPr wrap="square" lIns="0" tIns="0" rIns="0" bIns="0" rtlCol="0" anchor="ctr"/>
          <a:lstStyle/>
          <a:p>
            <a:pPr indent="0" marL="0">
              <a:lnSpc>
                <a:spcPts val="1500"/>
              </a:lnSpc>
              <a:buNone/>
            </a:pPr>
            <a:r>
              <a:rPr lang="en-US" sz="1200" dirty="0">
                <a:solidFill>
                  <a:srgbClr val="14282B"/>
                </a:solidFill>
                <a:latin typeface="Arial" pitchFamily="34" charset="0"/>
                <a:ea typeface="Arial" pitchFamily="34" charset="-122"/>
                <a:cs typeface="Arial" pitchFamily="34" charset="-120"/>
              </a:rPr>
              <a:t>The atom is in a CO₂ molecule above the estuary. A mangrove leaf opens its pores.</a:t>
            </a:r>
            <a:endParaRPr lang="en-US" sz="1200" dirty="0"/>
          </a:p>
        </p:txBody>
      </p:sp>
      <p:sp>
        <p:nvSpPr>
          <p:cNvPr id="8" name="fa0_a"/>
          <p:cNvSpPr/>
          <p:nvPr/>
        </p:nvSpPr>
        <p:spPr>
          <a:xfrm>
            <a:off x="5897880" y="2240280"/>
            <a:ext cx="1664208" cy="457200"/>
          </a:xfrm>
          <a:prstGeom prst="roundRect">
            <a:avLst>
              <a:gd name="adj" fmla="val 18000"/>
            </a:avLst>
          </a:prstGeom>
          <a:solidFill>
            <a:srgbClr val="EAF6F0"/>
          </a:solidFill>
          <a:ln w="16510">
            <a:solidFill>
              <a:srgbClr val="2E9E6B"/>
            </a:solidFill>
          </a:ln>
        </p:spPr>
        <p:txBody>
          <a:bodyPr wrap="square" lIns="0" tIns="0" rIns="0" bIns="0" rtlCol="0" anchor="ctr"/>
          <a:lstStyle/>
          <a:p>
            <a:pPr algn="ctr" indent="0" marL="0">
              <a:buNone/>
            </a:pPr>
            <a:r>
              <a:rPr lang="en-US" sz="1150" b="1" dirty="0">
                <a:solidFill>
                  <a:srgbClr val="0E3A3F"/>
                </a:solidFill>
                <a:latin typeface="Arial" pitchFamily="34" charset="0"/>
                <a:ea typeface="Arial" pitchFamily="34" charset="-122"/>
                <a:cs typeface="Arial" pitchFamily="34" charset="-120"/>
              </a:rPr>
              <a:t>Into the leaf</a:t>
            </a:r>
            <a:endParaRPr lang="en-US" sz="1150" dirty="0"/>
          </a:p>
        </p:txBody>
      </p:sp>
      <p:sp>
        <p:nvSpPr>
          <p:cNvPr id="9" name="fa0_w"/>
          <p:cNvSpPr txBox="1"/>
          <p:nvPr/>
        </p:nvSpPr>
        <p:spPr>
          <a:xfrm>
            <a:off x="7772400" y="2121408"/>
            <a:ext cx="3916375" cy="69494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Photosynthesis. It becomes part of a glucose molecule, then part of the wood.</a:t>
            </a:r>
            <a:endParaRPr lang="en-US" sz="1150" dirty="0"/>
          </a:p>
        </p:txBody>
      </p:sp>
      <p:sp>
        <p:nvSpPr>
          <p:cNvPr id="10" name="fa1_bg"/>
          <p:cNvSpPr/>
          <p:nvPr/>
        </p:nvSpPr>
        <p:spPr>
          <a:xfrm>
            <a:off x="502920" y="2962656"/>
            <a:ext cx="11185855" cy="694944"/>
          </a:xfrm>
          <a:prstGeom prst="roundRect">
            <a:avLst>
              <a:gd name="adj" fmla="val 18421"/>
            </a:avLst>
          </a:prstGeom>
          <a:solidFill>
            <a:srgbClr val="FFFFFF"/>
          </a:solidFill>
          <a:ln w="15875">
            <a:solidFill>
              <a:srgbClr val="F0E4C8"/>
            </a:solidFill>
            <a:prstDash val="solid"/>
          </a:ln>
        </p:spPr>
      </p:sp>
      <p:sp>
        <p:nvSpPr>
          <p:cNvPr id="11" name="fa1_q"/>
          <p:cNvSpPr txBox="1"/>
          <p:nvPr/>
        </p:nvSpPr>
        <p:spPr>
          <a:xfrm>
            <a:off x="704088" y="2962656"/>
            <a:ext cx="5029200" cy="694944"/>
          </a:xfrm>
          <a:prstGeom prst="rect">
            <a:avLst/>
          </a:prstGeom>
          <a:noFill/>
          <a:ln/>
        </p:spPr>
        <p:txBody>
          <a:bodyPr wrap="square" lIns="0" tIns="0" rIns="0" bIns="0" rtlCol="0" anchor="ctr"/>
          <a:lstStyle/>
          <a:p>
            <a:pPr indent="0" marL="0">
              <a:lnSpc>
                <a:spcPts val="1500"/>
              </a:lnSpc>
              <a:buNone/>
            </a:pPr>
            <a:r>
              <a:rPr lang="en-US" sz="1200" dirty="0">
                <a:solidFill>
                  <a:srgbClr val="14282B"/>
                </a:solidFill>
                <a:latin typeface="Arial" pitchFamily="34" charset="0"/>
                <a:ea typeface="Arial" pitchFamily="34" charset="-122"/>
                <a:cs typeface="Arial" pitchFamily="34" charset="-120"/>
              </a:rPr>
              <a:t>The leaf falls into the mud. A ปูแสม crab eats it.</a:t>
            </a:r>
            <a:endParaRPr lang="en-US" sz="1200" dirty="0"/>
          </a:p>
        </p:txBody>
      </p:sp>
      <p:sp>
        <p:nvSpPr>
          <p:cNvPr id="12" name="fa1_a"/>
          <p:cNvSpPr/>
          <p:nvPr/>
        </p:nvSpPr>
        <p:spPr>
          <a:xfrm>
            <a:off x="5897880" y="3081528"/>
            <a:ext cx="1664208" cy="457200"/>
          </a:xfrm>
          <a:prstGeom prst="roundRect">
            <a:avLst>
              <a:gd name="adj" fmla="val 18000"/>
            </a:avLst>
          </a:prstGeom>
          <a:solidFill>
            <a:srgbClr val="EAF6F0"/>
          </a:solidFill>
          <a:ln w="16510">
            <a:solidFill>
              <a:srgbClr val="2E9E6B"/>
            </a:solidFill>
          </a:ln>
        </p:spPr>
        <p:txBody>
          <a:bodyPr wrap="square" lIns="0" tIns="0" rIns="0" bIns="0" rtlCol="0" anchor="ctr"/>
          <a:lstStyle/>
          <a:p>
            <a:pPr algn="ctr" indent="0" marL="0">
              <a:buNone/>
            </a:pPr>
            <a:r>
              <a:rPr lang="en-US" sz="1150" b="1" dirty="0">
                <a:solidFill>
                  <a:srgbClr val="0E3A3F"/>
                </a:solidFill>
                <a:latin typeface="Arial" pitchFamily="34" charset="0"/>
                <a:ea typeface="Arial" pitchFamily="34" charset="-122"/>
                <a:cs typeface="Arial" pitchFamily="34" charset="-120"/>
              </a:rPr>
              <a:t>Into the crab</a:t>
            </a:r>
            <a:endParaRPr lang="en-US" sz="1150" dirty="0"/>
          </a:p>
        </p:txBody>
      </p:sp>
      <p:sp>
        <p:nvSpPr>
          <p:cNvPr id="13" name="fa1_w"/>
          <p:cNvSpPr txBox="1"/>
          <p:nvPr/>
        </p:nvSpPr>
        <p:spPr>
          <a:xfrm>
            <a:off x="7772400" y="2962656"/>
            <a:ext cx="3916375" cy="69494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Feeding. The crab builds some of it into its own body and breathes the rest out.</a:t>
            </a:r>
            <a:endParaRPr lang="en-US" sz="1150" dirty="0"/>
          </a:p>
        </p:txBody>
      </p:sp>
      <p:sp>
        <p:nvSpPr>
          <p:cNvPr id="14" name="fa2_bg"/>
          <p:cNvSpPr/>
          <p:nvPr/>
        </p:nvSpPr>
        <p:spPr>
          <a:xfrm>
            <a:off x="502920" y="3803904"/>
            <a:ext cx="11185855" cy="694944"/>
          </a:xfrm>
          <a:prstGeom prst="roundRect">
            <a:avLst>
              <a:gd name="adj" fmla="val 18421"/>
            </a:avLst>
          </a:prstGeom>
          <a:solidFill>
            <a:srgbClr val="FFFFFF"/>
          </a:solidFill>
          <a:ln w="15875">
            <a:solidFill>
              <a:srgbClr val="F0E4C8"/>
            </a:solidFill>
            <a:prstDash val="solid"/>
          </a:ln>
        </p:spPr>
      </p:sp>
      <p:sp>
        <p:nvSpPr>
          <p:cNvPr id="15" name="fa2_q"/>
          <p:cNvSpPr txBox="1"/>
          <p:nvPr/>
        </p:nvSpPr>
        <p:spPr>
          <a:xfrm>
            <a:off x="704088" y="3803904"/>
            <a:ext cx="5029200" cy="694944"/>
          </a:xfrm>
          <a:prstGeom prst="rect">
            <a:avLst/>
          </a:prstGeom>
          <a:noFill/>
          <a:ln/>
        </p:spPr>
        <p:txBody>
          <a:bodyPr wrap="square" lIns="0" tIns="0" rIns="0" bIns="0" rtlCol="0" anchor="ctr"/>
          <a:lstStyle/>
          <a:p>
            <a:pPr indent="0" marL="0">
              <a:lnSpc>
                <a:spcPts val="1500"/>
              </a:lnSpc>
              <a:buNone/>
            </a:pPr>
            <a:r>
              <a:rPr lang="en-US" sz="1200" dirty="0">
                <a:solidFill>
                  <a:srgbClr val="14282B"/>
                </a:solidFill>
                <a:latin typeface="Arial" pitchFamily="34" charset="0"/>
                <a:ea typeface="Arial" pitchFamily="34" charset="-122"/>
                <a:cs typeface="Arial" pitchFamily="34" charset="-120"/>
              </a:rPr>
              <a:t>The crab breathes out.</a:t>
            </a:r>
            <a:endParaRPr lang="en-US" sz="1200" dirty="0"/>
          </a:p>
        </p:txBody>
      </p:sp>
      <p:sp>
        <p:nvSpPr>
          <p:cNvPr id="16" name="fa2_a"/>
          <p:cNvSpPr/>
          <p:nvPr/>
        </p:nvSpPr>
        <p:spPr>
          <a:xfrm>
            <a:off x="5897880" y="3922776"/>
            <a:ext cx="1664208" cy="457200"/>
          </a:xfrm>
          <a:prstGeom prst="roundRect">
            <a:avLst>
              <a:gd name="adj" fmla="val 18000"/>
            </a:avLst>
          </a:prstGeom>
          <a:solidFill>
            <a:srgbClr val="EAF6F0"/>
          </a:solidFill>
          <a:ln w="16510">
            <a:solidFill>
              <a:srgbClr val="2E9E6B"/>
            </a:solidFill>
          </a:ln>
        </p:spPr>
        <p:txBody>
          <a:bodyPr wrap="square" lIns="0" tIns="0" rIns="0" bIns="0" rtlCol="0" anchor="ctr"/>
          <a:lstStyle/>
          <a:p>
            <a:pPr algn="ctr" indent="0" marL="0">
              <a:buNone/>
            </a:pPr>
            <a:r>
              <a:rPr lang="en-US" sz="1150" b="1" dirty="0">
                <a:solidFill>
                  <a:srgbClr val="0E3A3F"/>
                </a:solidFill>
                <a:latin typeface="Arial" pitchFamily="34" charset="0"/>
                <a:ea typeface="Arial" pitchFamily="34" charset="-122"/>
                <a:cs typeface="Arial" pitchFamily="34" charset="-120"/>
              </a:rPr>
              <a:t>Back to the air</a:t>
            </a:r>
            <a:endParaRPr lang="en-US" sz="1150" dirty="0"/>
          </a:p>
        </p:txBody>
      </p:sp>
      <p:sp>
        <p:nvSpPr>
          <p:cNvPr id="17" name="fa2_w"/>
          <p:cNvSpPr txBox="1"/>
          <p:nvPr/>
        </p:nvSpPr>
        <p:spPr>
          <a:xfrm>
            <a:off x="7772400" y="3803904"/>
            <a:ext cx="3916375" cy="69494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Respiration. Straight back to CO₂ — this atom has done one lap already.</a:t>
            </a:r>
            <a:endParaRPr lang="en-US" sz="1150" dirty="0"/>
          </a:p>
        </p:txBody>
      </p:sp>
      <p:sp>
        <p:nvSpPr>
          <p:cNvPr id="18" name="fa3_bg"/>
          <p:cNvSpPr/>
          <p:nvPr/>
        </p:nvSpPr>
        <p:spPr>
          <a:xfrm>
            <a:off x="502920" y="4645152"/>
            <a:ext cx="11185855" cy="694944"/>
          </a:xfrm>
          <a:prstGeom prst="roundRect">
            <a:avLst>
              <a:gd name="adj" fmla="val 18421"/>
            </a:avLst>
          </a:prstGeom>
          <a:solidFill>
            <a:srgbClr val="FFFFFF"/>
          </a:solidFill>
          <a:ln w="15875">
            <a:solidFill>
              <a:srgbClr val="F0E4C8"/>
            </a:solidFill>
            <a:prstDash val="solid"/>
          </a:ln>
        </p:spPr>
      </p:sp>
      <p:sp>
        <p:nvSpPr>
          <p:cNvPr id="19" name="fa3_q"/>
          <p:cNvSpPr txBox="1"/>
          <p:nvPr/>
        </p:nvSpPr>
        <p:spPr>
          <a:xfrm>
            <a:off x="704088" y="4645152"/>
            <a:ext cx="5029200" cy="694944"/>
          </a:xfrm>
          <a:prstGeom prst="rect">
            <a:avLst/>
          </a:prstGeom>
          <a:noFill/>
          <a:ln/>
        </p:spPr>
        <p:txBody>
          <a:bodyPr wrap="square" lIns="0" tIns="0" rIns="0" bIns="0" rtlCol="0" anchor="ctr"/>
          <a:lstStyle/>
          <a:p>
            <a:pPr indent="0" marL="0">
              <a:lnSpc>
                <a:spcPts val="1500"/>
              </a:lnSpc>
              <a:buNone/>
            </a:pPr>
            <a:r>
              <a:rPr lang="en-US" sz="1200" dirty="0">
                <a:solidFill>
                  <a:srgbClr val="14282B"/>
                </a:solidFill>
                <a:latin typeface="Arial" pitchFamily="34" charset="0"/>
                <a:ea typeface="Arial" pitchFamily="34" charset="-122"/>
                <a:cs typeface="Arial" pitchFamily="34" charset="-120"/>
              </a:rPr>
              <a:t>A different atom is in a crab that dies and sinks into waterlogged mud.</a:t>
            </a:r>
            <a:endParaRPr lang="en-US" sz="1200" dirty="0"/>
          </a:p>
        </p:txBody>
      </p:sp>
      <p:sp>
        <p:nvSpPr>
          <p:cNvPr id="20" name="fa3_a"/>
          <p:cNvSpPr/>
          <p:nvPr/>
        </p:nvSpPr>
        <p:spPr>
          <a:xfrm>
            <a:off x="5897880" y="4764024"/>
            <a:ext cx="1664208" cy="457200"/>
          </a:xfrm>
          <a:prstGeom prst="roundRect">
            <a:avLst>
              <a:gd name="adj" fmla="val 18000"/>
            </a:avLst>
          </a:prstGeom>
          <a:solidFill>
            <a:srgbClr val="FDF3D6"/>
          </a:solidFill>
          <a:ln w="16510">
            <a:solidFill>
              <a:srgbClr val="F5B301"/>
            </a:solidFill>
          </a:ln>
        </p:spPr>
        <p:txBody>
          <a:bodyPr wrap="square" lIns="0" tIns="0" rIns="0" bIns="0" rtlCol="0" anchor="ctr"/>
          <a:lstStyle/>
          <a:p>
            <a:pPr algn="ctr" indent="0" marL="0">
              <a:buNone/>
            </a:pPr>
            <a:r>
              <a:rPr lang="en-US" sz="1150" b="1" dirty="0">
                <a:solidFill>
                  <a:srgbClr val="0E3A3F"/>
                </a:solidFill>
                <a:latin typeface="Arial" pitchFamily="34" charset="0"/>
                <a:ea typeface="Arial" pitchFamily="34" charset="-122"/>
                <a:cs typeface="Arial" pitchFamily="34" charset="-120"/>
              </a:rPr>
              <a:t>It stays put</a:t>
            </a:r>
            <a:endParaRPr lang="en-US" sz="1150" dirty="0"/>
          </a:p>
        </p:txBody>
      </p:sp>
      <p:sp>
        <p:nvSpPr>
          <p:cNvPr id="21" name="fa3_w"/>
          <p:cNvSpPr txBox="1"/>
          <p:nvPr/>
        </p:nvSpPr>
        <p:spPr>
          <a:xfrm>
            <a:off x="7772400" y="4645152"/>
            <a:ext cx="3916375" cy="69494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Decomposers need oxygen, and there is almost none down there. It can sit for centuries.</a:t>
            </a:r>
            <a:endParaRPr lang="en-US" sz="1150" dirty="0"/>
          </a:p>
        </p:txBody>
      </p:sp>
      <p:sp>
        <p:nvSpPr>
          <p:cNvPr id="22"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Row 4 is the odd one out. Notice what it does not do.</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Scale>
                                      <p:cBhvr>
                                        <p:cTn id="5" dur="500" fill="hold"/>
                                        <p:tgtEl>
                                          <p:spTgt spid="8"/>
                                        </p:tgtEl>
                                      </p:cBhvr>
                                      <p:from x="0" y="0"/>
                                      <p:to x="100000" y="100000"/>
                                    </p:animScale>
                                  </p:childTnLst>
                                </p:cTn>
                              </p:par>
                            </p:childTnLst>
                          </p:cTn>
                        </p:par>
                      </p:childTnLst>
                    </p:cTn>
                  </p:par>
                  <p:par>
                    <p:cTn id="12" fill="hold">
                      <p:stCondLst>
                        <p:cond delay="indefinite"/>
                      </p:stCondLst>
                      <p:childTnLst>
                        <p:par>
                          <p:cTn id="13" fill="hold">
                            <p:stCondLst>
                              <p:cond delay="0"/>
                            </p:stCondLst>
                            <p:childTnLst>
                              <p:par>
                                <p:cTn id="11" presetID="10"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17" presetID="23" presetClass="entr" presetSubtype="16"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animScale>
                                      <p:cBhvr>
                                        <p:cTn id="16" dur="500" fill="hold"/>
                                        <p:tgtEl>
                                          <p:spTgt spid="12"/>
                                        </p:tgtEl>
                                      </p:cBhvr>
                                      <p:from x="0" y="0"/>
                                      <p:to x="100000" y="100000"/>
                                    </p:animScale>
                                  </p:childTnLst>
                                </p:cTn>
                              </p:par>
                            </p:childTnLst>
                          </p:cTn>
                        </p:par>
                      </p:childTnLst>
                    </p:cTn>
                  </p:par>
                  <p:par>
                    <p:cTn id="23" fill="hold">
                      <p:stCondLst>
                        <p:cond delay="indefinite"/>
                      </p:stCondLst>
                      <p:childTnLst>
                        <p:par>
                          <p:cTn id="24"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28" presetID="23" presetClass="entr" presetSubtype="16"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animScale>
                                      <p:cBhvr>
                                        <p:cTn id="27" dur="500" fill="hold"/>
                                        <p:tgtEl>
                                          <p:spTgt spid="16"/>
                                        </p:tgtEl>
                                      </p:cBhvr>
                                      <p:from x="0" y="0"/>
                                      <p:to x="100000" y="100000"/>
                                    </p:animScale>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animScale>
                                      <p:cBhvr>
                                        <p:cTn id="38" dur="500" fill="hold"/>
                                        <p:tgtEl>
                                          <p:spTgt spid="20"/>
                                        </p:tgtEl>
                                      </p:cBhvr>
                                      <p:from x="0" y="0"/>
                                      <p:to x="100000" y="100000"/>
                                    </p:animScale>
                                  </p:childTnLst>
                                </p:cTn>
                              </p:par>
                            </p:childTnLst>
                          </p:cTn>
                        </p:par>
                      </p:childTnLst>
                    </p:cTn>
                  </p:par>
                  <p:par>
                    <p:cTn id="45" fill="hold">
                      <p:stCondLst>
                        <p:cond delay="indefinite"/>
                      </p:stCondLst>
                      <p:childTnLst>
                        <p:par>
                          <p:cTn id="46" fill="hold">
                            <p:stCondLst>
                              <p:cond delay="0"/>
                            </p:stCondLst>
                            <p:childTnLst>
                              <p:par>
                                <p:cTn id="44" presetID="10"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139696"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I DO · 6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nitrogen cycle   ·   nitrogen fixation</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Nitrogen: the one that needs a doorman</a:t>
            </a:r>
            <a:endParaRPr lang="en-US" sz="3000" dirty="0"/>
          </a:p>
        </p:txBody>
      </p:sp>
      <p:grpSp>
        <p:nvGrpSpPr>
          <p:cNvPr id="32" name="nt_air"/>
          <p:cNvGrpSpPr/>
          <p:nvPr/>
        </p:nvGrpSpPr>
        <p:grpSpPr>
          <a:xfrm>
            <a:off x="1005840" y="2139696"/>
            <a:ext cx="2331720" cy="713232"/>
            <a:chOff x="1005840" y="2139696"/>
            <a:chExt cx="2331720" cy="713232"/>
          </a:xfrm>
        </p:grpSpPr>
        <p:sp>
          <p:nvSpPr>
            <p:cNvPr id="5" name="nt_air_bg"/>
            <p:cNvSpPr/>
            <p:nvPr/>
          </p:nvSpPr>
          <p:spPr>
            <a:xfrm>
              <a:off x="1005840" y="2139696"/>
              <a:ext cx="2331720" cy="713232"/>
            </a:xfrm>
            <a:prstGeom prst="roundRect">
              <a:avLst>
                <a:gd name="adj" fmla="val 15385"/>
              </a:avLst>
            </a:prstGeom>
            <a:solidFill>
              <a:srgbClr val="EDF3F4"/>
            </a:solidFill>
            <a:ln w="17780">
              <a:solidFill>
                <a:srgbClr val="17505A"/>
              </a:solidFill>
              <a:prstDash val="solid"/>
            </a:ln>
          </p:spPr>
        </p:sp>
        <p:sp>
          <p:nvSpPr>
            <p:cNvPr id="6" name="nt_air_t"/>
            <p:cNvSpPr txBox="1"/>
            <p:nvPr/>
          </p:nvSpPr>
          <p:spPr>
            <a:xfrm>
              <a:off x="1097280" y="2212848"/>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N₂ gas in the air</a:t>
              </a:r>
              <a:endParaRPr lang="en-US" sz="1200" dirty="0"/>
            </a:p>
          </p:txBody>
        </p:sp>
        <p:sp>
          <p:nvSpPr>
            <p:cNvPr id="7" name="nt_air_s"/>
            <p:cNvSpPr txBox="1"/>
            <p:nvPr/>
          </p:nvSpPr>
          <p:spPr>
            <a:xfrm>
              <a:off x="1078992" y="2539106"/>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78% of every breath</a:t>
              </a:r>
              <a:endParaRPr lang="en-US" sz="950" dirty="0"/>
            </a:p>
          </p:txBody>
        </p:sp>
      </p:grpSp>
      <p:grpSp>
        <p:nvGrpSpPr>
          <p:cNvPr id="33" name="nt_mud"/>
          <p:cNvGrpSpPr/>
          <p:nvPr/>
        </p:nvGrpSpPr>
        <p:grpSpPr>
          <a:xfrm>
            <a:off x="4754880" y="2139696"/>
            <a:ext cx="2331720" cy="713232"/>
            <a:chOff x="4754880" y="2139696"/>
            <a:chExt cx="2331720" cy="713232"/>
          </a:xfrm>
        </p:grpSpPr>
        <p:sp>
          <p:nvSpPr>
            <p:cNvPr id="8" name="nt_mud_bg"/>
            <p:cNvSpPr/>
            <p:nvPr/>
          </p:nvSpPr>
          <p:spPr>
            <a:xfrm>
              <a:off x="4754880" y="2139696"/>
              <a:ext cx="2331720" cy="713232"/>
            </a:xfrm>
            <a:prstGeom prst="roundRect">
              <a:avLst>
                <a:gd name="adj" fmla="val 15385"/>
              </a:avLst>
            </a:prstGeom>
            <a:solidFill>
              <a:srgbClr val="FDF3D6"/>
            </a:solidFill>
            <a:ln w="17780">
              <a:solidFill>
                <a:srgbClr val="F5B301"/>
              </a:solidFill>
              <a:prstDash val="solid"/>
            </a:ln>
          </p:spPr>
        </p:sp>
        <p:sp>
          <p:nvSpPr>
            <p:cNvPr id="9" name="nt_mud_t"/>
            <p:cNvSpPr txBox="1"/>
            <p:nvPr/>
          </p:nvSpPr>
          <p:spPr>
            <a:xfrm>
              <a:off x="4846320" y="2212848"/>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Usable nitrogen</a:t>
              </a:r>
              <a:endParaRPr lang="en-US" sz="1200" dirty="0"/>
            </a:p>
          </p:txBody>
        </p:sp>
        <p:sp>
          <p:nvSpPr>
            <p:cNvPr id="10" name="nt_mud_s"/>
            <p:cNvSpPr txBox="1"/>
            <p:nvPr/>
          </p:nvSpPr>
          <p:spPr>
            <a:xfrm>
              <a:off x="4828032" y="2539106"/>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nitrates in the mud</a:t>
              </a:r>
              <a:endParaRPr lang="en-US" sz="950" dirty="0"/>
            </a:p>
          </p:txBody>
        </p:sp>
      </p:grpSp>
      <p:grpSp>
        <p:nvGrpSpPr>
          <p:cNvPr id="34" name="nt_prod"/>
          <p:cNvGrpSpPr/>
          <p:nvPr/>
        </p:nvGrpSpPr>
        <p:grpSpPr>
          <a:xfrm>
            <a:off x="8275320" y="2139696"/>
            <a:ext cx="2331720" cy="713232"/>
            <a:chOff x="8275320" y="2139696"/>
            <a:chExt cx="2331720" cy="713232"/>
          </a:xfrm>
        </p:grpSpPr>
        <p:sp>
          <p:nvSpPr>
            <p:cNvPr id="11" name="nt_prod_bg"/>
            <p:cNvSpPr/>
            <p:nvPr/>
          </p:nvSpPr>
          <p:spPr>
            <a:xfrm>
              <a:off x="8275320" y="2139696"/>
              <a:ext cx="2331720" cy="713232"/>
            </a:xfrm>
            <a:prstGeom prst="roundRect">
              <a:avLst>
                <a:gd name="adj" fmla="val 15385"/>
              </a:avLst>
            </a:prstGeom>
            <a:solidFill>
              <a:srgbClr val="EAF6F0"/>
            </a:solidFill>
            <a:ln w="17780">
              <a:solidFill>
                <a:srgbClr val="2E9E6B"/>
              </a:solidFill>
              <a:prstDash val="solid"/>
            </a:ln>
          </p:spPr>
        </p:sp>
        <p:sp>
          <p:nvSpPr>
            <p:cNvPr id="12" name="nt_prod_t"/>
            <p:cNvSpPr txBox="1"/>
            <p:nvPr/>
          </p:nvSpPr>
          <p:spPr>
            <a:xfrm>
              <a:off x="8366760" y="2212848"/>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Producers</a:t>
              </a:r>
              <a:endParaRPr lang="en-US" sz="1200" dirty="0"/>
            </a:p>
          </p:txBody>
        </p:sp>
        <p:sp>
          <p:nvSpPr>
            <p:cNvPr id="13" name="nt_prod_s"/>
            <p:cNvSpPr txBox="1"/>
            <p:nvPr/>
          </p:nvSpPr>
          <p:spPr>
            <a:xfrm>
              <a:off x="8348472" y="2539106"/>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mangrove, phytoplankton</a:t>
              </a:r>
              <a:endParaRPr lang="en-US" sz="950" dirty="0"/>
            </a:p>
          </p:txBody>
        </p:sp>
      </p:grpSp>
      <p:grpSp>
        <p:nvGrpSpPr>
          <p:cNvPr id="35" name="nt_cons"/>
          <p:cNvGrpSpPr/>
          <p:nvPr/>
        </p:nvGrpSpPr>
        <p:grpSpPr>
          <a:xfrm>
            <a:off x="8275320" y="4023360"/>
            <a:ext cx="2331720" cy="713232"/>
            <a:chOff x="8275320" y="4023360"/>
            <a:chExt cx="2331720" cy="713232"/>
          </a:xfrm>
        </p:grpSpPr>
        <p:sp>
          <p:nvSpPr>
            <p:cNvPr id="14" name="nt_cons_bg"/>
            <p:cNvSpPr/>
            <p:nvPr/>
          </p:nvSpPr>
          <p:spPr>
            <a:xfrm>
              <a:off x="8275320" y="4023360"/>
              <a:ext cx="2331720" cy="713232"/>
            </a:xfrm>
            <a:prstGeom prst="roundRect">
              <a:avLst>
                <a:gd name="adj" fmla="val 15385"/>
              </a:avLst>
            </a:prstGeom>
            <a:solidFill>
              <a:srgbClr val="FFFFFF"/>
            </a:solidFill>
            <a:ln w="17780">
              <a:solidFill>
                <a:srgbClr val="F0E4C8"/>
              </a:solidFill>
              <a:prstDash val="solid"/>
            </a:ln>
          </p:spPr>
        </p:sp>
        <p:sp>
          <p:nvSpPr>
            <p:cNvPr id="15" name="nt_cons_t"/>
            <p:cNvSpPr txBox="1"/>
            <p:nvPr/>
          </p:nvSpPr>
          <p:spPr>
            <a:xfrm>
              <a:off x="8366760" y="4096512"/>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Consumers</a:t>
              </a:r>
              <a:endParaRPr lang="en-US" sz="1200" dirty="0"/>
            </a:p>
          </p:txBody>
        </p:sp>
        <p:sp>
          <p:nvSpPr>
            <p:cNvPr id="16" name="nt_cons_s"/>
            <p:cNvSpPr txBox="1"/>
            <p:nvPr/>
          </p:nvSpPr>
          <p:spPr>
            <a:xfrm>
              <a:off x="8348472" y="4422770"/>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crabs, fish, egrets</a:t>
              </a:r>
              <a:endParaRPr lang="en-US" sz="950" dirty="0"/>
            </a:p>
          </p:txBody>
        </p:sp>
      </p:grpSp>
      <p:grpSp>
        <p:nvGrpSpPr>
          <p:cNvPr id="36" name="nt_dead"/>
          <p:cNvGrpSpPr/>
          <p:nvPr/>
        </p:nvGrpSpPr>
        <p:grpSpPr>
          <a:xfrm>
            <a:off x="4754880" y="4023360"/>
            <a:ext cx="2331720" cy="713232"/>
            <a:chOff x="4754880" y="4023360"/>
            <a:chExt cx="2331720" cy="713232"/>
          </a:xfrm>
        </p:grpSpPr>
        <p:sp>
          <p:nvSpPr>
            <p:cNvPr id="17" name="nt_dead_bg"/>
            <p:cNvSpPr/>
            <p:nvPr/>
          </p:nvSpPr>
          <p:spPr>
            <a:xfrm>
              <a:off x="4754880" y="4023360"/>
              <a:ext cx="2331720" cy="713232"/>
            </a:xfrm>
            <a:prstGeom prst="roundRect">
              <a:avLst>
                <a:gd name="adj" fmla="val 15385"/>
              </a:avLst>
            </a:prstGeom>
            <a:solidFill>
              <a:srgbClr val="FFFFFF"/>
            </a:solidFill>
            <a:ln w="17780">
              <a:solidFill>
                <a:srgbClr val="F0E4C8"/>
              </a:solidFill>
              <a:prstDash val="solid"/>
            </a:ln>
          </p:spPr>
        </p:sp>
        <p:sp>
          <p:nvSpPr>
            <p:cNvPr id="18" name="nt_dead_t"/>
            <p:cNvSpPr txBox="1"/>
            <p:nvPr/>
          </p:nvSpPr>
          <p:spPr>
            <a:xfrm>
              <a:off x="4846320" y="4096512"/>
              <a:ext cx="2148840" cy="385145"/>
            </a:xfrm>
            <a:prstGeom prst="rect">
              <a:avLst/>
            </a:prstGeom>
            <a:noFill/>
            <a:ln/>
          </p:spPr>
          <p:txBody>
            <a:bodyPr wrap="square" lIns="0" tIns="0" rIns="0" bIns="0" rtlCol="0" anchor="ctr"/>
            <a:lstStyle/>
            <a:p>
              <a:pPr algn="ctr" indent="0" marL="0">
                <a:buNone/>
              </a:pPr>
              <a:r>
                <a:rPr lang="en-US" sz="1200" b="1" dirty="0">
                  <a:solidFill>
                    <a:srgbClr val="14282B"/>
                  </a:solidFill>
                  <a:latin typeface="Arial" pitchFamily="34" charset="0"/>
                  <a:ea typeface="Arial" pitchFamily="34" charset="-122"/>
                  <a:cs typeface="Arial" pitchFamily="34" charset="-120"/>
                </a:rPr>
                <a:t>Dead matter and waste</a:t>
              </a:r>
              <a:endParaRPr lang="en-US" sz="1200" dirty="0"/>
            </a:p>
          </p:txBody>
        </p:sp>
        <p:sp>
          <p:nvSpPr>
            <p:cNvPr id="19" name="nt_dead_s"/>
            <p:cNvSpPr txBox="1"/>
            <p:nvPr/>
          </p:nvSpPr>
          <p:spPr>
            <a:xfrm>
              <a:off x="4828032" y="4422770"/>
              <a:ext cx="2185416" cy="271028"/>
            </a:xfrm>
            <a:prstGeom prst="rect">
              <a:avLst/>
            </a:prstGeom>
            <a:noFill/>
            <a:ln/>
          </p:spPr>
          <p:txBody>
            <a:bodyPr wrap="square" lIns="0" tIns="0" rIns="0" bIns="0" rtlCol="0" anchor="t"/>
            <a:lstStyle/>
            <a:p>
              <a:pPr algn="ctr" indent="0" marL="0">
                <a:buNone/>
              </a:pPr>
              <a:r>
                <a:rPr lang="en-US" sz="950" dirty="0">
                  <a:solidFill>
                    <a:srgbClr val="4A6165"/>
                  </a:solidFill>
                  <a:latin typeface="Arial" pitchFamily="34" charset="0"/>
                  <a:ea typeface="Arial" pitchFamily="34" charset="-122"/>
                  <a:cs typeface="Arial" pitchFamily="34" charset="-120"/>
                </a:rPr>
                <a:t>leaves, bodies, droppings</a:t>
              </a:r>
              <a:endParaRPr lang="en-US" sz="950" dirty="0"/>
            </a:p>
          </p:txBody>
        </p:sp>
      </p:grpSp>
      <p:sp>
        <p:nvSpPr>
          <p:cNvPr id="20" name="nt_e0"/>
          <p:cNvSpPr/>
          <p:nvPr/>
        </p:nvSpPr>
        <p:spPr>
          <a:xfrm>
            <a:off x="3392424" y="2414016"/>
            <a:ext cx="1307592" cy="164592"/>
          </a:xfrm>
          <a:prstGeom prst="rightArrow">
            <a:avLst/>
          </a:prstGeom>
          <a:solidFill>
            <a:srgbClr val="E2572B"/>
          </a:solidFill>
          <a:ln w="12700">
            <a:solidFill>
              <a:srgbClr val="E2572B"/>
            </a:solidFill>
            <a:prstDash val="solid"/>
          </a:ln>
        </p:spPr>
      </p:sp>
      <p:sp>
        <p:nvSpPr>
          <p:cNvPr id="21" name="nt_e1"/>
          <p:cNvSpPr/>
          <p:nvPr/>
        </p:nvSpPr>
        <p:spPr>
          <a:xfrm>
            <a:off x="7141464" y="2414016"/>
            <a:ext cx="1078992" cy="164592"/>
          </a:xfrm>
          <a:prstGeom prst="rightArrow">
            <a:avLst/>
          </a:prstGeom>
          <a:solidFill>
            <a:srgbClr val="2E9E6B"/>
          </a:solidFill>
          <a:ln w="12700">
            <a:solidFill>
              <a:srgbClr val="2E9E6B"/>
            </a:solidFill>
            <a:prstDash val="solid"/>
          </a:ln>
        </p:spPr>
      </p:sp>
      <p:sp>
        <p:nvSpPr>
          <p:cNvPr id="22" name="nt_e2"/>
          <p:cNvSpPr/>
          <p:nvPr/>
        </p:nvSpPr>
        <p:spPr>
          <a:xfrm rot="5400000">
            <a:off x="8910828" y="3355848"/>
            <a:ext cx="1060704" cy="164592"/>
          </a:xfrm>
          <a:prstGeom prst="rightArrow">
            <a:avLst/>
          </a:prstGeom>
          <a:solidFill>
            <a:srgbClr val="2E9E6B"/>
          </a:solidFill>
          <a:ln w="12700">
            <a:solidFill>
              <a:srgbClr val="2E9E6B"/>
            </a:solidFill>
            <a:prstDash val="solid"/>
          </a:ln>
        </p:spPr>
      </p:sp>
      <p:sp>
        <p:nvSpPr>
          <p:cNvPr id="23" name="nt_e3"/>
          <p:cNvSpPr/>
          <p:nvPr/>
        </p:nvSpPr>
        <p:spPr>
          <a:xfrm rot="10800000">
            <a:off x="7141464" y="4297680"/>
            <a:ext cx="1078992" cy="164592"/>
          </a:xfrm>
          <a:prstGeom prst="rightArrow">
            <a:avLst/>
          </a:prstGeom>
          <a:solidFill>
            <a:srgbClr val="2E9E6B"/>
          </a:solidFill>
          <a:ln w="12700">
            <a:solidFill>
              <a:srgbClr val="2E9E6B"/>
            </a:solidFill>
            <a:prstDash val="solid"/>
          </a:ln>
        </p:spPr>
      </p:sp>
      <p:sp>
        <p:nvSpPr>
          <p:cNvPr id="24" name="nt_e4"/>
          <p:cNvSpPr/>
          <p:nvPr/>
        </p:nvSpPr>
        <p:spPr>
          <a:xfrm rot="-5400000">
            <a:off x="5390388" y="3355848"/>
            <a:ext cx="1060704" cy="164592"/>
          </a:xfrm>
          <a:prstGeom prst="rightArrow">
            <a:avLst/>
          </a:prstGeom>
          <a:solidFill>
            <a:srgbClr val="2E9E6B"/>
          </a:solidFill>
          <a:ln w="12700">
            <a:solidFill>
              <a:srgbClr val="2E9E6B"/>
            </a:solidFill>
            <a:prstDash val="solid"/>
          </a:ln>
        </p:spPr>
      </p:sp>
      <p:sp>
        <p:nvSpPr>
          <p:cNvPr id="25" name="nt_l0"/>
          <p:cNvSpPr txBox="1"/>
          <p:nvPr/>
        </p:nvSpPr>
        <p:spPr>
          <a:xfrm>
            <a:off x="2834640" y="1645920"/>
            <a:ext cx="2514600" cy="438912"/>
          </a:xfrm>
          <a:prstGeom prst="rect">
            <a:avLst/>
          </a:prstGeom>
          <a:noFill/>
          <a:ln/>
        </p:spPr>
        <p:txBody>
          <a:bodyPr wrap="square" lIns="0" tIns="0" rIns="0" bIns="0" rtlCol="0" anchor="ctr"/>
          <a:lstStyle/>
          <a:p>
            <a:pPr algn="ctr" indent="0" marL="0">
              <a:buNone/>
            </a:pPr>
            <a:r>
              <a:rPr lang="en-US" sz="1050" b="1" dirty="0">
                <a:solidFill>
                  <a:srgbClr val="E2572B"/>
                </a:solidFill>
                <a:latin typeface="Arial" pitchFamily="34" charset="0"/>
                <a:ea typeface="Arial" pitchFamily="34" charset="-122"/>
                <a:cs typeface="Arial" pitchFamily="34" charset="-120"/>
              </a:rPr>
              <a:t>NITROGEN-FIXING BACTERIA</a:t>
            </a:r>
            <a:endParaRPr lang="en-US" sz="1050" dirty="0"/>
          </a:p>
          <a:p>
            <a:pPr algn="ctr" indent="0" marL="0">
              <a:buNone/>
            </a:pPr>
            <a:r>
              <a:rPr lang="en-US" sz="1050" b="1" dirty="0">
                <a:solidFill>
                  <a:srgbClr val="E2572B"/>
                </a:solidFill>
                <a:latin typeface="Arial" pitchFamily="34" charset="0"/>
                <a:ea typeface="Arial" pitchFamily="34" charset="-122"/>
                <a:cs typeface="Arial" pitchFamily="34" charset="-120"/>
              </a:rPr>
              <a:t>the only ones with the key</a:t>
            </a:r>
            <a:endParaRPr lang="en-US" sz="1050" dirty="0"/>
          </a:p>
        </p:txBody>
      </p:sp>
      <p:sp>
        <p:nvSpPr>
          <p:cNvPr id="26" name="nt_l1"/>
          <p:cNvSpPr txBox="1"/>
          <p:nvPr/>
        </p:nvSpPr>
        <p:spPr>
          <a:xfrm>
            <a:off x="6720840" y="1645920"/>
            <a:ext cx="1920240" cy="438912"/>
          </a:xfrm>
          <a:prstGeom prst="rect">
            <a:avLst/>
          </a:prstGeom>
          <a:noFill/>
          <a:ln/>
        </p:spPr>
        <p:txBody>
          <a:bodyPr wrap="square" lIns="0" tIns="0" rIns="0" bIns="0" rtlCol="0" anchor="ctr"/>
          <a:lstStyle/>
          <a:p>
            <a:pPr algn="ctr" indent="0" marL="0">
              <a:buNone/>
            </a:pPr>
            <a:r>
              <a:rPr lang="en-US" sz="1050" b="1" dirty="0">
                <a:solidFill>
                  <a:srgbClr val="0E3A3F"/>
                </a:solidFill>
                <a:latin typeface="Arial" pitchFamily="34" charset="0"/>
                <a:ea typeface="Arial" pitchFamily="34" charset="-122"/>
                <a:cs typeface="Arial" pitchFamily="34" charset="-120"/>
              </a:rPr>
              <a:t>TAKEN UP</a:t>
            </a:r>
            <a:endParaRPr lang="en-US" sz="1050" dirty="0"/>
          </a:p>
          <a:p>
            <a:pPr algn="ctr" indent="0" marL="0">
              <a:buNone/>
            </a:pPr>
            <a:r>
              <a:rPr lang="en-US" sz="1050" b="1" dirty="0">
                <a:solidFill>
                  <a:srgbClr val="0E3A3F"/>
                </a:solidFill>
                <a:latin typeface="Arial" pitchFamily="34" charset="0"/>
                <a:ea typeface="Arial" pitchFamily="34" charset="-122"/>
                <a:cs typeface="Arial" pitchFamily="34" charset="-120"/>
              </a:rPr>
              <a:t>by the roots</a:t>
            </a:r>
            <a:endParaRPr lang="en-US" sz="1050" dirty="0"/>
          </a:p>
        </p:txBody>
      </p:sp>
      <p:sp>
        <p:nvSpPr>
          <p:cNvPr id="27" name="nt_l2"/>
          <p:cNvSpPr txBox="1"/>
          <p:nvPr/>
        </p:nvSpPr>
        <p:spPr>
          <a:xfrm>
            <a:off x="9921240" y="2999232"/>
            <a:ext cx="1280160" cy="438912"/>
          </a:xfrm>
          <a:prstGeom prst="rect">
            <a:avLst/>
          </a:prstGeom>
          <a:noFill/>
          <a:ln/>
        </p:spPr>
        <p:txBody>
          <a:bodyPr wrap="square" lIns="0" tIns="0" rIns="0" bIns="0" rtlCol="0" anchor="ctr"/>
          <a:lstStyle/>
          <a:p>
            <a:pPr algn="ctr" indent="0" marL="0">
              <a:buNone/>
            </a:pPr>
            <a:r>
              <a:rPr lang="en-US" sz="1050" b="1" dirty="0">
                <a:solidFill>
                  <a:srgbClr val="0E3A3F"/>
                </a:solidFill>
                <a:latin typeface="Arial" pitchFamily="34" charset="0"/>
                <a:ea typeface="Arial" pitchFamily="34" charset="-122"/>
                <a:cs typeface="Arial" pitchFamily="34" charset="-120"/>
              </a:rPr>
              <a:t>FEEDING</a:t>
            </a:r>
            <a:endParaRPr lang="en-US" sz="1050" dirty="0"/>
          </a:p>
        </p:txBody>
      </p:sp>
      <p:sp>
        <p:nvSpPr>
          <p:cNvPr id="28" name="nt_l3"/>
          <p:cNvSpPr txBox="1"/>
          <p:nvPr/>
        </p:nvSpPr>
        <p:spPr>
          <a:xfrm>
            <a:off x="6720840" y="4754880"/>
            <a:ext cx="1920240" cy="438912"/>
          </a:xfrm>
          <a:prstGeom prst="rect">
            <a:avLst/>
          </a:prstGeom>
          <a:noFill/>
          <a:ln/>
        </p:spPr>
        <p:txBody>
          <a:bodyPr wrap="square" lIns="0" tIns="0" rIns="0" bIns="0" rtlCol="0" anchor="ctr"/>
          <a:lstStyle/>
          <a:p>
            <a:pPr algn="ctr" indent="0" marL="0">
              <a:buNone/>
            </a:pPr>
            <a:r>
              <a:rPr lang="en-US" sz="1050" b="1" dirty="0">
                <a:solidFill>
                  <a:srgbClr val="0E3A3F"/>
                </a:solidFill>
                <a:latin typeface="Arial" pitchFamily="34" charset="0"/>
                <a:ea typeface="Arial" pitchFamily="34" charset="-122"/>
                <a:cs typeface="Arial" pitchFamily="34" charset="-120"/>
              </a:rPr>
              <a:t>DEATH AND WASTE</a:t>
            </a:r>
            <a:endParaRPr lang="en-US" sz="1050" dirty="0"/>
          </a:p>
        </p:txBody>
      </p:sp>
      <p:sp>
        <p:nvSpPr>
          <p:cNvPr id="29" name="nt_l4"/>
          <p:cNvSpPr txBox="1"/>
          <p:nvPr/>
        </p:nvSpPr>
        <p:spPr>
          <a:xfrm>
            <a:off x="3611880" y="2999232"/>
            <a:ext cx="2148840" cy="438912"/>
          </a:xfrm>
          <a:prstGeom prst="rect">
            <a:avLst/>
          </a:prstGeom>
          <a:noFill/>
          <a:ln/>
        </p:spPr>
        <p:txBody>
          <a:bodyPr wrap="square" lIns="0" tIns="0" rIns="0" bIns="0" rtlCol="0" anchor="ctr"/>
          <a:lstStyle/>
          <a:p>
            <a:pPr algn="ctr" indent="0" marL="0">
              <a:buNone/>
            </a:pPr>
            <a:r>
              <a:rPr lang="en-US" sz="1050" b="1" dirty="0">
                <a:solidFill>
                  <a:srgbClr val="0E3A3F"/>
                </a:solidFill>
                <a:latin typeface="Arial" pitchFamily="34" charset="0"/>
                <a:ea typeface="Arial" pitchFamily="34" charset="-122"/>
                <a:cs typeface="Arial" pitchFamily="34" charset="-120"/>
              </a:rPr>
              <a:t>DECOMPOSERS put it back</a:t>
            </a:r>
            <a:endParaRPr lang="en-US" sz="1050" dirty="0"/>
          </a:p>
        </p:txBody>
      </p:sp>
      <p:grpSp>
        <p:nvGrpSpPr>
          <p:cNvPr id="37" name="nt_note"/>
          <p:cNvGrpSpPr/>
          <p:nvPr/>
        </p:nvGrpSpPr>
        <p:grpSpPr>
          <a:xfrm>
            <a:off x="502920" y="5285232"/>
            <a:ext cx="11185855" cy="896112"/>
            <a:chOff x="502920" y="5285232"/>
            <a:chExt cx="11185855" cy="896112"/>
          </a:xfrm>
        </p:grpSpPr>
        <p:sp>
          <p:nvSpPr>
            <p:cNvPr id="30" name="nt_note_bg"/>
            <p:cNvSpPr/>
            <p:nvPr/>
          </p:nvSpPr>
          <p:spPr>
            <a:xfrm>
              <a:off x="502920" y="5285232"/>
              <a:ext cx="11185855" cy="896112"/>
            </a:xfrm>
            <a:prstGeom prst="roundRect">
              <a:avLst>
                <a:gd name="adj" fmla="val 14286"/>
              </a:avLst>
            </a:prstGeom>
            <a:solidFill>
              <a:srgbClr val="FDF1EC"/>
            </a:solidFill>
            <a:ln w="15875">
              <a:solidFill>
                <a:srgbClr val="E2572B"/>
              </a:solidFill>
              <a:prstDash val="solid"/>
            </a:ln>
          </p:spPr>
        </p:sp>
        <p:sp>
          <p:nvSpPr>
            <p:cNvPr id="31" name="nt_note_t"/>
            <p:cNvSpPr txBox="1"/>
            <p:nvPr/>
          </p:nvSpPr>
          <p:spPr>
            <a:xfrm>
              <a:off x="740664" y="5394960"/>
              <a:ext cx="10710367" cy="676656"/>
            </a:xfrm>
            <a:prstGeom prst="rect">
              <a:avLst/>
            </a:prstGeom>
            <a:noFill/>
            <a:ln/>
          </p:spPr>
          <p:txBody>
            <a:bodyPr wrap="square" lIns="0" tIns="0" rIns="0" bIns="0" rtlCol="0" anchor="ctr"/>
            <a:lstStyle/>
            <a:p>
              <a:pPr indent="0" marL="0">
                <a:lnSpc>
                  <a:spcPts val="1700"/>
                </a:lnSpc>
                <a:buNone/>
              </a:pPr>
              <a:r>
                <a:rPr lang="en-US" sz="1250" dirty="0">
                  <a:solidFill>
                    <a:srgbClr val="14282B"/>
                  </a:solidFill>
                  <a:latin typeface="Arial" pitchFamily="34" charset="0"/>
                  <a:ea typeface="Arial" pitchFamily="34" charset="-122"/>
                  <a:cs typeface="Arial" pitchFamily="34" charset="-120"/>
                </a:rPr>
                <a:t>The air is 78% nitrogen and almost nothing alive can use it. Bacteria in the mud break the N₂ apart and hand it over — they supply between 40% and 60% of all the nitrogen a mangrove forest needs.</a:t>
              </a:r>
              <a:endParaRPr lang="en-US" sz="125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32"/>
                                        </p:tgtEl>
                                        <p:attrNameLst>
                                          <p:attrName>style.visibility</p:attrName>
                                        </p:attrNameLst>
                                      </p:cBhvr>
                                      <p:to>
                                        <p:strVal val="visible"/>
                                      </p:to>
                                    </p:set>
                                    <p:animEffect transition="in" filter="fade">
                                      <p:cBhvr>
                                        <p:cTn id="4"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wipe(right)">
                                      <p:cBhvr>
                                        <p:cTn id="9" dur="500"/>
                                        <p:tgtEl>
                                          <p:spTgt spid="20"/>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7" presetID="23" presetClass="entr" presetSubtype="16" fill="hold" grpId="0" nodeType="withEffect">
                                  <p:stCondLst>
                                    <p:cond delay="3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animScale>
                                      <p:cBhvr>
                                        <p:cTn id="16" dur="500" fill="hold"/>
                                        <p:tgtEl>
                                          <p:spTgt spid="33"/>
                                        </p:tgtEl>
                                      </p:cBhvr>
                                      <p:from x="0" y="0"/>
                                      <p:to x="100000" y="100000"/>
                                    </p:animScale>
                                  </p:childTnLst>
                                </p:cTn>
                              </p:par>
                            </p:childTnLst>
                          </p:cTn>
                        </p:par>
                      </p:childTnLst>
                    </p:cTn>
                  </p:par>
                  <p:par>
                    <p:cTn id="29" fill="hold">
                      <p:stCondLst>
                        <p:cond delay="indefinite"/>
                      </p:stCondLst>
                      <p:childTnLst>
                        <p:par>
                          <p:cTn id="30" fill="hold">
                            <p:stCondLst>
                              <p:cond delay="0"/>
                            </p:stCondLst>
                            <p:childTnLst>
                              <p:par>
                                <p:cTn id="22" presetID="22" presetClass="entr" presetSubtype="8"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right)">
                                      <p:cBhvr>
                                        <p:cTn id="21" dur="500"/>
                                        <p:tgtEl>
                                          <p:spTgt spid="21"/>
                                        </p:tgtEl>
                                      </p:cBhvr>
                                    </p:animEffect>
                                  </p:childTnLst>
                                </p:cTn>
                              </p:par>
                              <p:par>
                                <p:cTn id="25" presetID="10" presetClass="entr" presetSubtype="0" fill="hold" grpId="0" nodeType="withEffect">
                                  <p:stCondLst>
                                    <p:cond delay="15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8" presetID="10" presetClass="entr" presetSubtype="0" fill="hold" grpId="0" nodeType="withEffect">
                                  <p:stCondLst>
                                    <p:cond delay="30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40" fill="hold">
                      <p:stCondLst>
                        <p:cond delay="indefinite"/>
                      </p:stCondLst>
                      <p:childTnLst>
                        <p:par>
                          <p:cTn id="41" fill="hold">
                            <p:stCondLst>
                              <p:cond delay="0"/>
                            </p:stCondLst>
                            <p:childTnLst>
                              <p:par>
                                <p:cTn id="33" presetID="22" presetClass="entr" presetSubtype="1"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500"/>
                                        <p:tgtEl>
                                          <p:spTgt spid="22"/>
                                        </p:tgtEl>
                                      </p:cBhvr>
                                    </p:animEffect>
                                  </p:childTnLst>
                                </p:cTn>
                              </p:par>
                              <p:par>
                                <p:cTn id="36" presetID="10" presetClass="entr" presetSubtype="0" fill="hold" grpId="0" nodeType="withEffect">
                                  <p:stCondLst>
                                    <p:cond delay="15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9" presetID="10" presetClass="entr" presetSubtype="0" fill="hold" grpId="0" nodeType="withEffect">
                                  <p:stCondLst>
                                    <p:cond delay="30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childTnLst>
                          </p:cTn>
                        </p:par>
                      </p:childTnLst>
                    </p:cTn>
                  </p:par>
                  <p:par>
                    <p:cTn id="51" fill="hold">
                      <p:stCondLst>
                        <p:cond delay="indefinite"/>
                      </p:stCondLst>
                      <p:childTnLst>
                        <p:par>
                          <p:cTn id="52" fill="hold">
                            <p:stCondLst>
                              <p:cond delay="0"/>
                            </p:stCondLst>
                            <p:childTnLst>
                              <p:par>
                                <p:cTn id="44" presetID="22" presetClass="entr" presetSubtype="2"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par>
                                <p:cTn id="47" presetID="10" presetClass="entr" presetSubtype="0" fill="hold" grpId="0" nodeType="withEffect">
                                  <p:stCondLst>
                                    <p:cond delay="15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50" presetID="10" presetClass="entr" presetSubtype="0" fill="hold" grpId="0" nodeType="withEffect">
                                  <p:stCondLst>
                                    <p:cond delay="30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childTnLst>
                                </p:cTn>
                              </p:par>
                            </p:childTnLst>
                          </p:cTn>
                        </p:par>
                      </p:childTnLst>
                    </p:cTn>
                  </p:par>
                  <p:par>
                    <p:cTn id="59" fill="hold">
                      <p:stCondLst>
                        <p:cond delay="indefinite"/>
                      </p:stCondLst>
                      <p:childTnLst>
                        <p:par>
                          <p:cTn id="60" fill="hold">
                            <p:stCondLst>
                              <p:cond delay="0"/>
                            </p:stCondLst>
                            <p:childTnLst>
                              <p:par>
                                <p:cTn id="55" presetID="22" presetClass="entr" presetSubtype="4"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up)">
                                      <p:cBhvr>
                                        <p:cTn id="54" dur="500"/>
                                        <p:tgtEl>
                                          <p:spTgt spid="24"/>
                                        </p:tgtEl>
                                      </p:cBhvr>
                                    </p:animEffect>
                                  </p:childTnLst>
                                </p:cTn>
                              </p:par>
                              <p:par>
                                <p:cTn id="58" presetID="10" presetClass="entr" presetSubtype="0" fill="hold" grpId="0" nodeType="withEffect">
                                  <p:stCondLst>
                                    <p:cond delay="15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par>
                    <p:cTn id="64" fill="hold">
                      <p:stCondLst>
                        <p:cond delay="indefinite"/>
                      </p:stCondLst>
                      <p:childTnLst>
                        <p:par>
                          <p:cTn id="65" fill="hold">
                            <p:stCondLst>
                              <p:cond delay="0"/>
                            </p:stCondLst>
                            <p:childTnLst>
                              <p:par>
                                <p:cTn id="63" presetID="10" presetClass="entr" presetSubtype="0"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286000"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WE DO · 4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Lesson 1, finally answered</a:t>
            </a:r>
            <a:endParaRPr lang="en-US" sz="3000" dirty="0"/>
          </a:p>
        </p:txBody>
      </p:sp>
      <p:sp>
        <p:nvSpPr>
          <p:cNvPr id="4" name="gf_intro"/>
          <p:cNvSpPr txBox="1"/>
          <p:nvPr/>
        </p:nvSpPr>
        <p:spPr>
          <a:xfrm>
            <a:off x="502920" y="1554480"/>
            <a:ext cx="1042416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Tung Prong Thong: the same species, the same sun, forty minutes from this room — and gold leaves.</a:t>
            </a:r>
            <a:endParaRPr lang="en-US" sz="1300" dirty="0"/>
          </a:p>
        </p:txBody>
      </p:sp>
      <p:sp>
        <p:nvSpPr>
          <p:cNvPr id="5" name="gf0_bg"/>
          <p:cNvSpPr/>
          <p:nvPr/>
        </p:nvSpPr>
        <p:spPr>
          <a:xfrm>
            <a:off x="502920" y="2121408"/>
            <a:ext cx="11185855" cy="786384"/>
          </a:xfrm>
          <a:prstGeom prst="rect">
            <a:avLst/>
          </a:prstGeom>
          <a:solidFill>
            <a:srgbClr val="FFFFFF"/>
          </a:solidFill>
          <a:ln w="15240">
            <a:solidFill>
              <a:srgbClr val="F0E4C8"/>
            </a:solidFill>
            <a:prstDash val="solid"/>
          </a:ln>
        </p:spPr>
      </p:sp>
      <p:sp>
        <p:nvSpPr>
          <p:cNvPr id="6" name="gf0_n"/>
          <p:cNvSpPr txBox="1"/>
          <p:nvPr/>
        </p:nvSpPr>
        <p:spPr>
          <a:xfrm>
            <a:off x="722376" y="2121408"/>
            <a:ext cx="365760" cy="786384"/>
          </a:xfrm>
          <a:prstGeom prst="rect">
            <a:avLst/>
          </a:prstGeom>
          <a:noFill/>
          <a:ln/>
        </p:spPr>
        <p:txBody>
          <a:bodyPr wrap="square" lIns="0" tIns="0" rIns="0" bIns="0" rtlCol="0" anchor="ctr"/>
          <a:lstStyle/>
          <a:p>
            <a:pPr indent="0" marL="0">
              <a:buNone/>
            </a:pPr>
            <a:r>
              <a:rPr lang="en-US" sz="2000" b="1" dirty="0">
                <a:solidFill>
                  <a:srgbClr val="F5B301"/>
                </a:solidFill>
                <a:latin typeface="Georgia" pitchFamily="34" charset="0"/>
                <a:ea typeface="Georgia" pitchFamily="34" charset="-122"/>
                <a:cs typeface="Georgia" pitchFamily="34" charset="-120"/>
              </a:rPr>
              <a:t>1</a:t>
            </a:r>
            <a:endParaRPr lang="en-US" sz="2000" dirty="0"/>
          </a:p>
        </p:txBody>
      </p:sp>
      <p:sp>
        <p:nvSpPr>
          <p:cNvPr id="7" name="gf0_h"/>
          <p:cNvSpPr txBox="1"/>
          <p:nvPr/>
        </p:nvSpPr>
        <p:spPr>
          <a:xfrm>
            <a:off x="1216152" y="2212848"/>
            <a:ext cx="4846320" cy="603504"/>
          </a:xfrm>
          <a:prstGeom prst="rect">
            <a:avLst/>
          </a:prstGeom>
          <a:noFill/>
          <a:ln/>
        </p:spPr>
        <p:txBody>
          <a:bodyPr wrap="square" lIns="0" tIns="0" rIns="0" bIns="0" rtlCol="0" anchor="ctr"/>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The ground there is a sandbank, not deep estuary mud.</a:t>
            </a:r>
            <a:endParaRPr lang="en-US" sz="1300" dirty="0"/>
          </a:p>
        </p:txBody>
      </p:sp>
      <p:sp>
        <p:nvSpPr>
          <p:cNvPr id="8" name="gf0_b"/>
          <p:cNvSpPr txBox="1"/>
          <p:nvPr/>
        </p:nvSpPr>
        <p:spPr>
          <a:xfrm>
            <a:off x="6263640" y="2121408"/>
            <a:ext cx="5425135" cy="78638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Sand drains. It holds very little dead organic matter, so there is little for decomposers to work on.</a:t>
            </a:r>
            <a:endParaRPr lang="en-US" sz="1150" dirty="0"/>
          </a:p>
        </p:txBody>
      </p:sp>
      <p:sp>
        <p:nvSpPr>
          <p:cNvPr id="9" name="gf1_bg"/>
          <p:cNvSpPr/>
          <p:nvPr/>
        </p:nvSpPr>
        <p:spPr>
          <a:xfrm>
            <a:off x="502920" y="3054096"/>
            <a:ext cx="11185855" cy="786384"/>
          </a:xfrm>
          <a:prstGeom prst="rect">
            <a:avLst/>
          </a:prstGeom>
          <a:solidFill>
            <a:srgbClr val="FFFFFF"/>
          </a:solidFill>
          <a:ln w="15240">
            <a:solidFill>
              <a:srgbClr val="F0E4C8"/>
            </a:solidFill>
            <a:prstDash val="solid"/>
          </a:ln>
        </p:spPr>
      </p:sp>
      <p:sp>
        <p:nvSpPr>
          <p:cNvPr id="10" name="gf1_n"/>
          <p:cNvSpPr txBox="1"/>
          <p:nvPr/>
        </p:nvSpPr>
        <p:spPr>
          <a:xfrm>
            <a:off x="722376" y="3054096"/>
            <a:ext cx="365760" cy="786384"/>
          </a:xfrm>
          <a:prstGeom prst="rect">
            <a:avLst/>
          </a:prstGeom>
          <a:noFill/>
          <a:ln/>
        </p:spPr>
        <p:txBody>
          <a:bodyPr wrap="square" lIns="0" tIns="0" rIns="0" bIns="0" rtlCol="0" anchor="ctr"/>
          <a:lstStyle/>
          <a:p>
            <a:pPr indent="0" marL="0">
              <a:buNone/>
            </a:pPr>
            <a:r>
              <a:rPr lang="en-US" sz="2000" b="1" dirty="0">
                <a:solidFill>
                  <a:srgbClr val="F5B301"/>
                </a:solidFill>
                <a:latin typeface="Georgia" pitchFamily="34" charset="0"/>
                <a:ea typeface="Georgia" pitchFamily="34" charset="-122"/>
                <a:cs typeface="Georgia" pitchFamily="34" charset="-120"/>
              </a:rPr>
              <a:t>2</a:t>
            </a:r>
            <a:endParaRPr lang="en-US" sz="2000" dirty="0"/>
          </a:p>
        </p:txBody>
      </p:sp>
      <p:sp>
        <p:nvSpPr>
          <p:cNvPr id="11" name="gf1_h"/>
          <p:cNvSpPr txBox="1"/>
          <p:nvPr/>
        </p:nvSpPr>
        <p:spPr>
          <a:xfrm>
            <a:off x="1216152" y="3145536"/>
            <a:ext cx="4846320" cy="603504"/>
          </a:xfrm>
          <a:prstGeom prst="rect">
            <a:avLst/>
          </a:prstGeom>
          <a:noFill/>
          <a:ln/>
        </p:spPr>
        <p:txBody>
          <a:bodyPr wrap="square" lIns="0" tIns="0" rIns="0" bIns="0" rtlCol="0" anchor="ctr"/>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Less dead matter means less nitrogen being returned.</a:t>
            </a:r>
            <a:endParaRPr lang="en-US" sz="1300" dirty="0"/>
          </a:p>
        </p:txBody>
      </p:sp>
      <p:sp>
        <p:nvSpPr>
          <p:cNvPr id="12" name="gf1_b"/>
          <p:cNvSpPr txBox="1"/>
          <p:nvPr/>
        </p:nvSpPr>
        <p:spPr>
          <a:xfrm>
            <a:off x="6263640" y="3054096"/>
            <a:ext cx="5425135" cy="78638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The decomposer arrow on the last slide is the thin one here. The loop is running, but it is running on empty.</a:t>
            </a:r>
            <a:endParaRPr lang="en-US" sz="1150" dirty="0"/>
          </a:p>
        </p:txBody>
      </p:sp>
      <p:sp>
        <p:nvSpPr>
          <p:cNvPr id="13" name="gf2_bg"/>
          <p:cNvSpPr/>
          <p:nvPr/>
        </p:nvSpPr>
        <p:spPr>
          <a:xfrm>
            <a:off x="502920" y="3986784"/>
            <a:ext cx="11185855" cy="786384"/>
          </a:xfrm>
          <a:prstGeom prst="rect">
            <a:avLst/>
          </a:prstGeom>
          <a:solidFill>
            <a:srgbClr val="FFFFFF"/>
          </a:solidFill>
          <a:ln w="15240">
            <a:solidFill>
              <a:srgbClr val="F0E4C8"/>
            </a:solidFill>
            <a:prstDash val="solid"/>
          </a:ln>
        </p:spPr>
      </p:sp>
      <p:sp>
        <p:nvSpPr>
          <p:cNvPr id="14" name="gf2_n"/>
          <p:cNvSpPr txBox="1"/>
          <p:nvPr/>
        </p:nvSpPr>
        <p:spPr>
          <a:xfrm>
            <a:off x="722376" y="3986784"/>
            <a:ext cx="365760" cy="786384"/>
          </a:xfrm>
          <a:prstGeom prst="rect">
            <a:avLst/>
          </a:prstGeom>
          <a:noFill/>
          <a:ln/>
        </p:spPr>
        <p:txBody>
          <a:bodyPr wrap="square" lIns="0" tIns="0" rIns="0" bIns="0" rtlCol="0" anchor="ctr"/>
          <a:lstStyle/>
          <a:p>
            <a:pPr indent="0" marL="0">
              <a:buNone/>
            </a:pPr>
            <a:r>
              <a:rPr lang="en-US" sz="2000" b="1" dirty="0">
                <a:solidFill>
                  <a:srgbClr val="F5B301"/>
                </a:solidFill>
                <a:latin typeface="Georgia" pitchFamily="34" charset="0"/>
                <a:ea typeface="Georgia" pitchFamily="34" charset="-122"/>
                <a:cs typeface="Georgia" pitchFamily="34" charset="-120"/>
              </a:rPr>
              <a:t>3</a:t>
            </a:r>
            <a:endParaRPr lang="en-US" sz="2000" dirty="0"/>
          </a:p>
        </p:txBody>
      </p:sp>
      <p:sp>
        <p:nvSpPr>
          <p:cNvPr id="15" name="gf2_h"/>
          <p:cNvSpPr txBox="1"/>
          <p:nvPr/>
        </p:nvSpPr>
        <p:spPr>
          <a:xfrm>
            <a:off x="1216152" y="4078224"/>
            <a:ext cx="4846320" cy="603504"/>
          </a:xfrm>
          <a:prstGeom prst="rect">
            <a:avLst/>
          </a:prstGeom>
          <a:noFill/>
          <a:ln/>
        </p:spPr>
        <p:txBody>
          <a:bodyPr wrap="square" lIns="0" tIns="0" rIns="0" bIns="0" rtlCol="0" anchor="ctr"/>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The trees cannot build enough chlorophyll.</a:t>
            </a:r>
            <a:endParaRPr lang="en-US" sz="1300" dirty="0"/>
          </a:p>
        </p:txBody>
      </p:sp>
      <p:sp>
        <p:nvSpPr>
          <p:cNvPr id="16" name="gf2_b"/>
          <p:cNvSpPr txBox="1"/>
          <p:nvPr/>
        </p:nvSpPr>
        <p:spPr>
          <a:xfrm>
            <a:off x="6263640" y="3986784"/>
            <a:ext cx="5425135" cy="78638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Chlorophyll molecules contain nitrogen. No nitrogen, no chlorophyll.</a:t>
            </a:r>
            <a:endParaRPr lang="en-US" sz="1150" dirty="0"/>
          </a:p>
        </p:txBody>
      </p:sp>
      <p:sp>
        <p:nvSpPr>
          <p:cNvPr id="17" name="gf3_bg"/>
          <p:cNvSpPr/>
          <p:nvPr/>
        </p:nvSpPr>
        <p:spPr>
          <a:xfrm>
            <a:off x="502920" y="4919472"/>
            <a:ext cx="11185855" cy="786384"/>
          </a:xfrm>
          <a:prstGeom prst="rect">
            <a:avLst/>
          </a:prstGeom>
          <a:solidFill>
            <a:srgbClr val="FDF3D6"/>
          </a:solidFill>
          <a:ln w="22860">
            <a:solidFill>
              <a:srgbClr val="F5B301"/>
            </a:solidFill>
            <a:prstDash val="solid"/>
          </a:ln>
        </p:spPr>
      </p:sp>
      <p:sp>
        <p:nvSpPr>
          <p:cNvPr id="18" name="gf3_n"/>
          <p:cNvSpPr txBox="1"/>
          <p:nvPr/>
        </p:nvSpPr>
        <p:spPr>
          <a:xfrm>
            <a:off x="722376" y="4919472"/>
            <a:ext cx="365760" cy="786384"/>
          </a:xfrm>
          <a:prstGeom prst="rect">
            <a:avLst/>
          </a:prstGeom>
          <a:noFill/>
          <a:ln/>
        </p:spPr>
        <p:txBody>
          <a:bodyPr wrap="square" lIns="0" tIns="0" rIns="0" bIns="0" rtlCol="0" anchor="ctr"/>
          <a:lstStyle/>
          <a:p>
            <a:pPr indent="0" marL="0">
              <a:buNone/>
            </a:pPr>
            <a:r>
              <a:rPr lang="en-US" sz="2000" b="1" dirty="0">
                <a:solidFill>
                  <a:srgbClr val="F5B301"/>
                </a:solidFill>
                <a:latin typeface="Georgia" pitchFamily="34" charset="0"/>
                <a:ea typeface="Georgia" pitchFamily="34" charset="-122"/>
                <a:cs typeface="Georgia" pitchFamily="34" charset="-120"/>
              </a:rPr>
              <a:t>4</a:t>
            </a:r>
            <a:endParaRPr lang="en-US" sz="2000" dirty="0"/>
          </a:p>
        </p:txBody>
      </p:sp>
      <p:sp>
        <p:nvSpPr>
          <p:cNvPr id="19" name="gf3_h"/>
          <p:cNvSpPr txBox="1"/>
          <p:nvPr/>
        </p:nvSpPr>
        <p:spPr>
          <a:xfrm>
            <a:off x="1216152" y="5010912"/>
            <a:ext cx="4846320" cy="603504"/>
          </a:xfrm>
          <a:prstGeom prst="rect">
            <a:avLst/>
          </a:prstGeom>
          <a:noFill/>
          <a:ln/>
        </p:spPr>
        <p:txBody>
          <a:bodyPr wrap="square" lIns="0" tIns="0" rIns="0" bIns="0" rtlCol="0" anchor="ctr"/>
          <a:lstStyle/>
          <a:p>
            <a:pPr indent="0" marL="0">
              <a:lnSpc>
                <a:spcPts val="1700"/>
              </a:lnSpc>
              <a:buNone/>
            </a:pPr>
            <a:r>
              <a:rPr lang="en-US" sz="1300" b="1" dirty="0">
                <a:solidFill>
                  <a:srgbClr val="0E3A3F"/>
                </a:solidFill>
                <a:latin typeface="Arial" pitchFamily="34" charset="0"/>
                <a:ea typeface="Arial" pitchFamily="34" charset="-122"/>
                <a:cs typeface="Arial" pitchFamily="34" charset="-120"/>
              </a:rPr>
              <a:t>Less chlorophyll means yellow-gold leaves and stunted trees.</a:t>
            </a:r>
            <a:endParaRPr lang="en-US" sz="1300" dirty="0"/>
          </a:p>
        </p:txBody>
      </p:sp>
      <p:sp>
        <p:nvSpPr>
          <p:cNvPr id="20" name="gf3_b"/>
          <p:cNvSpPr txBox="1"/>
          <p:nvPr/>
        </p:nvSpPr>
        <p:spPr>
          <a:xfrm>
            <a:off x="6263640" y="4919472"/>
            <a:ext cx="5425135" cy="786384"/>
          </a:xfrm>
          <a:prstGeom prst="rect">
            <a:avLst/>
          </a:prstGeom>
          <a:noFill/>
          <a:ln/>
        </p:spPr>
        <p:txBody>
          <a:bodyPr wrap="square" lIns="0" tIns="0" rIns="0" bIns="0" rtlCol="0" anchor="ctr"/>
          <a:lstStyle/>
          <a:p>
            <a:pPr indent="0" marL="0">
              <a:lnSpc>
                <a:spcPts val="1500"/>
              </a:lnSpc>
              <a:buNone/>
            </a:pPr>
            <a:r>
              <a:rPr lang="en-US" sz="1150" dirty="0">
                <a:solidFill>
                  <a:srgbClr val="4A6165"/>
                </a:solidFill>
                <a:latin typeface="Arial" pitchFamily="34" charset="0"/>
                <a:ea typeface="Arial" pitchFamily="34" charset="-122"/>
                <a:cs typeface="Arial" pitchFamily="34" charset="-120"/>
              </a:rPr>
              <a:t>Green is the colour of chlorophyll. Take it away and the yellow shows through.</a:t>
            </a:r>
            <a:endParaRPr lang="en-US" sz="1150" dirty="0"/>
          </a:p>
        </p:txBody>
      </p:sp>
      <p:sp>
        <p:nvSpPr>
          <p:cNvPr id="21"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Explained in 2023 by Assoc. Prof. Dr Kitichate Sridith, Prince of Songkla University — the sandbank is nitrogen-poor.</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2"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37"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48"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53"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6"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9"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4" presetID="10"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YOU DO · 11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On your own — worksheet, Section A to C</a:t>
            </a:r>
            <a:endParaRPr lang="en-US" sz="3000" dirty="0"/>
          </a:p>
        </p:txBody>
      </p:sp>
      <p:sp>
        <p:nvSpPr>
          <p:cNvPr id="4" name="yd_intro"/>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Start where you like. Move up when a question stops being hard.</a:t>
            </a:r>
            <a:endParaRPr lang="en-US" sz="1300" dirty="0"/>
          </a:p>
        </p:txBody>
      </p:sp>
      <p:sp>
        <p:nvSpPr>
          <p:cNvPr id="5" name="t0_bg"/>
          <p:cNvSpPr/>
          <p:nvPr/>
        </p:nvSpPr>
        <p:spPr>
          <a:xfrm>
            <a:off x="502920" y="2084832"/>
            <a:ext cx="3545738" cy="1737360"/>
          </a:xfrm>
          <a:prstGeom prst="roundRect">
            <a:avLst>
              <a:gd name="adj" fmla="val 7368"/>
            </a:avLst>
          </a:prstGeom>
          <a:solidFill>
            <a:srgbClr val="FDF1EC"/>
          </a:solidFill>
          <a:ln w="15875">
            <a:solidFill>
              <a:srgbClr val="E2572B"/>
            </a:solidFill>
            <a:prstDash val="solid"/>
          </a:ln>
        </p:spPr>
      </p:sp>
      <p:sp>
        <p:nvSpPr>
          <p:cNvPr id="6" name="t0_h"/>
          <p:cNvSpPr txBox="1"/>
          <p:nvPr/>
        </p:nvSpPr>
        <p:spPr>
          <a:xfrm>
            <a:off x="722376" y="2231136"/>
            <a:ext cx="3106826" cy="329184"/>
          </a:xfrm>
          <a:prstGeom prst="rect">
            <a:avLst/>
          </a:prstGeom>
          <a:noFill/>
          <a:ln/>
        </p:spPr>
        <p:txBody>
          <a:bodyPr wrap="square" lIns="0" tIns="0" rIns="0" bIns="0" rtlCol="0" anchor="ctr"/>
          <a:lstStyle/>
          <a:p>
            <a:pPr indent="0" marL="0">
              <a:buNone/>
            </a:pPr>
            <a:r>
              <a:rPr lang="en-US" sz="1600" b="1" spc="120" kern="0" dirty="0">
                <a:solidFill>
                  <a:srgbClr val="E2572B"/>
                </a:solidFill>
                <a:latin typeface="Arial" pitchFamily="34" charset="0"/>
                <a:ea typeface="Arial" pitchFamily="34" charset="-122"/>
                <a:cs typeface="Arial" pitchFamily="34" charset="-120"/>
              </a:rPr>
              <a:t>BRONZE</a:t>
            </a:r>
            <a:endParaRPr lang="en-US" sz="1600" dirty="0"/>
          </a:p>
        </p:txBody>
      </p:sp>
      <p:sp>
        <p:nvSpPr>
          <p:cNvPr id="7" name="t0_s"/>
          <p:cNvSpPr txBox="1"/>
          <p:nvPr/>
        </p:nvSpPr>
        <p:spPr>
          <a:xfrm>
            <a:off x="722376" y="2578608"/>
            <a:ext cx="3106826" cy="274320"/>
          </a:xfrm>
          <a:prstGeom prst="rect">
            <a:avLst/>
          </a:prstGeom>
          <a:noFill/>
          <a:ln/>
        </p:spPr>
        <p:txBody>
          <a:bodyPr wrap="square" lIns="0" tIns="0" rIns="0" bIns="0" rtlCol="0" anchor="ctr"/>
          <a:lstStyle/>
          <a:p>
            <a:pPr indent="0" marL="0">
              <a:buNone/>
            </a:pPr>
            <a:r>
              <a:rPr lang="en-US" sz="1250" b="1" dirty="0">
                <a:solidFill>
                  <a:srgbClr val="14282B"/>
                </a:solidFill>
                <a:latin typeface="Arial" pitchFamily="34" charset="0"/>
                <a:ea typeface="Arial" pitchFamily="34" charset="-122"/>
                <a:cs typeface="Arial" pitchFamily="34" charset="-120"/>
              </a:rPr>
              <a:t>Fluency</a:t>
            </a:r>
            <a:endParaRPr lang="en-US" sz="1250" dirty="0"/>
          </a:p>
        </p:txBody>
      </p:sp>
      <p:sp>
        <p:nvSpPr>
          <p:cNvPr id="8" name="t0_b"/>
          <p:cNvSpPr txBox="1"/>
          <p:nvPr/>
        </p:nvSpPr>
        <p:spPr>
          <a:xfrm>
            <a:off x="722376" y="2871216"/>
            <a:ext cx="3106826" cy="786384"/>
          </a:xfrm>
          <a:prstGeom prst="rect">
            <a:avLst/>
          </a:prstGeom>
          <a:noFill/>
          <a:ln/>
        </p:spPr>
        <p:txBody>
          <a:bodyPr wrap="square" lIns="0" tIns="0" rIns="0" bIns="0" rtlCol="0" anchor="t"/>
          <a:lstStyle/>
          <a:p>
            <a:pPr indent="0" marL="0">
              <a:lnSpc>
                <a:spcPts val="1600"/>
              </a:lnSpc>
              <a:buNone/>
            </a:pPr>
            <a:r>
              <a:rPr lang="en-US" sz="1200" dirty="0">
                <a:solidFill>
                  <a:srgbClr val="4A6165"/>
                </a:solidFill>
                <a:latin typeface="Arial" pitchFamily="34" charset="0"/>
                <a:ea typeface="Arial" pitchFamily="34" charset="-122"/>
                <a:cs typeface="Arial" pitchFamily="34" charset="-120"/>
              </a:rPr>
              <a:t>Label the cycles. Get the two equations and the vocabulary secure.</a:t>
            </a:r>
            <a:endParaRPr lang="en-US" sz="1200" dirty="0"/>
          </a:p>
        </p:txBody>
      </p:sp>
      <p:sp>
        <p:nvSpPr>
          <p:cNvPr id="9" name="t1_bg"/>
          <p:cNvSpPr/>
          <p:nvPr/>
        </p:nvSpPr>
        <p:spPr>
          <a:xfrm>
            <a:off x="4322978" y="2084832"/>
            <a:ext cx="3545738" cy="1737360"/>
          </a:xfrm>
          <a:prstGeom prst="roundRect">
            <a:avLst>
              <a:gd name="adj" fmla="val 7368"/>
            </a:avLst>
          </a:prstGeom>
          <a:solidFill>
            <a:srgbClr val="F2F3F1"/>
          </a:solidFill>
          <a:ln w="15875">
            <a:solidFill>
              <a:srgbClr val="6A7F82"/>
            </a:solidFill>
            <a:prstDash val="solid"/>
          </a:ln>
        </p:spPr>
      </p:sp>
      <p:sp>
        <p:nvSpPr>
          <p:cNvPr id="10" name="t1_h"/>
          <p:cNvSpPr txBox="1"/>
          <p:nvPr/>
        </p:nvSpPr>
        <p:spPr>
          <a:xfrm>
            <a:off x="4542434" y="2231136"/>
            <a:ext cx="3106826" cy="329184"/>
          </a:xfrm>
          <a:prstGeom prst="rect">
            <a:avLst/>
          </a:prstGeom>
          <a:noFill/>
          <a:ln/>
        </p:spPr>
        <p:txBody>
          <a:bodyPr wrap="square" lIns="0" tIns="0" rIns="0" bIns="0" rtlCol="0" anchor="ctr"/>
          <a:lstStyle/>
          <a:p>
            <a:pPr indent="0" marL="0">
              <a:buNone/>
            </a:pPr>
            <a:r>
              <a:rPr lang="en-US" sz="1600" b="1" spc="120" kern="0" dirty="0">
                <a:solidFill>
                  <a:srgbClr val="6A7F82"/>
                </a:solidFill>
                <a:latin typeface="Arial" pitchFamily="34" charset="0"/>
                <a:ea typeface="Arial" pitchFamily="34" charset="-122"/>
                <a:cs typeface="Arial" pitchFamily="34" charset="-120"/>
              </a:rPr>
              <a:t>SILVER</a:t>
            </a:r>
            <a:endParaRPr lang="en-US" sz="1600" dirty="0"/>
          </a:p>
        </p:txBody>
      </p:sp>
      <p:sp>
        <p:nvSpPr>
          <p:cNvPr id="11" name="t1_s"/>
          <p:cNvSpPr txBox="1"/>
          <p:nvPr/>
        </p:nvSpPr>
        <p:spPr>
          <a:xfrm>
            <a:off x="4542434" y="2578608"/>
            <a:ext cx="3106826" cy="274320"/>
          </a:xfrm>
          <a:prstGeom prst="rect">
            <a:avLst/>
          </a:prstGeom>
          <a:noFill/>
          <a:ln/>
        </p:spPr>
        <p:txBody>
          <a:bodyPr wrap="square" lIns="0" tIns="0" rIns="0" bIns="0" rtlCol="0" anchor="ctr"/>
          <a:lstStyle/>
          <a:p>
            <a:pPr indent="0" marL="0">
              <a:buNone/>
            </a:pPr>
            <a:r>
              <a:rPr lang="en-US" sz="1250" b="1" dirty="0">
                <a:solidFill>
                  <a:srgbClr val="14282B"/>
                </a:solidFill>
                <a:latin typeface="Arial" pitchFamily="34" charset="0"/>
                <a:ea typeface="Arial" pitchFamily="34" charset="-122"/>
                <a:cs typeface="Arial" pitchFamily="34" charset="-120"/>
              </a:rPr>
              <a:t>Mixed practice</a:t>
            </a:r>
            <a:endParaRPr lang="en-US" sz="1250" dirty="0"/>
          </a:p>
        </p:txBody>
      </p:sp>
      <p:sp>
        <p:nvSpPr>
          <p:cNvPr id="12" name="t1_b"/>
          <p:cNvSpPr txBox="1"/>
          <p:nvPr/>
        </p:nvSpPr>
        <p:spPr>
          <a:xfrm>
            <a:off x="4542434" y="2871216"/>
            <a:ext cx="3106826" cy="786384"/>
          </a:xfrm>
          <a:prstGeom prst="rect">
            <a:avLst/>
          </a:prstGeom>
          <a:noFill/>
          <a:ln/>
        </p:spPr>
        <p:txBody>
          <a:bodyPr wrap="square" lIns="0" tIns="0" rIns="0" bIns="0" rtlCol="0" anchor="t"/>
          <a:lstStyle/>
          <a:p>
            <a:pPr indent="0" marL="0">
              <a:lnSpc>
                <a:spcPts val="1600"/>
              </a:lnSpc>
              <a:buNone/>
            </a:pPr>
            <a:r>
              <a:rPr lang="en-US" sz="1200" dirty="0">
                <a:solidFill>
                  <a:srgbClr val="4A6165"/>
                </a:solidFill>
                <a:latin typeface="Arial" pitchFamily="34" charset="0"/>
                <a:ea typeface="Arial" pitchFamily="34" charset="-122"/>
                <a:cs typeface="Arial" pitchFamily="34" charset="-120"/>
              </a:rPr>
              <a:t>Follow atoms round. Apply the cycles to a new situation.</a:t>
            </a:r>
            <a:endParaRPr lang="en-US" sz="1200" dirty="0"/>
          </a:p>
        </p:txBody>
      </p:sp>
      <p:sp>
        <p:nvSpPr>
          <p:cNvPr id="13" name="t2_bg"/>
          <p:cNvSpPr/>
          <p:nvPr/>
        </p:nvSpPr>
        <p:spPr>
          <a:xfrm>
            <a:off x="8143037" y="2084832"/>
            <a:ext cx="3545738" cy="1737360"/>
          </a:xfrm>
          <a:prstGeom prst="roundRect">
            <a:avLst>
              <a:gd name="adj" fmla="val 7368"/>
            </a:avLst>
          </a:prstGeom>
          <a:solidFill>
            <a:srgbClr val="FDF3D6"/>
          </a:solidFill>
          <a:ln w="15875">
            <a:solidFill>
              <a:srgbClr val="F5B301"/>
            </a:solidFill>
            <a:prstDash val="solid"/>
          </a:ln>
        </p:spPr>
      </p:sp>
      <p:sp>
        <p:nvSpPr>
          <p:cNvPr id="14" name="t2_h"/>
          <p:cNvSpPr txBox="1"/>
          <p:nvPr/>
        </p:nvSpPr>
        <p:spPr>
          <a:xfrm>
            <a:off x="8362493" y="2231136"/>
            <a:ext cx="3106826" cy="329184"/>
          </a:xfrm>
          <a:prstGeom prst="rect">
            <a:avLst/>
          </a:prstGeom>
          <a:noFill/>
          <a:ln/>
        </p:spPr>
        <p:txBody>
          <a:bodyPr wrap="square" lIns="0" tIns="0" rIns="0" bIns="0" rtlCol="0" anchor="ctr"/>
          <a:lstStyle/>
          <a:p>
            <a:pPr indent="0" marL="0">
              <a:buNone/>
            </a:pPr>
            <a:r>
              <a:rPr lang="en-US" sz="1600" b="1" spc="120" kern="0" dirty="0">
                <a:solidFill>
                  <a:srgbClr val="F5B301"/>
                </a:solidFill>
                <a:latin typeface="Arial" pitchFamily="34" charset="0"/>
                <a:ea typeface="Arial" pitchFamily="34" charset="-122"/>
                <a:cs typeface="Arial" pitchFamily="34" charset="-120"/>
              </a:rPr>
              <a:t>GOLD</a:t>
            </a:r>
            <a:endParaRPr lang="en-US" sz="1600" dirty="0"/>
          </a:p>
        </p:txBody>
      </p:sp>
      <p:sp>
        <p:nvSpPr>
          <p:cNvPr id="15" name="t2_s"/>
          <p:cNvSpPr txBox="1"/>
          <p:nvPr/>
        </p:nvSpPr>
        <p:spPr>
          <a:xfrm>
            <a:off x="8362493" y="2578608"/>
            <a:ext cx="3106826" cy="274320"/>
          </a:xfrm>
          <a:prstGeom prst="rect">
            <a:avLst/>
          </a:prstGeom>
          <a:noFill/>
          <a:ln/>
        </p:spPr>
        <p:txBody>
          <a:bodyPr wrap="square" lIns="0" tIns="0" rIns="0" bIns="0" rtlCol="0" anchor="ctr"/>
          <a:lstStyle/>
          <a:p>
            <a:pPr indent="0" marL="0">
              <a:buNone/>
            </a:pPr>
            <a:r>
              <a:rPr lang="en-US" sz="1250" b="1" dirty="0">
                <a:solidFill>
                  <a:srgbClr val="14282B"/>
                </a:solidFill>
                <a:latin typeface="Arial" pitchFamily="34" charset="0"/>
                <a:ea typeface="Arial" pitchFamily="34" charset="-122"/>
                <a:cs typeface="Arial" pitchFamily="34" charset="-120"/>
              </a:rPr>
              <a:t>Reasoning</a:t>
            </a:r>
            <a:endParaRPr lang="en-US" sz="1250" dirty="0"/>
          </a:p>
        </p:txBody>
      </p:sp>
      <p:sp>
        <p:nvSpPr>
          <p:cNvPr id="16" name="t2_b"/>
          <p:cNvSpPr txBox="1"/>
          <p:nvPr/>
        </p:nvSpPr>
        <p:spPr>
          <a:xfrm>
            <a:off x="8362493" y="2871216"/>
            <a:ext cx="3106826" cy="786384"/>
          </a:xfrm>
          <a:prstGeom prst="rect">
            <a:avLst/>
          </a:prstGeom>
          <a:noFill/>
          <a:ln/>
        </p:spPr>
        <p:txBody>
          <a:bodyPr wrap="square" lIns="0" tIns="0" rIns="0" bIns="0" rtlCol="0" anchor="t"/>
          <a:lstStyle/>
          <a:p>
            <a:pPr indent="0" marL="0">
              <a:lnSpc>
                <a:spcPts val="1600"/>
              </a:lnSpc>
              <a:buNone/>
            </a:pPr>
            <a:r>
              <a:rPr lang="en-US" sz="1200" dirty="0">
                <a:solidFill>
                  <a:srgbClr val="4A6165"/>
                </a:solidFill>
                <a:latin typeface="Arial" pitchFamily="34" charset="0"/>
                <a:ea typeface="Arial" pitchFamily="34" charset="-122"/>
                <a:cs typeface="Arial" pitchFamily="34" charset="-120"/>
              </a:rPr>
              <a:t>Explain, predict and justify. Full sentences.</a:t>
            </a:r>
            <a:endParaRPr lang="en-US" sz="1200" dirty="0"/>
          </a:p>
        </p:txBody>
      </p:sp>
      <p:sp>
        <p:nvSpPr>
          <p:cNvPr id="17" name="gem_bg"/>
          <p:cNvSpPr/>
          <p:nvPr/>
        </p:nvSpPr>
        <p:spPr>
          <a:xfrm>
            <a:off x="502920" y="4059936"/>
            <a:ext cx="11185855" cy="1207008"/>
          </a:xfrm>
          <a:prstGeom prst="roundRect">
            <a:avLst>
              <a:gd name="adj" fmla="val 10606"/>
            </a:avLst>
          </a:prstGeom>
          <a:solidFill>
            <a:srgbClr val="EDF3F4"/>
          </a:solidFill>
          <a:ln w="15875">
            <a:solidFill>
              <a:srgbClr val="17505A"/>
            </a:solidFill>
            <a:prstDash val="solid"/>
          </a:ln>
        </p:spPr>
      </p:sp>
      <p:sp>
        <p:nvSpPr>
          <p:cNvPr id="18" name="gem_h"/>
          <p:cNvSpPr txBox="1"/>
          <p:nvPr/>
        </p:nvSpPr>
        <p:spPr>
          <a:xfrm>
            <a:off x="758952" y="4187952"/>
            <a:ext cx="7315200" cy="292608"/>
          </a:xfrm>
          <a:prstGeom prst="rect">
            <a:avLst/>
          </a:prstGeom>
          <a:noFill/>
          <a:ln/>
        </p:spPr>
        <p:txBody>
          <a:bodyPr wrap="square" lIns="0" tIns="0" rIns="0" bIns="0" rtlCol="0" anchor="ctr"/>
          <a:lstStyle/>
          <a:p>
            <a:pPr indent="0" marL="0">
              <a:buNone/>
            </a:pPr>
            <a:r>
              <a:rPr lang="en-US" sz="1350" b="1" dirty="0">
                <a:solidFill>
                  <a:srgbClr val="0E3A3F"/>
                </a:solidFill>
                <a:latin typeface="Arial" pitchFamily="34" charset="0"/>
                <a:ea typeface="Arial" pitchFamily="34" charset="-122"/>
                <a:cs typeface="Arial" pitchFamily="34" charset="-120"/>
              </a:rPr>
              <a:t>Stuck, or finished early? Use Gemini properly.</a:t>
            </a:r>
            <a:endParaRPr lang="en-US" sz="1350" dirty="0"/>
          </a:p>
        </p:txBody>
      </p:sp>
      <p:sp>
        <p:nvSpPr>
          <p:cNvPr id="19" name="gem_t"/>
          <p:cNvSpPr txBox="1"/>
          <p:nvPr/>
        </p:nvSpPr>
        <p:spPr>
          <a:xfrm>
            <a:off x="758952" y="4498848"/>
            <a:ext cx="10673791" cy="694944"/>
          </a:xfrm>
          <a:prstGeom prst="rect">
            <a:avLst/>
          </a:prstGeom>
          <a:noFill/>
          <a:ln/>
        </p:spPr>
        <p:txBody>
          <a:bodyPr wrap="square" lIns="0" tIns="0" rIns="0" bIns="0" rtlCol="0" anchor="t"/>
          <a:lstStyle/>
          <a:p>
            <a:pPr indent="0" marL="0">
              <a:lnSpc>
                <a:spcPts val="1600"/>
              </a:lnSpc>
              <a:buNone/>
            </a:pPr>
            <a:r>
              <a:rPr lang="en-US" sz="1200" dirty="0">
                <a:solidFill>
                  <a:srgbClr val="14282B"/>
                </a:solidFill>
                <a:latin typeface="Arial" pitchFamily="34" charset="0"/>
                <a:ea typeface="Arial" pitchFamily="34" charset="-122"/>
                <a:cs typeface="Arial" pitchFamily="34" charset="-120"/>
              </a:rPr>
              <a:t>The three prompts are on the last page of your worksheet — copy and paste them. One quizzes you on the two cycles, one checks an explanation you have written, one marks your Gold answer against the criteria. None of them will write an answer for you, and I can tell. Check everything it says against your own notes.</a:t>
            </a:r>
            <a:endParaRPr lang="en-US" sz="1200" dirty="0"/>
          </a:p>
        </p:txBody>
      </p:sp>
      <p:sp>
        <p:nvSpPr>
          <p:cNvPr id="20" name="yd_rag"/>
          <p:cNvSpPr txBox="1"/>
          <p:nvPr/>
        </p:nvSpPr>
        <p:spPr>
          <a:xfrm>
            <a:off x="502920" y="6291072"/>
            <a:ext cx="11185855" cy="310896"/>
          </a:xfrm>
          <a:prstGeom prst="rect">
            <a:avLst/>
          </a:prstGeom>
          <a:noFill/>
          <a:ln/>
        </p:spPr>
        <p:txBody>
          <a:bodyPr wrap="square" lIns="0" tIns="0" rIns="0" bIns="0" rtlCol="0" anchor="ctr"/>
          <a:lstStyle/>
          <a:p>
            <a:pPr indent="0" marL="0">
              <a:buNone/>
            </a:pPr>
            <a:r>
              <a:rPr lang="en-US" sz="1200" b="1" dirty="0">
                <a:solidFill>
                  <a:srgbClr val="E2572B"/>
                </a:solidFill>
                <a:latin typeface="Arial" pitchFamily="34" charset="0"/>
                <a:ea typeface="Arial" pitchFamily="34" charset="-122"/>
                <a:cs typeface="Arial" pitchFamily="34" charset="-120"/>
              </a:rPr>
              <a:t>RAG grid, front page — fill in the "end of lesson" column before you pack away.</a:t>
            </a:r>
            <a:endParaRPr lang="en-US" sz="12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REVEAL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Two places a dead leaf can land</a:t>
            </a:r>
            <a:endParaRPr lang="en-US" sz="3000" dirty="0"/>
          </a:p>
        </p:txBody>
      </p:sp>
      <p:grpSp>
        <p:nvGrpSpPr>
          <p:cNvPr id="9" name="sl_a"/>
          <p:cNvGrpSpPr/>
          <p:nvPr/>
        </p:nvGrpSpPr>
        <p:grpSpPr>
          <a:xfrm>
            <a:off x="502920" y="1993392"/>
            <a:ext cx="4892040" cy="3483864"/>
            <a:chOff x="502920" y="1993392"/>
            <a:chExt cx="4892040" cy="3483864"/>
          </a:xfrm>
        </p:grpSpPr>
        <p:pic>
          <p:nvPicPr>
            <p:cNvPr id="4" name="sl_img1" descr="/home/claude/build/img3/litter.jpg">    </p:cNvPr>
            <p:cNvPicPr>
              <a:picLocks noChangeAspect="1"/>
            </p:cNvPicPr>
            <p:nvPr/>
          </p:nvPicPr>
          <p:blipFill>
            <a:blip r:embed="rId1"/>
            <a:stretch>
              <a:fillRect/>
            </a:stretch>
          </p:blipFill>
          <p:spPr>
            <a:xfrm>
              <a:off x="502920" y="1993392"/>
              <a:ext cx="4892040" cy="2697480"/>
            </a:xfrm>
            <a:prstGeom prst="rect">
              <a:avLst/>
            </a:prstGeom>
          </p:spPr>
        </p:pic>
        <p:sp>
          <p:nvSpPr>
            <p:cNvPr id="5" name="sl_cap1"/>
            <p:cNvSpPr txBox="1"/>
            <p:nvPr/>
          </p:nvSpPr>
          <p:spPr>
            <a:xfrm>
              <a:off x="502920" y="4782312"/>
              <a:ext cx="4892040" cy="694944"/>
            </a:xfrm>
            <a:prstGeom prst="rect">
              <a:avLst/>
            </a:prstGeom>
            <a:noFill/>
            <a:ln/>
          </p:spPr>
          <p:txBody>
            <a:bodyPr wrap="square" lIns="0" tIns="0" rIns="0" bIns="0" rtlCol="0" anchor="t"/>
            <a:lstStyle/>
            <a:p>
              <a:pPr indent="0" marL="0">
                <a:lnSpc>
                  <a:spcPts val="1200"/>
                </a:lnSpc>
                <a:buNone/>
              </a:pPr>
              <a:r>
                <a:rPr lang="en-US" sz="900" i="1" dirty="0">
                  <a:solidFill>
                    <a:srgbClr val="4A6165"/>
                  </a:solidFill>
                  <a:latin typeface="Arial" pitchFamily="34" charset="0"/>
                  <a:ea typeface="Arial" pitchFamily="34" charset="-122"/>
                  <a:cs typeface="Arial" pitchFamily="34" charset="-120"/>
                </a:rPr>
                <a:t>A rotting log on a dry forest floor — plenty of oxygen, so decomposers get to work and the carbon is back in the air within a few years. This one is a temperate forest, not a mangrove. Photo: Krishna k. sahh, CC0.</a:t>
              </a:r>
              <a:endParaRPr lang="en-US" sz="900" dirty="0"/>
            </a:p>
          </p:txBody>
        </p:sp>
      </p:grpSp>
      <p:grpSp>
        <p:nvGrpSpPr>
          <p:cNvPr id="10" name="sl_b"/>
          <p:cNvGrpSpPr/>
          <p:nvPr/>
        </p:nvGrpSpPr>
        <p:grpSpPr>
          <a:xfrm>
            <a:off x="5806440" y="1993392"/>
            <a:ext cx="4892040" cy="3483864"/>
            <a:chOff x="5806440" y="1993392"/>
            <a:chExt cx="4892040" cy="3483864"/>
          </a:xfrm>
        </p:grpSpPr>
        <p:pic>
          <p:nvPicPr>
            <p:cNvPr id="6" name="sl_img2" descr="/home/claude/build/img3/mangrove_thai.jpg">    </p:cNvPr>
            <p:cNvPicPr>
              <a:picLocks noChangeAspect="1"/>
            </p:cNvPicPr>
            <p:nvPr/>
          </p:nvPicPr>
          <p:blipFill>
            <a:blip r:embed="rId2"/>
            <a:stretch>
              <a:fillRect/>
            </a:stretch>
          </p:blipFill>
          <p:spPr>
            <a:xfrm>
              <a:off x="5806440" y="1993392"/>
              <a:ext cx="4892040" cy="2697480"/>
            </a:xfrm>
            <a:prstGeom prst="rect">
              <a:avLst/>
            </a:prstGeom>
          </p:spPr>
        </p:pic>
        <p:sp>
          <p:nvSpPr>
            <p:cNvPr id="7" name="sl_cap2"/>
            <p:cNvSpPr txBox="1"/>
            <p:nvPr/>
          </p:nvSpPr>
          <p:spPr>
            <a:xfrm>
              <a:off x="5806440" y="4782312"/>
              <a:ext cx="4892040" cy="694944"/>
            </a:xfrm>
            <a:prstGeom prst="rect">
              <a:avLst/>
            </a:prstGeom>
            <a:noFill/>
            <a:ln/>
          </p:spPr>
          <p:txBody>
            <a:bodyPr wrap="square" lIns="0" tIns="0" rIns="0" bIns="0" rtlCol="0" anchor="t"/>
            <a:lstStyle/>
            <a:p>
              <a:pPr indent="0" marL="0">
                <a:lnSpc>
                  <a:spcPts val="1200"/>
                </a:lnSpc>
                <a:buNone/>
              </a:pPr>
              <a:r>
                <a:rPr lang="en-US" sz="900" i="1" dirty="0">
                  <a:solidFill>
                    <a:srgbClr val="4A6165"/>
                  </a:solidFill>
                  <a:latin typeface="Arial" pitchFamily="34" charset="0"/>
                  <a:ea typeface="Arial" pitchFamily="34" charset="-122"/>
                  <a:cs typeface="Arial" pitchFamily="34" charset="-120"/>
                </a:rPr>
                <a:t>Mangrove at Ko Chang, Thailand. Below that waterline the mud is waterlogged and almost oxygen-free, so the same leaf barely rots at all. Photo: Vyacheslav Argenberg, CC BY 4.0.</a:t>
              </a:r>
              <a:endParaRPr lang="en-US" sz="900" dirty="0"/>
            </a:p>
          </p:txBody>
        </p:sp>
      </p:grpSp>
      <p:sp>
        <p:nvSpPr>
          <p:cNvPr id="8" name="sl_banner"/>
          <p:cNvSpPr/>
          <p:nvPr/>
        </p:nvSpPr>
        <p:spPr>
          <a:xfrm>
            <a:off x="502920" y="5486400"/>
            <a:ext cx="11185855" cy="530352"/>
          </a:xfrm>
          <a:prstGeom prst="roundRect">
            <a:avLst>
              <a:gd name="adj" fmla="val 18966"/>
            </a:avLst>
          </a:prstGeom>
          <a:solidFill>
            <a:srgbClr val="0E3A3F"/>
          </a:solidFill>
          <a:ln>
            <a:solidFill>
              <a:srgbClr val="0E3A3F"/>
            </a:solidFill>
          </a:ln>
        </p:spPr>
        <p:txBody>
          <a:bodyPr wrap="square" lIns="0" tIns="0" rIns="0" bIns="0" rtlCol="0" anchor="ctr"/>
          <a:lstStyle/>
          <a:p>
            <a:pPr algn="ctr" indent="0" marL="0">
              <a:buNone/>
            </a:pPr>
            <a:r>
              <a:rPr lang="en-US" sz="1400" b="1" dirty="0">
                <a:solidFill>
                  <a:srgbClr val="F5B301"/>
                </a:solidFill>
                <a:latin typeface="Arial" pitchFamily="34" charset="0"/>
                <a:ea typeface="Arial" pitchFamily="34" charset="-122"/>
                <a:cs typeface="Arial" pitchFamily="34" charset="-120"/>
              </a:rPr>
              <a:t>Same leaf. Same decomposers. The difference is the oxygen in the ground.</a:t>
            </a:r>
            <a:endParaRPr lang="en-US" sz="1400" dirty="0"/>
          </a:p>
        </p:txBody>
      </p:sp>
    </p:spTree>
  </p:cSld>
  <p:clrMapOvr>
    <a:masterClrMapping/>
  </p:clrMapOvr>
  <p:transition spd="med">
    <p:wipe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6" presetID="2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animScale>
                                      <p:cBhvr>
                                        <p:cTn id="15" dur="500" fill="hold"/>
                                        <p:tgtEl>
                                          <p:spTgt spid="8"/>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432304"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REVEAL · 1 MIN</a:t>
            </a:r>
            <a:endParaRPr lang="en-US" sz="1100" dirty="0"/>
          </a:p>
        </p:txBody>
      </p:sp>
      <p:sp>
        <p:nvSpPr>
          <p:cNvPr id="3" name="keyword_strip"/>
          <p:cNvSpPr txBox="1"/>
          <p:nvPr/>
        </p:nvSpPr>
        <p:spPr>
          <a:xfrm>
            <a:off x="5836615" y="274320"/>
            <a:ext cx="5852160" cy="347472"/>
          </a:xfrm>
          <a:prstGeom prst="rect">
            <a:avLst/>
          </a:prstGeom>
          <a:noFill/>
          <a:ln/>
        </p:spPr>
        <p:txBody>
          <a:bodyPr wrap="square" lIns="0" tIns="0" rIns="0" bIns="0" rtlCol="0" anchor="ctr"/>
          <a:lstStyle/>
          <a:p>
            <a:pPr algn="r" indent="0" marL="0">
              <a:buNone/>
            </a:pPr>
            <a:r>
              <a:rPr lang="en-US" sz="1150" b="1" i="1" dirty="0">
                <a:solidFill>
                  <a:srgbClr val="2E9E6B"/>
                </a:solidFill>
                <a:latin typeface="Arial" pitchFamily="34" charset="0"/>
                <a:ea typeface="Arial" pitchFamily="34" charset="-122"/>
                <a:cs typeface="Arial" pitchFamily="34" charset="-120"/>
              </a:rPr>
              <a:t>blue carbon</a:t>
            </a:r>
            <a:endParaRPr lang="en-US" sz="1150" dirty="0"/>
          </a:p>
        </p:txBody>
      </p:sp>
      <p:sp>
        <p:nvSpPr>
          <p:cNvPr id="4"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So the mud is the real forest</a:t>
            </a:r>
            <a:endParaRPr lang="en-US" sz="3000" dirty="0"/>
          </a:p>
        </p:txBody>
      </p:sp>
      <p:grpSp>
        <p:nvGrpSpPr>
          <p:cNvPr id="23" name="bn0"/>
          <p:cNvGrpSpPr/>
          <p:nvPr/>
        </p:nvGrpSpPr>
        <p:grpSpPr>
          <a:xfrm>
            <a:off x="502920" y="2084832"/>
            <a:ext cx="2631872" cy="2606040"/>
            <a:chOff x="502920" y="2084832"/>
            <a:chExt cx="2631872" cy="2606040"/>
          </a:xfrm>
        </p:grpSpPr>
        <p:sp>
          <p:nvSpPr>
            <p:cNvPr id="5" name="bn0_bg"/>
            <p:cNvSpPr/>
            <p:nvPr/>
          </p:nvSpPr>
          <p:spPr>
            <a:xfrm>
              <a:off x="502920" y="2084832"/>
              <a:ext cx="2631872" cy="2606040"/>
            </a:xfrm>
            <a:prstGeom prst="roundRect">
              <a:avLst>
                <a:gd name="adj" fmla="val 4912"/>
              </a:avLst>
            </a:prstGeom>
            <a:solidFill>
              <a:srgbClr val="FFFFFF"/>
            </a:solidFill>
            <a:ln w="15875">
              <a:solidFill>
                <a:srgbClr val="F0E4C8"/>
              </a:solidFill>
              <a:prstDash val="solid"/>
            </a:ln>
          </p:spPr>
        </p:sp>
        <p:sp>
          <p:nvSpPr>
            <p:cNvPr id="6" name="bn0_big"/>
            <p:cNvSpPr txBox="1"/>
            <p:nvPr/>
          </p:nvSpPr>
          <p:spPr>
            <a:xfrm>
              <a:off x="667512" y="2267712"/>
              <a:ext cx="2302688" cy="566928"/>
            </a:xfrm>
            <a:prstGeom prst="rect">
              <a:avLst/>
            </a:prstGeom>
            <a:noFill/>
            <a:ln/>
          </p:spPr>
          <p:txBody>
            <a:bodyPr wrap="square" lIns="0" tIns="0" rIns="0" bIns="0" rtlCol="0" anchor="ctr"/>
            <a:lstStyle/>
            <a:p>
              <a:pPr algn="ctr" indent="0" marL="0">
                <a:buNone/>
              </a:pPr>
              <a:r>
                <a:rPr lang="en-US" sz="3000" b="1" dirty="0">
                  <a:solidFill>
                    <a:srgbClr val="0E3A3F"/>
                  </a:solidFill>
                  <a:latin typeface="Georgia" pitchFamily="34" charset="0"/>
                  <a:ea typeface="Georgia" pitchFamily="34" charset="-122"/>
                  <a:cs typeface="Georgia" pitchFamily="34" charset="-120"/>
                </a:rPr>
                <a:t>1,023</a:t>
              </a:r>
              <a:endParaRPr lang="en-US" sz="3000" dirty="0"/>
            </a:p>
          </p:txBody>
        </p:sp>
        <p:sp>
          <p:nvSpPr>
            <p:cNvPr id="7" name="bn0_mid"/>
            <p:cNvSpPr txBox="1"/>
            <p:nvPr/>
          </p:nvSpPr>
          <p:spPr>
            <a:xfrm>
              <a:off x="667512" y="2834640"/>
              <a:ext cx="2302688" cy="420624"/>
            </a:xfrm>
            <a:prstGeom prst="rect">
              <a:avLst/>
            </a:prstGeom>
            <a:noFill/>
            <a:ln/>
          </p:spPr>
          <p:txBody>
            <a:bodyPr wrap="square" lIns="0" tIns="0" rIns="0" bIns="0" rtlCol="0" anchor="t"/>
            <a:lstStyle/>
            <a:p>
              <a:pPr algn="ctr" indent="0" marL="0">
                <a:lnSpc>
                  <a:spcPts val="1500"/>
                </a:lnSpc>
                <a:buNone/>
              </a:pPr>
              <a:r>
                <a:rPr lang="en-US" sz="1150" b="1" dirty="0">
                  <a:solidFill>
                    <a:srgbClr val="2E9E6B"/>
                  </a:solidFill>
                  <a:latin typeface="Arial" pitchFamily="34" charset="0"/>
                  <a:ea typeface="Arial" pitchFamily="34" charset="-122"/>
                  <a:cs typeface="Arial" pitchFamily="34" charset="-120"/>
                </a:rPr>
                <a:t>tonnes of carbon per hectare</a:t>
              </a:r>
              <a:endParaRPr lang="en-US" sz="1150" dirty="0"/>
            </a:p>
          </p:txBody>
        </p:sp>
        <p:sp>
          <p:nvSpPr>
            <p:cNvPr id="8" name="bn0_b"/>
            <p:cNvSpPr txBox="1"/>
            <p:nvPr/>
          </p:nvSpPr>
          <p:spPr>
            <a:xfrm>
              <a:off x="667512" y="3328416"/>
              <a:ext cx="2302688" cy="1243584"/>
            </a:xfrm>
            <a:prstGeom prst="rect">
              <a:avLst/>
            </a:prstGeom>
            <a:noFill/>
            <a:ln/>
          </p:spPr>
          <p:txBody>
            <a:bodyPr wrap="square" lIns="0" tIns="0" rIns="0" bIns="0" rtlCol="0" anchor="t"/>
            <a:lstStyle/>
            <a:p>
              <a:pPr indent="0" marL="0">
                <a:lnSpc>
                  <a:spcPts val="1500"/>
                </a:lnSpc>
                <a:buNone/>
              </a:pPr>
              <a:r>
                <a:rPr lang="en-US" sz="1100" dirty="0">
                  <a:solidFill>
                    <a:srgbClr val="4A6165"/>
                  </a:solidFill>
                  <a:latin typeface="Arial" pitchFamily="34" charset="0"/>
                  <a:ea typeface="Arial" pitchFamily="34" charset="-122"/>
                  <a:cs typeface="Arial" pitchFamily="34" charset="-120"/>
                </a:rPr>
                <a:t>Measured across 25 mangrove forests in the Indo-Pacific. Among the most carbon-rich forests on Earth.</a:t>
              </a:r>
              <a:endParaRPr lang="en-US" sz="1100" dirty="0"/>
            </a:p>
          </p:txBody>
        </p:sp>
      </p:grpSp>
      <p:grpSp>
        <p:nvGrpSpPr>
          <p:cNvPr id="24" name="bn1"/>
          <p:cNvGrpSpPr/>
          <p:nvPr/>
        </p:nvGrpSpPr>
        <p:grpSpPr>
          <a:xfrm>
            <a:off x="3354248" y="2084832"/>
            <a:ext cx="2631872" cy="2606040"/>
            <a:chOff x="3354248" y="2084832"/>
            <a:chExt cx="2631872" cy="2606040"/>
          </a:xfrm>
        </p:grpSpPr>
        <p:sp>
          <p:nvSpPr>
            <p:cNvPr id="9" name="bn1_bg"/>
            <p:cNvSpPr/>
            <p:nvPr/>
          </p:nvSpPr>
          <p:spPr>
            <a:xfrm>
              <a:off x="3354248" y="2084832"/>
              <a:ext cx="2631872" cy="2606040"/>
            </a:xfrm>
            <a:prstGeom prst="roundRect">
              <a:avLst>
                <a:gd name="adj" fmla="val 4912"/>
              </a:avLst>
            </a:prstGeom>
            <a:solidFill>
              <a:srgbClr val="FDF3D6"/>
            </a:solidFill>
            <a:ln w="22860">
              <a:solidFill>
                <a:srgbClr val="F5B301"/>
              </a:solidFill>
              <a:prstDash val="solid"/>
            </a:ln>
          </p:spPr>
        </p:sp>
        <p:sp>
          <p:nvSpPr>
            <p:cNvPr id="10" name="bn1_big"/>
            <p:cNvSpPr txBox="1"/>
            <p:nvPr/>
          </p:nvSpPr>
          <p:spPr>
            <a:xfrm>
              <a:off x="3518840" y="2267712"/>
              <a:ext cx="2302688" cy="566928"/>
            </a:xfrm>
            <a:prstGeom prst="rect">
              <a:avLst/>
            </a:prstGeom>
            <a:noFill/>
            <a:ln/>
          </p:spPr>
          <p:txBody>
            <a:bodyPr wrap="square" lIns="0" tIns="0" rIns="0" bIns="0" rtlCol="0" anchor="ctr"/>
            <a:lstStyle/>
            <a:p>
              <a:pPr algn="ctr" indent="0" marL="0">
                <a:buNone/>
              </a:pPr>
              <a:r>
                <a:rPr lang="en-US" sz="3000" b="1" dirty="0">
                  <a:solidFill>
                    <a:srgbClr val="0E3A3F"/>
                  </a:solidFill>
                  <a:latin typeface="Georgia" pitchFamily="34" charset="0"/>
                  <a:ea typeface="Georgia" pitchFamily="34" charset="-122"/>
                  <a:cs typeface="Georgia" pitchFamily="34" charset="-120"/>
                </a:rPr>
                <a:t>49–98%</a:t>
              </a:r>
              <a:endParaRPr lang="en-US" sz="3000" dirty="0"/>
            </a:p>
          </p:txBody>
        </p:sp>
        <p:sp>
          <p:nvSpPr>
            <p:cNvPr id="11" name="bn1_mid"/>
            <p:cNvSpPr txBox="1"/>
            <p:nvPr/>
          </p:nvSpPr>
          <p:spPr>
            <a:xfrm>
              <a:off x="3518840" y="2834640"/>
              <a:ext cx="2302688" cy="420624"/>
            </a:xfrm>
            <a:prstGeom prst="rect">
              <a:avLst/>
            </a:prstGeom>
            <a:noFill/>
            <a:ln/>
          </p:spPr>
          <p:txBody>
            <a:bodyPr wrap="square" lIns="0" tIns="0" rIns="0" bIns="0" rtlCol="0" anchor="t"/>
            <a:lstStyle/>
            <a:p>
              <a:pPr algn="ctr" indent="0" marL="0">
                <a:lnSpc>
                  <a:spcPts val="1500"/>
                </a:lnSpc>
                <a:buNone/>
              </a:pPr>
              <a:r>
                <a:rPr lang="en-US" sz="1150" b="1" dirty="0">
                  <a:solidFill>
                    <a:srgbClr val="2E9E6B"/>
                  </a:solidFill>
                  <a:latin typeface="Arial" pitchFamily="34" charset="0"/>
                  <a:ea typeface="Arial" pitchFamily="34" charset="-122"/>
                  <a:cs typeface="Arial" pitchFamily="34" charset="-120"/>
                </a:rPr>
                <a:t>of it is in the soil</a:t>
              </a:r>
              <a:endParaRPr lang="en-US" sz="1150" dirty="0"/>
            </a:p>
          </p:txBody>
        </p:sp>
        <p:sp>
          <p:nvSpPr>
            <p:cNvPr id="12" name="bn1_b"/>
            <p:cNvSpPr txBox="1"/>
            <p:nvPr/>
          </p:nvSpPr>
          <p:spPr>
            <a:xfrm>
              <a:off x="3518840" y="3328416"/>
              <a:ext cx="2302688" cy="1243584"/>
            </a:xfrm>
            <a:prstGeom prst="rect">
              <a:avLst/>
            </a:prstGeom>
            <a:noFill/>
            <a:ln/>
          </p:spPr>
          <p:txBody>
            <a:bodyPr wrap="square" lIns="0" tIns="0" rIns="0" bIns="0" rtlCol="0" anchor="t"/>
            <a:lstStyle/>
            <a:p>
              <a:pPr indent="0" marL="0">
                <a:lnSpc>
                  <a:spcPts val="1500"/>
                </a:lnSpc>
                <a:buNone/>
              </a:pPr>
              <a:r>
                <a:rPr lang="en-US" sz="1100" dirty="0">
                  <a:solidFill>
                    <a:srgbClr val="4A6165"/>
                  </a:solidFill>
                  <a:latin typeface="Arial" pitchFamily="34" charset="0"/>
                  <a:ea typeface="Arial" pitchFamily="34" charset="-122"/>
                  <a:cs typeface="Arial" pitchFamily="34" charset="-120"/>
                </a:rPr>
                <a:t>Not in the trees. In the mud beneath them, sometimes three metres deep.</a:t>
              </a:r>
              <a:endParaRPr lang="en-US" sz="1100" dirty="0"/>
            </a:p>
          </p:txBody>
        </p:sp>
      </p:grpSp>
      <p:grpSp>
        <p:nvGrpSpPr>
          <p:cNvPr id="25" name="bn2"/>
          <p:cNvGrpSpPr/>
          <p:nvPr/>
        </p:nvGrpSpPr>
        <p:grpSpPr>
          <a:xfrm>
            <a:off x="6205576" y="2084832"/>
            <a:ext cx="2631872" cy="2606040"/>
            <a:chOff x="6205576" y="2084832"/>
            <a:chExt cx="2631872" cy="2606040"/>
          </a:xfrm>
        </p:grpSpPr>
        <p:sp>
          <p:nvSpPr>
            <p:cNvPr id="13" name="bn2_bg"/>
            <p:cNvSpPr/>
            <p:nvPr/>
          </p:nvSpPr>
          <p:spPr>
            <a:xfrm>
              <a:off x="6205576" y="2084832"/>
              <a:ext cx="2631872" cy="2606040"/>
            </a:xfrm>
            <a:prstGeom prst="roundRect">
              <a:avLst>
                <a:gd name="adj" fmla="val 4912"/>
              </a:avLst>
            </a:prstGeom>
            <a:solidFill>
              <a:srgbClr val="FFFFFF"/>
            </a:solidFill>
            <a:ln w="15875">
              <a:solidFill>
                <a:srgbClr val="F0E4C8"/>
              </a:solidFill>
              <a:prstDash val="solid"/>
            </a:ln>
          </p:spPr>
        </p:sp>
        <p:sp>
          <p:nvSpPr>
            <p:cNvPr id="14" name="bn2_big"/>
            <p:cNvSpPr txBox="1"/>
            <p:nvPr/>
          </p:nvSpPr>
          <p:spPr>
            <a:xfrm>
              <a:off x="6370168" y="2267712"/>
              <a:ext cx="2302688" cy="566928"/>
            </a:xfrm>
            <a:prstGeom prst="rect">
              <a:avLst/>
            </a:prstGeom>
            <a:noFill/>
            <a:ln/>
          </p:spPr>
          <p:txBody>
            <a:bodyPr wrap="square" lIns="0" tIns="0" rIns="0" bIns="0" rtlCol="0" anchor="ctr"/>
            <a:lstStyle/>
            <a:p>
              <a:pPr algn="ctr" indent="0" marL="0">
                <a:buNone/>
              </a:pPr>
              <a:r>
                <a:rPr lang="en-US" sz="3000" b="1" dirty="0">
                  <a:solidFill>
                    <a:srgbClr val="0E3A3F"/>
                  </a:solidFill>
                  <a:latin typeface="Georgia" pitchFamily="34" charset="0"/>
                  <a:ea typeface="Georgia" pitchFamily="34" charset="-122"/>
                  <a:cs typeface="Georgia" pitchFamily="34" charset="-120"/>
                </a:rPr>
                <a:t>up to 5×</a:t>
              </a:r>
              <a:endParaRPr lang="en-US" sz="3000" dirty="0"/>
            </a:p>
          </p:txBody>
        </p:sp>
        <p:sp>
          <p:nvSpPr>
            <p:cNvPr id="15" name="bn2_mid"/>
            <p:cNvSpPr txBox="1"/>
            <p:nvPr/>
          </p:nvSpPr>
          <p:spPr>
            <a:xfrm>
              <a:off x="6370168" y="2834640"/>
              <a:ext cx="2302688" cy="420624"/>
            </a:xfrm>
            <a:prstGeom prst="rect">
              <a:avLst/>
            </a:prstGeom>
            <a:noFill/>
            <a:ln/>
          </p:spPr>
          <p:txBody>
            <a:bodyPr wrap="square" lIns="0" tIns="0" rIns="0" bIns="0" rtlCol="0" anchor="t"/>
            <a:lstStyle/>
            <a:p>
              <a:pPr algn="ctr" indent="0" marL="0">
                <a:lnSpc>
                  <a:spcPts val="1500"/>
                </a:lnSpc>
                <a:buNone/>
              </a:pPr>
              <a:r>
                <a:rPr lang="en-US" sz="1150" b="1" dirty="0">
                  <a:solidFill>
                    <a:srgbClr val="2E9E6B"/>
                  </a:solidFill>
                  <a:latin typeface="Arial" pitchFamily="34" charset="0"/>
                  <a:ea typeface="Arial" pitchFamily="34" charset="-122"/>
                  <a:cs typeface="Arial" pitchFamily="34" charset="-120"/>
                </a:rPr>
                <a:t>more than a rainforest</a:t>
              </a:r>
              <a:endParaRPr lang="en-US" sz="1150" dirty="0"/>
            </a:p>
          </p:txBody>
        </p:sp>
        <p:sp>
          <p:nvSpPr>
            <p:cNvPr id="16" name="bn2_b"/>
            <p:cNvSpPr txBox="1"/>
            <p:nvPr/>
          </p:nvSpPr>
          <p:spPr>
            <a:xfrm>
              <a:off x="6370168" y="3328416"/>
              <a:ext cx="2302688" cy="1243584"/>
            </a:xfrm>
            <a:prstGeom prst="rect">
              <a:avLst/>
            </a:prstGeom>
            <a:noFill/>
            <a:ln/>
          </p:spPr>
          <p:txBody>
            <a:bodyPr wrap="square" lIns="0" tIns="0" rIns="0" bIns="0" rtlCol="0" anchor="t"/>
            <a:lstStyle/>
            <a:p>
              <a:pPr indent="0" marL="0">
                <a:lnSpc>
                  <a:spcPts val="1500"/>
                </a:lnSpc>
                <a:buNone/>
              </a:pPr>
              <a:r>
                <a:rPr lang="en-US" sz="1100" dirty="0">
                  <a:solidFill>
                    <a:srgbClr val="4A6165"/>
                  </a:solidFill>
                  <a:latin typeface="Arial" pitchFamily="34" charset="0"/>
                  <a:ea typeface="Arial" pitchFamily="34" charset="-122"/>
                  <a:cs typeface="Arial" pitchFamily="34" charset="-120"/>
                </a:rPr>
                <a:t>Per hectare, mangroves store several times the organic carbon of tropical upland forest.</a:t>
              </a:r>
              <a:endParaRPr lang="en-US" sz="1100" dirty="0"/>
            </a:p>
          </p:txBody>
        </p:sp>
      </p:grpSp>
      <p:grpSp>
        <p:nvGrpSpPr>
          <p:cNvPr id="26" name="bn3"/>
          <p:cNvGrpSpPr/>
          <p:nvPr/>
        </p:nvGrpSpPr>
        <p:grpSpPr>
          <a:xfrm>
            <a:off x="9056903" y="2084832"/>
            <a:ext cx="2631872" cy="2606040"/>
            <a:chOff x="9056903" y="2084832"/>
            <a:chExt cx="2631872" cy="2606040"/>
          </a:xfrm>
        </p:grpSpPr>
        <p:sp>
          <p:nvSpPr>
            <p:cNvPr id="17" name="bn3_bg"/>
            <p:cNvSpPr/>
            <p:nvPr/>
          </p:nvSpPr>
          <p:spPr>
            <a:xfrm>
              <a:off x="9056903" y="2084832"/>
              <a:ext cx="2631872" cy="2606040"/>
            </a:xfrm>
            <a:prstGeom prst="roundRect">
              <a:avLst>
                <a:gd name="adj" fmla="val 4912"/>
              </a:avLst>
            </a:prstGeom>
            <a:solidFill>
              <a:srgbClr val="FFFFFF"/>
            </a:solidFill>
            <a:ln w="15875">
              <a:solidFill>
                <a:srgbClr val="F0E4C8"/>
              </a:solidFill>
              <a:prstDash val="solid"/>
            </a:ln>
          </p:spPr>
        </p:sp>
        <p:sp>
          <p:nvSpPr>
            <p:cNvPr id="18" name="bn3_big"/>
            <p:cNvSpPr txBox="1"/>
            <p:nvPr/>
          </p:nvSpPr>
          <p:spPr>
            <a:xfrm>
              <a:off x="9221495" y="2267712"/>
              <a:ext cx="2302688" cy="566928"/>
            </a:xfrm>
            <a:prstGeom prst="rect">
              <a:avLst/>
            </a:prstGeom>
            <a:noFill/>
            <a:ln/>
          </p:spPr>
          <p:txBody>
            <a:bodyPr wrap="square" lIns="0" tIns="0" rIns="0" bIns="0" rtlCol="0" anchor="ctr"/>
            <a:lstStyle/>
            <a:p>
              <a:pPr algn="ctr" indent="0" marL="0">
                <a:buNone/>
              </a:pPr>
              <a:r>
                <a:rPr lang="en-US" sz="3000" b="1" dirty="0">
                  <a:solidFill>
                    <a:srgbClr val="0E3A3F"/>
                  </a:solidFill>
                  <a:latin typeface="Georgia" pitchFamily="34" charset="0"/>
                  <a:ea typeface="Georgia" pitchFamily="34" charset="-122"/>
                  <a:cs typeface="Georgia" pitchFamily="34" charset="-120"/>
                </a:rPr>
                <a:t>~10%</a:t>
              </a:r>
              <a:endParaRPr lang="en-US" sz="3000" dirty="0"/>
            </a:p>
          </p:txBody>
        </p:sp>
        <p:sp>
          <p:nvSpPr>
            <p:cNvPr id="19" name="bn3_mid"/>
            <p:cNvSpPr txBox="1"/>
            <p:nvPr/>
          </p:nvSpPr>
          <p:spPr>
            <a:xfrm>
              <a:off x="9221495" y="2834640"/>
              <a:ext cx="2302688" cy="420624"/>
            </a:xfrm>
            <a:prstGeom prst="rect">
              <a:avLst/>
            </a:prstGeom>
            <a:noFill/>
            <a:ln/>
          </p:spPr>
          <p:txBody>
            <a:bodyPr wrap="square" lIns="0" tIns="0" rIns="0" bIns="0" rtlCol="0" anchor="t"/>
            <a:lstStyle/>
            <a:p>
              <a:pPr algn="ctr" indent="0" marL="0">
                <a:lnSpc>
                  <a:spcPts val="1500"/>
                </a:lnSpc>
                <a:buNone/>
              </a:pPr>
              <a:r>
                <a:rPr lang="en-US" sz="1150" b="1" dirty="0">
                  <a:solidFill>
                    <a:srgbClr val="2E9E6B"/>
                  </a:solidFill>
                  <a:latin typeface="Arial" pitchFamily="34" charset="0"/>
                  <a:ea typeface="Arial" pitchFamily="34" charset="-122"/>
                  <a:cs typeface="Arial" pitchFamily="34" charset="-120"/>
                </a:rPr>
                <a:t>of deforestation emissions</a:t>
              </a:r>
              <a:endParaRPr lang="en-US" sz="1150" dirty="0"/>
            </a:p>
          </p:txBody>
        </p:sp>
        <p:sp>
          <p:nvSpPr>
            <p:cNvPr id="20" name="bn3_b"/>
            <p:cNvSpPr txBox="1"/>
            <p:nvPr/>
          </p:nvSpPr>
          <p:spPr>
            <a:xfrm>
              <a:off x="9221495" y="3328416"/>
              <a:ext cx="2302688" cy="1243584"/>
            </a:xfrm>
            <a:prstGeom prst="rect">
              <a:avLst/>
            </a:prstGeom>
            <a:noFill/>
            <a:ln/>
          </p:spPr>
          <p:txBody>
            <a:bodyPr wrap="square" lIns="0" tIns="0" rIns="0" bIns="0" rtlCol="0" anchor="t"/>
            <a:lstStyle/>
            <a:p>
              <a:pPr indent="0" marL="0">
                <a:lnSpc>
                  <a:spcPts val="1500"/>
                </a:lnSpc>
                <a:buNone/>
              </a:pPr>
              <a:r>
                <a:rPr lang="en-US" sz="1100" dirty="0">
                  <a:solidFill>
                    <a:srgbClr val="4A6165"/>
                  </a:solidFill>
                  <a:latin typeface="Arial" pitchFamily="34" charset="0"/>
                  <a:ea typeface="Arial" pitchFamily="34" charset="-122"/>
                  <a:cs typeface="Arial" pitchFamily="34" charset="-120"/>
                </a:rPr>
                <a:t>Mangroves are 0.7% of tropical forest area, but clearing them releases roughly a tenth of all deforestation carbon.</a:t>
              </a:r>
              <a:endParaRPr lang="en-US" sz="1100" dirty="0"/>
            </a:p>
          </p:txBody>
        </p:sp>
      </p:grpSp>
      <p:sp>
        <p:nvSpPr>
          <p:cNvPr id="21" name="bn_point"/>
          <p:cNvSpPr txBox="1"/>
          <p:nvPr/>
        </p:nvSpPr>
        <p:spPr>
          <a:xfrm>
            <a:off x="502920" y="4919472"/>
            <a:ext cx="11185855" cy="603504"/>
          </a:xfrm>
          <a:prstGeom prst="rect">
            <a:avLst/>
          </a:prstGeom>
          <a:noFill/>
          <a:ln/>
        </p:spPr>
        <p:txBody>
          <a:bodyPr wrap="square" lIns="0" tIns="0" rIns="0" bIns="0" rtlCol="0" anchor="t"/>
          <a:lstStyle/>
          <a:p>
            <a:pPr indent="0" marL="0">
              <a:lnSpc>
                <a:spcPts val="1900"/>
              </a:lnSpc>
              <a:buNone/>
            </a:pPr>
            <a:r>
              <a:rPr lang="en-US" sz="1400" b="1" dirty="0">
                <a:solidFill>
                  <a:srgbClr val="0E3A3F"/>
                </a:solidFill>
                <a:latin typeface="Arial" pitchFamily="34" charset="0"/>
                <a:ea typeface="Arial" pitchFamily="34" charset="-122"/>
                <a:cs typeface="Arial" pitchFamily="34" charset="-120"/>
              </a:rPr>
              <a:t>The carbon cycle has a slow lane, and Rayong is sitting on it. Chalome’s villagers did not just replant trees — they restarted a carbon store.</a:t>
            </a:r>
            <a:endParaRPr lang="en-US" sz="1400" dirty="0"/>
          </a:p>
        </p:txBody>
      </p:sp>
      <p:sp>
        <p:nvSpPr>
          <p:cNvPr id="22"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Figures: Donato et al. 2011, whole-ecosystem carbon in 25 Indo-Pacific mangrove forests.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23"/>
                                        </p:tgtEl>
                                        <p:attrNameLst>
                                          <p:attrName>style.visibility</p:attrName>
                                        </p:attrNameLst>
                                      </p:cBhvr>
                                      <p:to>
                                        <p:strVal val="visible"/>
                                      </p:to>
                                    </p:set>
                                    <p:animEffect transition="in" filter="wipe(up)">
                                      <p:cBhvr>
                                        <p:cTn id="4"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4" fill="hold" grpId="0" nodeType="clickEffect">
                                  <p:stCondLst>
                                    <p:cond delay="0"/>
                                  </p:stCondLst>
                                  <p:childTnLst>
                                    <p:set>
                                      <p:cBhvr>
                                        <p:cTn id="8" dur="1" fill="hold">
                                          <p:stCondLst>
                                            <p:cond delay="0"/>
                                          </p:stCondLst>
                                        </p:cTn>
                                        <p:tgtEl>
                                          <p:spTgt spid="24"/>
                                        </p:tgtEl>
                                        <p:attrNameLst>
                                          <p:attrName>style.visibility</p:attrName>
                                        </p:attrNameLst>
                                      </p:cBhvr>
                                      <p:to>
                                        <p:strVal val="visible"/>
                                      </p:to>
                                    </p:set>
                                    <p:animEffect transition="in" filter="wipe(up)">
                                      <p:cBhvr>
                                        <p:cTn id="9"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4"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wipe(up)">
                                      <p:cBhvr>
                                        <p:cTn id="14"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4"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up)">
                                      <p:cBhvr>
                                        <p:cTn id="19"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CONTEXT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What happens when mud becomes money</a:t>
            </a:r>
            <a:endParaRPr lang="en-US" sz="3000" dirty="0"/>
          </a:p>
        </p:txBody>
      </p:sp>
      <p:sp>
        <p:nvSpPr>
          <p:cNvPr id="4" name="cc_kick"/>
          <p:cNvSpPr txBox="1"/>
          <p:nvPr/>
        </p:nvSpPr>
        <p:spPr>
          <a:xfrm>
            <a:off x="502920" y="1554480"/>
            <a:ext cx="10058400" cy="310896"/>
          </a:xfrm>
          <a:prstGeom prst="rect">
            <a:avLst/>
          </a:prstGeom>
          <a:noFill/>
          <a:ln/>
        </p:spPr>
        <p:txBody>
          <a:bodyPr wrap="square" lIns="0" tIns="0" rIns="0" bIns="0" rtlCol="0" anchor="ctr"/>
          <a:lstStyle/>
          <a:p>
            <a:pPr indent="0" marL="0">
              <a:buNone/>
            </a:pPr>
            <a:r>
              <a:rPr lang="en-US" sz="1300" dirty="0">
                <a:solidFill>
                  <a:srgbClr val="4A6165"/>
                </a:solidFill>
                <a:latin typeface="Arial" pitchFamily="34" charset="0"/>
                <a:ea typeface="Arial" pitchFamily="34" charset="-122"/>
                <a:cs typeface="Arial" pitchFamily="34" charset="-120"/>
              </a:rPr>
              <a:t>The science is settled. What to do about it is not.</a:t>
            </a:r>
            <a:endParaRPr lang="en-US" sz="1300" dirty="0"/>
          </a:p>
        </p:txBody>
      </p:sp>
      <p:grpSp>
        <p:nvGrpSpPr>
          <p:cNvPr id="12" name="cc_what"/>
          <p:cNvGrpSpPr/>
          <p:nvPr/>
        </p:nvGrpSpPr>
        <p:grpSpPr>
          <a:xfrm>
            <a:off x="502920" y="2084832"/>
            <a:ext cx="5486400" cy="3017520"/>
            <a:chOff x="502920" y="2084832"/>
            <a:chExt cx="5486400" cy="3017520"/>
          </a:xfrm>
        </p:grpSpPr>
        <p:sp>
          <p:nvSpPr>
            <p:cNvPr id="5" name="cc_what_bg"/>
            <p:cNvSpPr/>
            <p:nvPr/>
          </p:nvSpPr>
          <p:spPr>
            <a:xfrm>
              <a:off x="502920" y="2084832"/>
              <a:ext cx="5486400" cy="3017520"/>
            </a:xfrm>
            <a:prstGeom prst="roundRect">
              <a:avLst>
                <a:gd name="adj" fmla="val 4242"/>
              </a:avLst>
            </a:prstGeom>
            <a:solidFill>
              <a:srgbClr val="FFFFFF"/>
            </a:solidFill>
            <a:ln w="15875">
              <a:solidFill>
                <a:srgbClr val="F0E4C8"/>
              </a:solidFill>
              <a:prstDash val="solid"/>
            </a:ln>
          </p:spPr>
        </p:sp>
        <p:sp>
          <p:nvSpPr>
            <p:cNvPr id="6" name="cc_what_h"/>
            <p:cNvSpPr txBox="1"/>
            <p:nvPr/>
          </p:nvSpPr>
          <p:spPr>
            <a:xfrm>
              <a:off x="740664" y="2249424"/>
              <a:ext cx="5029200" cy="292608"/>
            </a:xfrm>
            <a:prstGeom prst="rect">
              <a:avLst/>
            </a:prstGeom>
            <a:noFill/>
            <a:ln/>
          </p:spPr>
          <p:txBody>
            <a:bodyPr wrap="square" lIns="0" tIns="0" rIns="0" bIns="0" rtlCol="0" anchor="ctr"/>
            <a:lstStyle/>
            <a:p>
              <a:pPr indent="0" marL="0">
                <a:buNone/>
              </a:pPr>
              <a:r>
                <a:rPr lang="en-US" sz="1350" b="1" dirty="0">
                  <a:solidFill>
                    <a:srgbClr val="0E3A3F"/>
                  </a:solidFill>
                  <a:latin typeface="Arial" pitchFamily="34" charset="0"/>
                  <a:ea typeface="Arial" pitchFamily="34" charset="-122"/>
                  <a:cs typeface="Arial" pitchFamily="34" charset="-120"/>
                </a:rPr>
                <a:t>What Thailand is doing</a:t>
              </a:r>
              <a:endParaRPr lang="en-US" sz="1350" dirty="0"/>
            </a:p>
          </p:txBody>
        </p:sp>
        <p:sp>
          <p:nvSpPr>
            <p:cNvPr id="7" name="cc_what_t"/>
            <p:cNvSpPr txBox="1"/>
            <p:nvPr/>
          </p:nvSpPr>
          <p:spPr>
            <a:xfrm>
              <a:off x="740664" y="2596896"/>
              <a:ext cx="5029200" cy="2377440"/>
            </a:xfrm>
            <a:prstGeom prst="rect">
              <a:avLst/>
            </a:prstGeom>
            <a:noFill/>
            <a:ln/>
          </p:spPr>
          <p:txBody>
            <a:bodyPr wrap="square" lIns="0" tIns="0" rIns="0" bIns="0" rtlCol="0" anchor="t"/>
            <a:lstStyle/>
            <a:p>
              <a:pPr indent="0" marL="0">
                <a:lnSpc>
                  <a:spcPts val="1700"/>
                </a:lnSpc>
                <a:buNone/>
              </a:pPr>
              <a:r>
                <a:rPr lang="en-US" sz="1200" dirty="0">
                  <a:solidFill>
                    <a:srgbClr val="14282B"/>
                  </a:solidFill>
                  <a:latin typeface="Arial" pitchFamily="34" charset="0"/>
                  <a:ea typeface="Arial" pitchFamily="34" charset="-122"/>
                  <a:cs typeface="Arial" pitchFamily="34" charset="-120"/>
                </a:rPr>
                <a:t>In 2022 the Department of Marine and Coastal Resources opened mangrove planting to companies who want carbon credits — a ten-year programme across 23 coastal provinces.</a:t>
              </a:r>
              <a:endParaRPr lang="en-US" sz="1200" dirty="0"/>
            </a:p>
            <a:p>
              <a:pPr indent="0" marL="0">
                <a:lnSpc>
                  <a:spcPts val="1700"/>
                </a:lnSpc>
                <a:buNone/>
              </a:pP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In 2023 coastal communities were invited in too. Around 34,000 hectares are registered so far, with a target of 80,000 by 2031. Communities keep 20% of the credits.</a:t>
              </a:r>
              <a:endParaRPr lang="en-US" sz="1200" dirty="0"/>
            </a:p>
          </p:txBody>
        </p:sp>
      </p:grpSp>
      <p:grpSp>
        <p:nvGrpSpPr>
          <p:cNvPr id="13" name="cc_arg_head"/>
          <p:cNvGrpSpPr/>
          <p:nvPr/>
        </p:nvGrpSpPr>
        <p:grpSpPr>
          <a:xfrm>
            <a:off x="6355080" y="2084832"/>
            <a:ext cx="5333695" cy="3017520"/>
            <a:chOff x="6355080" y="2084832"/>
            <a:chExt cx="5333695" cy="3017520"/>
          </a:xfrm>
        </p:grpSpPr>
        <p:sp>
          <p:nvSpPr>
            <p:cNvPr id="8" name="cc_arg_bg"/>
            <p:cNvSpPr/>
            <p:nvPr/>
          </p:nvSpPr>
          <p:spPr>
            <a:xfrm>
              <a:off x="6355080" y="2084832"/>
              <a:ext cx="5333695" cy="3017520"/>
            </a:xfrm>
            <a:prstGeom prst="roundRect">
              <a:avLst>
                <a:gd name="adj" fmla="val 4242"/>
              </a:avLst>
            </a:prstGeom>
            <a:solidFill>
              <a:srgbClr val="FDF1EC"/>
            </a:solidFill>
            <a:ln w="15875">
              <a:solidFill>
                <a:srgbClr val="E2572B"/>
              </a:solidFill>
              <a:prstDash val="solid"/>
            </a:ln>
          </p:spPr>
        </p:sp>
        <p:sp>
          <p:nvSpPr>
            <p:cNvPr id="9" name="cc_arg_h"/>
            <p:cNvSpPr txBox="1"/>
            <p:nvPr/>
          </p:nvSpPr>
          <p:spPr>
            <a:xfrm>
              <a:off x="6592824" y="2249424"/>
              <a:ext cx="5029200" cy="292608"/>
            </a:xfrm>
            <a:prstGeom prst="rect">
              <a:avLst/>
            </a:prstGeom>
            <a:noFill/>
            <a:ln/>
          </p:spPr>
          <p:txBody>
            <a:bodyPr wrap="square" lIns="0" tIns="0" rIns="0" bIns="0" rtlCol="0" anchor="ctr"/>
            <a:lstStyle/>
            <a:p>
              <a:pPr indent="0" marL="0">
                <a:buNone/>
              </a:pPr>
              <a:r>
                <a:rPr lang="en-US" sz="1350" b="1" dirty="0">
                  <a:solidFill>
                    <a:srgbClr val="E2572B"/>
                  </a:solidFill>
                  <a:latin typeface="Arial" pitchFamily="34" charset="0"/>
                  <a:ea typeface="Arial" pitchFamily="34" charset="-122"/>
                  <a:cs typeface="Arial" pitchFamily="34" charset="-120"/>
                </a:rPr>
                <a:t>Why people disagree about it</a:t>
              </a:r>
              <a:endParaRPr lang="en-US" sz="1350" dirty="0"/>
            </a:p>
          </p:txBody>
        </p:sp>
      </p:grpSp>
      <p:sp>
        <p:nvSpPr>
          <p:cNvPr id="10" name="cc_arg_t"/>
          <p:cNvSpPr txBox="1"/>
          <p:nvPr/>
        </p:nvSpPr>
        <p:spPr>
          <a:xfrm>
            <a:off x="6592824" y="2596896"/>
            <a:ext cx="4858207" cy="2377440"/>
          </a:xfrm>
          <a:prstGeom prst="rect">
            <a:avLst/>
          </a:prstGeom>
          <a:noFill/>
          <a:ln/>
        </p:spPr>
        <p:txBody>
          <a:bodyPr wrap="square" lIns="0" tIns="0" rIns="0" bIns="0" rtlCol="0" anchor="t"/>
          <a:lstStyle/>
          <a:p>
            <a:pPr indent="0" marL="0">
              <a:lnSpc>
                <a:spcPts val="1700"/>
              </a:lnSpc>
              <a:buNone/>
            </a:pPr>
            <a:r>
              <a:rPr lang="en-US" sz="1200" dirty="0">
                <a:solidFill>
                  <a:srgbClr val="14282B"/>
                </a:solidFill>
                <a:latin typeface="Arial" pitchFamily="34" charset="0"/>
                <a:ea typeface="Arial" pitchFamily="34" charset="-122"/>
                <a:cs typeface="Arial" pitchFamily="34" charset="-120"/>
              </a:rPr>
              <a:t>FOR: mangroves were being cleared for decades and nobody paid to stop it. Now there is money to protect them, and communities get a share.</a:t>
            </a:r>
            <a:endParaRPr lang="en-US" sz="1200" dirty="0"/>
          </a:p>
          <a:p>
            <a:pPr indent="0" marL="0">
              <a:lnSpc>
                <a:spcPts val="1700"/>
              </a:lnSpc>
              <a:buNone/>
            </a:pP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AGAINST: measuring how much carbon a forest actually holds is hard, most of the credit goes to the companies, and a credit lets a business keep emitting somewhere else.</a:t>
            </a:r>
            <a:endParaRPr lang="en-US" sz="1200" dirty="0"/>
          </a:p>
          <a:p>
            <a:pPr indent="0" marL="0">
              <a:lnSpc>
                <a:spcPts val="1700"/>
              </a:lnSpc>
              <a:buNone/>
            </a:pPr>
            <a:endParaRPr lang="en-US" sz="1200" dirty="0"/>
          </a:p>
          <a:p>
            <a:pPr indent="0" marL="0">
              <a:lnSpc>
                <a:spcPts val="1700"/>
              </a:lnSpc>
              <a:buNone/>
            </a:pPr>
            <a:r>
              <a:rPr lang="en-US" sz="1200" dirty="0">
                <a:solidFill>
                  <a:srgbClr val="14282B"/>
                </a:solidFill>
                <a:latin typeface="Arial" pitchFamily="34" charset="0"/>
                <a:ea typeface="Arial" pitchFamily="34" charset="-122"/>
                <a:cs typeface="Arial" pitchFamily="34" charset="-120"/>
              </a:rPr>
              <a:t>Both of those are true at the same time. That is what makes it an argument rather than a mistake.</a:t>
            </a:r>
            <a:endParaRPr lang="en-US" sz="1200" dirty="0"/>
          </a:p>
        </p:txBody>
      </p:sp>
      <p:sp>
        <p:nvSpPr>
          <p:cNvPr id="11" name="footer_note"/>
          <p:cNvSpPr txBox="1"/>
          <p:nvPr/>
        </p:nvSpPr>
        <p:spPr>
          <a:xfrm>
            <a:off x="502920" y="6382512"/>
            <a:ext cx="11185855" cy="292608"/>
          </a:xfrm>
          <a:prstGeom prst="rect">
            <a:avLst/>
          </a:prstGeom>
          <a:noFill/>
          <a:ln/>
        </p:spPr>
        <p:txBody>
          <a:bodyPr wrap="square" lIns="0" tIns="0" rIns="0" bIns="0" rtlCol="0" anchor="ctr"/>
          <a:lstStyle/>
          <a:p>
            <a:pPr algn="l" indent="0" marL="0">
              <a:buNone/>
            </a:pPr>
            <a:r>
              <a:rPr lang="en-US" sz="1050" i="1" dirty="0">
                <a:solidFill>
                  <a:srgbClr val="4A6165"/>
                </a:solidFill>
                <a:latin typeface="Arial" pitchFamily="34" charset="0"/>
                <a:ea typeface="Arial" pitchFamily="34" charset="-122"/>
                <a:cs typeface="Arial" pitchFamily="34" charset="-120"/>
              </a:rPr>
              <a:t>Sources: DMCR programme announcements 2022; reporting by Dialogue Earth / Pulitzer Center, 2024.</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2"/>
                                        </p:tgtEl>
                                        <p:attrNameLst>
                                          <p:attrName>style.visibility</p:attrName>
                                        </p:attrNameLst>
                                      </p:cBhvr>
                                      <p:to>
                                        <p:strVal val="visible"/>
                                      </p:to>
                                    </p:set>
                                    <p:animEffect transition="in" filter="fade">
                                      <p:cBhvr>
                                        <p:cTn id="4"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4E6"/>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0E3A3F"/>
          </a:solidFill>
          <a:ln/>
        </p:spPr>
        <p:txBody>
          <a:bodyPr wrap="square" lIns="0" tIns="0" rIns="0" bIns="0" rtlCol="0" anchor="ctr"/>
          <a:lstStyle/>
          <a:p>
            <a:pPr algn="ctr" indent="0" marL="0">
              <a:buNone/>
            </a:pPr>
            <a:r>
              <a:rPr lang="en-US" sz="1100" b="1" spc="110" kern="0" dirty="0">
                <a:solidFill>
                  <a:srgbClr val="FAF4E6"/>
                </a:solidFill>
                <a:latin typeface="Arial" pitchFamily="34" charset="0"/>
                <a:ea typeface="Arial" pitchFamily="34" charset="-122"/>
                <a:cs typeface="Arial" pitchFamily="34" charset="-120"/>
              </a:rPr>
              <a:t>SUMMARY · 1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0E3A3F"/>
                </a:solidFill>
                <a:latin typeface="Georgia" pitchFamily="34" charset="0"/>
                <a:ea typeface="Georgia" pitchFamily="34" charset="-122"/>
                <a:cs typeface="Georgia" pitchFamily="34" charset="-120"/>
              </a:rPr>
              <a:t>Three lessons, one estuary</a:t>
            </a:r>
            <a:endParaRPr lang="en-US" sz="3000" dirty="0"/>
          </a:p>
        </p:txBody>
      </p:sp>
      <p:grpSp>
        <p:nvGrpSpPr>
          <p:cNvPr id="17" name="sq0"/>
          <p:cNvGrpSpPr/>
          <p:nvPr/>
        </p:nvGrpSpPr>
        <p:grpSpPr>
          <a:xfrm>
            <a:off x="502920" y="2084832"/>
            <a:ext cx="3545738" cy="2377440"/>
            <a:chOff x="502920" y="2084832"/>
            <a:chExt cx="3545738" cy="2377440"/>
          </a:xfrm>
        </p:grpSpPr>
        <p:sp>
          <p:nvSpPr>
            <p:cNvPr id="4" name="sq0_bg"/>
            <p:cNvSpPr/>
            <p:nvPr/>
          </p:nvSpPr>
          <p:spPr>
            <a:xfrm>
              <a:off x="502920" y="2084832"/>
              <a:ext cx="3545738" cy="2377440"/>
            </a:xfrm>
            <a:prstGeom prst="roundRect">
              <a:avLst>
                <a:gd name="adj" fmla="val 5385"/>
              </a:avLst>
            </a:prstGeom>
            <a:solidFill>
              <a:srgbClr val="FFFFFF"/>
            </a:solidFill>
            <a:ln w="20320">
              <a:solidFill>
                <a:srgbClr val="2E9E6B"/>
              </a:solidFill>
              <a:prstDash val="solid"/>
            </a:ln>
          </p:spPr>
        </p:sp>
        <p:sp>
          <p:nvSpPr>
            <p:cNvPr id="5" name="sq0_n"/>
            <p:cNvSpPr txBox="1"/>
            <p:nvPr/>
          </p:nvSpPr>
          <p:spPr>
            <a:xfrm>
              <a:off x="740664" y="2249424"/>
              <a:ext cx="3070250" cy="292608"/>
            </a:xfrm>
            <a:prstGeom prst="rect">
              <a:avLst/>
            </a:prstGeom>
            <a:noFill/>
            <a:ln/>
          </p:spPr>
          <p:txBody>
            <a:bodyPr wrap="square" lIns="0" tIns="0" rIns="0" bIns="0" rtlCol="0" anchor="ctr"/>
            <a:lstStyle/>
            <a:p>
              <a:pPr indent="0" marL="0">
                <a:buNone/>
              </a:pPr>
              <a:r>
                <a:rPr lang="en-US" sz="1150" b="1" spc="120" kern="0" dirty="0">
                  <a:solidFill>
                    <a:srgbClr val="2E9E6B"/>
                  </a:solidFill>
                  <a:latin typeface="Arial" pitchFamily="34" charset="0"/>
                  <a:ea typeface="Arial" pitchFamily="34" charset="-122"/>
                  <a:cs typeface="Arial" pitchFamily="34" charset="-120"/>
                </a:rPr>
                <a:t>LESSON 1</a:t>
              </a:r>
              <a:endParaRPr lang="en-US" sz="1150" dirty="0"/>
            </a:p>
          </p:txBody>
        </p:sp>
        <p:sp>
          <p:nvSpPr>
            <p:cNvPr id="6" name="sq0_s"/>
            <p:cNvSpPr txBox="1"/>
            <p:nvPr/>
          </p:nvSpPr>
          <p:spPr>
            <a:xfrm>
              <a:off x="740664" y="2578608"/>
              <a:ext cx="3070250" cy="365760"/>
            </a:xfrm>
            <a:prstGeom prst="rect">
              <a:avLst/>
            </a:prstGeom>
            <a:noFill/>
            <a:ln/>
          </p:spPr>
          <p:txBody>
            <a:bodyPr wrap="square" lIns="0" tIns="0" rIns="0" bIns="0" rtlCol="0" anchor="ctr"/>
            <a:lstStyle/>
            <a:p>
              <a:pPr indent="0" marL="0">
                <a:buNone/>
              </a:pPr>
              <a:r>
                <a:rPr lang="en-US" sz="1600" b="1" dirty="0">
                  <a:solidFill>
                    <a:srgbClr val="0E3A3F"/>
                  </a:solidFill>
                  <a:latin typeface="Georgia" pitchFamily="34" charset="0"/>
                  <a:ea typeface="Georgia" pitchFamily="34" charset="-122"/>
                  <a:cs typeface="Georgia" pitchFamily="34" charset="-120"/>
                </a:rPr>
                <a:t>What an ecosystem is</a:t>
              </a:r>
              <a:endParaRPr lang="en-US" sz="1600" dirty="0"/>
            </a:p>
          </p:txBody>
        </p:sp>
        <p:sp>
          <p:nvSpPr>
            <p:cNvPr id="7" name="sq0_b"/>
            <p:cNvSpPr txBox="1"/>
            <p:nvPr/>
          </p:nvSpPr>
          <p:spPr>
            <a:xfrm>
              <a:off x="740664" y="3035808"/>
              <a:ext cx="3070250" cy="1280160"/>
            </a:xfrm>
            <a:prstGeom prst="rect">
              <a:avLst/>
            </a:prstGeom>
            <a:noFill/>
            <a:ln/>
          </p:spPr>
          <p:txBody>
            <a:bodyPr wrap="square" lIns="0" tIns="0" rIns="0" bIns="0" rtlCol="0" anchor="t"/>
            <a:lstStyle/>
            <a:p>
              <a:pPr indent="0" marL="0">
                <a:lnSpc>
                  <a:spcPts val="1700"/>
                </a:lnSpc>
                <a:buNone/>
              </a:pPr>
              <a:r>
                <a:rPr lang="en-US" sz="1200" dirty="0">
                  <a:solidFill>
                    <a:srgbClr val="4A6165"/>
                  </a:solidFill>
                  <a:latin typeface="Arial" pitchFamily="34" charset="0"/>
                  <a:ea typeface="Arial" pitchFamily="34" charset="-122"/>
                  <a:cs typeface="Arial" pitchFamily="34" charset="-120"/>
                </a:rPr>
                <a:t>Living and non-living, interacting. Producers, consumers, decomposers. And a gold forest we could not explain.</a:t>
              </a:r>
              <a:endParaRPr lang="en-US" sz="1200" dirty="0"/>
            </a:p>
          </p:txBody>
        </p:sp>
      </p:grpSp>
      <p:grpSp>
        <p:nvGrpSpPr>
          <p:cNvPr id="18" name="sq1"/>
          <p:cNvGrpSpPr/>
          <p:nvPr/>
        </p:nvGrpSpPr>
        <p:grpSpPr>
          <a:xfrm>
            <a:off x="4322978" y="2084832"/>
            <a:ext cx="3545738" cy="2377440"/>
            <a:chOff x="4322978" y="2084832"/>
            <a:chExt cx="3545738" cy="2377440"/>
          </a:xfrm>
        </p:grpSpPr>
        <p:sp>
          <p:nvSpPr>
            <p:cNvPr id="8" name="sq1_bg"/>
            <p:cNvSpPr/>
            <p:nvPr/>
          </p:nvSpPr>
          <p:spPr>
            <a:xfrm>
              <a:off x="4322978" y="2084832"/>
              <a:ext cx="3545738" cy="2377440"/>
            </a:xfrm>
            <a:prstGeom prst="roundRect">
              <a:avLst>
                <a:gd name="adj" fmla="val 5385"/>
              </a:avLst>
            </a:prstGeom>
            <a:solidFill>
              <a:srgbClr val="FFFFFF"/>
            </a:solidFill>
            <a:ln w="20320">
              <a:solidFill>
                <a:srgbClr val="F5B301"/>
              </a:solidFill>
              <a:prstDash val="solid"/>
            </a:ln>
          </p:spPr>
        </p:sp>
        <p:sp>
          <p:nvSpPr>
            <p:cNvPr id="9" name="sq1_n"/>
            <p:cNvSpPr txBox="1"/>
            <p:nvPr/>
          </p:nvSpPr>
          <p:spPr>
            <a:xfrm>
              <a:off x="4560722" y="2249424"/>
              <a:ext cx="3070250" cy="292608"/>
            </a:xfrm>
            <a:prstGeom prst="rect">
              <a:avLst/>
            </a:prstGeom>
            <a:noFill/>
            <a:ln/>
          </p:spPr>
          <p:txBody>
            <a:bodyPr wrap="square" lIns="0" tIns="0" rIns="0" bIns="0" rtlCol="0" anchor="ctr"/>
            <a:lstStyle/>
            <a:p>
              <a:pPr indent="0" marL="0">
                <a:buNone/>
              </a:pPr>
              <a:r>
                <a:rPr lang="en-US" sz="1150" b="1" spc="120" kern="0" dirty="0">
                  <a:solidFill>
                    <a:srgbClr val="F5B301"/>
                  </a:solidFill>
                  <a:latin typeface="Arial" pitchFamily="34" charset="0"/>
                  <a:ea typeface="Arial" pitchFamily="34" charset="-122"/>
                  <a:cs typeface="Arial" pitchFamily="34" charset="-120"/>
                </a:rPr>
                <a:t>LESSON 2</a:t>
              </a:r>
              <a:endParaRPr lang="en-US" sz="1150" dirty="0"/>
            </a:p>
          </p:txBody>
        </p:sp>
        <p:sp>
          <p:nvSpPr>
            <p:cNvPr id="10" name="sq1_s"/>
            <p:cNvSpPr txBox="1"/>
            <p:nvPr/>
          </p:nvSpPr>
          <p:spPr>
            <a:xfrm>
              <a:off x="4560722" y="2578608"/>
              <a:ext cx="3070250" cy="365760"/>
            </a:xfrm>
            <a:prstGeom prst="rect">
              <a:avLst/>
            </a:prstGeom>
            <a:noFill/>
            <a:ln/>
          </p:spPr>
          <p:txBody>
            <a:bodyPr wrap="square" lIns="0" tIns="0" rIns="0" bIns="0" rtlCol="0" anchor="ctr"/>
            <a:lstStyle/>
            <a:p>
              <a:pPr indent="0" marL="0">
                <a:buNone/>
              </a:pPr>
              <a:r>
                <a:rPr lang="en-US" sz="1600" b="1" dirty="0">
                  <a:solidFill>
                    <a:srgbClr val="0E3A3F"/>
                  </a:solidFill>
                  <a:latin typeface="Georgia" pitchFamily="34" charset="0"/>
                  <a:ea typeface="Georgia" pitchFamily="34" charset="-122"/>
                  <a:cs typeface="Georgia" pitchFamily="34" charset="-120"/>
                </a:rPr>
                <a:t>How the energy flows</a:t>
              </a:r>
              <a:endParaRPr lang="en-US" sz="1600" dirty="0"/>
            </a:p>
          </p:txBody>
        </p:sp>
        <p:sp>
          <p:nvSpPr>
            <p:cNvPr id="11" name="sq1_b"/>
            <p:cNvSpPr txBox="1"/>
            <p:nvPr/>
          </p:nvSpPr>
          <p:spPr>
            <a:xfrm>
              <a:off x="4560722" y="3035808"/>
              <a:ext cx="3070250" cy="1280160"/>
            </a:xfrm>
            <a:prstGeom prst="rect">
              <a:avLst/>
            </a:prstGeom>
            <a:noFill/>
            <a:ln/>
          </p:spPr>
          <p:txBody>
            <a:bodyPr wrap="square" lIns="0" tIns="0" rIns="0" bIns="0" rtlCol="0" anchor="t"/>
            <a:lstStyle/>
            <a:p>
              <a:pPr indent="0" marL="0">
                <a:lnSpc>
                  <a:spcPts val="1700"/>
                </a:lnSpc>
                <a:buNone/>
              </a:pPr>
              <a:r>
                <a:rPr lang="en-US" sz="1200" dirty="0">
                  <a:solidFill>
                    <a:srgbClr val="4A6165"/>
                  </a:solidFill>
                  <a:latin typeface="Arial" pitchFamily="34" charset="0"/>
                  <a:ea typeface="Arial" pitchFamily="34" charset="-122"/>
                  <a:cs typeface="Arial" pitchFamily="34" charset="-120"/>
                </a:rPr>
                <a:t>One way only, from the Sun along four or five links, losing nine tenths at every step, and gone as heat.</a:t>
              </a:r>
              <a:endParaRPr lang="en-US" sz="1200" dirty="0"/>
            </a:p>
          </p:txBody>
        </p:sp>
      </p:grpSp>
      <p:grpSp>
        <p:nvGrpSpPr>
          <p:cNvPr id="19" name="sq2"/>
          <p:cNvGrpSpPr/>
          <p:nvPr/>
        </p:nvGrpSpPr>
        <p:grpSpPr>
          <a:xfrm>
            <a:off x="8143037" y="2084832"/>
            <a:ext cx="3545738" cy="2377440"/>
            <a:chOff x="8143037" y="2084832"/>
            <a:chExt cx="3545738" cy="2377440"/>
          </a:xfrm>
        </p:grpSpPr>
        <p:sp>
          <p:nvSpPr>
            <p:cNvPr id="12" name="sq2_bg"/>
            <p:cNvSpPr/>
            <p:nvPr/>
          </p:nvSpPr>
          <p:spPr>
            <a:xfrm>
              <a:off x="8143037" y="2084832"/>
              <a:ext cx="3545738" cy="2377440"/>
            </a:xfrm>
            <a:prstGeom prst="roundRect">
              <a:avLst>
                <a:gd name="adj" fmla="val 5385"/>
              </a:avLst>
            </a:prstGeom>
            <a:solidFill>
              <a:srgbClr val="FFFFFF"/>
            </a:solidFill>
            <a:ln w="20320">
              <a:solidFill>
                <a:srgbClr val="E2572B"/>
              </a:solidFill>
              <a:prstDash val="solid"/>
            </a:ln>
          </p:spPr>
        </p:sp>
        <p:sp>
          <p:nvSpPr>
            <p:cNvPr id="13" name="sq2_n"/>
            <p:cNvSpPr txBox="1"/>
            <p:nvPr/>
          </p:nvSpPr>
          <p:spPr>
            <a:xfrm>
              <a:off x="8380781" y="2249424"/>
              <a:ext cx="3070250" cy="292608"/>
            </a:xfrm>
            <a:prstGeom prst="rect">
              <a:avLst/>
            </a:prstGeom>
            <a:noFill/>
            <a:ln/>
          </p:spPr>
          <p:txBody>
            <a:bodyPr wrap="square" lIns="0" tIns="0" rIns="0" bIns="0" rtlCol="0" anchor="ctr"/>
            <a:lstStyle/>
            <a:p>
              <a:pPr indent="0" marL="0">
                <a:buNone/>
              </a:pPr>
              <a:r>
                <a:rPr lang="en-US" sz="1150" b="1" spc="120" kern="0" dirty="0">
                  <a:solidFill>
                    <a:srgbClr val="E2572B"/>
                  </a:solidFill>
                  <a:latin typeface="Arial" pitchFamily="34" charset="0"/>
                  <a:ea typeface="Arial" pitchFamily="34" charset="-122"/>
                  <a:cs typeface="Arial" pitchFamily="34" charset="-120"/>
                </a:rPr>
                <a:t>LESSON 3</a:t>
              </a:r>
              <a:endParaRPr lang="en-US" sz="1150" dirty="0"/>
            </a:p>
          </p:txBody>
        </p:sp>
        <p:sp>
          <p:nvSpPr>
            <p:cNvPr id="14" name="sq2_s"/>
            <p:cNvSpPr txBox="1"/>
            <p:nvPr/>
          </p:nvSpPr>
          <p:spPr>
            <a:xfrm>
              <a:off x="8380781" y="2578608"/>
              <a:ext cx="3070250" cy="365760"/>
            </a:xfrm>
            <a:prstGeom prst="rect">
              <a:avLst/>
            </a:prstGeom>
            <a:noFill/>
            <a:ln/>
          </p:spPr>
          <p:txBody>
            <a:bodyPr wrap="square" lIns="0" tIns="0" rIns="0" bIns="0" rtlCol="0" anchor="ctr"/>
            <a:lstStyle/>
            <a:p>
              <a:pPr indent="0" marL="0">
                <a:buNone/>
              </a:pPr>
              <a:r>
                <a:rPr lang="en-US" sz="1600" b="1" dirty="0">
                  <a:solidFill>
                    <a:srgbClr val="0E3A3F"/>
                  </a:solidFill>
                  <a:latin typeface="Georgia" pitchFamily="34" charset="0"/>
                  <a:ea typeface="Georgia" pitchFamily="34" charset="-122"/>
                  <a:cs typeface="Georgia" pitchFamily="34" charset="-120"/>
                </a:rPr>
                <a:t>How the matter cycles</a:t>
              </a:r>
              <a:endParaRPr lang="en-US" sz="1600" dirty="0"/>
            </a:p>
          </p:txBody>
        </p:sp>
        <p:sp>
          <p:nvSpPr>
            <p:cNvPr id="15" name="sq2_b"/>
            <p:cNvSpPr txBox="1"/>
            <p:nvPr/>
          </p:nvSpPr>
          <p:spPr>
            <a:xfrm>
              <a:off x="8380781" y="3035808"/>
              <a:ext cx="3070250" cy="1280160"/>
            </a:xfrm>
            <a:prstGeom prst="rect">
              <a:avLst/>
            </a:prstGeom>
            <a:noFill/>
            <a:ln/>
          </p:spPr>
          <p:txBody>
            <a:bodyPr wrap="square" lIns="0" tIns="0" rIns="0" bIns="0" rtlCol="0" anchor="t"/>
            <a:lstStyle/>
            <a:p>
              <a:pPr indent="0" marL="0">
                <a:lnSpc>
                  <a:spcPts val="1700"/>
                </a:lnSpc>
                <a:buNone/>
              </a:pPr>
              <a:r>
                <a:rPr lang="en-US" sz="1200" dirty="0">
                  <a:solidFill>
                    <a:srgbClr val="4A6165"/>
                  </a:solidFill>
                  <a:latin typeface="Arial" pitchFamily="34" charset="0"/>
                  <a:ea typeface="Arial" pitchFamily="34" charset="-122"/>
                  <a:cs typeface="Arial" pitchFamily="34" charset="-120"/>
                </a:rPr>
                <a:t>Round and round, for ever, driven by that energy — with carbon stuck in the mud and bacteria unlocking the nitrogen.</a:t>
              </a:r>
              <a:endParaRPr lang="en-US" sz="1200" dirty="0"/>
            </a:p>
          </p:txBody>
        </p:sp>
      </p:grpSp>
      <p:sp>
        <p:nvSpPr>
          <p:cNvPr id="16" name="sq_banner"/>
          <p:cNvSpPr/>
          <p:nvPr/>
        </p:nvSpPr>
        <p:spPr>
          <a:xfrm>
            <a:off x="502920" y="4754880"/>
            <a:ext cx="11185855" cy="658368"/>
          </a:xfrm>
          <a:prstGeom prst="roundRect">
            <a:avLst>
              <a:gd name="adj" fmla="val 15278"/>
            </a:avLst>
          </a:prstGeom>
          <a:solidFill>
            <a:srgbClr val="0E3A3F"/>
          </a:solidFill>
          <a:ln>
            <a:solidFill>
              <a:srgbClr val="0E3A3F"/>
            </a:solidFill>
          </a:ln>
        </p:spPr>
        <p:txBody>
          <a:bodyPr wrap="square" lIns="0" tIns="0" rIns="0" bIns="0" rtlCol="0" anchor="ctr"/>
          <a:lstStyle/>
          <a:p>
            <a:pPr algn="ctr" indent="0" marL="0">
              <a:buNone/>
            </a:pPr>
            <a:r>
              <a:rPr lang="en-US" sz="1800" b="1" dirty="0">
                <a:solidFill>
                  <a:srgbClr val="F5B301"/>
                </a:solidFill>
                <a:latin typeface="Georgia" pitchFamily="34" charset="0"/>
                <a:ea typeface="Georgia" pitchFamily="34" charset="-122"/>
                <a:cs typeface="Georgia" pitchFamily="34" charset="-120"/>
              </a:rPr>
              <a:t>Energy is spent. Matter is borrowed. Everything else in ecology is detail.</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1" presetID="23" presetClass="entr" presetSubtype="16"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animScale>
                                      <p:cBhvr>
                                        <p:cTn id="20" dur="500" fill="hold"/>
                                        <p:tgtEl>
                                          <p:spTgt spid="16"/>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3A3F"/>
        </a:solidFill>
      </p:bgPr>
    </p:bg>
    <p:spTree>
      <p:nvGrpSpPr>
        <p:cNvPr id="1" name=""/>
        <p:cNvGrpSpPr/>
        <p:nvPr/>
      </p:nvGrpSpPr>
      <p:grpSpPr>
        <a:xfrm>
          <a:off x="0" y="0"/>
          <a:ext cx="0" cy="0"/>
          <a:chOff x="0" y="0"/>
          <a:chExt cx="0" cy="0"/>
        </a:xfrm>
      </p:grpSpPr>
      <p:sp>
        <p:nvSpPr>
          <p:cNvPr id="2" name="phase_pill"/>
          <p:cNvSpPr/>
          <p:nvPr/>
        </p:nvSpPr>
        <p:spPr>
          <a:xfrm>
            <a:off x="502920" y="274320"/>
            <a:ext cx="2578608" cy="347472"/>
          </a:xfrm>
          <a:prstGeom prst="roundRect">
            <a:avLst>
              <a:gd name="adj" fmla="val 50000"/>
            </a:avLst>
          </a:prstGeom>
          <a:solidFill>
            <a:srgbClr val="F5B301"/>
          </a:solidFill>
          <a:ln/>
        </p:spPr>
        <p:txBody>
          <a:bodyPr wrap="square" lIns="0" tIns="0" rIns="0" bIns="0" rtlCol="0" anchor="ctr"/>
          <a:lstStyle/>
          <a:p>
            <a:pPr algn="ctr" indent="0" marL="0">
              <a:buNone/>
            </a:pPr>
            <a:r>
              <a:rPr lang="en-US" sz="1100" b="1" spc="110" kern="0" dirty="0">
                <a:solidFill>
                  <a:srgbClr val="0E3A3F"/>
                </a:solidFill>
                <a:latin typeface="Arial" pitchFamily="34" charset="0"/>
                <a:ea typeface="Arial" pitchFamily="34" charset="-122"/>
                <a:cs typeface="Arial" pitchFamily="34" charset="-120"/>
              </a:rPr>
              <a:t>PLENARY · 2 MIN</a:t>
            </a:r>
            <a:endParaRPr lang="en-US" sz="1100" dirty="0"/>
          </a:p>
        </p:txBody>
      </p:sp>
      <p:sp>
        <p:nvSpPr>
          <p:cNvPr id="3"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AF4E6"/>
                </a:solidFill>
                <a:latin typeface="Georgia" pitchFamily="34" charset="0"/>
                <a:ea typeface="Georgia" pitchFamily="34" charset="-122"/>
                <a:cs typeface="Georgia" pitchFamily="34" charset="-120"/>
              </a:rPr>
              <a:t>True or false?</a:t>
            </a:r>
            <a:endParaRPr lang="en-US" sz="3000" dirty="0"/>
          </a:p>
        </p:txBody>
      </p:sp>
      <p:sp>
        <p:nvSpPr>
          <p:cNvPr id="4" name="pl_intro"/>
          <p:cNvSpPr txBox="1"/>
          <p:nvPr/>
        </p:nvSpPr>
        <p:spPr>
          <a:xfrm>
            <a:off x="502920" y="1554480"/>
            <a:ext cx="7315200" cy="310896"/>
          </a:xfrm>
          <a:prstGeom prst="rect">
            <a:avLst/>
          </a:prstGeom>
          <a:noFill/>
          <a:ln/>
        </p:spPr>
        <p:txBody>
          <a:bodyPr wrap="square" lIns="0" tIns="0" rIns="0" bIns="0" rtlCol="0" anchor="ctr"/>
          <a:lstStyle/>
          <a:p>
            <a:pPr indent="0" marL="0">
              <a:buNone/>
            </a:pPr>
            <a:r>
              <a:rPr lang="en-US" sz="1300" dirty="0">
                <a:solidFill>
                  <a:srgbClr val="F0E4C8"/>
                </a:solidFill>
                <a:latin typeface="Arial" pitchFamily="34" charset="0"/>
                <a:ea typeface="Arial" pitchFamily="34" charset="-122"/>
                <a:cs typeface="Arial" pitchFamily="34" charset="-120"/>
              </a:rPr>
              <a:t>Stand up for TRUE. Stay sitting for FALSE. No fence-sitting.</a:t>
            </a:r>
            <a:endParaRPr lang="en-US" sz="1300" dirty="0"/>
          </a:p>
        </p:txBody>
      </p:sp>
      <p:sp>
        <p:nvSpPr>
          <p:cNvPr id="5" name="pl_sun"/>
          <p:cNvSpPr/>
          <p:nvPr/>
        </p:nvSpPr>
        <p:spPr>
          <a:xfrm>
            <a:off x="11283696" y="128016"/>
            <a:ext cx="365760" cy="365760"/>
          </a:xfrm>
          <a:prstGeom prst="ellipse">
            <a:avLst/>
          </a:prstGeom>
          <a:solidFill>
            <a:srgbClr val="F5B301"/>
          </a:solidFill>
          <a:ln w="12700">
            <a:solidFill>
              <a:srgbClr val="F5B301"/>
            </a:solidFill>
            <a:prstDash val="solid"/>
          </a:ln>
        </p:spPr>
      </p:sp>
      <p:sp>
        <p:nvSpPr>
          <p:cNvPr id="6" name="pl_motif_leaf0"/>
          <p:cNvSpPr/>
          <p:nvPr/>
        </p:nvSpPr>
        <p:spPr>
          <a:xfrm>
            <a:off x="10415748" y="939272"/>
            <a:ext cx="493410" cy="312725"/>
          </a:xfrm>
          <a:prstGeom prst="ellipse">
            <a:avLst/>
          </a:prstGeom>
          <a:solidFill>
            <a:srgbClr val="F5B301"/>
          </a:solidFill>
          <a:ln w="12700">
            <a:solidFill>
              <a:srgbClr val="F5B301"/>
            </a:solidFill>
            <a:prstDash val="solid"/>
          </a:ln>
        </p:spPr>
      </p:sp>
      <p:sp>
        <p:nvSpPr>
          <p:cNvPr id="7" name="pl_motif_leaf1"/>
          <p:cNvSpPr/>
          <p:nvPr/>
        </p:nvSpPr>
        <p:spPr>
          <a:xfrm>
            <a:off x="10888309" y="953171"/>
            <a:ext cx="451714" cy="298826"/>
          </a:xfrm>
          <a:prstGeom prst="ellipse">
            <a:avLst/>
          </a:prstGeom>
          <a:solidFill>
            <a:srgbClr val="F5B301"/>
          </a:solidFill>
          <a:ln w="12700">
            <a:solidFill>
              <a:srgbClr val="F5B301"/>
            </a:solidFill>
            <a:prstDash val="solid"/>
          </a:ln>
        </p:spPr>
      </p:sp>
      <p:sp>
        <p:nvSpPr>
          <p:cNvPr id="8" name="pl_motif_leaf2"/>
          <p:cNvSpPr/>
          <p:nvPr/>
        </p:nvSpPr>
        <p:spPr>
          <a:xfrm>
            <a:off x="10547787" y="835030"/>
            <a:ext cx="458663" cy="347472"/>
          </a:xfrm>
          <a:prstGeom prst="ellipse">
            <a:avLst/>
          </a:prstGeom>
          <a:solidFill>
            <a:srgbClr val="2E9E6B"/>
          </a:solidFill>
          <a:ln w="12700">
            <a:solidFill>
              <a:srgbClr val="2E9E6B"/>
            </a:solidFill>
            <a:prstDash val="solid"/>
          </a:ln>
        </p:spPr>
      </p:sp>
      <p:sp>
        <p:nvSpPr>
          <p:cNvPr id="9" name="pl_motif_leaf3"/>
          <p:cNvSpPr/>
          <p:nvPr/>
        </p:nvSpPr>
        <p:spPr>
          <a:xfrm>
            <a:off x="10846613" y="786384"/>
            <a:ext cx="437815" cy="361371"/>
          </a:xfrm>
          <a:prstGeom prst="ellipse">
            <a:avLst/>
          </a:prstGeom>
          <a:solidFill>
            <a:srgbClr val="2E9E6B"/>
          </a:solidFill>
          <a:ln w="12700">
            <a:solidFill>
              <a:srgbClr val="2E9E6B"/>
            </a:solidFill>
            <a:prstDash val="solid"/>
          </a:ln>
        </p:spPr>
      </p:sp>
      <p:sp>
        <p:nvSpPr>
          <p:cNvPr id="10" name="pl_motif_leaf4"/>
          <p:cNvSpPr/>
          <p:nvPr/>
        </p:nvSpPr>
        <p:spPr>
          <a:xfrm>
            <a:off x="10693725" y="911474"/>
            <a:ext cx="410017" cy="326624"/>
          </a:xfrm>
          <a:prstGeom prst="ellipse">
            <a:avLst/>
          </a:prstGeom>
          <a:solidFill>
            <a:srgbClr val="2E9E6B"/>
          </a:solidFill>
          <a:ln w="12700">
            <a:solidFill>
              <a:srgbClr val="2E9E6B"/>
            </a:solidFill>
            <a:prstDash val="solid"/>
          </a:ln>
        </p:spPr>
      </p:sp>
      <p:sp>
        <p:nvSpPr>
          <p:cNvPr id="11" name="pl_motif_trunk"/>
          <p:cNvSpPr/>
          <p:nvPr/>
        </p:nvSpPr>
        <p:spPr>
          <a:xfrm>
            <a:off x="10851825" y="1024128"/>
            <a:ext cx="59070" cy="694944"/>
          </a:xfrm>
          <a:prstGeom prst="rect">
            <a:avLst/>
          </a:prstGeom>
          <a:solidFill>
            <a:srgbClr val="FAF4E6"/>
          </a:solidFill>
          <a:ln w="12700">
            <a:solidFill>
              <a:srgbClr val="FAF4E6"/>
            </a:solidFill>
            <a:prstDash val="solid"/>
          </a:ln>
        </p:spPr>
      </p:sp>
      <p:sp>
        <p:nvSpPr>
          <p:cNvPr id="12" name="pl_motif_root0"/>
          <p:cNvSpPr/>
          <p:nvPr/>
        </p:nvSpPr>
        <p:spPr>
          <a:xfrm rot="2090839">
            <a:off x="10717179" y="1256883"/>
            <a:ext cx="29535" cy="522979"/>
          </a:xfrm>
          <a:prstGeom prst="rect">
            <a:avLst/>
          </a:prstGeom>
          <a:solidFill>
            <a:srgbClr val="FAF4E6"/>
          </a:solidFill>
          <a:ln w="12700">
            <a:solidFill>
              <a:srgbClr val="FAF4E6"/>
            </a:solidFill>
            <a:prstDash val="solid"/>
          </a:ln>
        </p:spPr>
      </p:sp>
      <p:sp>
        <p:nvSpPr>
          <p:cNvPr id="13" name="pl_motif_root1"/>
          <p:cNvSpPr/>
          <p:nvPr/>
        </p:nvSpPr>
        <p:spPr>
          <a:xfrm rot="1259724">
            <a:off x="10793623" y="1339177"/>
            <a:ext cx="29535" cy="407315"/>
          </a:xfrm>
          <a:prstGeom prst="rect">
            <a:avLst/>
          </a:prstGeom>
          <a:solidFill>
            <a:srgbClr val="FAF4E6"/>
          </a:solidFill>
          <a:ln w="12700">
            <a:solidFill>
              <a:srgbClr val="FAF4E6"/>
            </a:solidFill>
            <a:prstDash val="solid"/>
          </a:ln>
        </p:spPr>
      </p:sp>
      <p:sp>
        <p:nvSpPr>
          <p:cNvPr id="14" name="pl_motif_root2"/>
          <p:cNvSpPr/>
          <p:nvPr/>
        </p:nvSpPr>
        <p:spPr>
          <a:xfrm rot="-1259724">
            <a:off x="10939562" y="1339177"/>
            <a:ext cx="29535" cy="407315"/>
          </a:xfrm>
          <a:prstGeom prst="rect">
            <a:avLst/>
          </a:prstGeom>
          <a:solidFill>
            <a:srgbClr val="FAF4E6"/>
          </a:solidFill>
          <a:ln w="12700">
            <a:solidFill>
              <a:srgbClr val="FAF4E6"/>
            </a:solidFill>
            <a:prstDash val="solid"/>
          </a:ln>
        </p:spPr>
      </p:sp>
      <p:sp>
        <p:nvSpPr>
          <p:cNvPr id="15" name="pl_motif_root3"/>
          <p:cNvSpPr/>
          <p:nvPr/>
        </p:nvSpPr>
        <p:spPr>
          <a:xfrm rot="-2090839">
            <a:off x="11016005" y="1256883"/>
            <a:ext cx="29535" cy="522979"/>
          </a:xfrm>
          <a:prstGeom prst="rect">
            <a:avLst/>
          </a:prstGeom>
          <a:solidFill>
            <a:srgbClr val="FAF4E6"/>
          </a:solidFill>
          <a:ln w="12700">
            <a:solidFill>
              <a:srgbClr val="FAF4E6"/>
            </a:solidFill>
            <a:prstDash val="solid"/>
          </a:ln>
        </p:spPr>
      </p:sp>
      <p:sp>
        <p:nvSpPr>
          <p:cNvPr id="16" name="pl_motif_pneu0"/>
          <p:cNvSpPr/>
          <p:nvPr/>
        </p:nvSpPr>
        <p:spPr>
          <a:xfrm>
            <a:off x="10412968" y="1642628"/>
            <a:ext cx="19458" cy="83393"/>
          </a:xfrm>
          <a:prstGeom prst="rect">
            <a:avLst/>
          </a:prstGeom>
          <a:solidFill>
            <a:srgbClr val="FAF4E6"/>
          </a:solidFill>
          <a:ln w="12700">
            <a:solidFill>
              <a:srgbClr val="FAF4E6"/>
            </a:solidFill>
            <a:prstDash val="solid"/>
          </a:ln>
        </p:spPr>
      </p:sp>
      <p:sp>
        <p:nvSpPr>
          <p:cNvPr id="17" name="pl_motif_pneu1"/>
          <p:cNvSpPr/>
          <p:nvPr/>
        </p:nvSpPr>
        <p:spPr>
          <a:xfrm>
            <a:off x="10496361" y="1642628"/>
            <a:ext cx="19458" cy="83393"/>
          </a:xfrm>
          <a:prstGeom prst="rect">
            <a:avLst/>
          </a:prstGeom>
          <a:solidFill>
            <a:srgbClr val="FAF4E6"/>
          </a:solidFill>
          <a:ln w="12700">
            <a:solidFill>
              <a:srgbClr val="FAF4E6"/>
            </a:solidFill>
            <a:prstDash val="solid"/>
          </a:ln>
        </p:spPr>
      </p:sp>
      <p:sp>
        <p:nvSpPr>
          <p:cNvPr id="18" name="pl_motif_pneu2"/>
          <p:cNvSpPr/>
          <p:nvPr/>
        </p:nvSpPr>
        <p:spPr>
          <a:xfrm>
            <a:off x="11253850" y="1642628"/>
            <a:ext cx="19458" cy="83393"/>
          </a:xfrm>
          <a:prstGeom prst="rect">
            <a:avLst/>
          </a:prstGeom>
          <a:solidFill>
            <a:srgbClr val="FAF4E6"/>
          </a:solidFill>
          <a:ln w="12700">
            <a:solidFill>
              <a:srgbClr val="FAF4E6"/>
            </a:solidFill>
            <a:prstDash val="solid"/>
          </a:ln>
        </p:spPr>
      </p:sp>
      <p:sp>
        <p:nvSpPr>
          <p:cNvPr id="19" name="pl_motif_pneu3"/>
          <p:cNvSpPr/>
          <p:nvPr/>
        </p:nvSpPr>
        <p:spPr>
          <a:xfrm>
            <a:off x="11344193" y="1642628"/>
            <a:ext cx="19458" cy="83393"/>
          </a:xfrm>
          <a:prstGeom prst="rect">
            <a:avLst/>
          </a:prstGeom>
          <a:solidFill>
            <a:srgbClr val="FAF4E6"/>
          </a:solidFill>
          <a:ln w="12700">
            <a:solidFill>
              <a:srgbClr val="FAF4E6"/>
            </a:solidFill>
            <a:prstDash val="solid"/>
          </a:ln>
        </p:spPr>
      </p:sp>
      <p:sp>
        <p:nvSpPr>
          <p:cNvPr id="20" name="pl_loop0"/>
          <p:cNvSpPr/>
          <p:nvPr/>
        </p:nvSpPr>
        <p:spPr>
          <a:xfrm rot="0">
            <a:off x="10435031" y="573227"/>
            <a:ext cx="892659" cy="118872"/>
          </a:xfrm>
          <a:prstGeom prst="rightArrow">
            <a:avLst/>
          </a:prstGeom>
          <a:solidFill>
            <a:srgbClr val="F5B301"/>
          </a:solidFill>
          <a:ln w="12700">
            <a:solidFill>
              <a:srgbClr val="F5B301"/>
            </a:solidFill>
            <a:prstDash val="solid"/>
          </a:ln>
        </p:spPr>
      </p:sp>
      <p:sp>
        <p:nvSpPr>
          <p:cNvPr id="21" name="pl_loop1"/>
          <p:cNvSpPr/>
          <p:nvPr/>
        </p:nvSpPr>
        <p:spPr>
          <a:xfrm rot="5400000">
            <a:off x="10991088" y="1129284"/>
            <a:ext cx="892659" cy="118872"/>
          </a:xfrm>
          <a:prstGeom prst="rightArrow">
            <a:avLst/>
          </a:prstGeom>
          <a:solidFill>
            <a:srgbClr val="F5B301"/>
          </a:solidFill>
          <a:ln w="12700">
            <a:solidFill>
              <a:srgbClr val="F5B301"/>
            </a:solidFill>
            <a:prstDash val="solid"/>
          </a:ln>
        </p:spPr>
      </p:sp>
      <p:sp>
        <p:nvSpPr>
          <p:cNvPr id="22" name="pl_loop2"/>
          <p:cNvSpPr/>
          <p:nvPr/>
        </p:nvSpPr>
        <p:spPr>
          <a:xfrm rot="10800000">
            <a:off x="10435031" y="1685341"/>
            <a:ext cx="892659" cy="118872"/>
          </a:xfrm>
          <a:prstGeom prst="rightArrow">
            <a:avLst/>
          </a:prstGeom>
          <a:solidFill>
            <a:srgbClr val="F5B301"/>
          </a:solidFill>
          <a:ln w="12700">
            <a:solidFill>
              <a:srgbClr val="F5B301"/>
            </a:solidFill>
            <a:prstDash val="solid"/>
          </a:ln>
        </p:spPr>
      </p:sp>
      <p:sp>
        <p:nvSpPr>
          <p:cNvPr id="23" name="pl_loop3"/>
          <p:cNvSpPr/>
          <p:nvPr/>
        </p:nvSpPr>
        <p:spPr>
          <a:xfrm rot="-5400000">
            <a:off x="9878973" y="1129284"/>
            <a:ext cx="892659" cy="118872"/>
          </a:xfrm>
          <a:prstGeom prst="rightArrow">
            <a:avLst/>
          </a:prstGeom>
          <a:solidFill>
            <a:srgbClr val="F5B301"/>
          </a:solidFill>
          <a:ln w="12700">
            <a:solidFill>
              <a:srgbClr val="F5B301"/>
            </a:solidFill>
            <a:prstDash val="solid"/>
          </a:ln>
        </p:spPr>
      </p:sp>
      <p:grpSp>
        <p:nvGrpSpPr>
          <p:cNvPr id="45" name="pq0_stmt"/>
          <p:cNvGrpSpPr/>
          <p:nvPr/>
        </p:nvGrpSpPr>
        <p:grpSpPr>
          <a:xfrm>
            <a:off x="502920" y="2084832"/>
            <a:ext cx="6309360" cy="566928"/>
            <a:chOff x="502920" y="2084832"/>
            <a:chExt cx="6309360" cy="566928"/>
          </a:xfrm>
        </p:grpSpPr>
        <p:sp>
          <p:nvSpPr>
            <p:cNvPr id="24" name="pq0_bg"/>
            <p:cNvSpPr/>
            <p:nvPr/>
          </p:nvSpPr>
          <p:spPr>
            <a:xfrm>
              <a:off x="502920" y="2084832"/>
              <a:ext cx="6309360" cy="566928"/>
            </a:xfrm>
            <a:prstGeom prst="roundRect">
              <a:avLst>
                <a:gd name="adj" fmla="val 16129"/>
              </a:avLst>
            </a:prstGeom>
            <a:solidFill>
              <a:srgbClr val="16474D"/>
            </a:solidFill>
            <a:ln w="12700">
              <a:solidFill>
                <a:srgbClr val="17505A"/>
              </a:solidFill>
              <a:prstDash val="solid"/>
            </a:ln>
          </p:spPr>
        </p:sp>
        <p:sp>
          <p:nvSpPr>
            <p:cNvPr id="25" name="pq0_q"/>
            <p:cNvSpPr txBox="1"/>
            <p:nvPr/>
          </p:nvSpPr>
          <p:spPr>
            <a:xfrm>
              <a:off x="704088" y="2084832"/>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1. Energy cycles round an ecosystem, just like carbon does.</a:t>
              </a:r>
              <a:endParaRPr lang="en-US" sz="1250" dirty="0"/>
            </a:p>
          </p:txBody>
        </p:sp>
      </p:grpSp>
      <p:sp>
        <p:nvSpPr>
          <p:cNvPr id="26" name="pq0_v"/>
          <p:cNvSpPr txBox="1"/>
          <p:nvPr/>
        </p:nvSpPr>
        <p:spPr>
          <a:xfrm>
            <a:off x="7040880" y="2084832"/>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27" name="pq0_w"/>
          <p:cNvSpPr txBox="1"/>
          <p:nvPr/>
        </p:nvSpPr>
        <p:spPr>
          <a:xfrm>
            <a:off x="7955280" y="2084832"/>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Energy flows through once and leaves as heat.</a:t>
            </a:r>
            <a:endParaRPr lang="en-US" sz="1050" dirty="0"/>
          </a:p>
        </p:txBody>
      </p:sp>
      <p:grpSp>
        <p:nvGrpSpPr>
          <p:cNvPr id="46" name="pq1_stmt"/>
          <p:cNvGrpSpPr/>
          <p:nvPr/>
        </p:nvGrpSpPr>
        <p:grpSpPr>
          <a:xfrm>
            <a:off x="502920" y="2798064"/>
            <a:ext cx="6309360" cy="566928"/>
            <a:chOff x="502920" y="2798064"/>
            <a:chExt cx="6309360" cy="566928"/>
          </a:xfrm>
        </p:grpSpPr>
        <p:sp>
          <p:nvSpPr>
            <p:cNvPr id="28" name="pq1_bg"/>
            <p:cNvSpPr/>
            <p:nvPr/>
          </p:nvSpPr>
          <p:spPr>
            <a:xfrm>
              <a:off x="502920" y="2798064"/>
              <a:ext cx="6309360" cy="566928"/>
            </a:xfrm>
            <a:prstGeom prst="roundRect">
              <a:avLst>
                <a:gd name="adj" fmla="val 16129"/>
              </a:avLst>
            </a:prstGeom>
            <a:solidFill>
              <a:srgbClr val="16474D"/>
            </a:solidFill>
            <a:ln w="12700">
              <a:solidFill>
                <a:srgbClr val="17505A"/>
              </a:solidFill>
              <a:prstDash val="solid"/>
            </a:ln>
          </p:spPr>
        </p:sp>
        <p:sp>
          <p:nvSpPr>
            <p:cNvPr id="29" name="pq1_q"/>
            <p:cNvSpPr txBox="1"/>
            <p:nvPr/>
          </p:nvSpPr>
          <p:spPr>
            <a:xfrm>
              <a:off x="704088" y="2798064"/>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2. Most of the mass of a mangrove tree came out of the air.</a:t>
              </a:r>
              <a:endParaRPr lang="en-US" sz="1250" dirty="0"/>
            </a:p>
          </p:txBody>
        </p:sp>
      </p:grpSp>
      <p:sp>
        <p:nvSpPr>
          <p:cNvPr id="30" name="pq1_v"/>
          <p:cNvSpPr txBox="1"/>
          <p:nvPr/>
        </p:nvSpPr>
        <p:spPr>
          <a:xfrm>
            <a:off x="7040880" y="2798064"/>
            <a:ext cx="868680" cy="566928"/>
          </a:xfrm>
          <a:prstGeom prst="rect">
            <a:avLst/>
          </a:prstGeom>
          <a:noFill/>
          <a:ln/>
        </p:spPr>
        <p:txBody>
          <a:bodyPr wrap="square" lIns="0" tIns="0" rIns="0" bIns="0" rtlCol="0" anchor="ctr"/>
          <a:lstStyle/>
          <a:p>
            <a:pPr indent="0" marL="0">
              <a:buNone/>
            </a:pPr>
            <a:r>
              <a:rPr lang="en-US" sz="1250" b="1" spc="80" kern="0" dirty="0">
                <a:solidFill>
                  <a:srgbClr val="2E9E6B"/>
                </a:solidFill>
                <a:latin typeface="Arial" pitchFamily="34" charset="0"/>
                <a:ea typeface="Arial" pitchFamily="34" charset="-122"/>
                <a:cs typeface="Arial" pitchFamily="34" charset="-120"/>
              </a:rPr>
              <a:t>TRUE</a:t>
            </a:r>
            <a:endParaRPr lang="en-US" sz="1250" dirty="0"/>
          </a:p>
        </p:txBody>
      </p:sp>
      <p:sp>
        <p:nvSpPr>
          <p:cNvPr id="31" name="pq1_w"/>
          <p:cNvSpPr txBox="1"/>
          <p:nvPr/>
        </p:nvSpPr>
        <p:spPr>
          <a:xfrm>
            <a:off x="7955280" y="2798064"/>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Carbon dioxide, through the leaves.</a:t>
            </a:r>
            <a:endParaRPr lang="en-US" sz="1050" dirty="0"/>
          </a:p>
        </p:txBody>
      </p:sp>
      <p:grpSp>
        <p:nvGrpSpPr>
          <p:cNvPr id="47" name="pq2_stmt"/>
          <p:cNvGrpSpPr/>
          <p:nvPr/>
        </p:nvGrpSpPr>
        <p:grpSpPr>
          <a:xfrm>
            <a:off x="502920" y="3511296"/>
            <a:ext cx="6309360" cy="566928"/>
            <a:chOff x="502920" y="3511296"/>
            <a:chExt cx="6309360" cy="566928"/>
          </a:xfrm>
        </p:grpSpPr>
        <p:sp>
          <p:nvSpPr>
            <p:cNvPr id="32" name="pq2_bg"/>
            <p:cNvSpPr/>
            <p:nvPr/>
          </p:nvSpPr>
          <p:spPr>
            <a:xfrm>
              <a:off x="502920" y="3511296"/>
              <a:ext cx="6309360" cy="566928"/>
            </a:xfrm>
            <a:prstGeom prst="roundRect">
              <a:avLst>
                <a:gd name="adj" fmla="val 16129"/>
              </a:avLst>
            </a:prstGeom>
            <a:solidFill>
              <a:srgbClr val="16474D"/>
            </a:solidFill>
            <a:ln w="12700">
              <a:solidFill>
                <a:srgbClr val="17505A"/>
              </a:solidFill>
              <a:prstDash val="solid"/>
            </a:ln>
          </p:spPr>
        </p:sp>
        <p:sp>
          <p:nvSpPr>
            <p:cNvPr id="33" name="pq2_q"/>
            <p:cNvSpPr txBox="1"/>
            <p:nvPr/>
          </p:nvSpPr>
          <p:spPr>
            <a:xfrm>
              <a:off x="704088" y="3511296"/>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3. Plants take nitrogen straight from the air.</a:t>
              </a:r>
              <a:endParaRPr lang="en-US" sz="1250" dirty="0"/>
            </a:p>
          </p:txBody>
        </p:sp>
      </p:grpSp>
      <p:sp>
        <p:nvSpPr>
          <p:cNvPr id="34" name="pq2_v"/>
          <p:cNvSpPr txBox="1"/>
          <p:nvPr/>
        </p:nvSpPr>
        <p:spPr>
          <a:xfrm>
            <a:off x="7040880" y="3511296"/>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35" name="pq2_w"/>
          <p:cNvSpPr txBox="1"/>
          <p:nvPr/>
        </p:nvSpPr>
        <p:spPr>
          <a:xfrm>
            <a:off x="7955280" y="3511296"/>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Bacteria have to fix it into the mud first.</a:t>
            </a:r>
            <a:endParaRPr lang="en-US" sz="1050" dirty="0"/>
          </a:p>
        </p:txBody>
      </p:sp>
      <p:grpSp>
        <p:nvGrpSpPr>
          <p:cNvPr id="48" name="pq3_stmt"/>
          <p:cNvGrpSpPr/>
          <p:nvPr/>
        </p:nvGrpSpPr>
        <p:grpSpPr>
          <a:xfrm>
            <a:off x="502920" y="4224528"/>
            <a:ext cx="6309360" cy="566928"/>
            <a:chOff x="502920" y="4224528"/>
            <a:chExt cx="6309360" cy="566928"/>
          </a:xfrm>
        </p:grpSpPr>
        <p:sp>
          <p:nvSpPr>
            <p:cNvPr id="36" name="pq3_bg"/>
            <p:cNvSpPr/>
            <p:nvPr/>
          </p:nvSpPr>
          <p:spPr>
            <a:xfrm>
              <a:off x="502920" y="4224528"/>
              <a:ext cx="6309360" cy="566928"/>
            </a:xfrm>
            <a:prstGeom prst="roundRect">
              <a:avLst>
                <a:gd name="adj" fmla="val 16129"/>
              </a:avLst>
            </a:prstGeom>
            <a:solidFill>
              <a:srgbClr val="16474D"/>
            </a:solidFill>
            <a:ln w="12700">
              <a:solidFill>
                <a:srgbClr val="17505A"/>
              </a:solidFill>
              <a:prstDash val="solid"/>
            </a:ln>
          </p:spPr>
        </p:sp>
        <p:sp>
          <p:nvSpPr>
            <p:cNvPr id="37" name="pq3_q"/>
            <p:cNvSpPr txBox="1"/>
            <p:nvPr/>
          </p:nvSpPr>
          <p:spPr>
            <a:xfrm>
              <a:off x="704088" y="4224528"/>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4. Decomposers destroy the matter in dead leaves.</a:t>
              </a:r>
              <a:endParaRPr lang="en-US" sz="1250" dirty="0"/>
            </a:p>
          </p:txBody>
        </p:sp>
      </p:grpSp>
      <p:sp>
        <p:nvSpPr>
          <p:cNvPr id="38" name="pq3_v"/>
          <p:cNvSpPr txBox="1"/>
          <p:nvPr/>
        </p:nvSpPr>
        <p:spPr>
          <a:xfrm>
            <a:off x="7040880" y="4224528"/>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39" name="pq3_w"/>
          <p:cNvSpPr txBox="1"/>
          <p:nvPr/>
        </p:nvSpPr>
        <p:spPr>
          <a:xfrm>
            <a:off x="7955280" y="4224528"/>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They release it. Nothing is destroyed.</a:t>
            </a:r>
            <a:endParaRPr lang="en-US" sz="1050" dirty="0"/>
          </a:p>
        </p:txBody>
      </p:sp>
      <p:grpSp>
        <p:nvGrpSpPr>
          <p:cNvPr id="49" name="pq4_stmt"/>
          <p:cNvGrpSpPr/>
          <p:nvPr/>
        </p:nvGrpSpPr>
        <p:grpSpPr>
          <a:xfrm>
            <a:off x="502920" y="4937760"/>
            <a:ext cx="6309360" cy="566928"/>
            <a:chOff x="502920" y="4937760"/>
            <a:chExt cx="6309360" cy="566928"/>
          </a:xfrm>
        </p:grpSpPr>
        <p:sp>
          <p:nvSpPr>
            <p:cNvPr id="40" name="pq4_bg"/>
            <p:cNvSpPr/>
            <p:nvPr/>
          </p:nvSpPr>
          <p:spPr>
            <a:xfrm>
              <a:off x="502920" y="4937760"/>
              <a:ext cx="6309360" cy="566928"/>
            </a:xfrm>
            <a:prstGeom prst="roundRect">
              <a:avLst>
                <a:gd name="adj" fmla="val 16129"/>
              </a:avLst>
            </a:prstGeom>
            <a:solidFill>
              <a:srgbClr val="16474D"/>
            </a:solidFill>
            <a:ln w="12700">
              <a:solidFill>
                <a:srgbClr val="17505A"/>
              </a:solidFill>
              <a:prstDash val="solid"/>
            </a:ln>
          </p:spPr>
        </p:sp>
        <p:sp>
          <p:nvSpPr>
            <p:cNvPr id="41" name="pq4_q"/>
            <p:cNvSpPr txBox="1"/>
            <p:nvPr/>
          </p:nvSpPr>
          <p:spPr>
            <a:xfrm>
              <a:off x="704088" y="4937760"/>
              <a:ext cx="5943600" cy="566928"/>
            </a:xfrm>
            <a:prstGeom prst="rect">
              <a:avLst/>
            </a:prstGeom>
            <a:noFill/>
            <a:ln/>
          </p:spPr>
          <p:txBody>
            <a:bodyPr wrap="square" lIns="0" tIns="0" rIns="0" bIns="0" rtlCol="0" anchor="ctr"/>
            <a:lstStyle/>
            <a:p>
              <a:pPr indent="0" marL="0">
                <a:buNone/>
              </a:pPr>
              <a:r>
                <a:rPr lang="en-US" sz="1250" dirty="0">
                  <a:solidFill>
                    <a:srgbClr val="FAF4E6"/>
                  </a:solidFill>
                  <a:latin typeface="Arial" pitchFamily="34" charset="0"/>
                  <a:ea typeface="Arial" pitchFamily="34" charset="-122"/>
                  <a:cs typeface="Arial" pitchFamily="34" charset="-120"/>
                </a:rPr>
                <a:t>5. In a cycle, every atom keeps moving at the same rate.</a:t>
              </a:r>
              <a:endParaRPr lang="en-US" sz="1250" dirty="0"/>
            </a:p>
          </p:txBody>
        </p:sp>
      </p:grpSp>
      <p:sp>
        <p:nvSpPr>
          <p:cNvPr id="42" name="pq4_v"/>
          <p:cNvSpPr txBox="1"/>
          <p:nvPr/>
        </p:nvSpPr>
        <p:spPr>
          <a:xfrm>
            <a:off x="7040880" y="4937760"/>
            <a:ext cx="868680" cy="566928"/>
          </a:xfrm>
          <a:prstGeom prst="rect">
            <a:avLst/>
          </a:prstGeom>
          <a:noFill/>
          <a:ln/>
        </p:spPr>
        <p:txBody>
          <a:bodyPr wrap="square" lIns="0" tIns="0" rIns="0" bIns="0" rtlCol="0" anchor="ctr"/>
          <a:lstStyle/>
          <a:p>
            <a:pPr indent="0" marL="0">
              <a:buNone/>
            </a:pPr>
            <a:r>
              <a:rPr lang="en-US" sz="1250" b="1" spc="80" kern="0" dirty="0">
                <a:solidFill>
                  <a:srgbClr val="F5B301"/>
                </a:solidFill>
                <a:latin typeface="Arial" pitchFamily="34" charset="0"/>
                <a:ea typeface="Arial" pitchFamily="34" charset="-122"/>
                <a:cs typeface="Arial" pitchFamily="34" charset="-120"/>
              </a:rPr>
              <a:t>FALSE</a:t>
            </a:r>
            <a:endParaRPr lang="en-US" sz="1250" dirty="0"/>
          </a:p>
        </p:txBody>
      </p:sp>
      <p:sp>
        <p:nvSpPr>
          <p:cNvPr id="43" name="pq4_w"/>
          <p:cNvSpPr txBox="1"/>
          <p:nvPr/>
        </p:nvSpPr>
        <p:spPr>
          <a:xfrm>
            <a:off x="7955280" y="4937760"/>
            <a:ext cx="2697480" cy="566928"/>
          </a:xfrm>
          <a:prstGeom prst="rect">
            <a:avLst/>
          </a:prstGeom>
          <a:noFill/>
          <a:ln/>
        </p:spPr>
        <p:txBody>
          <a:bodyPr wrap="square" lIns="0" tIns="0" rIns="0" bIns="0" rtlCol="0" anchor="ctr"/>
          <a:lstStyle/>
          <a:p>
            <a:pPr indent="0" marL="0">
              <a:lnSpc>
                <a:spcPts val="1400"/>
              </a:lnSpc>
              <a:buNone/>
            </a:pPr>
            <a:r>
              <a:rPr lang="en-US" sz="1050" dirty="0">
                <a:solidFill>
                  <a:srgbClr val="F0E4C8"/>
                </a:solidFill>
                <a:latin typeface="Arial" pitchFamily="34" charset="0"/>
                <a:ea typeface="Arial" pitchFamily="34" charset="-122"/>
                <a:cs typeface="Arial" pitchFamily="34" charset="-120"/>
              </a:rPr>
              <a:t>Some carbon sits in mangrove mud for centuries.</a:t>
            </a:r>
            <a:endParaRPr lang="en-US" sz="1050" dirty="0"/>
          </a:p>
        </p:txBody>
      </p:sp>
      <p:sp>
        <p:nvSpPr>
          <p:cNvPr id="44" name="pl_next"/>
          <p:cNvSpPr txBox="1"/>
          <p:nvPr/>
        </p:nvSpPr>
        <p:spPr>
          <a:xfrm>
            <a:off x="502920" y="6181344"/>
            <a:ext cx="11185855" cy="384048"/>
          </a:xfrm>
          <a:prstGeom prst="rect">
            <a:avLst/>
          </a:prstGeom>
          <a:noFill/>
          <a:ln/>
        </p:spPr>
        <p:txBody>
          <a:bodyPr wrap="square" lIns="0" tIns="0" rIns="0" bIns="0" rtlCol="0" anchor="ctr"/>
          <a:lstStyle/>
          <a:p>
            <a:pPr indent="0" marL="0">
              <a:buNone/>
            </a:pPr>
            <a:r>
              <a:rPr lang="en-US" sz="1300" b="1" i="1" dirty="0">
                <a:solidFill>
                  <a:srgbClr val="F5B301"/>
                </a:solidFill>
                <a:latin typeface="Arial" pitchFamily="34" charset="0"/>
                <a:ea typeface="Arial" pitchFamily="34" charset="-122"/>
                <a:cs typeface="Arial" pitchFamily="34" charset="-120"/>
              </a:rPr>
              <a:t>That is the unit. Next: what happens when one population grows too fast.</a:t>
            </a:r>
            <a:endParaRPr lang="en-US" sz="13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45"/>
                                        </p:tgtEl>
                                        <p:attrNameLst>
                                          <p:attrName>style.visibility</p:attrName>
                                        </p:attrNameLst>
                                      </p:cBhvr>
                                      <p:to>
                                        <p:strVal val="visible"/>
                                      </p:to>
                                    </p:set>
                                    <p:animEffect transition="in" filter="fade">
                                      <p:cBhvr>
                                        <p:cTn id="4" dur="500"/>
                                        <p:tgtEl>
                                          <p:spTgt spid="45"/>
                                        </p:tgtEl>
                                      </p:cBhvr>
                                    </p:animEffect>
                                  </p:childTnLst>
                                </p:cTn>
                              </p:par>
                            </p:childTnLst>
                          </p:cTn>
                        </p:par>
                      </p:childTnLst>
                    </p:cTn>
                  </p:par>
                  <p:par>
                    <p:cTn id="15" fill="hold">
                      <p:stCondLst>
                        <p:cond delay="indefinite"/>
                      </p:stCondLst>
                      <p:childTnLst>
                        <p:par>
                          <p:cTn id="16"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26"/>
                                        </p:tgtEl>
                                        <p:attrNameLst>
                                          <p:attrName>style.visibility</p:attrName>
                                        </p:attrNameLst>
                                      </p:cBhvr>
                                      <p:to>
                                        <p:strVal val="visible"/>
                                      </p:to>
                                    </p:set>
                                    <p:animEffect transition="in" filter="fade">
                                      <p:cBhvr>
                                        <p:cTn id="9" dur="500"/>
                                        <p:tgtEl>
                                          <p:spTgt spid="26"/>
                                        </p:tgtEl>
                                      </p:cBhvr>
                                    </p:animEffect>
                                    <p:animScale>
                                      <p:cBhvr>
                                        <p:cTn id="10" dur="500" fill="hold"/>
                                        <p:tgtEl>
                                          <p:spTgt spid="26"/>
                                        </p:tgtEl>
                                      </p:cBhvr>
                                      <p:from x="0" y="0"/>
                                      <p:to x="100000" y="100000"/>
                                    </p:animScale>
                                  </p:childTnLst>
                                </p:cTn>
                              </p:par>
                              <p:par>
                                <p:cTn id="14" presetID="10" presetClass="entr" presetSubtype="0" fill="hold" grpId="0" nodeType="withEffect">
                                  <p:stCondLst>
                                    <p:cond delay="22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19" presetID="10" presetClass="entr" presetSubtype="0" fill="hold" grpId="0" nodeType="click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fade">
                                      <p:cBhvr>
                                        <p:cTn id="18" dur="500"/>
                                        <p:tgtEl>
                                          <p:spTgt spid="46"/>
                                        </p:tgtEl>
                                      </p:cBhvr>
                                    </p:animEffect>
                                  </p:childTnLst>
                                </p:cTn>
                              </p:par>
                            </p:childTnLst>
                          </p:cTn>
                        </p:par>
                      </p:childTnLst>
                    </p:cTn>
                  </p:par>
                  <p:par>
                    <p:cTn id="29" fill="hold">
                      <p:stCondLst>
                        <p:cond delay="indefinite"/>
                      </p:stCondLst>
                      <p:childTnLst>
                        <p:par>
                          <p:cTn id="30" fill="hold">
                            <p:stCondLst>
                              <p:cond delay="0"/>
                            </p:stCondLst>
                            <p:childTnLst>
                              <p:par>
                                <p:cTn id="25" presetID="23" presetClass="entr" presetSubtype="16"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animScale>
                                      <p:cBhvr>
                                        <p:cTn id="24" dur="500" fill="hold"/>
                                        <p:tgtEl>
                                          <p:spTgt spid="30"/>
                                        </p:tgtEl>
                                      </p:cBhvr>
                                      <p:from x="0" y="0"/>
                                      <p:to x="100000" y="100000"/>
                                    </p:animScale>
                                  </p:childTnLst>
                                </p:cTn>
                              </p:par>
                              <p:par>
                                <p:cTn id="28" presetID="10" presetClass="entr" presetSubtype="0" fill="hold" grpId="0" nodeType="withEffect">
                                  <p:stCondLst>
                                    <p:cond delay="22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3" presetID="10"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39" presetID="23" presetClass="entr" presetSubtype="16"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animScale>
                                      <p:cBhvr>
                                        <p:cTn id="38" dur="500" fill="hold"/>
                                        <p:tgtEl>
                                          <p:spTgt spid="34"/>
                                        </p:tgtEl>
                                      </p:cBhvr>
                                      <p:from x="0" y="0"/>
                                      <p:to x="100000" y="100000"/>
                                    </p:animScale>
                                  </p:childTnLst>
                                </p:cTn>
                              </p:par>
                              <p:par>
                                <p:cTn id="42" presetID="10" presetClass="entr" presetSubtype="0" fill="hold" grpId="0" nodeType="withEffect">
                                  <p:stCondLst>
                                    <p:cond delay="22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47" presetID="10" presetClass="entr" presetSubtype="0" fill="hold" grpId="0" nodeType="click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3" presetID="23" presetClass="entr" presetSubtype="16"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animScale>
                                      <p:cBhvr>
                                        <p:cTn id="52" dur="500" fill="hold"/>
                                        <p:tgtEl>
                                          <p:spTgt spid="38"/>
                                        </p:tgtEl>
                                      </p:cBhvr>
                                      <p:from x="0" y="0"/>
                                      <p:to x="100000" y="100000"/>
                                    </p:animScale>
                                  </p:childTnLst>
                                </p:cTn>
                              </p:par>
                              <p:par>
                                <p:cTn id="56" presetID="10" presetClass="entr" presetSubtype="0" fill="hold" grpId="0" nodeType="withEffect">
                                  <p:stCondLst>
                                    <p:cond delay="22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5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1" presetID="10" presetClass="entr" presetSubtype="0" fill="hold" grpId="0" nodeType="click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childTnLst>
                          </p:cTn>
                        </p:par>
                      </p:childTnLst>
                    </p:cTn>
                  </p:par>
                  <p:par>
                    <p:cTn id="71" fill="hold">
                      <p:stCondLst>
                        <p:cond delay="indefinite"/>
                      </p:stCondLst>
                      <p:childTnLst>
                        <p:par>
                          <p:cTn id="72" fill="hold">
                            <p:stCondLst>
                              <p:cond delay="0"/>
                            </p:stCondLst>
                            <p:childTnLst>
                              <p:par>
                                <p:cTn id="67" presetID="23" presetClass="entr" presetSubtype="16"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500"/>
                                        <p:tgtEl>
                                          <p:spTgt spid="42"/>
                                        </p:tgtEl>
                                      </p:cBhvr>
                                    </p:animEffect>
                                    <p:animScale>
                                      <p:cBhvr>
                                        <p:cTn id="66" dur="500" fill="hold"/>
                                        <p:tgtEl>
                                          <p:spTgt spid="42"/>
                                        </p:tgtEl>
                                      </p:cBhvr>
                                      <p:from x="0" y="0"/>
                                      <p:to x="100000" y="100000"/>
                                    </p:animScale>
                                  </p:childTnLst>
                                </p:cTn>
                              </p:par>
                              <p:par>
                                <p:cTn id="70" presetID="10" presetClass="entr" presetSubtype="0" fill="hold" grpId="0" nodeType="withEffect">
                                  <p:stCondLst>
                                    <p:cond delay="22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5" presetID="10" presetClass="entr" presetSubtype="0" fill="hold" grpId="0" nodeType="click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fade">
                                      <p:cBhvr>
                                        <p:cTn id="7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3A3F"/>
        </a:solidFill>
      </p:bgPr>
    </p:bg>
    <p:spTree>
      <p:nvGrpSpPr>
        <p:cNvPr id="1" name=""/>
        <p:cNvGrpSpPr/>
        <p:nvPr/>
      </p:nvGrpSpPr>
      <p:grpSpPr>
        <a:xfrm>
          <a:off x="0" y="0"/>
          <a:ext cx="0" cy="0"/>
          <a:chOff x="0" y="0"/>
          <a:chExt cx="0" cy="0"/>
        </a:xfrm>
      </p:grpSpPr>
      <p:sp>
        <p:nvSpPr>
          <p:cNvPr id="2" name="slide_title"/>
          <p:cNvSpPr txBox="1"/>
          <p:nvPr/>
        </p:nvSpPr>
        <p:spPr>
          <a:xfrm>
            <a:off x="502920" y="914400"/>
            <a:ext cx="11185855" cy="658368"/>
          </a:xfrm>
          <a:prstGeom prst="rect">
            <a:avLst/>
          </a:prstGeom>
          <a:noFill/>
          <a:ln/>
        </p:spPr>
        <p:txBody>
          <a:bodyPr wrap="square" lIns="0" tIns="0" rIns="0" bIns="0" rtlCol="0" anchor="ctr"/>
          <a:lstStyle/>
          <a:p>
            <a:pPr algn="l" indent="0" marL="0">
              <a:buNone/>
            </a:pPr>
            <a:r>
              <a:rPr lang="en-US" sz="3000" b="1" dirty="0">
                <a:solidFill>
                  <a:srgbClr val="FAF4E6"/>
                </a:solidFill>
                <a:latin typeface="Georgia" pitchFamily="34" charset="0"/>
                <a:ea typeface="Georgia" pitchFamily="34" charset="-122"/>
                <a:cs typeface="Georgia" pitchFamily="34" charset="-120"/>
              </a:rPr>
              <a:t>Credits and sources</a:t>
            </a:r>
            <a:endParaRPr lang="en-US" sz="3000" dirty="0"/>
          </a:p>
        </p:txBody>
      </p:sp>
      <p:sp>
        <p:nvSpPr>
          <p:cNvPr id="3" name="cred0_a"/>
          <p:cNvSpPr txBox="1"/>
          <p:nvPr/>
        </p:nvSpPr>
        <p:spPr>
          <a:xfrm>
            <a:off x="502920" y="1737360"/>
            <a:ext cx="5760720" cy="292608"/>
          </a:xfrm>
          <a:prstGeom prst="rect">
            <a:avLst/>
          </a:prstGeom>
          <a:noFill/>
          <a:ln/>
        </p:spPr>
        <p:txBody>
          <a:bodyPr wrap="square" lIns="0" tIns="0" rIns="0" bIns="0" rtlCol="0" anchor="ctr"/>
          <a:lstStyle/>
          <a:p>
            <a:pPr indent="0" marL="0">
              <a:buNone/>
            </a:pPr>
            <a:r>
              <a:rPr lang="en-US" sz="1150" b="1" spc="110" kern="0" dirty="0">
                <a:solidFill>
                  <a:srgbClr val="F5B301"/>
                </a:solidFill>
                <a:latin typeface="Arial" pitchFamily="34" charset="0"/>
                <a:ea typeface="Arial" pitchFamily="34" charset="-122"/>
                <a:cs typeface="Arial" pitchFamily="34" charset="-120"/>
              </a:rPr>
              <a:t>IMAGES — all Creative Commons or public domain</a:t>
            </a:r>
            <a:endParaRPr lang="en-US" sz="1150" dirty="0"/>
          </a:p>
        </p:txBody>
      </p:sp>
      <p:sp>
        <p:nvSpPr>
          <p:cNvPr id="4" name="cred1_a"/>
          <p:cNvSpPr txBox="1"/>
          <p:nvPr/>
        </p:nvSpPr>
        <p:spPr>
          <a:xfrm>
            <a:off x="502920" y="2066544"/>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Avicennia pneumatophores in mud</a:t>
            </a:r>
            <a:endParaRPr lang="en-US" sz="1150" dirty="0"/>
          </a:p>
        </p:txBody>
      </p:sp>
      <p:sp>
        <p:nvSpPr>
          <p:cNvPr id="5" name="cred1_b"/>
          <p:cNvSpPr txBox="1"/>
          <p:nvPr/>
        </p:nvSpPr>
        <p:spPr>
          <a:xfrm>
            <a:off x="6446520" y="2066544"/>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Dinesh Valke · CC BY-SA 2.0 · Wikimedia Commons</a:t>
            </a:r>
            <a:endParaRPr lang="en-US" sz="1100" dirty="0"/>
          </a:p>
        </p:txBody>
      </p:sp>
      <p:sp>
        <p:nvSpPr>
          <p:cNvPr id="6" name="cred2_a"/>
          <p:cNvSpPr txBox="1"/>
          <p:nvPr/>
        </p:nvSpPr>
        <p:spPr>
          <a:xfrm>
            <a:off x="502920" y="2395728"/>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Mangrove trees, Ko Chang, Thailand</a:t>
            </a:r>
            <a:endParaRPr lang="en-US" sz="1150" dirty="0"/>
          </a:p>
        </p:txBody>
      </p:sp>
      <p:sp>
        <p:nvSpPr>
          <p:cNvPr id="7" name="cred2_b"/>
          <p:cNvSpPr txBox="1"/>
          <p:nvPr/>
        </p:nvSpPr>
        <p:spPr>
          <a:xfrm>
            <a:off x="6446520" y="2395728"/>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Vyacheslav Argenberg · CC BY 4.0 · Wikimedia Commons</a:t>
            </a:r>
            <a:endParaRPr lang="en-US" sz="1100" dirty="0"/>
          </a:p>
        </p:txBody>
      </p:sp>
      <p:sp>
        <p:nvSpPr>
          <p:cNvPr id="8" name="cred3_a"/>
          <p:cNvSpPr txBox="1"/>
          <p:nvPr/>
        </p:nvSpPr>
        <p:spPr>
          <a:xfrm>
            <a:off x="502920" y="2724912"/>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Decaying log on a forest floor (temperate)</a:t>
            </a:r>
            <a:endParaRPr lang="en-US" sz="1150" dirty="0"/>
          </a:p>
        </p:txBody>
      </p:sp>
      <p:sp>
        <p:nvSpPr>
          <p:cNvPr id="9" name="cred3_b"/>
          <p:cNvSpPr txBox="1"/>
          <p:nvPr/>
        </p:nvSpPr>
        <p:spPr>
          <a:xfrm>
            <a:off x="6446520" y="2724912"/>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Krishna k. sahh · CC0 · Wikimedia Commons</a:t>
            </a:r>
            <a:endParaRPr lang="en-US" sz="1100" dirty="0"/>
          </a:p>
        </p:txBody>
      </p:sp>
      <p:sp>
        <p:nvSpPr>
          <p:cNvPr id="10" name="cred4_a"/>
          <p:cNvSpPr txBox="1"/>
          <p:nvPr/>
        </p:nvSpPr>
        <p:spPr>
          <a:xfrm>
            <a:off x="502920" y="3054096"/>
            <a:ext cx="5760720" cy="292608"/>
          </a:xfrm>
          <a:prstGeom prst="rect">
            <a:avLst/>
          </a:prstGeom>
          <a:noFill/>
          <a:ln/>
        </p:spPr>
        <p:txBody>
          <a:bodyPr wrap="square" lIns="0" tIns="0" rIns="0" bIns="0" rtlCol="0" anchor="ctr"/>
          <a:lstStyle/>
          <a:p>
            <a:pPr indent="0" marL="0">
              <a:buNone/>
            </a:pPr>
            <a:r>
              <a:rPr lang="en-US" sz="1150" b="1" spc="110" kern="0" dirty="0">
                <a:solidFill>
                  <a:srgbClr val="F5B301"/>
                </a:solidFill>
                <a:latin typeface="Arial" pitchFamily="34" charset="0"/>
                <a:ea typeface="Arial" pitchFamily="34" charset="-122"/>
                <a:cs typeface="Arial" pitchFamily="34" charset="-120"/>
              </a:rPr>
              <a:t>SOURCES</a:t>
            </a:r>
            <a:endParaRPr lang="en-US" sz="1150" dirty="0"/>
          </a:p>
        </p:txBody>
      </p:sp>
      <p:sp>
        <p:nvSpPr>
          <p:cNvPr id="11" name="cred5_a"/>
          <p:cNvSpPr txBox="1"/>
          <p:nvPr/>
        </p:nvSpPr>
        <p:spPr>
          <a:xfrm>
            <a:off x="502920" y="3383280"/>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Mangrove carbon: 1,023 t C per hectare, 49–98% in soil</a:t>
            </a:r>
            <a:endParaRPr lang="en-US" sz="1150" dirty="0"/>
          </a:p>
        </p:txBody>
      </p:sp>
      <p:sp>
        <p:nvSpPr>
          <p:cNvPr id="12" name="cred5_b"/>
          <p:cNvSpPr txBox="1"/>
          <p:nvPr/>
        </p:nvSpPr>
        <p:spPr>
          <a:xfrm>
            <a:off x="6446520" y="3383280"/>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Donato et al., Mangroves among the most carbon-rich forests in the tropics, 2011</a:t>
            </a:r>
            <a:endParaRPr lang="en-US" sz="1100" dirty="0"/>
          </a:p>
        </p:txBody>
      </p:sp>
      <p:sp>
        <p:nvSpPr>
          <p:cNvPr id="13" name="cred6_a"/>
          <p:cNvSpPr txBox="1"/>
          <p:nvPr/>
        </p:nvSpPr>
        <p:spPr>
          <a:xfrm>
            <a:off x="502920" y="3712464"/>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Up to 5× the organic carbon of upland tropical forest</a:t>
            </a:r>
            <a:endParaRPr lang="en-US" sz="1150" dirty="0"/>
          </a:p>
        </p:txBody>
      </p:sp>
      <p:sp>
        <p:nvSpPr>
          <p:cNvPr id="14" name="cred6_b"/>
          <p:cNvSpPr txBox="1"/>
          <p:nvPr/>
        </p:nvSpPr>
        <p:spPr>
          <a:xfrm>
            <a:off x="6446520" y="3712464"/>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Donato et al. 2011, via Frontiers in Marine Science, 2022</a:t>
            </a:r>
            <a:endParaRPr lang="en-US" sz="1100" dirty="0"/>
          </a:p>
        </p:txBody>
      </p:sp>
      <p:sp>
        <p:nvSpPr>
          <p:cNvPr id="15" name="cred7_a"/>
          <p:cNvSpPr txBox="1"/>
          <p:nvPr/>
        </p:nvSpPr>
        <p:spPr>
          <a:xfrm>
            <a:off x="502920" y="4041648"/>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Nitrogen fixation supplies 40–60% of mangrove nitrogen</a:t>
            </a:r>
            <a:endParaRPr lang="en-US" sz="1150" dirty="0"/>
          </a:p>
        </p:txBody>
      </p:sp>
      <p:sp>
        <p:nvSpPr>
          <p:cNvPr id="16" name="cred7_b"/>
          <p:cNvSpPr txBox="1"/>
          <p:nvPr/>
        </p:nvSpPr>
        <p:spPr>
          <a:xfrm>
            <a:off x="6446520" y="4041648"/>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Peer-reviewed studies of diazotrophs in mangrove sediments, 2021–2023</a:t>
            </a:r>
            <a:endParaRPr lang="en-US" sz="1100" dirty="0"/>
          </a:p>
        </p:txBody>
      </p:sp>
      <p:sp>
        <p:nvSpPr>
          <p:cNvPr id="17" name="cred8_a"/>
          <p:cNvSpPr txBox="1"/>
          <p:nvPr/>
        </p:nvSpPr>
        <p:spPr>
          <a:xfrm>
            <a:off x="502920" y="4370832"/>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Mangrove sediments are nitrogen-limited</a:t>
            </a:r>
            <a:endParaRPr lang="en-US" sz="1150" dirty="0"/>
          </a:p>
        </p:txBody>
      </p:sp>
      <p:sp>
        <p:nvSpPr>
          <p:cNvPr id="18" name="cred8_b"/>
          <p:cNvSpPr txBox="1"/>
          <p:nvPr/>
        </p:nvSpPr>
        <p:spPr>
          <a:xfrm>
            <a:off x="6446520" y="4370832"/>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The ISME Journal, nitrogen fixation in mangrove sediments, 2024</a:t>
            </a:r>
            <a:endParaRPr lang="en-US" sz="1100" dirty="0"/>
          </a:p>
        </p:txBody>
      </p:sp>
      <p:sp>
        <p:nvSpPr>
          <p:cNvPr id="19" name="cred9_a"/>
          <p:cNvSpPr txBox="1"/>
          <p:nvPr/>
        </p:nvSpPr>
        <p:spPr>
          <a:xfrm>
            <a:off x="502920" y="4700016"/>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Thai mangrove carbon credit programme, 2022 and 2023</a:t>
            </a:r>
            <a:endParaRPr lang="en-US" sz="1150" dirty="0"/>
          </a:p>
        </p:txBody>
      </p:sp>
      <p:sp>
        <p:nvSpPr>
          <p:cNvPr id="20" name="cred9_b"/>
          <p:cNvSpPr txBox="1"/>
          <p:nvPr/>
        </p:nvSpPr>
        <p:spPr>
          <a:xfrm>
            <a:off x="6446520" y="4700016"/>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DMCR announcements; reporting by Dialogue Earth / Pulitzer Center, 2024</a:t>
            </a:r>
            <a:endParaRPr lang="en-US" sz="1100" dirty="0"/>
          </a:p>
        </p:txBody>
      </p:sp>
      <p:sp>
        <p:nvSpPr>
          <p:cNvPr id="21" name="cred10_a"/>
          <p:cNvSpPr txBox="1"/>
          <p:nvPr/>
        </p:nvSpPr>
        <p:spPr>
          <a:xfrm>
            <a:off x="502920" y="5029200"/>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Gold leaves at Tung Prong Thong</a:t>
            </a:r>
            <a:endParaRPr lang="en-US" sz="1150" dirty="0"/>
          </a:p>
        </p:txBody>
      </p:sp>
      <p:sp>
        <p:nvSpPr>
          <p:cNvPr id="22" name="cred10_b"/>
          <p:cNvSpPr txBox="1"/>
          <p:nvPr/>
        </p:nvSpPr>
        <p:spPr>
          <a:xfrm>
            <a:off x="6446520" y="5029200"/>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Assoc. Prof. Dr Kitichate Sridith, Prince of Songkla University, via Sarakadee, 2023</a:t>
            </a:r>
            <a:endParaRPr lang="en-US" sz="1100" dirty="0"/>
          </a:p>
        </p:txBody>
      </p:sp>
      <p:sp>
        <p:nvSpPr>
          <p:cNvPr id="23" name="cred11_a"/>
          <p:cNvSpPr txBox="1"/>
          <p:nvPr/>
        </p:nvSpPr>
        <p:spPr>
          <a:xfrm>
            <a:off x="502920" y="5358384"/>
            <a:ext cx="5760720" cy="292608"/>
          </a:xfrm>
          <a:prstGeom prst="rect">
            <a:avLst/>
          </a:prstGeom>
          <a:noFill/>
          <a:ln/>
        </p:spPr>
        <p:txBody>
          <a:bodyPr wrap="square" lIns="0" tIns="0" rIns="0" bIns="0" rtlCol="0" anchor="ctr"/>
          <a:lstStyle/>
          <a:p>
            <a:pPr indent="0" marL="0">
              <a:buNone/>
            </a:pPr>
            <a:r>
              <a:rPr lang="en-US" sz="1150" dirty="0">
                <a:solidFill>
                  <a:srgbClr val="FAF4E6"/>
                </a:solidFill>
                <a:latin typeface="Arial" pitchFamily="34" charset="0"/>
                <a:ea typeface="Arial" pitchFamily="34" charset="-122"/>
                <a:cs typeface="Arial" pitchFamily="34" charset="-120"/>
              </a:rPr>
              <a:t>Objectives and vocabulary</a:t>
            </a:r>
            <a:endParaRPr lang="en-US" sz="1150" dirty="0"/>
          </a:p>
        </p:txBody>
      </p:sp>
      <p:sp>
        <p:nvSpPr>
          <p:cNvPr id="24" name="cred11_b"/>
          <p:cNvSpPr txBox="1"/>
          <p:nvPr/>
        </p:nvSpPr>
        <p:spPr>
          <a:xfrm>
            <a:off x="6446520" y="5358384"/>
            <a:ext cx="5242255" cy="292608"/>
          </a:xfrm>
          <a:prstGeom prst="rect">
            <a:avLst/>
          </a:prstGeom>
          <a:noFill/>
          <a:ln/>
        </p:spPr>
        <p:txBody>
          <a:bodyPr wrap="square" lIns="0" tIns="0" rIns="0" bIns="0" rtlCol="0" anchor="ctr"/>
          <a:lstStyle/>
          <a:p>
            <a:pPr indent="0" marL="0">
              <a:buNone/>
            </a:pPr>
            <a:r>
              <a:rPr lang="en-US" sz="1100" dirty="0">
                <a:solidFill>
                  <a:srgbClr val="F0E4C8"/>
                </a:solidFill>
                <a:latin typeface="Arial" pitchFamily="34" charset="0"/>
                <a:ea typeface="Arial" pitchFamily="34" charset="-122"/>
                <a:cs typeface="Arial" pitchFamily="34" charset="-120"/>
              </a:rPr>
              <a:t>CK-12 Lesson 19.4 · GIS KS3 SoW, Y9 Term 1.1</a:t>
            </a:r>
            <a:endParaRPr lang="en-US" sz="11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Y9 Science — Round and round</dc:title>
  <dc:subject>Y9 Term 1.1 Unit 2, Lesson 3 of 3</dc:subject>
  <dc:creator>Chuka</dc:creator>
  <cp:lastModifiedBy>Chuka</cp:lastModifiedBy>
  <cp:revision>1</cp:revision>
  <dcterms:created xsi:type="dcterms:W3CDTF">2026-09-13T00:59:27Z</dcterms:created>
  <dcterms:modified xsi:type="dcterms:W3CDTF">2026-09-13T00:59:27Z</dcterms:modified>
</cp:coreProperties>
</file>